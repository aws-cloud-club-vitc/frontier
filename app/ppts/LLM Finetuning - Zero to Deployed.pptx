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6" d="100"/>
          <a:sy n="116" d="100"/>
        </p:scale>
        <p:origin x="44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29671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By the end of this session, everyone should know what finetuning actually is, when it is (and is not) the right tool, and the concrete steps and tools to do it themselves.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tour of the roadmap — six sections, roughly in the order a real project would move through them.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brief — most freshers have some exposure already. The key point: pretraining gives broad knowledge, not task-specific behavior. That gap is exactly what finetuning closes.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pain point with a quick concrete example — e.g., ask a base model for strict JSON output and watch it wander.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slide — everything else in the deck elaborates on this definition.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decision framework, not a ranking — the point is that finetuning is one tool among three, each solving a different problem.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almost every fresher project — and most industry projects — PEFT is the right starting point. Full finetuning is reserved for teams with serious compute budgets.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intuition: instead of updating a huge d-by-d matrix, LoRA learns two small skinny matrices whose product approximates the needed change. Far fewer parameters, far less memory.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InstructGPT / ChatGPT-style recipe: pretrain for knowledge, SFT for instruction-following, then RLHF or DPO to align with what humans actually prefer.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spine of the rest of the talk — each of the next six slides zooms into one (or two) of these seven steps.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step freshers skip most often — they jump straight to training before writing down what "good" looks like. Emphasize: define the task on paper first.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list reflects well-established, widely-used open models — flag that the field moves fast and the current best options should be checked on a live leaderboard.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freshers do not need a personal GPU. QLoRA on free Colab or Kaggle is enough to finetune a 7B model end to end.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illustrative, representative code (Unsloth + PEFT + TRL) — exact API surfaces shift between library versions, so point people at current docs rather than treating this as copy-paste-proof.</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Freshers often stop at "the loss went down." Push them toward at least one held-out benchmark and a handful of manual spot checks before calling it done.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step most tutorials skip entirely — a finetuned model sitting in a notebook is not yet useful to anyone.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reference slide people will screenshot — six categories, and the two or three tools per category that actually matter today.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which of these they think they would have hit — usually gets a laugh and a few honest hands.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here — this is the slide people should remember a month from now, even if they forget every tool name.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people at the Unsloth notebooks specifically — they are the fastest path from "I watched this slide deck" to "I actually finetuned a model."</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If the room is quiet, prompt with: "who here has already tried a LoRA finetune?"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5.png"/><Relationship Id="rId7"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0.png"/><Relationship Id="rId10"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3.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9.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6.png"/><Relationship Id="rId7"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4.png"/><Relationship Id="rId4" Type="http://schemas.openxmlformats.org/officeDocument/2006/relationships/image" Target="../media/image10.png"/><Relationship Id="rId9"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B3A"/>
        </a:solidFill>
        <a:effectLst/>
      </p:bgPr>
    </p:bg>
    <p:spTree>
      <p:nvGrpSpPr>
        <p:cNvPr id="1" name=""/>
        <p:cNvGrpSpPr/>
        <p:nvPr/>
      </p:nvGrpSpPr>
      <p:grpSpPr>
        <a:xfrm>
          <a:off x="0" y="0"/>
          <a:ext cx="0" cy="0"/>
          <a:chOff x="0" y="0"/>
          <a:chExt cx="0" cy="0"/>
        </a:xfrm>
      </p:grpSpPr>
      <p:sp>
        <p:nvSpPr>
          <p:cNvPr id="6" name="Text 3"/>
          <p:cNvSpPr/>
          <p:nvPr/>
        </p:nvSpPr>
        <p:spPr>
          <a:xfrm>
            <a:off x="3520440" y="3548753"/>
            <a:ext cx="9601200" cy="1005840"/>
          </a:xfrm>
          <a:prstGeom prst="rect">
            <a:avLst/>
          </a:prstGeom>
          <a:noFill/>
          <a:ln/>
        </p:spPr>
        <p:txBody>
          <a:bodyPr wrap="square" rtlCol="0" anchor="ctr"/>
          <a:lstStyle/>
          <a:p>
            <a:pPr marL="0" indent="0">
              <a:buNone/>
            </a:pPr>
            <a:endParaRPr lang="en-US" sz="4600" dirty="0"/>
          </a:p>
        </p:txBody>
      </p:sp>
      <p:sp>
        <p:nvSpPr>
          <p:cNvPr id="7" name="Text 4"/>
          <p:cNvSpPr/>
          <p:nvPr/>
        </p:nvSpPr>
        <p:spPr>
          <a:xfrm>
            <a:off x="868680" y="3977640"/>
            <a:ext cx="9144000" cy="548640"/>
          </a:xfrm>
          <a:prstGeom prst="rect">
            <a:avLst/>
          </a:prstGeom>
          <a:noFill/>
          <a:ln/>
        </p:spPr>
        <p:txBody>
          <a:bodyPr wrap="square" rtlCol="0" anchor="ctr"/>
          <a:lstStyle/>
          <a:p>
            <a:pPr marL="0" indent="0">
              <a:buNone/>
            </a:pPr>
            <a:endParaRPr lang="en-US" sz="1900" dirty="0"/>
          </a:p>
        </p:txBody>
      </p:sp>
      <p:sp>
        <p:nvSpPr>
          <p:cNvPr id="209" name="Shape 0">
            <a:extLst>
              <a:ext uri="{FF2B5EF4-FFF2-40B4-BE49-F238E27FC236}">
                <a16:creationId xmlns:a16="http://schemas.microsoft.com/office/drawing/2014/main" id="{7D0CDD2A-F550-5273-5F6C-A6803B77E82B}"/>
              </a:ext>
            </a:extLst>
          </p:cNvPr>
          <p:cNvSpPr/>
          <p:nvPr/>
        </p:nvSpPr>
        <p:spPr>
          <a:xfrm>
            <a:off x="502920" y="0"/>
            <a:ext cx="0" cy="6858000"/>
          </a:xfrm>
          <a:prstGeom prst="line">
            <a:avLst/>
          </a:prstGeom>
          <a:noFill/>
          <a:ln w="6350">
            <a:solidFill>
              <a:srgbClr val="1A2331"/>
            </a:solidFill>
            <a:prstDash val="solid"/>
          </a:ln>
        </p:spPr>
        <p:txBody>
          <a:bodyPr/>
          <a:lstStyle/>
          <a:p>
            <a:endParaRPr lang="en-US"/>
          </a:p>
        </p:txBody>
      </p:sp>
      <p:sp>
        <p:nvSpPr>
          <p:cNvPr id="210" name="Shape 1">
            <a:extLst>
              <a:ext uri="{FF2B5EF4-FFF2-40B4-BE49-F238E27FC236}">
                <a16:creationId xmlns:a16="http://schemas.microsoft.com/office/drawing/2014/main" id="{F5290E60-7BF6-CDB3-FB67-7A8BB73C1148}"/>
              </a:ext>
            </a:extLst>
          </p:cNvPr>
          <p:cNvSpPr/>
          <p:nvPr/>
        </p:nvSpPr>
        <p:spPr>
          <a:xfrm>
            <a:off x="1005840" y="0"/>
            <a:ext cx="0" cy="6858000"/>
          </a:xfrm>
          <a:prstGeom prst="line">
            <a:avLst/>
          </a:prstGeom>
          <a:noFill/>
          <a:ln w="6350">
            <a:solidFill>
              <a:srgbClr val="1A2331"/>
            </a:solidFill>
            <a:prstDash val="solid"/>
          </a:ln>
        </p:spPr>
        <p:txBody>
          <a:bodyPr/>
          <a:lstStyle/>
          <a:p>
            <a:endParaRPr lang="en-US"/>
          </a:p>
        </p:txBody>
      </p:sp>
      <p:sp>
        <p:nvSpPr>
          <p:cNvPr id="211" name="Shape 2">
            <a:extLst>
              <a:ext uri="{FF2B5EF4-FFF2-40B4-BE49-F238E27FC236}">
                <a16:creationId xmlns:a16="http://schemas.microsoft.com/office/drawing/2014/main" id="{60FB1E6A-D03C-72A8-B23B-E6AB559EC4AA}"/>
              </a:ext>
            </a:extLst>
          </p:cNvPr>
          <p:cNvSpPr/>
          <p:nvPr/>
        </p:nvSpPr>
        <p:spPr>
          <a:xfrm>
            <a:off x="1508760" y="0"/>
            <a:ext cx="0" cy="6858000"/>
          </a:xfrm>
          <a:prstGeom prst="line">
            <a:avLst/>
          </a:prstGeom>
          <a:noFill/>
          <a:ln w="6350">
            <a:solidFill>
              <a:srgbClr val="1A2331"/>
            </a:solidFill>
            <a:prstDash val="solid"/>
          </a:ln>
        </p:spPr>
        <p:txBody>
          <a:bodyPr/>
          <a:lstStyle/>
          <a:p>
            <a:endParaRPr lang="en-US"/>
          </a:p>
        </p:txBody>
      </p:sp>
      <p:sp>
        <p:nvSpPr>
          <p:cNvPr id="212" name="Shape 3">
            <a:extLst>
              <a:ext uri="{FF2B5EF4-FFF2-40B4-BE49-F238E27FC236}">
                <a16:creationId xmlns:a16="http://schemas.microsoft.com/office/drawing/2014/main" id="{B5E70B9C-4E89-0D14-45AC-2DAD656F0E91}"/>
              </a:ext>
            </a:extLst>
          </p:cNvPr>
          <p:cNvSpPr/>
          <p:nvPr/>
        </p:nvSpPr>
        <p:spPr>
          <a:xfrm>
            <a:off x="2011680" y="0"/>
            <a:ext cx="0" cy="6858000"/>
          </a:xfrm>
          <a:prstGeom prst="line">
            <a:avLst/>
          </a:prstGeom>
          <a:noFill/>
          <a:ln w="6350">
            <a:solidFill>
              <a:srgbClr val="1A2331"/>
            </a:solidFill>
            <a:prstDash val="solid"/>
          </a:ln>
        </p:spPr>
        <p:txBody>
          <a:bodyPr/>
          <a:lstStyle/>
          <a:p>
            <a:endParaRPr lang="en-US"/>
          </a:p>
        </p:txBody>
      </p:sp>
      <p:sp>
        <p:nvSpPr>
          <p:cNvPr id="213" name="Shape 4">
            <a:extLst>
              <a:ext uri="{FF2B5EF4-FFF2-40B4-BE49-F238E27FC236}">
                <a16:creationId xmlns:a16="http://schemas.microsoft.com/office/drawing/2014/main" id="{E02744C7-207B-9F01-D63A-BC45F837AE22}"/>
              </a:ext>
            </a:extLst>
          </p:cNvPr>
          <p:cNvSpPr/>
          <p:nvPr/>
        </p:nvSpPr>
        <p:spPr>
          <a:xfrm>
            <a:off x="2514600" y="0"/>
            <a:ext cx="0" cy="6858000"/>
          </a:xfrm>
          <a:prstGeom prst="line">
            <a:avLst/>
          </a:prstGeom>
          <a:noFill/>
          <a:ln w="6350">
            <a:solidFill>
              <a:srgbClr val="1A2331"/>
            </a:solidFill>
            <a:prstDash val="solid"/>
          </a:ln>
        </p:spPr>
        <p:txBody>
          <a:bodyPr/>
          <a:lstStyle/>
          <a:p>
            <a:endParaRPr lang="en-US"/>
          </a:p>
        </p:txBody>
      </p:sp>
      <p:sp>
        <p:nvSpPr>
          <p:cNvPr id="214" name="Shape 5">
            <a:extLst>
              <a:ext uri="{FF2B5EF4-FFF2-40B4-BE49-F238E27FC236}">
                <a16:creationId xmlns:a16="http://schemas.microsoft.com/office/drawing/2014/main" id="{40C99D13-A109-FFC6-E109-EABF0910CCC0}"/>
              </a:ext>
            </a:extLst>
          </p:cNvPr>
          <p:cNvSpPr/>
          <p:nvPr/>
        </p:nvSpPr>
        <p:spPr>
          <a:xfrm>
            <a:off x="3017520" y="0"/>
            <a:ext cx="0" cy="6858000"/>
          </a:xfrm>
          <a:prstGeom prst="line">
            <a:avLst/>
          </a:prstGeom>
          <a:noFill/>
          <a:ln w="6350">
            <a:solidFill>
              <a:srgbClr val="1A2331"/>
            </a:solidFill>
            <a:prstDash val="solid"/>
          </a:ln>
        </p:spPr>
        <p:txBody>
          <a:bodyPr/>
          <a:lstStyle/>
          <a:p>
            <a:endParaRPr lang="en-US"/>
          </a:p>
        </p:txBody>
      </p:sp>
      <p:sp>
        <p:nvSpPr>
          <p:cNvPr id="215" name="Shape 6">
            <a:extLst>
              <a:ext uri="{FF2B5EF4-FFF2-40B4-BE49-F238E27FC236}">
                <a16:creationId xmlns:a16="http://schemas.microsoft.com/office/drawing/2014/main" id="{72EB59B2-B3AF-5994-6A10-A0B6B208F42C}"/>
              </a:ext>
            </a:extLst>
          </p:cNvPr>
          <p:cNvSpPr/>
          <p:nvPr/>
        </p:nvSpPr>
        <p:spPr>
          <a:xfrm>
            <a:off x="3520440" y="0"/>
            <a:ext cx="0" cy="6858000"/>
          </a:xfrm>
          <a:prstGeom prst="line">
            <a:avLst/>
          </a:prstGeom>
          <a:noFill/>
          <a:ln w="6350">
            <a:solidFill>
              <a:srgbClr val="1A2331"/>
            </a:solidFill>
            <a:prstDash val="solid"/>
          </a:ln>
        </p:spPr>
        <p:txBody>
          <a:bodyPr/>
          <a:lstStyle/>
          <a:p>
            <a:endParaRPr lang="en-US"/>
          </a:p>
        </p:txBody>
      </p:sp>
      <p:sp>
        <p:nvSpPr>
          <p:cNvPr id="216" name="Shape 7">
            <a:extLst>
              <a:ext uri="{FF2B5EF4-FFF2-40B4-BE49-F238E27FC236}">
                <a16:creationId xmlns:a16="http://schemas.microsoft.com/office/drawing/2014/main" id="{C203A9DA-1B26-2B62-59FD-D89E57951091}"/>
              </a:ext>
            </a:extLst>
          </p:cNvPr>
          <p:cNvSpPr/>
          <p:nvPr/>
        </p:nvSpPr>
        <p:spPr>
          <a:xfrm>
            <a:off x="4023360" y="0"/>
            <a:ext cx="0" cy="6858000"/>
          </a:xfrm>
          <a:prstGeom prst="line">
            <a:avLst/>
          </a:prstGeom>
          <a:noFill/>
          <a:ln w="6350">
            <a:solidFill>
              <a:srgbClr val="1A2331"/>
            </a:solidFill>
            <a:prstDash val="solid"/>
          </a:ln>
        </p:spPr>
        <p:txBody>
          <a:bodyPr/>
          <a:lstStyle/>
          <a:p>
            <a:endParaRPr lang="en-US"/>
          </a:p>
        </p:txBody>
      </p:sp>
      <p:sp>
        <p:nvSpPr>
          <p:cNvPr id="217" name="Shape 8">
            <a:extLst>
              <a:ext uri="{FF2B5EF4-FFF2-40B4-BE49-F238E27FC236}">
                <a16:creationId xmlns:a16="http://schemas.microsoft.com/office/drawing/2014/main" id="{79601CA0-F054-3945-6F8A-CC5C5CF72F31}"/>
              </a:ext>
            </a:extLst>
          </p:cNvPr>
          <p:cNvSpPr/>
          <p:nvPr/>
        </p:nvSpPr>
        <p:spPr>
          <a:xfrm>
            <a:off x="4526280" y="0"/>
            <a:ext cx="0" cy="6858000"/>
          </a:xfrm>
          <a:prstGeom prst="line">
            <a:avLst/>
          </a:prstGeom>
          <a:noFill/>
          <a:ln w="6350">
            <a:solidFill>
              <a:srgbClr val="1A2331"/>
            </a:solidFill>
            <a:prstDash val="solid"/>
          </a:ln>
        </p:spPr>
        <p:txBody>
          <a:bodyPr/>
          <a:lstStyle/>
          <a:p>
            <a:endParaRPr lang="en-US"/>
          </a:p>
        </p:txBody>
      </p:sp>
      <p:sp>
        <p:nvSpPr>
          <p:cNvPr id="218" name="Shape 9">
            <a:extLst>
              <a:ext uri="{FF2B5EF4-FFF2-40B4-BE49-F238E27FC236}">
                <a16:creationId xmlns:a16="http://schemas.microsoft.com/office/drawing/2014/main" id="{782469C7-A6E3-5457-2F32-8072FC26EC0C}"/>
              </a:ext>
            </a:extLst>
          </p:cNvPr>
          <p:cNvSpPr/>
          <p:nvPr/>
        </p:nvSpPr>
        <p:spPr>
          <a:xfrm>
            <a:off x="5029200" y="0"/>
            <a:ext cx="0" cy="6858000"/>
          </a:xfrm>
          <a:prstGeom prst="line">
            <a:avLst/>
          </a:prstGeom>
          <a:noFill/>
          <a:ln w="6350">
            <a:solidFill>
              <a:srgbClr val="1A2331"/>
            </a:solidFill>
            <a:prstDash val="solid"/>
          </a:ln>
        </p:spPr>
        <p:txBody>
          <a:bodyPr/>
          <a:lstStyle/>
          <a:p>
            <a:endParaRPr lang="en-US"/>
          </a:p>
        </p:txBody>
      </p:sp>
      <p:sp>
        <p:nvSpPr>
          <p:cNvPr id="219" name="Shape 10">
            <a:extLst>
              <a:ext uri="{FF2B5EF4-FFF2-40B4-BE49-F238E27FC236}">
                <a16:creationId xmlns:a16="http://schemas.microsoft.com/office/drawing/2014/main" id="{4EC221BF-B305-85D6-75DE-BAC1EE411C67}"/>
              </a:ext>
            </a:extLst>
          </p:cNvPr>
          <p:cNvSpPr/>
          <p:nvPr/>
        </p:nvSpPr>
        <p:spPr>
          <a:xfrm>
            <a:off x="5532120" y="0"/>
            <a:ext cx="0" cy="6858000"/>
          </a:xfrm>
          <a:prstGeom prst="line">
            <a:avLst/>
          </a:prstGeom>
          <a:noFill/>
          <a:ln w="6350">
            <a:solidFill>
              <a:srgbClr val="1A2331"/>
            </a:solidFill>
            <a:prstDash val="solid"/>
          </a:ln>
        </p:spPr>
        <p:txBody>
          <a:bodyPr/>
          <a:lstStyle/>
          <a:p>
            <a:endParaRPr lang="en-US" dirty="0"/>
          </a:p>
        </p:txBody>
      </p:sp>
      <p:sp>
        <p:nvSpPr>
          <p:cNvPr id="220" name="Shape 11">
            <a:extLst>
              <a:ext uri="{FF2B5EF4-FFF2-40B4-BE49-F238E27FC236}">
                <a16:creationId xmlns:a16="http://schemas.microsoft.com/office/drawing/2014/main" id="{6E100864-8D3C-EFDF-26A3-12D816DA53D4}"/>
              </a:ext>
            </a:extLst>
          </p:cNvPr>
          <p:cNvSpPr/>
          <p:nvPr/>
        </p:nvSpPr>
        <p:spPr>
          <a:xfrm>
            <a:off x="6035040" y="0"/>
            <a:ext cx="0" cy="6858000"/>
          </a:xfrm>
          <a:prstGeom prst="line">
            <a:avLst/>
          </a:prstGeom>
          <a:noFill/>
          <a:ln w="6350">
            <a:solidFill>
              <a:srgbClr val="1A2331"/>
            </a:solidFill>
            <a:prstDash val="solid"/>
          </a:ln>
        </p:spPr>
        <p:txBody>
          <a:bodyPr/>
          <a:lstStyle/>
          <a:p>
            <a:endParaRPr lang="en-US"/>
          </a:p>
        </p:txBody>
      </p:sp>
      <p:sp>
        <p:nvSpPr>
          <p:cNvPr id="221" name="Shape 12">
            <a:extLst>
              <a:ext uri="{FF2B5EF4-FFF2-40B4-BE49-F238E27FC236}">
                <a16:creationId xmlns:a16="http://schemas.microsoft.com/office/drawing/2014/main" id="{6D8AE38F-5A88-2DF8-BA7E-A2DF629672F9}"/>
              </a:ext>
            </a:extLst>
          </p:cNvPr>
          <p:cNvSpPr/>
          <p:nvPr/>
        </p:nvSpPr>
        <p:spPr>
          <a:xfrm>
            <a:off x="6537960" y="0"/>
            <a:ext cx="0" cy="6858000"/>
          </a:xfrm>
          <a:prstGeom prst="line">
            <a:avLst/>
          </a:prstGeom>
          <a:noFill/>
          <a:ln w="6350">
            <a:solidFill>
              <a:srgbClr val="1A2331"/>
            </a:solidFill>
            <a:prstDash val="solid"/>
          </a:ln>
        </p:spPr>
        <p:txBody>
          <a:bodyPr/>
          <a:lstStyle/>
          <a:p>
            <a:endParaRPr lang="en-US"/>
          </a:p>
        </p:txBody>
      </p:sp>
      <p:sp>
        <p:nvSpPr>
          <p:cNvPr id="222" name="Shape 13">
            <a:extLst>
              <a:ext uri="{FF2B5EF4-FFF2-40B4-BE49-F238E27FC236}">
                <a16:creationId xmlns:a16="http://schemas.microsoft.com/office/drawing/2014/main" id="{E90729F2-C940-1628-DB5F-E889A233E455}"/>
              </a:ext>
            </a:extLst>
          </p:cNvPr>
          <p:cNvSpPr/>
          <p:nvPr/>
        </p:nvSpPr>
        <p:spPr>
          <a:xfrm>
            <a:off x="7040880" y="0"/>
            <a:ext cx="0" cy="6858000"/>
          </a:xfrm>
          <a:prstGeom prst="line">
            <a:avLst/>
          </a:prstGeom>
          <a:noFill/>
          <a:ln w="6350">
            <a:solidFill>
              <a:srgbClr val="1A2331"/>
            </a:solidFill>
            <a:prstDash val="solid"/>
          </a:ln>
        </p:spPr>
        <p:txBody>
          <a:bodyPr/>
          <a:lstStyle/>
          <a:p>
            <a:endParaRPr lang="en-US"/>
          </a:p>
        </p:txBody>
      </p:sp>
      <p:sp>
        <p:nvSpPr>
          <p:cNvPr id="223" name="Shape 14">
            <a:extLst>
              <a:ext uri="{FF2B5EF4-FFF2-40B4-BE49-F238E27FC236}">
                <a16:creationId xmlns:a16="http://schemas.microsoft.com/office/drawing/2014/main" id="{351E2FE2-9E02-36F9-958B-01243B8779F3}"/>
              </a:ext>
            </a:extLst>
          </p:cNvPr>
          <p:cNvSpPr/>
          <p:nvPr/>
        </p:nvSpPr>
        <p:spPr>
          <a:xfrm>
            <a:off x="7543800" y="0"/>
            <a:ext cx="0" cy="6858000"/>
          </a:xfrm>
          <a:prstGeom prst="line">
            <a:avLst/>
          </a:prstGeom>
          <a:noFill/>
          <a:ln w="6350">
            <a:solidFill>
              <a:srgbClr val="1A2331"/>
            </a:solidFill>
            <a:prstDash val="solid"/>
          </a:ln>
        </p:spPr>
        <p:txBody>
          <a:bodyPr/>
          <a:lstStyle/>
          <a:p>
            <a:endParaRPr lang="en-US"/>
          </a:p>
        </p:txBody>
      </p:sp>
      <p:sp>
        <p:nvSpPr>
          <p:cNvPr id="224" name="Shape 15">
            <a:extLst>
              <a:ext uri="{FF2B5EF4-FFF2-40B4-BE49-F238E27FC236}">
                <a16:creationId xmlns:a16="http://schemas.microsoft.com/office/drawing/2014/main" id="{AF470E56-1A5F-2110-B190-C9DA5A44A48F}"/>
              </a:ext>
            </a:extLst>
          </p:cNvPr>
          <p:cNvSpPr/>
          <p:nvPr/>
        </p:nvSpPr>
        <p:spPr>
          <a:xfrm>
            <a:off x="8046720" y="0"/>
            <a:ext cx="0" cy="6858000"/>
          </a:xfrm>
          <a:prstGeom prst="line">
            <a:avLst/>
          </a:prstGeom>
          <a:noFill/>
          <a:ln w="6350">
            <a:solidFill>
              <a:srgbClr val="1A2331"/>
            </a:solidFill>
            <a:prstDash val="solid"/>
          </a:ln>
        </p:spPr>
        <p:txBody>
          <a:bodyPr/>
          <a:lstStyle/>
          <a:p>
            <a:endParaRPr lang="en-US"/>
          </a:p>
        </p:txBody>
      </p:sp>
      <p:sp>
        <p:nvSpPr>
          <p:cNvPr id="225" name="Shape 16">
            <a:extLst>
              <a:ext uri="{FF2B5EF4-FFF2-40B4-BE49-F238E27FC236}">
                <a16:creationId xmlns:a16="http://schemas.microsoft.com/office/drawing/2014/main" id="{7ECDE92F-D7F0-E198-EB48-D995B61F1EBF}"/>
              </a:ext>
            </a:extLst>
          </p:cNvPr>
          <p:cNvSpPr/>
          <p:nvPr/>
        </p:nvSpPr>
        <p:spPr>
          <a:xfrm>
            <a:off x="8549640" y="0"/>
            <a:ext cx="0" cy="6858000"/>
          </a:xfrm>
          <a:prstGeom prst="line">
            <a:avLst/>
          </a:prstGeom>
          <a:noFill/>
          <a:ln w="6350">
            <a:solidFill>
              <a:srgbClr val="1A2331"/>
            </a:solidFill>
            <a:prstDash val="solid"/>
          </a:ln>
        </p:spPr>
        <p:txBody>
          <a:bodyPr/>
          <a:lstStyle/>
          <a:p>
            <a:endParaRPr lang="en-US"/>
          </a:p>
        </p:txBody>
      </p:sp>
      <p:sp>
        <p:nvSpPr>
          <p:cNvPr id="226" name="Shape 17">
            <a:extLst>
              <a:ext uri="{FF2B5EF4-FFF2-40B4-BE49-F238E27FC236}">
                <a16:creationId xmlns:a16="http://schemas.microsoft.com/office/drawing/2014/main" id="{172DB43E-6221-9B7D-B01B-B736318FCD7B}"/>
              </a:ext>
            </a:extLst>
          </p:cNvPr>
          <p:cNvSpPr/>
          <p:nvPr/>
        </p:nvSpPr>
        <p:spPr>
          <a:xfrm>
            <a:off x="9052560" y="0"/>
            <a:ext cx="0" cy="6858000"/>
          </a:xfrm>
          <a:prstGeom prst="line">
            <a:avLst/>
          </a:prstGeom>
          <a:noFill/>
          <a:ln w="6350">
            <a:solidFill>
              <a:srgbClr val="1A2331"/>
            </a:solidFill>
            <a:prstDash val="solid"/>
          </a:ln>
        </p:spPr>
        <p:txBody>
          <a:bodyPr/>
          <a:lstStyle/>
          <a:p>
            <a:endParaRPr lang="en-US"/>
          </a:p>
        </p:txBody>
      </p:sp>
      <p:sp>
        <p:nvSpPr>
          <p:cNvPr id="227" name="Shape 18">
            <a:extLst>
              <a:ext uri="{FF2B5EF4-FFF2-40B4-BE49-F238E27FC236}">
                <a16:creationId xmlns:a16="http://schemas.microsoft.com/office/drawing/2014/main" id="{E7FDB577-DB43-CEBB-5FCE-2F917C012BCA}"/>
              </a:ext>
            </a:extLst>
          </p:cNvPr>
          <p:cNvSpPr/>
          <p:nvPr/>
        </p:nvSpPr>
        <p:spPr>
          <a:xfrm>
            <a:off x="9555480" y="0"/>
            <a:ext cx="0" cy="6858000"/>
          </a:xfrm>
          <a:prstGeom prst="line">
            <a:avLst/>
          </a:prstGeom>
          <a:noFill/>
          <a:ln w="6350">
            <a:solidFill>
              <a:srgbClr val="1A2331"/>
            </a:solidFill>
            <a:prstDash val="solid"/>
          </a:ln>
        </p:spPr>
        <p:txBody>
          <a:bodyPr/>
          <a:lstStyle/>
          <a:p>
            <a:endParaRPr lang="en-US"/>
          </a:p>
        </p:txBody>
      </p:sp>
      <p:sp>
        <p:nvSpPr>
          <p:cNvPr id="228" name="Shape 19">
            <a:extLst>
              <a:ext uri="{FF2B5EF4-FFF2-40B4-BE49-F238E27FC236}">
                <a16:creationId xmlns:a16="http://schemas.microsoft.com/office/drawing/2014/main" id="{F5F50EB6-652A-44D6-D47C-BF4E219E8A2B}"/>
              </a:ext>
            </a:extLst>
          </p:cNvPr>
          <p:cNvSpPr/>
          <p:nvPr/>
        </p:nvSpPr>
        <p:spPr>
          <a:xfrm>
            <a:off x="10058400" y="0"/>
            <a:ext cx="0" cy="6858000"/>
          </a:xfrm>
          <a:prstGeom prst="line">
            <a:avLst/>
          </a:prstGeom>
          <a:noFill/>
          <a:ln w="6350">
            <a:solidFill>
              <a:srgbClr val="1A2331"/>
            </a:solidFill>
            <a:prstDash val="solid"/>
          </a:ln>
        </p:spPr>
        <p:txBody>
          <a:bodyPr/>
          <a:lstStyle/>
          <a:p>
            <a:endParaRPr lang="en-US"/>
          </a:p>
        </p:txBody>
      </p:sp>
      <p:sp>
        <p:nvSpPr>
          <p:cNvPr id="229" name="Shape 20">
            <a:extLst>
              <a:ext uri="{FF2B5EF4-FFF2-40B4-BE49-F238E27FC236}">
                <a16:creationId xmlns:a16="http://schemas.microsoft.com/office/drawing/2014/main" id="{02DFD54E-10FF-F20B-C4FE-E1CF166615A0}"/>
              </a:ext>
            </a:extLst>
          </p:cNvPr>
          <p:cNvSpPr/>
          <p:nvPr/>
        </p:nvSpPr>
        <p:spPr>
          <a:xfrm>
            <a:off x="10561320" y="0"/>
            <a:ext cx="0" cy="6858000"/>
          </a:xfrm>
          <a:prstGeom prst="line">
            <a:avLst/>
          </a:prstGeom>
          <a:noFill/>
          <a:ln w="6350">
            <a:solidFill>
              <a:srgbClr val="1A2331"/>
            </a:solidFill>
            <a:prstDash val="solid"/>
          </a:ln>
        </p:spPr>
        <p:txBody>
          <a:bodyPr/>
          <a:lstStyle/>
          <a:p>
            <a:endParaRPr lang="en-US"/>
          </a:p>
        </p:txBody>
      </p:sp>
      <p:sp>
        <p:nvSpPr>
          <p:cNvPr id="230" name="Shape 21">
            <a:extLst>
              <a:ext uri="{FF2B5EF4-FFF2-40B4-BE49-F238E27FC236}">
                <a16:creationId xmlns:a16="http://schemas.microsoft.com/office/drawing/2014/main" id="{AFE061B1-8EF3-03D8-F797-C343C0DC0274}"/>
              </a:ext>
            </a:extLst>
          </p:cNvPr>
          <p:cNvSpPr/>
          <p:nvPr/>
        </p:nvSpPr>
        <p:spPr>
          <a:xfrm>
            <a:off x="11064240" y="0"/>
            <a:ext cx="0" cy="6858000"/>
          </a:xfrm>
          <a:prstGeom prst="line">
            <a:avLst/>
          </a:prstGeom>
          <a:noFill/>
          <a:ln w="6350">
            <a:solidFill>
              <a:srgbClr val="1A2331"/>
            </a:solidFill>
            <a:prstDash val="solid"/>
          </a:ln>
        </p:spPr>
        <p:txBody>
          <a:bodyPr/>
          <a:lstStyle/>
          <a:p>
            <a:endParaRPr lang="en-US"/>
          </a:p>
        </p:txBody>
      </p:sp>
      <p:sp>
        <p:nvSpPr>
          <p:cNvPr id="231" name="Shape 22">
            <a:extLst>
              <a:ext uri="{FF2B5EF4-FFF2-40B4-BE49-F238E27FC236}">
                <a16:creationId xmlns:a16="http://schemas.microsoft.com/office/drawing/2014/main" id="{EE2B6465-6CB6-8ADB-984A-D688581248B9}"/>
              </a:ext>
            </a:extLst>
          </p:cNvPr>
          <p:cNvSpPr/>
          <p:nvPr/>
        </p:nvSpPr>
        <p:spPr>
          <a:xfrm>
            <a:off x="11567160" y="0"/>
            <a:ext cx="0" cy="6858000"/>
          </a:xfrm>
          <a:prstGeom prst="line">
            <a:avLst/>
          </a:prstGeom>
          <a:noFill/>
          <a:ln w="6350">
            <a:solidFill>
              <a:srgbClr val="1A2331"/>
            </a:solidFill>
            <a:prstDash val="solid"/>
          </a:ln>
        </p:spPr>
        <p:txBody>
          <a:bodyPr/>
          <a:lstStyle/>
          <a:p>
            <a:endParaRPr lang="en-US"/>
          </a:p>
        </p:txBody>
      </p:sp>
      <p:sp>
        <p:nvSpPr>
          <p:cNvPr id="232" name="Shape 23">
            <a:extLst>
              <a:ext uri="{FF2B5EF4-FFF2-40B4-BE49-F238E27FC236}">
                <a16:creationId xmlns:a16="http://schemas.microsoft.com/office/drawing/2014/main" id="{648980C9-52C8-D1FE-3D2D-82A2665AE65B}"/>
              </a:ext>
            </a:extLst>
          </p:cNvPr>
          <p:cNvSpPr/>
          <p:nvPr/>
        </p:nvSpPr>
        <p:spPr>
          <a:xfrm>
            <a:off x="12070080" y="0"/>
            <a:ext cx="0" cy="6858000"/>
          </a:xfrm>
          <a:prstGeom prst="line">
            <a:avLst/>
          </a:prstGeom>
          <a:noFill/>
          <a:ln w="6350">
            <a:solidFill>
              <a:srgbClr val="1A2331"/>
            </a:solidFill>
            <a:prstDash val="solid"/>
          </a:ln>
        </p:spPr>
        <p:txBody>
          <a:bodyPr/>
          <a:lstStyle/>
          <a:p>
            <a:endParaRPr lang="en-US"/>
          </a:p>
        </p:txBody>
      </p:sp>
      <p:sp>
        <p:nvSpPr>
          <p:cNvPr id="233" name="Shape 24">
            <a:extLst>
              <a:ext uri="{FF2B5EF4-FFF2-40B4-BE49-F238E27FC236}">
                <a16:creationId xmlns:a16="http://schemas.microsoft.com/office/drawing/2014/main" id="{88A05DB8-C46A-FB24-D35A-903B1570C1E2}"/>
              </a:ext>
            </a:extLst>
          </p:cNvPr>
          <p:cNvSpPr/>
          <p:nvPr/>
        </p:nvSpPr>
        <p:spPr>
          <a:xfrm>
            <a:off x="0" y="502920"/>
            <a:ext cx="12191695" cy="0"/>
          </a:xfrm>
          <a:prstGeom prst="line">
            <a:avLst/>
          </a:prstGeom>
          <a:noFill/>
          <a:ln w="6350">
            <a:solidFill>
              <a:srgbClr val="1A2331"/>
            </a:solidFill>
            <a:prstDash val="solid"/>
          </a:ln>
        </p:spPr>
        <p:txBody>
          <a:bodyPr/>
          <a:lstStyle/>
          <a:p>
            <a:endParaRPr lang="en-US"/>
          </a:p>
        </p:txBody>
      </p:sp>
      <p:sp>
        <p:nvSpPr>
          <p:cNvPr id="234" name="Shape 25">
            <a:extLst>
              <a:ext uri="{FF2B5EF4-FFF2-40B4-BE49-F238E27FC236}">
                <a16:creationId xmlns:a16="http://schemas.microsoft.com/office/drawing/2014/main" id="{1DFA1EF0-5A9D-5797-A99F-B86AE49FB56C}"/>
              </a:ext>
            </a:extLst>
          </p:cNvPr>
          <p:cNvSpPr/>
          <p:nvPr/>
        </p:nvSpPr>
        <p:spPr>
          <a:xfrm>
            <a:off x="0" y="1005840"/>
            <a:ext cx="12191695" cy="0"/>
          </a:xfrm>
          <a:prstGeom prst="line">
            <a:avLst/>
          </a:prstGeom>
          <a:noFill/>
          <a:ln w="6350">
            <a:solidFill>
              <a:srgbClr val="1A2331"/>
            </a:solidFill>
            <a:prstDash val="solid"/>
          </a:ln>
        </p:spPr>
        <p:txBody>
          <a:bodyPr/>
          <a:lstStyle/>
          <a:p>
            <a:endParaRPr lang="en-US"/>
          </a:p>
        </p:txBody>
      </p:sp>
      <p:sp>
        <p:nvSpPr>
          <p:cNvPr id="235" name="Shape 26">
            <a:extLst>
              <a:ext uri="{FF2B5EF4-FFF2-40B4-BE49-F238E27FC236}">
                <a16:creationId xmlns:a16="http://schemas.microsoft.com/office/drawing/2014/main" id="{256900A9-8597-15F6-3C85-66745B739F72}"/>
              </a:ext>
            </a:extLst>
          </p:cNvPr>
          <p:cNvSpPr/>
          <p:nvPr/>
        </p:nvSpPr>
        <p:spPr>
          <a:xfrm>
            <a:off x="0" y="1508760"/>
            <a:ext cx="12191695" cy="0"/>
          </a:xfrm>
          <a:prstGeom prst="line">
            <a:avLst/>
          </a:prstGeom>
          <a:noFill/>
          <a:ln w="6350">
            <a:solidFill>
              <a:srgbClr val="1A2331"/>
            </a:solidFill>
            <a:prstDash val="solid"/>
          </a:ln>
        </p:spPr>
        <p:txBody>
          <a:bodyPr/>
          <a:lstStyle/>
          <a:p>
            <a:endParaRPr lang="en-US"/>
          </a:p>
        </p:txBody>
      </p:sp>
      <p:sp>
        <p:nvSpPr>
          <p:cNvPr id="236" name="Shape 27">
            <a:extLst>
              <a:ext uri="{FF2B5EF4-FFF2-40B4-BE49-F238E27FC236}">
                <a16:creationId xmlns:a16="http://schemas.microsoft.com/office/drawing/2014/main" id="{9E81C6F5-69AA-7E25-9DC2-BD50653B9165}"/>
              </a:ext>
            </a:extLst>
          </p:cNvPr>
          <p:cNvSpPr/>
          <p:nvPr/>
        </p:nvSpPr>
        <p:spPr>
          <a:xfrm>
            <a:off x="0" y="2011680"/>
            <a:ext cx="12191695" cy="0"/>
          </a:xfrm>
          <a:prstGeom prst="line">
            <a:avLst/>
          </a:prstGeom>
          <a:noFill/>
          <a:ln w="6350">
            <a:solidFill>
              <a:srgbClr val="1A2331"/>
            </a:solidFill>
            <a:prstDash val="solid"/>
          </a:ln>
        </p:spPr>
        <p:txBody>
          <a:bodyPr/>
          <a:lstStyle/>
          <a:p>
            <a:endParaRPr lang="en-US"/>
          </a:p>
        </p:txBody>
      </p:sp>
      <p:sp>
        <p:nvSpPr>
          <p:cNvPr id="237" name="Shape 28">
            <a:extLst>
              <a:ext uri="{FF2B5EF4-FFF2-40B4-BE49-F238E27FC236}">
                <a16:creationId xmlns:a16="http://schemas.microsoft.com/office/drawing/2014/main" id="{06956664-332F-873A-014B-04B59CC3AC4A}"/>
              </a:ext>
            </a:extLst>
          </p:cNvPr>
          <p:cNvSpPr/>
          <p:nvPr/>
        </p:nvSpPr>
        <p:spPr>
          <a:xfrm>
            <a:off x="0" y="2514600"/>
            <a:ext cx="12191695" cy="0"/>
          </a:xfrm>
          <a:prstGeom prst="line">
            <a:avLst/>
          </a:prstGeom>
          <a:noFill/>
          <a:ln w="6350">
            <a:solidFill>
              <a:srgbClr val="1A2331"/>
            </a:solidFill>
            <a:prstDash val="solid"/>
          </a:ln>
        </p:spPr>
        <p:txBody>
          <a:bodyPr/>
          <a:lstStyle/>
          <a:p>
            <a:endParaRPr lang="en-US"/>
          </a:p>
        </p:txBody>
      </p:sp>
      <p:sp>
        <p:nvSpPr>
          <p:cNvPr id="238" name="Shape 29">
            <a:extLst>
              <a:ext uri="{FF2B5EF4-FFF2-40B4-BE49-F238E27FC236}">
                <a16:creationId xmlns:a16="http://schemas.microsoft.com/office/drawing/2014/main" id="{BECEBB52-3C8A-4A46-D8CC-B7EFFFAFD733}"/>
              </a:ext>
            </a:extLst>
          </p:cNvPr>
          <p:cNvSpPr/>
          <p:nvPr/>
        </p:nvSpPr>
        <p:spPr>
          <a:xfrm>
            <a:off x="0" y="3017520"/>
            <a:ext cx="12191695" cy="0"/>
          </a:xfrm>
          <a:prstGeom prst="line">
            <a:avLst/>
          </a:prstGeom>
          <a:noFill/>
          <a:ln w="6350">
            <a:solidFill>
              <a:srgbClr val="1A2331"/>
            </a:solidFill>
            <a:prstDash val="solid"/>
          </a:ln>
        </p:spPr>
        <p:txBody>
          <a:bodyPr/>
          <a:lstStyle/>
          <a:p>
            <a:endParaRPr lang="en-US"/>
          </a:p>
        </p:txBody>
      </p:sp>
      <p:sp>
        <p:nvSpPr>
          <p:cNvPr id="239" name="Shape 30">
            <a:extLst>
              <a:ext uri="{FF2B5EF4-FFF2-40B4-BE49-F238E27FC236}">
                <a16:creationId xmlns:a16="http://schemas.microsoft.com/office/drawing/2014/main" id="{20E6D503-AA4B-0407-8900-8862DEA42690}"/>
              </a:ext>
            </a:extLst>
          </p:cNvPr>
          <p:cNvSpPr/>
          <p:nvPr/>
        </p:nvSpPr>
        <p:spPr>
          <a:xfrm>
            <a:off x="0" y="3520440"/>
            <a:ext cx="12191695" cy="0"/>
          </a:xfrm>
          <a:prstGeom prst="line">
            <a:avLst/>
          </a:prstGeom>
          <a:noFill/>
          <a:ln w="6350">
            <a:solidFill>
              <a:srgbClr val="1A2331"/>
            </a:solidFill>
            <a:prstDash val="solid"/>
          </a:ln>
        </p:spPr>
        <p:txBody>
          <a:bodyPr/>
          <a:lstStyle/>
          <a:p>
            <a:endParaRPr lang="en-US"/>
          </a:p>
        </p:txBody>
      </p:sp>
      <p:sp>
        <p:nvSpPr>
          <p:cNvPr id="240" name="Shape 31">
            <a:extLst>
              <a:ext uri="{FF2B5EF4-FFF2-40B4-BE49-F238E27FC236}">
                <a16:creationId xmlns:a16="http://schemas.microsoft.com/office/drawing/2014/main" id="{BCA56029-1CDF-05AF-073A-866E28429043}"/>
              </a:ext>
            </a:extLst>
          </p:cNvPr>
          <p:cNvSpPr/>
          <p:nvPr/>
        </p:nvSpPr>
        <p:spPr>
          <a:xfrm>
            <a:off x="0" y="4023360"/>
            <a:ext cx="12191695" cy="0"/>
          </a:xfrm>
          <a:prstGeom prst="line">
            <a:avLst/>
          </a:prstGeom>
          <a:noFill/>
          <a:ln w="6350">
            <a:solidFill>
              <a:srgbClr val="1A2331"/>
            </a:solidFill>
            <a:prstDash val="solid"/>
          </a:ln>
        </p:spPr>
        <p:txBody>
          <a:bodyPr/>
          <a:lstStyle/>
          <a:p>
            <a:endParaRPr lang="en-US" dirty="0"/>
          </a:p>
        </p:txBody>
      </p:sp>
      <p:sp>
        <p:nvSpPr>
          <p:cNvPr id="241" name="Shape 32">
            <a:extLst>
              <a:ext uri="{FF2B5EF4-FFF2-40B4-BE49-F238E27FC236}">
                <a16:creationId xmlns:a16="http://schemas.microsoft.com/office/drawing/2014/main" id="{E382E906-15CE-222B-5DFC-023FB0D09A7E}"/>
              </a:ext>
            </a:extLst>
          </p:cNvPr>
          <p:cNvSpPr/>
          <p:nvPr/>
        </p:nvSpPr>
        <p:spPr>
          <a:xfrm>
            <a:off x="0" y="4526280"/>
            <a:ext cx="12191695" cy="0"/>
          </a:xfrm>
          <a:prstGeom prst="line">
            <a:avLst/>
          </a:prstGeom>
          <a:noFill/>
          <a:ln w="6350">
            <a:solidFill>
              <a:srgbClr val="1A2331"/>
            </a:solidFill>
            <a:prstDash val="solid"/>
          </a:ln>
        </p:spPr>
        <p:txBody>
          <a:bodyPr/>
          <a:lstStyle/>
          <a:p>
            <a:endParaRPr lang="en-US"/>
          </a:p>
        </p:txBody>
      </p:sp>
      <p:sp>
        <p:nvSpPr>
          <p:cNvPr id="242" name="Shape 33">
            <a:extLst>
              <a:ext uri="{FF2B5EF4-FFF2-40B4-BE49-F238E27FC236}">
                <a16:creationId xmlns:a16="http://schemas.microsoft.com/office/drawing/2014/main" id="{1A3FC712-8507-B6F4-E6C1-4D6A082FFE16}"/>
              </a:ext>
            </a:extLst>
          </p:cNvPr>
          <p:cNvSpPr/>
          <p:nvPr/>
        </p:nvSpPr>
        <p:spPr>
          <a:xfrm>
            <a:off x="0" y="5029200"/>
            <a:ext cx="12191695" cy="0"/>
          </a:xfrm>
          <a:prstGeom prst="line">
            <a:avLst/>
          </a:prstGeom>
          <a:noFill/>
          <a:ln w="6350">
            <a:solidFill>
              <a:srgbClr val="1A2331"/>
            </a:solidFill>
            <a:prstDash val="solid"/>
          </a:ln>
        </p:spPr>
        <p:txBody>
          <a:bodyPr/>
          <a:lstStyle/>
          <a:p>
            <a:endParaRPr lang="en-US"/>
          </a:p>
        </p:txBody>
      </p:sp>
      <p:sp>
        <p:nvSpPr>
          <p:cNvPr id="243" name="Shape 34">
            <a:extLst>
              <a:ext uri="{FF2B5EF4-FFF2-40B4-BE49-F238E27FC236}">
                <a16:creationId xmlns:a16="http://schemas.microsoft.com/office/drawing/2014/main" id="{B5DEF052-BFDA-0443-D4A8-A06B1B0618D8}"/>
              </a:ext>
            </a:extLst>
          </p:cNvPr>
          <p:cNvSpPr/>
          <p:nvPr/>
        </p:nvSpPr>
        <p:spPr>
          <a:xfrm>
            <a:off x="0" y="5532120"/>
            <a:ext cx="12191695" cy="0"/>
          </a:xfrm>
          <a:prstGeom prst="line">
            <a:avLst/>
          </a:prstGeom>
          <a:noFill/>
          <a:ln w="6350">
            <a:solidFill>
              <a:srgbClr val="1A2331"/>
            </a:solidFill>
            <a:prstDash val="solid"/>
          </a:ln>
        </p:spPr>
        <p:txBody>
          <a:bodyPr/>
          <a:lstStyle/>
          <a:p>
            <a:endParaRPr lang="en-US"/>
          </a:p>
        </p:txBody>
      </p:sp>
      <p:sp>
        <p:nvSpPr>
          <p:cNvPr id="244" name="Shape 35">
            <a:extLst>
              <a:ext uri="{FF2B5EF4-FFF2-40B4-BE49-F238E27FC236}">
                <a16:creationId xmlns:a16="http://schemas.microsoft.com/office/drawing/2014/main" id="{1687911E-BB8C-11A2-1333-54E147AA1A3E}"/>
              </a:ext>
            </a:extLst>
          </p:cNvPr>
          <p:cNvSpPr/>
          <p:nvPr/>
        </p:nvSpPr>
        <p:spPr>
          <a:xfrm>
            <a:off x="0" y="6035040"/>
            <a:ext cx="12191695" cy="0"/>
          </a:xfrm>
          <a:prstGeom prst="line">
            <a:avLst/>
          </a:prstGeom>
          <a:noFill/>
          <a:ln w="6350">
            <a:solidFill>
              <a:srgbClr val="1A2331"/>
            </a:solidFill>
            <a:prstDash val="solid"/>
          </a:ln>
        </p:spPr>
        <p:txBody>
          <a:bodyPr/>
          <a:lstStyle/>
          <a:p>
            <a:endParaRPr lang="en-US"/>
          </a:p>
        </p:txBody>
      </p:sp>
      <p:sp>
        <p:nvSpPr>
          <p:cNvPr id="245" name="Shape 36">
            <a:extLst>
              <a:ext uri="{FF2B5EF4-FFF2-40B4-BE49-F238E27FC236}">
                <a16:creationId xmlns:a16="http://schemas.microsoft.com/office/drawing/2014/main" id="{37F4441C-0856-E091-F28F-9C1CFA09C48E}"/>
              </a:ext>
            </a:extLst>
          </p:cNvPr>
          <p:cNvSpPr/>
          <p:nvPr/>
        </p:nvSpPr>
        <p:spPr>
          <a:xfrm>
            <a:off x="0" y="6537960"/>
            <a:ext cx="12191695" cy="0"/>
          </a:xfrm>
          <a:prstGeom prst="line">
            <a:avLst/>
          </a:prstGeom>
          <a:noFill/>
          <a:ln w="6350">
            <a:solidFill>
              <a:srgbClr val="1A2331"/>
            </a:solidFill>
            <a:prstDash val="solid"/>
          </a:ln>
        </p:spPr>
        <p:txBody>
          <a:bodyPr/>
          <a:lstStyle/>
          <a:p>
            <a:endParaRPr lang="en-US"/>
          </a:p>
        </p:txBody>
      </p:sp>
      <p:sp>
        <p:nvSpPr>
          <p:cNvPr id="246" name="Shape 37">
            <a:extLst>
              <a:ext uri="{FF2B5EF4-FFF2-40B4-BE49-F238E27FC236}">
                <a16:creationId xmlns:a16="http://schemas.microsoft.com/office/drawing/2014/main" id="{17850292-ECBB-DC52-1CBD-A9F58CCD5B85}"/>
              </a:ext>
            </a:extLst>
          </p:cNvPr>
          <p:cNvSpPr/>
          <p:nvPr/>
        </p:nvSpPr>
        <p:spPr>
          <a:xfrm>
            <a:off x="566928" y="420624"/>
            <a:ext cx="274320" cy="274320"/>
          </a:xfrm>
          <a:prstGeom prst="rect">
            <a:avLst/>
          </a:prstGeom>
          <a:solidFill>
            <a:srgbClr val="7C4DE8"/>
          </a:solidFill>
          <a:ln/>
        </p:spPr>
        <p:txBody>
          <a:bodyPr/>
          <a:lstStyle/>
          <a:p>
            <a:endParaRPr lang="en-US"/>
          </a:p>
        </p:txBody>
      </p:sp>
      <p:sp>
        <p:nvSpPr>
          <p:cNvPr id="247" name="Shape 38">
            <a:extLst>
              <a:ext uri="{FF2B5EF4-FFF2-40B4-BE49-F238E27FC236}">
                <a16:creationId xmlns:a16="http://schemas.microsoft.com/office/drawing/2014/main" id="{76BDE931-BA17-5576-B854-FB2595DF0906}"/>
              </a:ext>
            </a:extLst>
          </p:cNvPr>
          <p:cNvSpPr/>
          <p:nvPr/>
        </p:nvSpPr>
        <p:spPr>
          <a:xfrm>
            <a:off x="640994" y="494690"/>
            <a:ext cx="126187" cy="126187"/>
          </a:xfrm>
          <a:prstGeom prst="rect">
            <a:avLst/>
          </a:prstGeom>
          <a:solidFill>
            <a:srgbClr val="0E141B"/>
          </a:solidFill>
          <a:ln/>
        </p:spPr>
        <p:txBody>
          <a:bodyPr/>
          <a:lstStyle/>
          <a:p>
            <a:endParaRPr lang="en-US"/>
          </a:p>
        </p:txBody>
      </p:sp>
      <p:sp>
        <p:nvSpPr>
          <p:cNvPr id="248" name="Shape 39">
            <a:extLst>
              <a:ext uri="{FF2B5EF4-FFF2-40B4-BE49-F238E27FC236}">
                <a16:creationId xmlns:a16="http://schemas.microsoft.com/office/drawing/2014/main" id="{8B68A0F6-EAFB-81B6-6C96-292DD23B8806}"/>
              </a:ext>
            </a:extLst>
          </p:cNvPr>
          <p:cNvSpPr/>
          <p:nvPr/>
        </p:nvSpPr>
        <p:spPr>
          <a:xfrm>
            <a:off x="613562" y="365760"/>
            <a:ext cx="46634" cy="54864"/>
          </a:xfrm>
          <a:prstGeom prst="rect">
            <a:avLst/>
          </a:prstGeom>
          <a:solidFill>
            <a:srgbClr val="7C4DE8"/>
          </a:solidFill>
          <a:ln/>
        </p:spPr>
        <p:txBody>
          <a:bodyPr/>
          <a:lstStyle/>
          <a:p>
            <a:endParaRPr lang="en-US"/>
          </a:p>
        </p:txBody>
      </p:sp>
      <p:sp>
        <p:nvSpPr>
          <p:cNvPr id="249" name="Shape 40">
            <a:extLst>
              <a:ext uri="{FF2B5EF4-FFF2-40B4-BE49-F238E27FC236}">
                <a16:creationId xmlns:a16="http://schemas.microsoft.com/office/drawing/2014/main" id="{0E52B621-DDB5-3780-690B-D8D8A96A3A28}"/>
              </a:ext>
            </a:extLst>
          </p:cNvPr>
          <p:cNvSpPr/>
          <p:nvPr/>
        </p:nvSpPr>
        <p:spPr>
          <a:xfrm>
            <a:off x="613562" y="694944"/>
            <a:ext cx="46634" cy="54864"/>
          </a:xfrm>
          <a:prstGeom prst="rect">
            <a:avLst/>
          </a:prstGeom>
          <a:solidFill>
            <a:srgbClr val="7C4DE8"/>
          </a:solidFill>
          <a:ln/>
        </p:spPr>
        <p:txBody>
          <a:bodyPr/>
          <a:lstStyle/>
          <a:p>
            <a:endParaRPr lang="en-US"/>
          </a:p>
        </p:txBody>
      </p:sp>
      <p:sp>
        <p:nvSpPr>
          <p:cNvPr id="250" name="Shape 41">
            <a:extLst>
              <a:ext uri="{FF2B5EF4-FFF2-40B4-BE49-F238E27FC236}">
                <a16:creationId xmlns:a16="http://schemas.microsoft.com/office/drawing/2014/main" id="{630DAB2C-3DD9-8927-16B6-DECAC9B3D30D}"/>
              </a:ext>
            </a:extLst>
          </p:cNvPr>
          <p:cNvSpPr/>
          <p:nvPr/>
        </p:nvSpPr>
        <p:spPr>
          <a:xfrm>
            <a:off x="512064" y="467258"/>
            <a:ext cx="54864" cy="46634"/>
          </a:xfrm>
          <a:prstGeom prst="rect">
            <a:avLst/>
          </a:prstGeom>
          <a:solidFill>
            <a:srgbClr val="7C4DE8"/>
          </a:solidFill>
          <a:ln/>
        </p:spPr>
        <p:txBody>
          <a:bodyPr/>
          <a:lstStyle/>
          <a:p>
            <a:endParaRPr lang="en-US"/>
          </a:p>
        </p:txBody>
      </p:sp>
      <p:sp>
        <p:nvSpPr>
          <p:cNvPr id="251" name="Shape 42">
            <a:extLst>
              <a:ext uri="{FF2B5EF4-FFF2-40B4-BE49-F238E27FC236}">
                <a16:creationId xmlns:a16="http://schemas.microsoft.com/office/drawing/2014/main" id="{E3751A14-5681-21AC-B018-04A0D5C64617}"/>
              </a:ext>
            </a:extLst>
          </p:cNvPr>
          <p:cNvSpPr/>
          <p:nvPr/>
        </p:nvSpPr>
        <p:spPr>
          <a:xfrm>
            <a:off x="841248" y="467258"/>
            <a:ext cx="54864" cy="46634"/>
          </a:xfrm>
          <a:prstGeom prst="rect">
            <a:avLst/>
          </a:prstGeom>
          <a:solidFill>
            <a:srgbClr val="7C4DE8"/>
          </a:solidFill>
          <a:ln/>
        </p:spPr>
        <p:txBody>
          <a:bodyPr/>
          <a:lstStyle/>
          <a:p>
            <a:endParaRPr lang="en-US"/>
          </a:p>
        </p:txBody>
      </p:sp>
      <p:sp>
        <p:nvSpPr>
          <p:cNvPr id="252" name="Shape 43">
            <a:extLst>
              <a:ext uri="{FF2B5EF4-FFF2-40B4-BE49-F238E27FC236}">
                <a16:creationId xmlns:a16="http://schemas.microsoft.com/office/drawing/2014/main" id="{5A7A2BF0-3F7A-BDC9-69C8-255838AEA7E7}"/>
              </a:ext>
            </a:extLst>
          </p:cNvPr>
          <p:cNvSpPr/>
          <p:nvPr/>
        </p:nvSpPr>
        <p:spPr>
          <a:xfrm>
            <a:off x="747979" y="365760"/>
            <a:ext cx="46634" cy="54864"/>
          </a:xfrm>
          <a:prstGeom prst="rect">
            <a:avLst/>
          </a:prstGeom>
          <a:solidFill>
            <a:srgbClr val="7C4DE8"/>
          </a:solidFill>
          <a:ln/>
        </p:spPr>
        <p:txBody>
          <a:bodyPr/>
          <a:lstStyle/>
          <a:p>
            <a:endParaRPr lang="en-US"/>
          </a:p>
        </p:txBody>
      </p:sp>
      <p:sp>
        <p:nvSpPr>
          <p:cNvPr id="253" name="Shape 44">
            <a:extLst>
              <a:ext uri="{FF2B5EF4-FFF2-40B4-BE49-F238E27FC236}">
                <a16:creationId xmlns:a16="http://schemas.microsoft.com/office/drawing/2014/main" id="{D02AF9C9-0608-0DDA-4F4A-8C1D49F07711}"/>
              </a:ext>
            </a:extLst>
          </p:cNvPr>
          <p:cNvSpPr/>
          <p:nvPr/>
        </p:nvSpPr>
        <p:spPr>
          <a:xfrm>
            <a:off x="747979" y="694944"/>
            <a:ext cx="46634" cy="54864"/>
          </a:xfrm>
          <a:prstGeom prst="rect">
            <a:avLst/>
          </a:prstGeom>
          <a:solidFill>
            <a:srgbClr val="7C4DE8"/>
          </a:solidFill>
          <a:ln/>
        </p:spPr>
        <p:txBody>
          <a:bodyPr/>
          <a:lstStyle/>
          <a:p>
            <a:endParaRPr lang="en-US"/>
          </a:p>
        </p:txBody>
      </p:sp>
      <p:sp>
        <p:nvSpPr>
          <p:cNvPr id="254" name="Shape 45">
            <a:extLst>
              <a:ext uri="{FF2B5EF4-FFF2-40B4-BE49-F238E27FC236}">
                <a16:creationId xmlns:a16="http://schemas.microsoft.com/office/drawing/2014/main" id="{CE804032-31AC-8D65-B314-64420F94334C}"/>
              </a:ext>
            </a:extLst>
          </p:cNvPr>
          <p:cNvSpPr/>
          <p:nvPr/>
        </p:nvSpPr>
        <p:spPr>
          <a:xfrm>
            <a:off x="512064" y="601675"/>
            <a:ext cx="54864" cy="46634"/>
          </a:xfrm>
          <a:prstGeom prst="rect">
            <a:avLst/>
          </a:prstGeom>
          <a:solidFill>
            <a:srgbClr val="7C4DE8"/>
          </a:solidFill>
          <a:ln/>
        </p:spPr>
        <p:txBody>
          <a:bodyPr/>
          <a:lstStyle/>
          <a:p>
            <a:endParaRPr lang="en-US"/>
          </a:p>
        </p:txBody>
      </p:sp>
      <p:sp>
        <p:nvSpPr>
          <p:cNvPr id="255" name="Shape 46">
            <a:extLst>
              <a:ext uri="{FF2B5EF4-FFF2-40B4-BE49-F238E27FC236}">
                <a16:creationId xmlns:a16="http://schemas.microsoft.com/office/drawing/2014/main" id="{73219FEE-F4B3-07DD-C686-C1CCBD80168F}"/>
              </a:ext>
            </a:extLst>
          </p:cNvPr>
          <p:cNvSpPr/>
          <p:nvPr/>
        </p:nvSpPr>
        <p:spPr>
          <a:xfrm>
            <a:off x="841248" y="601675"/>
            <a:ext cx="54864" cy="46634"/>
          </a:xfrm>
          <a:prstGeom prst="rect">
            <a:avLst/>
          </a:prstGeom>
          <a:solidFill>
            <a:srgbClr val="7C4DE8"/>
          </a:solidFill>
          <a:ln/>
        </p:spPr>
        <p:txBody>
          <a:bodyPr/>
          <a:lstStyle/>
          <a:p>
            <a:endParaRPr lang="en-US"/>
          </a:p>
        </p:txBody>
      </p:sp>
      <p:sp>
        <p:nvSpPr>
          <p:cNvPr id="256" name="Text 47">
            <a:extLst>
              <a:ext uri="{FF2B5EF4-FFF2-40B4-BE49-F238E27FC236}">
                <a16:creationId xmlns:a16="http://schemas.microsoft.com/office/drawing/2014/main" id="{AFC43320-9C39-99A5-6AD1-E39A24B3372F}"/>
              </a:ext>
            </a:extLst>
          </p:cNvPr>
          <p:cNvSpPr/>
          <p:nvPr/>
        </p:nvSpPr>
        <p:spPr>
          <a:xfrm>
            <a:off x="1115568" y="329184"/>
            <a:ext cx="3108960" cy="475488"/>
          </a:xfrm>
          <a:prstGeom prst="rect">
            <a:avLst/>
          </a:prstGeom>
          <a:noFill/>
          <a:ln/>
        </p:spPr>
        <p:txBody>
          <a:bodyPr wrap="square" lIns="0" tIns="0" rIns="0" bIns="0" rtlCol="0" anchor="ctr"/>
          <a:lstStyle/>
          <a:p>
            <a:pPr marL="0" indent="0">
              <a:buNone/>
            </a:pPr>
            <a:r>
              <a:rPr lang="en-US" sz="850" b="1" kern="0" spc="60" dirty="0">
                <a:solidFill>
                  <a:srgbClr val="FFFFFF"/>
                </a:solidFill>
                <a:latin typeface="Arial" pitchFamily="34" charset="0"/>
                <a:ea typeface="Arial" pitchFamily="34" charset="-122"/>
                <a:cs typeface="Arial" pitchFamily="34" charset="-120"/>
              </a:rPr>
              <a:t>AWS STUDENT BUILDER GROUPS</a:t>
            </a:r>
            <a:endParaRPr lang="en-US" sz="850" dirty="0"/>
          </a:p>
          <a:p>
            <a:pPr marL="0" indent="0">
              <a:buNone/>
            </a:pPr>
            <a:r>
              <a:rPr lang="en-US" sz="700" kern="0" spc="160" dirty="0">
                <a:solidFill>
                  <a:srgbClr val="7C4DE8"/>
                </a:solidFill>
                <a:latin typeface="Consolas" pitchFamily="34" charset="0"/>
                <a:ea typeface="Consolas" pitchFamily="34" charset="-122"/>
                <a:cs typeface="Consolas" pitchFamily="34" charset="-120"/>
              </a:rPr>
              <a:t>VIT CHENNAI</a:t>
            </a:r>
            <a:endParaRPr lang="en-US" sz="850" dirty="0"/>
          </a:p>
        </p:txBody>
      </p:sp>
      <p:sp>
        <p:nvSpPr>
          <p:cNvPr id="257" name="Text 48">
            <a:extLst>
              <a:ext uri="{FF2B5EF4-FFF2-40B4-BE49-F238E27FC236}">
                <a16:creationId xmlns:a16="http://schemas.microsoft.com/office/drawing/2014/main" id="{8D5713F8-D21F-3940-7849-A8705E95DC54}"/>
              </a:ext>
            </a:extLst>
          </p:cNvPr>
          <p:cNvSpPr/>
          <p:nvPr/>
        </p:nvSpPr>
        <p:spPr>
          <a:xfrm>
            <a:off x="7589520" y="384048"/>
            <a:ext cx="4023360" cy="274320"/>
          </a:xfrm>
          <a:prstGeom prst="rect">
            <a:avLst/>
          </a:prstGeom>
          <a:noFill/>
          <a:ln/>
        </p:spPr>
        <p:txBody>
          <a:bodyPr wrap="square" lIns="0" tIns="0" rIns="0" bIns="0" rtlCol="0" anchor="ctr"/>
          <a:lstStyle/>
          <a:p>
            <a:pPr marL="0" indent="0" algn="r">
              <a:buNone/>
            </a:pPr>
            <a:r>
              <a:rPr lang="en-US" sz="900" kern="0" spc="120" dirty="0">
                <a:solidFill>
                  <a:srgbClr val="9AA3AE"/>
                </a:solidFill>
                <a:latin typeface="Consolas" pitchFamily="34" charset="0"/>
                <a:ea typeface="Consolas" pitchFamily="34" charset="-122"/>
                <a:cs typeface="Consolas" pitchFamily="34" charset="-120"/>
              </a:rPr>
              <a:t>SUBMISSION TEMPLATE · JULY 30-31</a:t>
            </a:r>
            <a:endParaRPr lang="en-US" sz="900" dirty="0"/>
          </a:p>
        </p:txBody>
      </p:sp>
      <p:sp>
        <p:nvSpPr>
          <p:cNvPr id="258" name="Text 49">
            <a:extLst>
              <a:ext uri="{FF2B5EF4-FFF2-40B4-BE49-F238E27FC236}">
                <a16:creationId xmlns:a16="http://schemas.microsoft.com/office/drawing/2014/main" id="{A503B14D-E800-93A4-2CCB-5584C47D62F8}"/>
              </a:ext>
            </a:extLst>
          </p:cNvPr>
          <p:cNvSpPr/>
          <p:nvPr/>
        </p:nvSpPr>
        <p:spPr>
          <a:xfrm>
            <a:off x="530352" y="1005840"/>
            <a:ext cx="11155680" cy="960120"/>
          </a:xfrm>
          <a:prstGeom prst="rect">
            <a:avLst/>
          </a:prstGeom>
          <a:noFill/>
          <a:ln/>
        </p:spPr>
        <p:txBody>
          <a:bodyPr wrap="square" lIns="0" tIns="0" rIns="0" bIns="0" rtlCol="0" anchor="ctr"/>
          <a:lstStyle/>
          <a:p>
            <a:pPr marL="0" indent="0">
              <a:buNone/>
            </a:pPr>
            <a:r>
              <a:rPr lang="en-US" sz="5600" kern="0" spc="600" dirty="0">
                <a:solidFill>
                  <a:srgbClr val="FFFFFF"/>
                </a:solidFill>
                <a:latin typeface="Arial Black" pitchFamily="34" charset="0"/>
                <a:ea typeface="Arial Black" pitchFamily="34" charset="-122"/>
                <a:cs typeface="Arial Black" pitchFamily="34" charset="-120"/>
              </a:rPr>
              <a:t>FRONT</a:t>
            </a:r>
            <a:r>
              <a:rPr lang="en-US" sz="5600" kern="0" spc="600" dirty="0">
                <a:solidFill>
                  <a:srgbClr val="7C4DE8"/>
                </a:solidFill>
                <a:latin typeface="Arial Black" pitchFamily="34" charset="0"/>
                <a:ea typeface="Arial Black" pitchFamily="34" charset="-122"/>
                <a:cs typeface="Arial Black" pitchFamily="34" charset="-120"/>
              </a:rPr>
              <a:t>IER</a:t>
            </a:r>
            <a:endParaRPr lang="en-US" sz="5600" dirty="0"/>
          </a:p>
        </p:txBody>
      </p:sp>
      <p:sp>
        <p:nvSpPr>
          <p:cNvPr id="259" name="Shape 50">
            <a:extLst>
              <a:ext uri="{FF2B5EF4-FFF2-40B4-BE49-F238E27FC236}">
                <a16:creationId xmlns:a16="http://schemas.microsoft.com/office/drawing/2014/main" id="{5F730884-D43F-38B2-402F-6DC653F7EC0C}"/>
              </a:ext>
            </a:extLst>
          </p:cNvPr>
          <p:cNvSpPr/>
          <p:nvPr/>
        </p:nvSpPr>
        <p:spPr>
          <a:xfrm>
            <a:off x="566928" y="2048256"/>
            <a:ext cx="7589520" cy="402336"/>
          </a:xfrm>
          <a:prstGeom prst="rect">
            <a:avLst/>
          </a:prstGeom>
          <a:ln w="9525">
            <a:solidFill>
              <a:srgbClr val="FFFFFF"/>
            </a:solidFill>
            <a:prstDash val="solid"/>
          </a:ln>
        </p:spPr>
        <p:txBody>
          <a:bodyPr/>
          <a:lstStyle/>
          <a:p>
            <a:endParaRPr lang="en-US"/>
          </a:p>
        </p:txBody>
      </p:sp>
      <p:sp>
        <p:nvSpPr>
          <p:cNvPr id="260" name="Text 51">
            <a:extLst>
              <a:ext uri="{FF2B5EF4-FFF2-40B4-BE49-F238E27FC236}">
                <a16:creationId xmlns:a16="http://schemas.microsoft.com/office/drawing/2014/main" id="{B81FDA6E-7978-BBA3-CDA6-FB402C7C3DEC}"/>
              </a:ext>
            </a:extLst>
          </p:cNvPr>
          <p:cNvSpPr/>
          <p:nvPr/>
        </p:nvSpPr>
        <p:spPr>
          <a:xfrm>
            <a:off x="822960" y="2048256"/>
            <a:ext cx="7132320" cy="402336"/>
          </a:xfrm>
          <a:prstGeom prst="rect">
            <a:avLst/>
          </a:prstGeom>
          <a:noFill/>
          <a:ln/>
        </p:spPr>
        <p:txBody>
          <a:bodyPr wrap="square" lIns="0" tIns="0" rIns="0" bIns="0" rtlCol="0" anchor="ctr"/>
          <a:lstStyle/>
          <a:p>
            <a:pPr marL="0" indent="0">
              <a:buNone/>
            </a:pPr>
            <a:r>
              <a:rPr lang="en-US" sz="1300" kern="0" spc="300" dirty="0">
                <a:solidFill>
                  <a:srgbClr val="FFFFFF"/>
                </a:solidFill>
                <a:latin typeface="Consolas" pitchFamily="34" charset="0"/>
                <a:ea typeface="Consolas" pitchFamily="34" charset="-122"/>
                <a:cs typeface="Consolas" pitchFamily="34" charset="-120"/>
              </a:rPr>
              <a:t>B U I L D   T H E   N E X T</a:t>
            </a:r>
            <a:endParaRPr lang="en-US" sz="1300" dirty="0"/>
          </a:p>
        </p:txBody>
      </p:sp>
      <p:sp>
        <p:nvSpPr>
          <p:cNvPr id="261" name="Shape 52">
            <a:extLst>
              <a:ext uri="{FF2B5EF4-FFF2-40B4-BE49-F238E27FC236}">
                <a16:creationId xmlns:a16="http://schemas.microsoft.com/office/drawing/2014/main" id="{26D52255-DFFD-D09D-116C-7652377E15F0}"/>
              </a:ext>
            </a:extLst>
          </p:cNvPr>
          <p:cNvSpPr/>
          <p:nvPr/>
        </p:nvSpPr>
        <p:spPr>
          <a:xfrm>
            <a:off x="8156448" y="2048256"/>
            <a:ext cx="1325880" cy="402336"/>
          </a:xfrm>
          <a:prstGeom prst="rect">
            <a:avLst/>
          </a:prstGeom>
          <a:solidFill>
            <a:srgbClr val="7C4DE8"/>
          </a:solidFill>
          <a:ln/>
        </p:spPr>
        <p:txBody>
          <a:bodyPr/>
          <a:lstStyle/>
          <a:p>
            <a:endParaRPr lang="en-US"/>
          </a:p>
        </p:txBody>
      </p:sp>
      <p:sp>
        <p:nvSpPr>
          <p:cNvPr id="262" name="Text 53">
            <a:extLst>
              <a:ext uri="{FF2B5EF4-FFF2-40B4-BE49-F238E27FC236}">
                <a16:creationId xmlns:a16="http://schemas.microsoft.com/office/drawing/2014/main" id="{048605D4-B337-7CDE-DD0A-B7862E9978EE}"/>
              </a:ext>
            </a:extLst>
          </p:cNvPr>
          <p:cNvSpPr/>
          <p:nvPr/>
        </p:nvSpPr>
        <p:spPr>
          <a:xfrm>
            <a:off x="8156448" y="2048256"/>
            <a:ext cx="1325880" cy="402336"/>
          </a:xfrm>
          <a:prstGeom prst="rect">
            <a:avLst/>
          </a:prstGeom>
          <a:noFill/>
          <a:ln/>
        </p:spPr>
        <p:txBody>
          <a:bodyPr wrap="square" lIns="0" tIns="0" rIns="0" bIns="0" rtlCol="0" anchor="ctr"/>
          <a:lstStyle/>
          <a:p>
            <a:pPr marL="0" indent="0" algn="ctr">
              <a:buNone/>
            </a:pPr>
            <a:r>
              <a:rPr lang="en-US" sz="1300" b="1" kern="0" spc="300" dirty="0">
                <a:solidFill>
                  <a:srgbClr val="FFFFFF"/>
                </a:solidFill>
                <a:latin typeface="Consolas" pitchFamily="34" charset="0"/>
                <a:ea typeface="Consolas" pitchFamily="34" charset="-122"/>
                <a:cs typeface="Consolas" pitchFamily="34" charset="-120"/>
              </a:rPr>
              <a:t>A I</a:t>
            </a:r>
            <a:endParaRPr lang="en-US" sz="1300" dirty="0"/>
          </a:p>
        </p:txBody>
      </p:sp>
      <p:sp>
        <p:nvSpPr>
          <p:cNvPr id="263" name="Text 54">
            <a:extLst>
              <a:ext uri="{FF2B5EF4-FFF2-40B4-BE49-F238E27FC236}">
                <a16:creationId xmlns:a16="http://schemas.microsoft.com/office/drawing/2014/main" id="{982E7EEE-84F6-E08D-3D40-0FADBA4AC38D}"/>
              </a:ext>
            </a:extLst>
          </p:cNvPr>
          <p:cNvSpPr/>
          <p:nvPr/>
        </p:nvSpPr>
        <p:spPr>
          <a:xfrm>
            <a:off x="566928" y="2788920"/>
            <a:ext cx="5577840" cy="201168"/>
          </a:xfrm>
          <a:prstGeom prst="rect">
            <a:avLst/>
          </a:prstGeom>
          <a:noFill/>
          <a:ln/>
        </p:spPr>
        <p:txBody>
          <a:bodyPr wrap="square" lIns="0" tIns="0" rIns="0" bIns="0" rtlCol="0" anchor="ctr"/>
          <a:lstStyle/>
          <a:p>
            <a:pPr marL="0" indent="0">
              <a:buNone/>
            </a:pPr>
            <a:endParaRPr lang="en-US" sz="900" dirty="0"/>
          </a:p>
        </p:txBody>
      </p:sp>
      <p:sp>
        <p:nvSpPr>
          <p:cNvPr id="265" name="Text 56">
            <a:extLst>
              <a:ext uri="{FF2B5EF4-FFF2-40B4-BE49-F238E27FC236}">
                <a16:creationId xmlns:a16="http://schemas.microsoft.com/office/drawing/2014/main" id="{9A23B2BD-A301-1F08-57A6-AC9167DD901F}"/>
              </a:ext>
            </a:extLst>
          </p:cNvPr>
          <p:cNvSpPr/>
          <p:nvPr/>
        </p:nvSpPr>
        <p:spPr>
          <a:xfrm>
            <a:off x="713232" y="2999232"/>
            <a:ext cx="5285232" cy="566928"/>
          </a:xfrm>
          <a:prstGeom prst="rect">
            <a:avLst/>
          </a:prstGeom>
          <a:noFill/>
          <a:ln/>
        </p:spPr>
        <p:txBody>
          <a:bodyPr wrap="square" lIns="762" tIns="762" rIns="762" bIns="762" rtlCol="0" anchor="t"/>
          <a:lstStyle/>
          <a:p>
            <a:pPr marL="0" indent="0">
              <a:buNone/>
            </a:pPr>
            <a:endParaRPr lang="en-US" sz="1100" dirty="0"/>
          </a:p>
        </p:txBody>
      </p:sp>
      <p:sp>
        <p:nvSpPr>
          <p:cNvPr id="266" name="Text 57">
            <a:extLst>
              <a:ext uri="{FF2B5EF4-FFF2-40B4-BE49-F238E27FC236}">
                <a16:creationId xmlns:a16="http://schemas.microsoft.com/office/drawing/2014/main" id="{698E758D-27D7-8C4A-ADEB-679E7F78775C}"/>
              </a:ext>
            </a:extLst>
          </p:cNvPr>
          <p:cNvSpPr/>
          <p:nvPr/>
        </p:nvSpPr>
        <p:spPr>
          <a:xfrm>
            <a:off x="566928" y="3703320"/>
            <a:ext cx="5577840" cy="201168"/>
          </a:xfrm>
          <a:prstGeom prst="rect">
            <a:avLst/>
          </a:prstGeom>
          <a:noFill/>
          <a:ln/>
        </p:spPr>
        <p:txBody>
          <a:bodyPr wrap="square" lIns="0" tIns="0" rIns="0" bIns="0" rtlCol="0" anchor="ctr"/>
          <a:lstStyle/>
          <a:p>
            <a:pPr marL="0" indent="0">
              <a:buNone/>
            </a:pPr>
            <a:endParaRPr lang="en-US" sz="900" dirty="0"/>
          </a:p>
        </p:txBody>
      </p:sp>
      <p:sp>
        <p:nvSpPr>
          <p:cNvPr id="268" name="Text 59">
            <a:extLst>
              <a:ext uri="{FF2B5EF4-FFF2-40B4-BE49-F238E27FC236}">
                <a16:creationId xmlns:a16="http://schemas.microsoft.com/office/drawing/2014/main" id="{820EE1F8-CD88-86D8-0843-2BB860ED0F07}"/>
              </a:ext>
            </a:extLst>
          </p:cNvPr>
          <p:cNvSpPr/>
          <p:nvPr/>
        </p:nvSpPr>
        <p:spPr>
          <a:xfrm>
            <a:off x="713232" y="3913632"/>
            <a:ext cx="5285232" cy="566928"/>
          </a:xfrm>
          <a:prstGeom prst="rect">
            <a:avLst/>
          </a:prstGeom>
          <a:noFill/>
          <a:ln/>
        </p:spPr>
        <p:txBody>
          <a:bodyPr wrap="square" lIns="762" tIns="762" rIns="762" bIns="762" rtlCol="0" anchor="t"/>
          <a:lstStyle/>
          <a:p>
            <a:pPr marL="0" indent="0">
              <a:buNone/>
            </a:pPr>
            <a:endParaRPr lang="en-US" sz="1100" dirty="0"/>
          </a:p>
        </p:txBody>
      </p:sp>
      <p:sp>
        <p:nvSpPr>
          <p:cNvPr id="269" name="Text 60">
            <a:extLst>
              <a:ext uri="{FF2B5EF4-FFF2-40B4-BE49-F238E27FC236}">
                <a16:creationId xmlns:a16="http://schemas.microsoft.com/office/drawing/2014/main" id="{F6A5E263-174E-3E32-00B1-AAC0FD17DFC6}"/>
              </a:ext>
            </a:extLst>
          </p:cNvPr>
          <p:cNvSpPr/>
          <p:nvPr/>
        </p:nvSpPr>
        <p:spPr>
          <a:xfrm>
            <a:off x="566928" y="4617720"/>
            <a:ext cx="5577840" cy="201168"/>
          </a:xfrm>
          <a:prstGeom prst="rect">
            <a:avLst/>
          </a:prstGeom>
          <a:noFill/>
          <a:ln/>
        </p:spPr>
        <p:txBody>
          <a:bodyPr wrap="square" lIns="0" tIns="0" rIns="0" bIns="0" rtlCol="0" anchor="ctr"/>
          <a:lstStyle/>
          <a:p>
            <a:pPr marL="0" indent="0">
              <a:buNone/>
            </a:pPr>
            <a:endParaRPr lang="en-US" sz="900" dirty="0"/>
          </a:p>
        </p:txBody>
      </p:sp>
      <p:sp>
        <p:nvSpPr>
          <p:cNvPr id="271" name="Text 62">
            <a:extLst>
              <a:ext uri="{FF2B5EF4-FFF2-40B4-BE49-F238E27FC236}">
                <a16:creationId xmlns:a16="http://schemas.microsoft.com/office/drawing/2014/main" id="{F835B8ED-F986-1D2E-46E0-4DF3F3AA40AF}"/>
              </a:ext>
            </a:extLst>
          </p:cNvPr>
          <p:cNvSpPr/>
          <p:nvPr/>
        </p:nvSpPr>
        <p:spPr>
          <a:xfrm>
            <a:off x="713232" y="4828032"/>
            <a:ext cx="5285232" cy="1143000"/>
          </a:xfrm>
          <a:prstGeom prst="rect">
            <a:avLst/>
          </a:prstGeom>
          <a:noFill/>
          <a:ln/>
        </p:spPr>
        <p:txBody>
          <a:bodyPr wrap="square" lIns="762" tIns="762" rIns="762" bIns="762" rtlCol="0" anchor="t"/>
          <a:lstStyle/>
          <a:p>
            <a:pPr marL="0" indent="0">
              <a:buNone/>
            </a:pPr>
            <a:endParaRPr lang="en-US" sz="1100" dirty="0"/>
          </a:p>
        </p:txBody>
      </p:sp>
      <p:sp>
        <p:nvSpPr>
          <p:cNvPr id="272" name="Text 63">
            <a:extLst>
              <a:ext uri="{FF2B5EF4-FFF2-40B4-BE49-F238E27FC236}">
                <a16:creationId xmlns:a16="http://schemas.microsoft.com/office/drawing/2014/main" id="{DF0AAA4C-ACCF-22FA-02EB-5684D7C226A2}"/>
              </a:ext>
            </a:extLst>
          </p:cNvPr>
          <p:cNvSpPr/>
          <p:nvPr/>
        </p:nvSpPr>
        <p:spPr>
          <a:xfrm>
            <a:off x="6492240" y="2788920"/>
            <a:ext cx="5120640" cy="201168"/>
          </a:xfrm>
          <a:prstGeom prst="rect">
            <a:avLst/>
          </a:prstGeom>
          <a:noFill/>
          <a:ln/>
        </p:spPr>
        <p:txBody>
          <a:bodyPr wrap="square" lIns="0" tIns="0" rIns="0" bIns="0" rtlCol="0" anchor="ctr"/>
          <a:lstStyle/>
          <a:p>
            <a:pPr marL="0" indent="0">
              <a:buNone/>
            </a:pPr>
            <a:endParaRPr lang="en-US" sz="900" dirty="0"/>
          </a:p>
        </p:txBody>
      </p:sp>
      <p:sp>
        <p:nvSpPr>
          <p:cNvPr id="276" name="Text 67">
            <a:extLst>
              <a:ext uri="{FF2B5EF4-FFF2-40B4-BE49-F238E27FC236}">
                <a16:creationId xmlns:a16="http://schemas.microsoft.com/office/drawing/2014/main" id="{644ACA7F-686A-330B-CAC8-48B2FE22C9D6}"/>
              </a:ext>
            </a:extLst>
          </p:cNvPr>
          <p:cNvSpPr/>
          <p:nvPr/>
        </p:nvSpPr>
        <p:spPr>
          <a:xfrm>
            <a:off x="7004304" y="2999232"/>
            <a:ext cx="4480560" cy="310896"/>
          </a:xfrm>
          <a:prstGeom prst="rect">
            <a:avLst/>
          </a:prstGeom>
          <a:noFill/>
          <a:ln/>
        </p:spPr>
        <p:txBody>
          <a:bodyPr wrap="square" lIns="0" tIns="0" rIns="0" bIns="0" rtlCol="0" anchor="ctr"/>
          <a:lstStyle/>
          <a:p>
            <a:pPr marL="0" indent="0">
              <a:buNone/>
            </a:pPr>
            <a:endParaRPr lang="en-US" sz="1100" dirty="0"/>
          </a:p>
        </p:txBody>
      </p:sp>
      <p:sp>
        <p:nvSpPr>
          <p:cNvPr id="280" name="Text 71">
            <a:extLst>
              <a:ext uri="{FF2B5EF4-FFF2-40B4-BE49-F238E27FC236}">
                <a16:creationId xmlns:a16="http://schemas.microsoft.com/office/drawing/2014/main" id="{83072647-EB97-090D-FFB9-76B19F786D29}"/>
              </a:ext>
            </a:extLst>
          </p:cNvPr>
          <p:cNvSpPr/>
          <p:nvPr/>
        </p:nvSpPr>
        <p:spPr>
          <a:xfrm>
            <a:off x="7004304" y="3364992"/>
            <a:ext cx="4480560" cy="310896"/>
          </a:xfrm>
          <a:prstGeom prst="rect">
            <a:avLst/>
          </a:prstGeom>
          <a:noFill/>
          <a:ln/>
        </p:spPr>
        <p:txBody>
          <a:bodyPr wrap="square" lIns="0" tIns="0" rIns="0" bIns="0" rtlCol="0" anchor="ctr"/>
          <a:lstStyle/>
          <a:p>
            <a:pPr marL="0" indent="0">
              <a:buNone/>
            </a:pPr>
            <a:endParaRPr lang="en-US" sz="1100" dirty="0"/>
          </a:p>
        </p:txBody>
      </p:sp>
      <p:sp>
        <p:nvSpPr>
          <p:cNvPr id="284" name="Text 75">
            <a:extLst>
              <a:ext uri="{FF2B5EF4-FFF2-40B4-BE49-F238E27FC236}">
                <a16:creationId xmlns:a16="http://schemas.microsoft.com/office/drawing/2014/main" id="{394EBBC2-20D7-02D1-142F-E1AD41944AA4}"/>
              </a:ext>
            </a:extLst>
          </p:cNvPr>
          <p:cNvSpPr/>
          <p:nvPr/>
        </p:nvSpPr>
        <p:spPr>
          <a:xfrm>
            <a:off x="7004304" y="3730752"/>
            <a:ext cx="4480560" cy="310896"/>
          </a:xfrm>
          <a:prstGeom prst="rect">
            <a:avLst/>
          </a:prstGeom>
          <a:noFill/>
          <a:ln/>
        </p:spPr>
        <p:txBody>
          <a:bodyPr wrap="square" lIns="0" tIns="0" rIns="0" bIns="0" rtlCol="0" anchor="ctr"/>
          <a:lstStyle/>
          <a:p>
            <a:pPr marL="0" indent="0">
              <a:buNone/>
            </a:pPr>
            <a:endParaRPr lang="en-US" sz="1100" dirty="0"/>
          </a:p>
        </p:txBody>
      </p:sp>
      <p:sp>
        <p:nvSpPr>
          <p:cNvPr id="288" name="Text 79">
            <a:extLst>
              <a:ext uri="{FF2B5EF4-FFF2-40B4-BE49-F238E27FC236}">
                <a16:creationId xmlns:a16="http://schemas.microsoft.com/office/drawing/2014/main" id="{8C8F8ED9-B010-3455-AD48-2EDC29CBD40B}"/>
              </a:ext>
            </a:extLst>
          </p:cNvPr>
          <p:cNvSpPr/>
          <p:nvPr/>
        </p:nvSpPr>
        <p:spPr>
          <a:xfrm>
            <a:off x="7004304" y="4096512"/>
            <a:ext cx="4480560" cy="310896"/>
          </a:xfrm>
          <a:prstGeom prst="rect">
            <a:avLst/>
          </a:prstGeom>
          <a:noFill/>
          <a:ln/>
        </p:spPr>
        <p:txBody>
          <a:bodyPr wrap="square" lIns="0" tIns="0" rIns="0" bIns="0" rtlCol="0" anchor="ctr"/>
          <a:lstStyle/>
          <a:p>
            <a:pPr marL="0" indent="0">
              <a:buNone/>
            </a:pPr>
            <a:endParaRPr lang="en-US" sz="1100" dirty="0"/>
          </a:p>
        </p:txBody>
      </p:sp>
      <p:sp>
        <p:nvSpPr>
          <p:cNvPr id="292" name="Text 83">
            <a:extLst>
              <a:ext uri="{FF2B5EF4-FFF2-40B4-BE49-F238E27FC236}">
                <a16:creationId xmlns:a16="http://schemas.microsoft.com/office/drawing/2014/main" id="{57A6E3D0-1F50-B809-22BC-FD9AB9C4ABA9}"/>
              </a:ext>
            </a:extLst>
          </p:cNvPr>
          <p:cNvSpPr/>
          <p:nvPr/>
        </p:nvSpPr>
        <p:spPr>
          <a:xfrm>
            <a:off x="7004304" y="4462272"/>
            <a:ext cx="4480560" cy="310896"/>
          </a:xfrm>
          <a:prstGeom prst="rect">
            <a:avLst/>
          </a:prstGeom>
          <a:noFill/>
          <a:ln/>
        </p:spPr>
        <p:txBody>
          <a:bodyPr wrap="square" lIns="0" tIns="0" rIns="0" bIns="0" rtlCol="0" anchor="ctr"/>
          <a:lstStyle/>
          <a:p>
            <a:pPr marL="0" indent="0">
              <a:buNone/>
            </a:pPr>
            <a:endParaRPr lang="en-US" sz="1100" dirty="0"/>
          </a:p>
        </p:txBody>
      </p:sp>
      <p:sp>
        <p:nvSpPr>
          <p:cNvPr id="293" name="Text 84">
            <a:extLst>
              <a:ext uri="{FF2B5EF4-FFF2-40B4-BE49-F238E27FC236}">
                <a16:creationId xmlns:a16="http://schemas.microsoft.com/office/drawing/2014/main" id="{3B98A08C-6055-1239-A2FC-30734D14F7B5}"/>
              </a:ext>
            </a:extLst>
          </p:cNvPr>
          <p:cNvSpPr/>
          <p:nvPr/>
        </p:nvSpPr>
        <p:spPr>
          <a:xfrm>
            <a:off x="6492240" y="4983480"/>
            <a:ext cx="5120640" cy="201168"/>
          </a:xfrm>
          <a:prstGeom prst="rect">
            <a:avLst/>
          </a:prstGeom>
          <a:noFill/>
          <a:ln/>
        </p:spPr>
        <p:txBody>
          <a:bodyPr wrap="square" lIns="0" tIns="0" rIns="0" bIns="0" rtlCol="0" anchor="ctr"/>
          <a:lstStyle/>
          <a:p>
            <a:pPr marL="0" indent="0">
              <a:buNone/>
            </a:pPr>
            <a:endParaRPr lang="en-US" sz="900" dirty="0"/>
          </a:p>
        </p:txBody>
      </p:sp>
      <p:sp>
        <p:nvSpPr>
          <p:cNvPr id="295" name="Text 86">
            <a:extLst>
              <a:ext uri="{FF2B5EF4-FFF2-40B4-BE49-F238E27FC236}">
                <a16:creationId xmlns:a16="http://schemas.microsoft.com/office/drawing/2014/main" id="{8B92486E-E078-5E74-663A-EA23AD6A6476}"/>
              </a:ext>
            </a:extLst>
          </p:cNvPr>
          <p:cNvSpPr/>
          <p:nvPr/>
        </p:nvSpPr>
        <p:spPr>
          <a:xfrm>
            <a:off x="6638544" y="5193792"/>
            <a:ext cx="4828032" cy="777240"/>
          </a:xfrm>
          <a:prstGeom prst="rect">
            <a:avLst/>
          </a:prstGeom>
          <a:noFill/>
          <a:ln/>
        </p:spPr>
        <p:txBody>
          <a:bodyPr wrap="square" lIns="762" tIns="762" rIns="762" bIns="762" rtlCol="0" anchor="t"/>
          <a:lstStyle/>
          <a:p>
            <a:pPr marL="0" indent="0">
              <a:buNone/>
            </a:pPr>
            <a:endParaRPr lang="en-US" sz="1100" dirty="0"/>
          </a:p>
        </p:txBody>
      </p:sp>
      <p:sp>
        <p:nvSpPr>
          <p:cNvPr id="296" name="Text 87">
            <a:extLst>
              <a:ext uri="{FF2B5EF4-FFF2-40B4-BE49-F238E27FC236}">
                <a16:creationId xmlns:a16="http://schemas.microsoft.com/office/drawing/2014/main" id="{5E5D8824-4E2C-AA21-073B-0C316A417CA8}"/>
              </a:ext>
            </a:extLst>
          </p:cNvPr>
          <p:cNvSpPr/>
          <p:nvPr/>
        </p:nvSpPr>
        <p:spPr>
          <a:xfrm>
            <a:off x="566928" y="6217920"/>
            <a:ext cx="6400800" cy="274320"/>
          </a:xfrm>
          <a:prstGeom prst="rect">
            <a:avLst/>
          </a:prstGeom>
          <a:noFill/>
          <a:ln/>
        </p:spPr>
        <p:txBody>
          <a:bodyPr wrap="square" lIns="0" tIns="0" rIns="0" bIns="0" rtlCol="0" anchor="ctr"/>
          <a:lstStyle/>
          <a:p>
            <a:pPr marL="0" indent="0">
              <a:buNone/>
            </a:pPr>
            <a:r>
              <a:rPr lang="en-US" sz="850" kern="0" spc="100" dirty="0">
                <a:solidFill>
                  <a:srgbClr val="9AA3AE"/>
                </a:solidFill>
                <a:latin typeface="Consolas" pitchFamily="34" charset="0"/>
                <a:ea typeface="Consolas" pitchFamily="34" charset="-122"/>
                <a:cs typeface="Consolas" pitchFamily="34" charset="-120"/>
              </a:rPr>
              <a:t>NETAJI AUDITORIUM · AB-1 · VIT CHENNAI</a:t>
            </a:r>
            <a:endParaRPr lang="en-US" sz="850" dirty="0"/>
          </a:p>
        </p:txBody>
      </p:sp>
      <p:sp>
        <p:nvSpPr>
          <p:cNvPr id="297" name="Text 88">
            <a:extLst>
              <a:ext uri="{FF2B5EF4-FFF2-40B4-BE49-F238E27FC236}">
                <a16:creationId xmlns:a16="http://schemas.microsoft.com/office/drawing/2014/main" id="{3BF5F3BC-859F-EC91-082F-7FC086E111C9}"/>
              </a:ext>
            </a:extLst>
          </p:cNvPr>
          <p:cNvSpPr/>
          <p:nvPr/>
        </p:nvSpPr>
        <p:spPr>
          <a:xfrm>
            <a:off x="8229600" y="6217920"/>
            <a:ext cx="3108960" cy="274320"/>
          </a:xfrm>
          <a:prstGeom prst="rect">
            <a:avLst/>
          </a:prstGeom>
          <a:noFill/>
          <a:ln/>
        </p:spPr>
        <p:txBody>
          <a:bodyPr wrap="square" lIns="0" tIns="0" rIns="0" bIns="0" rtlCol="0" anchor="ctr"/>
          <a:lstStyle/>
          <a:p>
            <a:pPr marL="0" indent="0" algn="r">
              <a:buNone/>
            </a:pPr>
            <a:r>
              <a:rPr lang="en-US" sz="850" b="1" kern="0" spc="100" dirty="0">
                <a:solidFill>
                  <a:srgbClr val="FF9900"/>
                </a:solidFill>
                <a:latin typeface="Consolas" pitchFamily="34" charset="0"/>
                <a:ea typeface="Consolas" pitchFamily="34" charset="-122"/>
                <a:cs typeface="Consolas" pitchFamily="34" charset="-120"/>
              </a:rPr>
              <a:t>JULY 30 &amp; 31</a:t>
            </a:r>
            <a:endParaRPr lang="en-US" sz="850" dirty="0"/>
          </a:p>
        </p:txBody>
      </p:sp>
      <p:sp>
        <p:nvSpPr>
          <p:cNvPr id="298" name="Shape 89">
            <a:extLst>
              <a:ext uri="{FF2B5EF4-FFF2-40B4-BE49-F238E27FC236}">
                <a16:creationId xmlns:a16="http://schemas.microsoft.com/office/drawing/2014/main" id="{23D749C9-DEA9-31A7-4B44-4DD0AC53E471}"/>
              </a:ext>
            </a:extLst>
          </p:cNvPr>
          <p:cNvSpPr/>
          <p:nvPr/>
        </p:nvSpPr>
        <p:spPr>
          <a:xfrm>
            <a:off x="11722608" y="6263640"/>
            <a:ext cx="173736" cy="173736"/>
          </a:xfrm>
          <a:prstGeom prst="rect">
            <a:avLst/>
          </a:prstGeom>
          <a:solidFill>
            <a:srgbClr val="7C4DE8"/>
          </a:solidFill>
          <a:ln/>
        </p:spPr>
        <p:txBody>
          <a:bodyPr/>
          <a:lstStyle/>
          <a:p>
            <a:endParaRPr lang="en-US"/>
          </a:p>
        </p:txBody>
      </p:sp>
      <p:sp>
        <p:nvSpPr>
          <p:cNvPr id="299" name="Shape 90">
            <a:extLst>
              <a:ext uri="{FF2B5EF4-FFF2-40B4-BE49-F238E27FC236}">
                <a16:creationId xmlns:a16="http://schemas.microsoft.com/office/drawing/2014/main" id="{5717A878-56A8-2B83-D7E0-4C67224118F6}"/>
              </a:ext>
            </a:extLst>
          </p:cNvPr>
          <p:cNvSpPr/>
          <p:nvPr/>
        </p:nvSpPr>
        <p:spPr>
          <a:xfrm>
            <a:off x="11769517" y="6310549"/>
            <a:ext cx="79919" cy="79919"/>
          </a:xfrm>
          <a:prstGeom prst="rect">
            <a:avLst/>
          </a:prstGeom>
          <a:solidFill>
            <a:srgbClr val="0E141B"/>
          </a:solidFill>
          <a:ln/>
        </p:spPr>
        <p:txBody>
          <a:bodyPr/>
          <a:lstStyle/>
          <a:p>
            <a:endParaRPr lang="en-US"/>
          </a:p>
        </p:txBody>
      </p:sp>
      <p:sp>
        <p:nvSpPr>
          <p:cNvPr id="300" name="Shape 91">
            <a:extLst>
              <a:ext uri="{FF2B5EF4-FFF2-40B4-BE49-F238E27FC236}">
                <a16:creationId xmlns:a16="http://schemas.microsoft.com/office/drawing/2014/main" id="{F21F6E48-E79F-55FC-8181-7D22C43B3B03}"/>
              </a:ext>
            </a:extLst>
          </p:cNvPr>
          <p:cNvSpPr/>
          <p:nvPr/>
        </p:nvSpPr>
        <p:spPr>
          <a:xfrm>
            <a:off x="11752143" y="6228893"/>
            <a:ext cx="29535" cy="34747"/>
          </a:xfrm>
          <a:prstGeom prst="rect">
            <a:avLst/>
          </a:prstGeom>
          <a:solidFill>
            <a:srgbClr val="7C4DE8"/>
          </a:solidFill>
          <a:ln/>
        </p:spPr>
        <p:txBody>
          <a:bodyPr/>
          <a:lstStyle/>
          <a:p>
            <a:endParaRPr lang="en-US"/>
          </a:p>
        </p:txBody>
      </p:sp>
      <p:sp>
        <p:nvSpPr>
          <p:cNvPr id="301" name="Shape 92">
            <a:extLst>
              <a:ext uri="{FF2B5EF4-FFF2-40B4-BE49-F238E27FC236}">
                <a16:creationId xmlns:a16="http://schemas.microsoft.com/office/drawing/2014/main" id="{15AC3F41-982F-7D17-C2CA-FA058D18E798}"/>
              </a:ext>
            </a:extLst>
          </p:cNvPr>
          <p:cNvSpPr/>
          <p:nvPr/>
        </p:nvSpPr>
        <p:spPr>
          <a:xfrm>
            <a:off x="11752143" y="6437376"/>
            <a:ext cx="29535" cy="34747"/>
          </a:xfrm>
          <a:prstGeom prst="rect">
            <a:avLst/>
          </a:prstGeom>
          <a:solidFill>
            <a:srgbClr val="7C4DE8"/>
          </a:solidFill>
          <a:ln/>
        </p:spPr>
        <p:txBody>
          <a:bodyPr/>
          <a:lstStyle/>
          <a:p>
            <a:endParaRPr lang="en-US"/>
          </a:p>
        </p:txBody>
      </p:sp>
      <p:sp>
        <p:nvSpPr>
          <p:cNvPr id="302" name="Shape 93">
            <a:extLst>
              <a:ext uri="{FF2B5EF4-FFF2-40B4-BE49-F238E27FC236}">
                <a16:creationId xmlns:a16="http://schemas.microsoft.com/office/drawing/2014/main" id="{141AB0D8-CF2F-0A40-B52D-BEF11B98EEF6}"/>
              </a:ext>
            </a:extLst>
          </p:cNvPr>
          <p:cNvSpPr/>
          <p:nvPr/>
        </p:nvSpPr>
        <p:spPr>
          <a:xfrm>
            <a:off x="11687861" y="6293175"/>
            <a:ext cx="34747" cy="29535"/>
          </a:xfrm>
          <a:prstGeom prst="rect">
            <a:avLst/>
          </a:prstGeom>
          <a:solidFill>
            <a:srgbClr val="7C4DE8"/>
          </a:solidFill>
          <a:ln/>
        </p:spPr>
        <p:txBody>
          <a:bodyPr/>
          <a:lstStyle/>
          <a:p>
            <a:endParaRPr lang="en-US"/>
          </a:p>
        </p:txBody>
      </p:sp>
      <p:sp>
        <p:nvSpPr>
          <p:cNvPr id="303" name="Shape 94">
            <a:extLst>
              <a:ext uri="{FF2B5EF4-FFF2-40B4-BE49-F238E27FC236}">
                <a16:creationId xmlns:a16="http://schemas.microsoft.com/office/drawing/2014/main" id="{59050472-34CA-C6D8-39C4-F9A8E0606923}"/>
              </a:ext>
            </a:extLst>
          </p:cNvPr>
          <p:cNvSpPr/>
          <p:nvPr/>
        </p:nvSpPr>
        <p:spPr>
          <a:xfrm>
            <a:off x="11896344" y="6293175"/>
            <a:ext cx="34747" cy="29535"/>
          </a:xfrm>
          <a:prstGeom prst="rect">
            <a:avLst/>
          </a:prstGeom>
          <a:solidFill>
            <a:srgbClr val="7C4DE8"/>
          </a:solidFill>
          <a:ln/>
        </p:spPr>
        <p:txBody>
          <a:bodyPr/>
          <a:lstStyle/>
          <a:p>
            <a:endParaRPr lang="en-US"/>
          </a:p>
        </p:txBody>
      </p:sp>
      <p:sp>
        <p:nvSpPr>
          <p:cNvPr id="304" name="Shape 95">
            <a:extLst>
              <a:ext uri="{FF2B5EF4-FFF2-40B4-BE49-F238E27FC236}">
                <a16:creationId xmlns:a16="http://schemas.microsoft.com/office/drawing/2014/main" id="{8F4F2874-0C5B-BE37-C280-EE628C1327A8}"/>
              </a:ext>
            </a:extLst>
          </p:cNvPr>
          <p:cNvSpPr/>
          <p:nvPr/>
        </p:nvSpPr>
        <p:spPr>
          <a:xfrm>
            <a:off x="11837274" y="6228893"/>
            <a:ext cx="29535" cy="34747"/>
          </a:xfrm>
          <a:prstGeom prst="rect">
            <a:avLst/>
          </a:prstGeom>
          <a:solidFill>
            <a:srgbClr val="7C4DE8"/>
          </a:solidFill>
          <a:ln/>
        </p:spPr>
        <p:txBody>
          <a:bodyPr/>
          <a:lstStyle/>
          <a:p>
            <a:endParaRPr lang="en-US"/>
          </a:p>
        </p:txBody>
      </p:sp>
      <p:sp>
        <p:nvSpPr>
          <p:cNvPr id="305" name="Shape 96">
            <a:extLst>
              <a:ext uri="{FF2B5EF4-FFF2-40B4-BE49-F238E27FC236}">
                <a16:creationId xmlns:a16="http://schemas.microsoft.com/office/drawing/2014/main" id="{FB66F776-D61F-EE5F-FEAD-95344233E77A}"/>
              </a:ext>
            </a:extLst>
          </p:cNvPr>
          <p:cNvSpPr/>
          <p:nvPr/>
        </p:nvSpPr>
        <p:spPr>
          <a:xfrm>
            <a:off x="11837274" y="6437376"/>
            <a:ext cx="29535" cy="34747"/>
          </a:xfrm>
          <a:prstGeom prst="rect">
            <a:avLst/>
          </a:prstGeom>
          <a:solidFill>
            <a:srgbClr val="7C4DE8"/>
          </a:solidFill>
          <a:ln/>
        </p:spPr>
        <p:txBody>
          <a:bodyPr/>
          <a:lstStyle/>
          <a:p>
            <a:endParaRPr lang="en-US"/>
          </a:p>
        </p:txBody>
      </p:sp>
      <p:sp>
        <p:nvSpPr>
          <p:cNvPr id="306" name="Shape 97">
            <a:extLst>
              <a:ext uri="{FF2B5EF4-FFF2-40B4-BE49-F238E27FC236}">
                <a16:creationId xmlns:a16="http://schemas.microsoft.com/office/drawing/2014/main" id="{D6F13402-832F-9AFF-D5E6-4BFE552CF1DE}"/>
              </a:ext>
            </a:extLst>
          </p:cNvPr>
          <p:cNvSpPr/>
          <p:nvPr/>
        </p:nvSpPr>
        <p:spPr>
          <a:xfrm>
            <a:off x="11687861" y="6378306"/>
            <a:ext cx="34747" cy="29535"/>
          </a:xfrm>
          <a:prstGeom prst="rect">
            <a:avLst/>
          </a:prstGeom>
          <a:solidFill>
            <a:srgbClr val="7C4DE8"/>
          </a:solidFill>
          <a:ln/>
        </p:spPr>
        <p:txBody>
          <a:bodyPr/>
          <a:lstStyle/>
          <a:p>
            <a:endParaRPr lang="en-US"/>
          </a:p>
        </p:txBody>
      </p:sp>
      <p:sp>
        <p:nvSpPr>
          <p:cNvPr id="307" name="Shape 98">
            <a:extLst>
              <a:ext uri="{FF2B5EF4-FFF2-40B4-BE49-F238E27FC236}">
                <a16:creationId xmlns:a16="http://schemas.microsoft.com/office/drawing/2014/main" id="{D7760907-BCEB-5030-1E40-A595D01BF3F8}"/>
              </a:ext>
            </a:extLst>
          </p:cNvPr>
          <p:cNvSpPr/>
          <p:nvPr/>
        </p:nvSpPr>
        <p:spPr>
          <a:xfrm>
            <a:off x="11896344" y="6378306"/>
            <a:ext cx="34747" cy="29535"/>
          </a:xfrm>
          <a:prstGeom prst="rect">
            <a:avLst/>
          </a:prstGeom>
          <a:solidFill>
            <a:srgbClr val="7C4DE8"/>
          </a:solidFill>
          <a:ln/>
        </p:spPr>
        <p:txBody>
          <a:bodyPr/>
          <a:lstStyle/>
          <a:p>
            <a:endParaRPr lang="en-US"/>
          </a:p>
        </p:txBody>
      </p:sp>
      <p:sp>
        <p:nvSpPr>
          <p:cNvPr id="309" name="TextBox 308">
            <a:extLst>
              <a:ext uri="{FF2B5EF4-FFF2-40B4-BE49-F238E27FC236}">
                <a16:creationId xmlns:a16="http://schemas.microsoft.com/office/drawing/2014/main" id="{E2575212-29DF-8423-6693-7A2431A9379D}"/>
              </a:ext>
            </a:extLst>
          </p:cNvPr>
          <p:cNvSpPr txBox="1"/>
          <p:nvPr/>
        </p:nvSpPr>
        <p:spPr>
          <a:xfrm>
            <a:off x="566927" y="3567267"/>
            <a:ext cx="6560544" cy="830997"/>
          </a:xfrm>
          <a:prstGeom prst="rect">
            <a:avLst/>
          </a:prstGeom>
          <a:noFill/>
        </p:spPr>
        <p:txBody>
          <a:bodyPr wrap="square">
            <a:spAutoFit/>
          </a:bodyPr>
          <a:lstStyle/>
          <a:p>
            <a:pPr marL="0" indent="0">
              <a:buNone/>
            </a:pPr>
            <a:r>
              <a:rPr lang="en-US" sz="4800" b="1" dirty="0">
                <a:solidFill>
                  <a:srgbClr val="FFFFFF"/>
                </a:solidFill>
                <a:latin typeface="Arial" pitchFamily="34" charset="0"/>
                <a:ea typeface="Arial" pitchFamily="34" charset="-122"/>
                <a:cs typeface="Arial" pitchFamily="34" charset="-120"/>
              </a:rPr>
              <a:t>LLM FINETUNING</a:t>
            </a:r>
            <a:endParaRPr lang="en-US" sz="4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8686800" cy="274320"/>
          </a:xfrm>
          <a:prstGeom prst="rect">
            <a:avLst/>
          </a:prstGeom>
          <a:noFill/>
          <a:ln/>
        </p:spPr>
        <p:txBody>
          <a:bodyPr wrap="square" rtlCol="0" anchor="ctr"/>
          <a:lstStyle/>
          <a:p>
            <a:pPr marL="0" indent="0">
              <a:buNone/>
            </a:pPr>
            <a:r>
              <a:rPr lang="en-US" sz="1150" b="1" kern="0" spc="200" dirty="0">
                <a:solidFill>
                  <a:srgbClr val="7C3AED"/>
                </a:solidFill>
                <a:latin typeface="Calibri" pitchFamily="34" charset="0"/>
                <a:ea typeface="Calibri" pitchFamily="34" charset="-122"/>
                <a:cs typeface="Calibri" pitchFamily="34" charset="-120"/>
              </a:rPr>
              <a:t>AGENDA</a:t>
            </a:r>
            <a:endParaRPr lang="en-US" sz="1150" dirty="0"/>
          </a:p>
        </p:txBody>
      </p:sp>
      <p:sp>
        <p:nvSpPr>
          <p:cNvPr id="3" name="Text 1"/>
          <p:cNvSpPr/>
          <p:nvPr/>
        </p:nvSpPr>
        <p:spPr>
          <a:xfrm>
            <a:off x="640080" y="621792"/>
            <a:ext cx="9692640" cy="685800"/>
          </a:xfrm>
          <a:prstGeom prst="rect">
            <a:avLst/>
          </a:prstGeom>
          <a:noFill/>
          <a:ln/>
        </p:spPr>
        <p:txBody>
          <a:bodyPr wrap="square" rtlCol="0" anchor="t"/>
          <a:lstStyle/>
          <a:p>
            <a:pPr marL="0" indent="0">
              <a:buNone/>
            </a:pPr>
            <a:r>
              <a:rPr lang="en-US" sz="3200" b="1" dirty="0">
                <a:solidFill>
                  <a:srgbClr val="1B1B3A"/>
                </a:solidFill>
                <a:latin typeface="Arial" pitchFamily="34" charset="0"/>
                <a:ea typeface="Arial" pitchFamily="34" charset="-122"/>
                <a:cs typeface="Arial" pitchFamily="34" charset="-120"/>
              </a:rPr>
              <a:t>What We'll Cover</a:t>
            </a:r>
            <a:endParaRPr lang="en-US" sz="3200" dirty="0"/>
          </a:p>
        </p:txBody>
      </p:sp>
      <p:sp>
        <p:nvSpPr>
          <p:cNvPr id="4" name="Shape 2"/>
          <p:cNvSpPr/>
          <p:nvPr/>
        </p:nvSpPr>
        <p:spPr>
          <a:xfrm>
            <a:off x="10721340" y="434340"/>
            <a:ext cx="777240" cy="777240"/>
          </a:xfrm>
          <a:prstGeom prst="ellipse">
            <a:avLst/>
          </a:prstGeom>
          <a:solidFill>
            <a:srgbClr val="7C3AED"/>
          </a:solidFill>
          <a:ln/>
        </p:spPr>
        <p:txBody>
          <a:bodyPr/>
          <a:lstStyle/>
          <a:p>
            <a:endParaRPr lang="en-US"/>
          </a:p>
        </p:txBody>
      </p:sp>
      <p:pic>
        <p:nvPicPr>
          <p:cNvPr id="5" name="Image 0" descr="/home/claude/llm_finetune_deck/icons/map.png"/>
          <p:cNvPicPr>
            <a:picLocks noChangeAspect="1"/>
          </p:cNvPicPr>
          <p:nvPr/>
        </p:nvPicPr>
        <p:blipFill>
          <a:blip r:embed="rId3"/>
          <a:stretch>
            <a:fillRect/>
          </a:stretch>
        </p:blipFill>
        <p:spPr>
          <a:xfrm>
            <a:off x="10907878" y="620878"/>
            <a:ext cx="404165" cy="404165"/>
          </a:xfrm>
          <a:prstGeom prst="rect">
            <a:avLst/>
          </a:prstGeom>
        </p:spPr>
      </p:pic>
      <p:sp>
        <p:nvSpPr>
          <p:cNvPr id="6" name="Shape 3"/>
          <p:cNvSpPr/>
          <p:nvPr/>
        </p:nvSpPr>
        <p:spPr>
          <a:xfrm>
            <a:off x="640080" y="1691640"/>
            <a:ext cx="5257800" cy="1417320"/>
          </a:xfrm>
          <a:prstGeom prst="roundRect">
            <a:avLst>
              <a:gd name="adj" fmla="val 5161"/>
            </a:avLst>
          </a:prstGeom>
          <a:solidFill>
            <a:srgbClr val="F4F3FA"/>
          </a:solidFill>
          <a:ln/>
          <a:effectLst>
            <a:outerShdw blurRad="88900" dist="25400" dir="5400000" algn="bl" rotWithShape="0">
              <a:srgbClr val="2B2650">
                <a:alpha val="16000"/>
              </a:srgbClr>
            </a:outerShdw>
          </a:effectLst>
        </p:spPr>
        <p:txBody>
          <a:bodyPr/>
          <a:lstStyle/>
          <a:p>
            <a:endParaRPr lang="en-US"/>
          </a:p>
        </p:txBody>
      </p:sp>
      <p:sp>
        <p:nvSpPr>
          <p:cNvPr id="7" name="Shape 4"/>
          <p:cNvSpPr/>
          <p:nvPr/>
        </p:nvSpPr>
        <p:spPr>
          <a:xfrm>
            <a:off x="932688" y="2071116"/>
            <a:ext cx="658368" cy="658368"/>
          </a:xfrm>
          <a:prstGeom prst="ellipse">
            <a:avLst/>
          </a:prstGeom>
          <a:solidFill>
            <a:srgbClr val="7C3AED"/>
          </a:solidFill>
          <a:ln/>
        </p:spPr>
        <p:txBody>
          <a:bodyPr/>
          <a:lstStyle/>
          <a:p>
            <a:endParaRPr lang="en-US"/>
          </a:p>
        </p:txBody>
      </p:sp>
      <p:pic>
        <p:nvPicPr>
          <p:cNvPr id="8" name="Image 1" descr="/home/claude/llm_finetune_deck/icons/cpu.png"/>
          <p:cNvPicPr>
            <a:picLocks noChangeAspect="1"/>
          </p:cNvPicPr>
          <p:nvPr/>
        </p:nvPicPr>
        <p:blipFill>
          <a:blip r:embed="rId4"/>
          <a:stretch>
            <a:fillRect/>
          </a:stretch>
        </p:blipFill>
        <p:spPr>
          <a:xfrm>
            <a:off x="1090696" y="2229124"/>
            <a:ext cx="342351" cy="342351"/>
          </a:xfrm>
          <a:prstGeom prst="rect">
            <a:avLst/>
          </a:prstGeom>
        </p:spPr>
      </p:pic>
      <p:sp>
        <p:nvSpPr>
          <p:cNvPr id="9" name="Text 5"/>
          <p:cNvSpPr/>
          <p:nvPr/>
        </p:nvSpPr>
        <p:spPr>
          <a:xfrm>
            <a:off x="1783080" y="1874520"/>
            <a:ext cx="3931920" cy="365760"/>
          </a:xfrm>
          <a:prstGeom prst="rect">
            <a:avLst/>
          </a:prstGeom>
          <a:noFill/>
          <a:ln/>
        </p:spPr>
        <p:txBody>
          <a:bodyPr wrap="square" rtlCol="0" anchor="ctr"/>
          <a:lstStyle/>
          <a:p>
            <a:pPr marL="0" indent="0">
              <a:buNone/>
            </a:pPr>
            <a:r>
              <a:rPr lang="en-US" sz="1600" b="1" dirty="0">
                <a:solidFill>
                  <a:srgbClr val="1B1B3A"/>
                </a:solidFill>
                <a:latin typeface="Arial" pitchFamily="34" charset="0"/>
                <a:ea typeface="Arial" pitchFamily="34" charset="-122"/>
                <a:cs typeface="Arial" pitchFamily="34" charset="-120"/>
              </a:rPr>
              <a:t>Foundations</a:t>
            </a:r>
            <a:endParaRPr lang="en-US" sz="1600" dirty="0"/>
          </a:p>
        </p:txBody>
      </p:sp>
      <p:sp>
        <p:nvSpPr>
          <p:cNvPr id="10" name="Text 6"/>
          <p:cNvSpPr/>
          <p:nvPr/>
        </p:nvSpPr>
        <p:spPr>
          <a:xfrm>
            <a:off x="1783080" y="2286000"/>
            <a:ext cx="3931920" cy="685800"/>
          </a:xfrm>
          <a:prstGeom prst="rect">
            <a:avLst/>
          </a:prstGeom>
          <a:noFill/>
          <a:ln/>
        </p:spPr>
        <p:txBody>
          <a:bodyPr wrap="square" rtlCol="0" anchor="t"/>
          <a:lstStyle/>
          <a:p>
            <a:pPr marL="0" indent="0">
              <a:buNone/>
            </a:pPr>
            <a:r>
              <a:rPr lang="en-US" sz="1250" dirty="0">
                <a:solidFill>
                  <a:srgbClr val="6B6B85"/>
                </a:solidFill>
                <a:latin typeface="Calibri" pitchFamily="34" charset="0"/>
                <a:ea typeface="Calibri" pitchFamily="34" charset="-122"/>
                <a:cs typeface="Calibri" pitchFamily="34" charset="-120"/>
              </a:rPr>
              <a:t>What finetuning is, and why a base model alone falls short</a:t>
            </a:r>
            <a:endParaRPr lang="en-US" sz="1250" dirty="0"/>
          </a:p>
        </p:txBody>
      </p:sp>
      <p:sp>
        <p:nvSpPr>
          <p:cNvPr id="11" name="Shape 7"/>
          <p:cNvSpPr/>
          <p:nvPr/>
        </p:nvSpPr>
        <p:spPr>
          <a:xfrm>
            <a:off x="6263640" y="1691640"/>
            <a:ext cx="5257800" cy="1417320"/>
          </a:xfrm>
          <a:prstGeom prst="roundRect">
            <a:avLst>
              <a:gd name="adj" fmla="val 5161"/>
            </a:avLst>
          </a:prstGeom>
          <a:solidFill>
            <a:srgbClr val="F4F3FA"/>
          </a:solidFill>
          <a:ln/>
          <a:effectLst>
            <a:outerShdw blurRad="88900" dist="25400" dir="5400000" algn="bl" rotWithShape="0">
              <a:srgbClr val="2B2650">
                <a:alpha val="16000"/>
              </a:srgbClr>
            </a:outerShdw>
          </a:effectLst>
        </p:spPr>
        <p:txBody>
          <a:bodyPr/>
          <a:lstStyle/>
          <a:p>
            <a:endParaRPr lang="en-US"/>
          </a:p>
        </p:txBody>
      </p:sp>
      <p:sp>
        <p:nvSpPr>
          <p:cNvPr id="12" name="Shape 8"/>
          <p:cNvSpPr/>
          <p:nvPr/>
        </p:nvSpPr>
        <p:spPr>
          <a:xfrm>
            <a:off x="6556248" y="2071116"/>
            <a:ext cx="658368" cy="658368"/>
          </a:xfrm>
          <a:prstGeom prst="ellipse">
            <a:avLst/>
          </a:prstGeom>
          <a:solidFill>
            <a:srgbClr val="7C3AED"/>
          </a:solidFill>
          <a:ln/>
        </p:spPr>
        <p:txBody>
          <a:bodyPr/>
          <a:lstStyle/>
          <a:p>
            <a:endParaRPr lang="en-US"/>
          </a:p>
        </p:txBody>
      </p:sp>
      <p:pic>
        <p:nvPicPr>
          <p:cNvPr id="13" name="Image 2" descr="/home/claude/llm_finetune_deck/icons/shuffle.png"/>
          <p:cNvPicPr>
            <a:picLocks noChangeAspect="1"/>
          </p:cNvPicPr>
          <p:nvPr/>
        </p:nvPicPr>
        <p:blipFill>
          <a:blip r:embed="rId5"/>
          <a:stretch>
            <a:fillRect/>
          </a:stretch>
        </p:blipFill>
        <p:spPr>
          <a:xfrm>
            <a:off x="6714256" y="2229124"/>
            <a:ext cx="342351" cy="342351"/>
          </a:xfrm>
          <a:prstGeom prst="rect">
            <a:avLst/>
          </a:prstGeom>
        </p:spPr>
      </p:pic>
      <p:sp>
        <p:nvSpPr>
          <p:cNvPr id="14" name="Text 9"/>
          <p:cNvSpPr/>
          <p:nvPr/>
        </p:nvSpPr>
        <p:spPr>
          <a:xfrm>
            <a:off x="7406640" y="1874520"/>
            <a:ext cx="3931920" cy="365760"/>
          </a:xfrm>
          <a:prstGeom prst="rect">
            <a:avLst/>
          </a:prstGeom>
          <a:noFill/>
          <a:ln/>
        </p:spPr>
        <p:txBody>
          <a:bodyPr wrap="square" rtlCol="0" anchor="ctr"/>
          <a:lstStyle/>
          <a:p>
            <a:pPr marL="0" indent="0">
              <a:buNone/>
            </a:pPr>
            <a:r>
              <a:rPr lang="en-US" sz="1600" b="1" dirty="0">
                <a:solidFill>
                  <a:srgbClr val="1B1B3A"/>
                </a:solidFill>
                <a:latin typeface="Arial" pitchFamily="34" charset="0"/>
                <a:ea typeface="Arial" pitchFamily="34" charset="-122"/>
                <a:cs typeface="Arial" pitchFamily="34" charset="-120"/>
              </a:rPr>
              <a:t>Decision framework</a:t>
            </a:r>
            <a:endParaRPr lang="en-US" sz="1600" dirty="0"/>
          </a:p>
        </p:txBody>
      </p:sp>
      <p:sp>
        <p:nvSpPr>
          <p:cNvPr id="15" name="Text 10"/>
          <p:cNvSpPr/>
          <p:nvPr/>
        </p:nvSpPr>
        <p:spPr>
          <a:xfrm>
            <a:off x="7406640" y="2286000"/>
            <a:ext cx="3931920" cy="685800"/>
          </a:xfrm>
          <a:prstGeom prst="rect">
            <a:avLst/>
          </a:prstGeom>
          <a:noFill/>
          <a:ln/>
        </p:spPr>
        <p:txBody>
          <a:bodyPr wrap="square" rtlCol="0" anchor="t"/>
          <a:lstStyle/>
          <a:p>
            <a:pPr marL="0" indent="0">
              <a:buNone/>
            </a:pPr>
            <a:r>
              <a:rPr lang="en-US" sz="1250" dirty="0">
                <a:solidFill>
                  <a:srgbClr val="6B6B85"/>
                </a:solidFill>
                <a:latin typeface="Calibri" pitchFamily="34" charset="0"/>
                <a:ea typeface="Calibri" pitchFamily="34" charset="-122"/>
                <a:cs typeface="Calibri" pitchFamily="34" charset="-120"/>
              </a:rPr>
              <a:t>Finetuning vs. prompting vs. RAG — when to use which</a:t>
            </a:r>
            <a:endParaRPr lang="en-US" sz="1250" dirty="0"/>
          </a:p>
        </p:txBody>
      </p:sp>
      <p:sp>
        <p:nvSpPr>
          <p:cNvPr id="16" name="Shape 11"/>
          <p:cNvSpPr/>
          <p:nvPr/>
        </p:nvSpPr>
        <p:spPr>
          <a:xfrm>
            <a:off x="640080" y="3246120"/>
            <a:ext cx="5257800" cy="1417320"/>
          </a:xfrm>
          <a:prstGeom prst="roundRect">
            <a:avLst>
              <a:gd name="adj" fmla="val 5161"/>
            </a:avLst>
          </a:prstGeom>
          <a:solidFill>
            <a:srgbClr val="F4F3FA"/>
          </a:solidFill>
          <a:ln/>
          <a:effectLst>
            <a:outerShdw blurRad="88900" dist="25400" dir="5400000" algn="bl" rotWithShape="0">
              <a:srgbClr val="2B2650">
                <a:alpha val="16000"/>
              </a:srgbClr>
            </a:outerShdw>
          </a:effectLst>
        </p:spPr>
        <p:txBody>
          <a:bodyPr/>
          <a:lstStyle/>
          <a:p>
            <a:endParaRPr lang="en-US"/>
          </a:p>
        </p:txBody>
      </p:sp>
      <p:sp>
        <p:nvSpPr>
          <p:cNvPr id="17" name="Shape 12"/>
          <p:cNvSpPr/>
          <p:nvPr/>
        </p:nvSpPr>
        <p:spPr>
          <a:xfrm>
            <a:off x="932688" y="3625596"/>
            <a:ext cx="658368" cy="658368"/>
          </a:xfrm>
          <a:prstGeom prst="ellipse">
            <a:avLst/>
          </a:prstGeom>
          <a:solidFill>
            <a:srgbClr val="7C3AED"/>
          </a:solidFill>
          <a:ln/>
        </p:spPr>
        <p:txBody>
          <a:bodyPr/>
          <a:lstStyle/>
          <a:p>
            <a:endParaRPr lang="en-US"/>
          </a:p>
        </p:txBody>
      </p:sp>
      <p:pic>
        <p:nvPicPr>
          <p:cNvPr id="18" name="Image 3" descr="/home/claude/llm_finetune_deck/icons/layers.png"/>
          <p:cNvPicPr>
            <a:picLocks noChangeAspect="1"/>
          </p:cNvPicPr>
          <p:nvPr/>
        </p:nvPicPr>
        <p:blipFill>
          <a:blip r:embed="rId6"/>
          <a:stretch>
            <a:fillRect/>
          </a:stretch>
        </p:blipFill>
        <p:spPr>
          <a:xfrm>
            <a:off x="1090696" y="3783604"/>
            <a:ext cx="342351" cy="342351"/>
          </a:xfrm>
          <a:prstGeom prst="rect">
            <a:avLst/>
          </a:prstGeom>
        </p:spPr>
      </p:pic>
      <p:sp>
        <p:nvSpPr>
          <p:cNvPr id="19" name="Text 13"/>
          <p:cNvSpPr/>
          <p:nvPr/>
        </p:nvSpPr>
        <p:spPr>
          <a:xfrm>
            <a:off x="1783080" y="3429000"/>
            <a:ext cx="3931920" cy="365760"/>
          </a:xfrm>
          <a:prstGeom prst="rect">
            <a:avLst/>
          </a:prstGeom>
          <a:noFill/>
          <a:ln/>
        </p:spPr>
        <p:txBody>
          <a:bodyPr wrap="square" rtlCol="0" anchor="ctr"/>
          <a:lstStyle/>
          <a:p>
            <a:pPr marL="0" indent="0">
              <a:buNone/>
            </a:pPr>
            <a:r>
              <a:rPr lang="en-US" sz="1600" b="1" dirty="0">
                <a:solidFill>
                  <a:srgbClr val="1B1B3A"/>
                </a:solidFill>
                <a:latin typeface="Arial" pitchFamily="34" charset="0"/>
                <a:ea typeface="Arial" pitchFamily="34" charset="-122"/>
                <a:cs typeface="Arial" pitchFamily="34" charset="-120"/>
              </a:rPr>
              <a:t>Methods</a:t>
            </a:r>
            <a:endParaRPr lang="en-US" sz="1600" dirty="0"/>
          </a:p>
        </p:txBody>
      </p:sp>
      <p:sp>
        <p:nvSpPr>
          <p:cNvPr id="20" name="Text 14"/>
          <p:cNvSpPr/>
          <p:nvPr/>
        </p:nvSpPr>
        <p:spPr>
          <a:xfrm>
            <a:off x="1783080" y="3840480"/>
            <a:ext cx="3931920" cy="685800"/>
          </a:xfrm>
          <a:prstGeom prst="rect">
            <a:avLst/>
          </a:prstGeom>
          <a:noFill/>
          <a:ln/>
        </p:spPr>
        <p:txBody>
          <a:bodyPr wrap="square" rtlCol="0" anchor="t"/>
          <a:lstStyle/>
          <a:p>
            <a:pPr marL="0" indent="0">
              <a:buNone/>
            </a:pPr>
            <a:r>
              <a:rPr lang="en-US" sz="1250" dirty="0">
                <a:solidFill>
                  <a:srgbClr val="6B6B85"/>
                </a:solidFill>
                <a:latin typeface="Calibri" pitchFamily="34" charset="0"/>
                <a:ea typeface="Calibri" pitchFamily="34" charset="-122"/>
                <a:cs typeface="Calibri" pitchFamily="34" charset="-120"/>
              </a:rPr>
              <a:t>Full finetuning, LoRA / QLoRA, and SFT vs. RLHF / DPO</a:t>
            </a:r>
            <a:endParaRPr lang="en-US" sz="1250" dirty="0"/>
          </a:p>
        </p:txBody>
      </p:sp>
      <p:sp>
        <p:nvSpPr>
          <p:cNvPr id="21" name="Shape 15"/>
          <p:cNvSpPr/>
          <p:nvPr/>
        </p:nvSpPr>
        <p:spPr>
          <a:xfrm>
            <a:off x="6263640" y="3246120"/>
            <a:ext cx="5257800" cy="1417320"/>
          </a:xfrm>
          <a:prstGeom prst="roundRect">
            <a:avLst>
              <a:gd name="adj" fmla="val 5161"/>
            </a:avLst>
          </a:prstGeom>
          <a:solidFill>
            <a:srgbClr val="F4F3FA"/>
          </a:solidFill>
          <a:ln/>
          <a:effectLst>
            <a:outerShdw blurRad="88900" dist="25400" dir="5400000" algn="bl" rotWithShape="0">
              <a:srgbClr val="2B2650">
                <a:alpha val="16000"/>
              </a:srgbClr>
            </a:outerShdw>
          </a:effectLst>
        </p:spPr>
        <p:txBody>
          <a:bodyPr/>
          <a:lstStyle/>
          <a:p>
            <a:endParaRPr lang="en-US"/>
          </a:p>
        </p:txBody>
      </p:sp>
      <p:sp>
        <p:nvSpPr>
          <p:cNvPr id="22" name="Shape 16"/>
          <p:cNvSpPr/>
          <p:nvPr/>
        </p:nvSpPr>
        <p:spPr>
          <a:xfrm>
            <a:off x="6556248" y="3625596"/>
            <a:ext cx="658368" cy="658368"/>
          </a:xfrm>
          <a:prstGeom prst="ellipse">
            <a:avLst/>
          </a:prstGeom>
          <a:solidFill>
            <a:srgbClr val="7C3AED"/>
          </a:solidFill>
          <a:ln/>
        </p:spPr>
        <p:txBody>
          <a:bodyPr/>
          <a:lstStyle/>
          <a:p>
            <a:endParaRPr lang="en-US"/>
          </a:p>
        </p:txBody>
      </p:sp>
      <p:pic>
        <p:nvPicPr>
          <p:cNvPr id="23" name="Image 4" descr="/home/claude/llm_finetune_deck/icons/trendingUp.png"/>
          <p:cNvPicPr>
            <a:picLocks noChangeAspect="1"/>
          </p:cNvPicPr>
          <p:nvPr/>
        </p:nvPicPr>
        <p:blipFill>
          <a:blip r:embed="rId7"/>
          <a:stretch>
            <a:fillRect/>
          </a:stretch>
        </p:blipFill>
        <p:spPr>
          <a:xfrm>
            <a:off x="6714256" y="3783604"/>
            <a:ext cx="342351" cy="342351"/>
          </a:xfrm>
          <a:prstGeom prst="rect">
            <a:avLst/>
          </a:prstGeom>
        </p:spPr>
      </p:pic>
      <p:sp>
        <p:nvSpPr>
          <p:cNvPr id="24" name="Text 17"/>
          <p:cNvSpPr/>
          <p:nvPr/>
        </p:nvSpPr>
        <p:spPr>
          <a:xfrm>
            <a:off x="7406640" y="3429000"/>
            <a:ext cx="3931920" cy="365760"/>
          </a:xfrm>
          <a:prstGeom prst="rect">
            <a:avLst/>
          </a:prstGeom>
          <a:noFill/>
          <a:ln/>
        </p:spPr>
        <p:txBody>
          <a:bodyPr wrap="square" rtlCol="0" anchor="ctr"/>
          <a:lstStyle/>
          <a:p>
            <a:pPr marL="0" indent="0">
              <a:buNone/>
            </a:pPr>
            <a:r>
              <a:rPr lang="en-US" sz="1600" b="1" dirty="0">
                <a:solidFill>
                  <a:srgbClr val="1B1B3A"/>
                </a:solidFill>
                <a:latin typeface="Arial" pitchFamily="34" charset="0"/>
                <a:ea typeface="Arial" pitchFamily="34" charset="-122"/>
                <a:cs typeface="Arial" pitchFamily="34" charset="-120"/>
              </a:rPr>
              <a:t>The pipeline</a:t>
            </a:r>
            <a:endParaRPr lang="en-US" sz="1600" dirty="0"/>
          </a:p>
        </p:txBody>
      </p:sp>
      <p:sp>
        <p:nvSpPr>
          <p:cNvPr id="25" name="Text 18"/>
          <p:cNvSpPr/>
          <p:nvPr/>
        </p:nvSpPr>
        <p:spPr>
          <a:xfrm>
            <a:off x="7406640" y="3840480"/>
            <a:ext cx="3931920" cy="685800"/>
          </a:xfrm>
          <a:prstGeom prst="rect">
            <a:avLst/>
          </a:prstGeom>
          <a:noFill/>
          <a:ln/>
        </p:spPr>
        <p:txBody>
          <a:bodyPr wrap="square" rtlCol="0" anchor="t"/>
          <a:lstStyle/>
          <a:p>
            <a:pPr marL="0" indent="0">
              <a:buNone/>
            </a:pPr>
            <a:r>
              <a:rPr lang="en-US" sz="1250" dirty="0">
                <a:solidFill>
                  <a:srgbClr val="6B6B85"/>
                </a:solidFill>
                <a:latin typeface="Calibri" pitchFamily="34" charset="0"/>
                <a:ea typeface="Calibri" pitchFamily="34" charset="-122"/>
                <a:cs typeface="Calibri" pitchFamily="34" charset="-120"/>
              </a:rPr>
              <a:t>Task to deployment — seven concrete steps, A to Z</a:t>
            </a:r>
            <a:endParaRPr lang="en-US" sz="1250" dirty="0"/>
          </a:p>
        </p:txBody>
      </p:sp>
      <p:sp>
        <p:nvSpPr>
          <p:cNvPr id="26" name="Shape 19"/>
          <p:cNvSpPr/>
          <p:nvPr/>
        </p:nvSpPr>
        <p:spPr>
          <a:xfrm>
            <a:off x="640080" y="4800600"/>
            <a:ext cx="5257800" cy="1417320"/>
          </a:xfrm>
          <a:prstGeom prst="roundRect">
            <a:avLst>
              <a:gd name="adj" fmla="val 5161"/>
            </a:avLst>
          </a:prstGeom>
          <a:solidFill>
            <a:srgbClr val="F4F3FA"/>
          </a:solidFill>
          <a:ln/>
          <a:effectLst>
            <a:outerShdw blurRad="88900" dist="25400" dir="5400000" algn="bl" rotWithShape="0">
              <a:srgbClr val="2B2650">
                <a:alpha val="16000"/>
              </a:srgbClr>
            </a:outerShdw>
          </a:effectLst>
        </p:spPr>
        <p:txBody>
          <a:bodyPr/>
          <a:lstStyle/>
          <a:p>
            <a:endParaRPr lang="en-US"/>
          </a:p>
        </p:txBody>
      </p:sp>
      <p:sp>
        <p:nvSpPr>
          <p:cNvPr id="27" name="Shape 20"/>
          <p:cNvSpPr/>
          <p:nvPr/>
        </p:nvSpPr>
        <p:spPr>
          <a:xfrm>
            <a:off x="932688" y="5180076"/>
            <a:ext cx="658368" cy="658368"/>
          </a:xfrm>
          <a:prstGeom prst="ellipse">
            <a:avLst/>
          </a:prstGeom>
          <a:solidFill>
            <a:srgbClr val="7C3AED"/>
          </a:solidFill>
          <a:ln/>
        </p:spPr>
        <p:txBody>
          <a:bodyPr/>
          <a:lstStyle/>
          <a:p>
            <a:endParaRPr lang="en-US"/>
          </a:p>
        </p:txBody>
      </p:sp>
      <p:pic>
        <p:nvPicPr>
          <p:cNvPr id="28" name="Image 5" descr="/home/claude/llm_finetune_deck/icons/tool.png"/>
          <p:cNvPicPr>
            <a:picLocks noChangeAspect="1"/>
          </p:cNvPicPr>
          <p:nvPr/>
        </p:nvPicPr>
        <p:blipFill>
          <a:blip r:embed="rId8"/>
          <a:stretch>
            <a:fillRect/>
          </a:stretch>
        </p:blipFill>
        <p:spPr>
          <a:xfrm>
            <a:off x="1090696" y="5338084"/>
            <a:ext cx="342351" cy="342351"/>
          </a:xfrm>
          <a:prstGeom prst="rect">
            <a:avLst/>
          </a:prstGeom>
        </p:spPr>
      </p:pic>
      <p:sp>
        <p:nvSpPr>
          <p:cNvPr id="29" name="Text 21"/>
          <p:cNvSpPr/>
          <p:nvPr/>
        </p:nvSpPr>
        <p:spPr>
          <a:xfrm>
            <a:off x="1783080" y="4983480"/>
            <a:ext cx="3931920" cy="365760"/>
          </a:xfrm>
          <a:prstGeom prst="rect">
            <a:avLst/>
          </a:prstGeom>
          <a:noFill/>
          <a:ln/>
        </p:spPr>
        <p:txBody>
          <a:bodyPr wrap="square" rtlCol="0" anchor="ctr"/>
          <a:lstStyle/>
          <a:p>
            <a:pPr marL="0" indent="0">
              <a:buNone/>
            </a:pPr>
            <a:r>
              <a:rPr lang="en-US" sz="1600" b="1" dirty="0">
                <a:solidFill>
                  <a:srgbClr val="1B1B3A"/>
                </a:solidFill>
                <a:latin typeface="Arial" pitchFamily="34" charset="0"/>
                <a:ea typeface="Arial" pitchFamily="34" charset="-122"/>
                <a:cs typeface="Arial" pitchFamily="34" charset="-120"/>
              </a:rPr>
              <a:t>Tool ecosystem</a:t>
            </a:r>
            <a:endParaRPr lang="en-US" sz="1600" dirty="0"/>
          </a:p>
        </p:txBody>
      </p:sp>
      <p:sp>
        <p:nvSpPr>
          <p:cNvPr id="30" name="Text 22"/>
          <p:cNvSpPr/>
          <p:nvPr/>
        </p:nvSpPr>
        <p:spPr>
          <a:xfrm>
            <a:off x="1783080" y="5394960"/>
            <a:ext cx="3931920" cy="685800"/>
          </a:xfrm>
          <a:prstGeom prst="rect">
            <a:avLst/>
          </a:prstGeom>
          <a:noFill/>
          <a:ln/>
        </p:spPr>
        <p:txBody>
          <a:bodyPr wrap="square" rtlCol="0" anchor="t"/>
          <a:lstStyle/>
          <a:p>
            <a:pPr marL="0" indent="0">
              <a:buNone/>
            </a:pPr>
            <a:r>
              <a:rPr lang="en-US" sz="1250" dirty="0">
                <a:solidFill>
                  <a:srgbClr val="6B6B85"/>
                </a:solidFill>
                <a:latin typeface="Calibri" pitchFamily="34" charset="0"/>
                <a:ea typeface="Calibri" pitchFamily="34" charset="-122"/>
                <a:cs typeface="Calibri" pitchFamily="34" charset="-120"/>
              </a:rPr>
              <a:t>What to actually install, on what hardware</a:t>
            </a:r>
            <a:endParaRPr lang="en-US" sz="1250" dirty="0"/>
          </a:p>
        </p:txBody>
      </p:sp>
      <p:sp>
        <p:nvSpPr>
          <p:cNvPr id="31" name="Shape 23"/>
          <p:cNvSpPr/>
          <p:nvPr/>
        </p:nvSpPr>
        <p:spPr>
          <a:xfrm>
            <a:off x="6263640" y="4800600"/>
            <a:ext cx="5257800" cy="1417320"/>
          </a:xfrm>
          <a:prstGeom prst="roundRect">
            <a:avLst>
              <a:gd name="adj" fmla="val 5161"/>
            </a:avLst>
          </a:prstGeom>
          <a:solidFill>
            <a:srgbClr val="F4F3FA"/>
          </a:solidFill>
          <a:ln/>
          <a:effectLst>
            <a:outerShdw blurRad="88900" dist="25400" dir="5400000" algn="bl" rotWithShape="0">
              <a:srgbClr val="2B2650">
                <a:alpha val="16000"/>
              </a:srgbClr>
            </a:outerShdw>
          </a:effectLst>
        </p:spPr>
        <p:txBody>
          <a:bodyPr/>
          <a:lstStyle/>
          <a:p>
            <a:endParaRPr lang="en-US"/>
          </a:p>
        </p:txBody>
      </p:sp>
      <p:sp>
        <p:nvSpPr>
          <p:cNvPr id="32" name="Shape 24"/>
          <p:cNvSpPr/>
          <p:nvPr/>
        </p:nvSpPr>
        <p:spPr>
          <a:xfrm>
            <a:off x="6556248" y="5180076"/>
            <a:ext cx="658368" cy="658368"/>
          </a:xfrm>
          <a:prstGeom prst="ellipse">
            <a:avLst/>
          </a:prstGeom>
          <a:solidFill>
            <a:srgbClr val="7C3AED"/>
          </a:solidFill>
          <a:ln/>
        </p:spPr>
        <p:txBody>
          <a:bodyPr/>
          <a:lstStyle/>
          <a:p>
            <a:endParaRPr lang="en-US"/>
          </a:p>
        </p:txBody>
      </p:sp>
      <p:pic>
        <p:nvPicPr>
          <p:cNvPr id="33" name="Image 6" descr="/home/claude/llm_finetune_deck/icons/alertTriangle.png"/>
          <p:cNvPicPr>
            <a:picLocks noChangeAspect="1"/>
          </p:cNvPicPr>
          <p:nvPr/>
        </p:nvPicPr>
        <p:blipFill>
          <a:blip r:embed="rId9"/>
          <a:stretch>
            <a:fillRect/>
          </a:stretch>
        </p:blipFill>
        <p:spPr>
          <a:xfrm>
            <a:off x="6714256" y="5338084"/>
            <a:ext cx="342351" cy="342351"/>
          </a:xfrm>
          <a:prstGeom prst="rect">
            <a:avLst/>
          </a:prstGeom>
        </p:spPr>
      </p:pic>
      <p:sp>
        <p:nvSpPr>
          <p:cNvPr id="34" name="Text 25"/>
          <p:cNvSpPr/>
          <p:nvPr/>
        </p:nvSpPr>
        <p:spPr>
          <a:xfrm>
            <a:off x="7406640" y="4983480"/>
            <a:ext cx="3931920" cy="365760"/>
          </a:xfrm>
          <a:prstGeom prst="rect">
            <a:avLst/>
          </a:prstGeom>
          <a:noFill/>
          <a:ln/>
        </p:spPr>
        <p:txBody>
          <a:bodyPr wrap="square" rtlCol="0" anchor="ctr"/>
          <a:lstStyle/>
          <a:p>
            <a:pPr marL="0" indent="0">
              <a:buNone/>
            </a:pPr>
            <a:r>
              <a:rPr lang="en-US" sz="1600" b="1" dirty="0">
                <a:solidFill>
                  <a:srgbClr val="1B1B3A"/>
                </a:solidFill>
                <a:latin typeface="Arial" pitchFamily="34" charset="0"/>
                <a:ea typeface="Arial" pitchFamily="34" charset="-122"/>
                <a:cs typeface="Arial" pitchFamily="34" charset="-120"/>
              </a:rPr>
              <a:t>Pitfalls &amp; resources</a:t>
            </a:r>
            <a:endParaRPr lang="en-US" sz="1600" dirty="0"/>
          </a:p>
        </p:txBody>
      </p:sp>
      <p:sp>
        <p:nvSpPr>
          <p:cNvPr id="35" name="Text 26"/>
          <p:cNvSpPr/>
          <p:nvPr/>
        </p:nvSpPr>
        <p:spPr>
          <a:xfrm>
            <a:off x="7406640" y="5394960"/>
            <a:ext cx="3931920" cy="685800"/>
          </a:xfrm>
          <a:prstGeom prst="rect">
            <a:avLst/>
          </a:prstGeom>
          <a:noFill/>
          <a:ln/>
        </p:spPr>
        <p:txBody>
          <a:bodyPr wrap="square" rtlCol="0" anchor="t"/>
          <a:lstStyle/>
          <a:p>
            <a:pPr marL="0" indent="0">
              <a:buNone/>
            </a:pPr>
            <a:r>
              <a:rPr lang="en-US" sz="1250" dirty="0">
                <a:solidFill>
                  <a:srgbClr val="6B6B85"/>
                </a:solidFill>
                <a:latin typeface="Calibri" pitchFamily="34" charset="0"/>
                <a:ea typeface="Calibri" pitchFamily="34" charset="-122"/>
                <a:cs typeface="Calibri" pitchFamily="34" charset="-120"/>
              </a:rPr>
              <a:t>Common fresher mistakes, and where to go next</a:t>
            </a:r>
            <a:endParaRPr lang="en-US" sz="1250" dirty="0"/>
          </a:p>
        </p:txBody>
      </p:sp>
      <p:sp>
        <p:nvSpPr>
          <p:cNvPr id="36" name="Text 27"/>
          <p:cNvSpPr/>
          <p:nvPr/>
        </p:nvSpPr>
        <p:spPr>
          <a:xfrm>
            <a:off x="11292840" y="6473952"/>
            <a:ext cx="502920" cy="274320"/>
          </a:xfrm>
          <a:prstGeom prst="rect">
            <a:avLst/>
          </a:prstGeom>
          <a:noFill/>
          <a:ln/>
        </p:spPr>
        <p:txBody>
          <a:bodyPr wrap="square" rtlCol="0" anchor="ctr"/>
          <a:lstStyle/>
          <a:p>
            <a:pPr marL="0" indent="0" algn="r">
              <a:buNone/>
            </a:pPr>
            <a:r>
              <a:rPr lang="en-US" sz="1000" dirty="0">
                <a:solidFill>
                  <a:srgbClr val="6B6B85"/>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8686800" cy="274320"/>
          </a:xfrm>
          <a:prstGeom prst="rect">
            <a:avLst/>
          </a:prstGeom>
          <a:noFill/>
          <a:ln/>
        </p:spPr>
        <p:txBody>
          <a:bodyPr wrap="square" rtlCol="0" anchor="ctr"/>
          <a:lstStyle/>
          <a:p>
            <a:pPr marL="0" indent="0">
              <a:buNone/>
            </a:pPr>
            <a:r>
              <a:rPr lang="en-US" sz="1150" b="1" kern="0" spc="200" dirty="0">
                <a:solidFill>
                  <a:srgbClr val="7C3AED"/>
                </a:solidFill>
                <a:latin typeface="Calibri" pitchFamily="34" charset="0"/>
                <a:ea typeface="Calibri" pitchFamily="34" charset="-122"/>
                <a:cs typeface="Calibri" pitchFamily="34" charset="-120"/>
              </a:rPr>
              <a:t>FOUNDATIONS</a:t>
            </a:r>
            <a:endParaRPr lang="en-US" sz="1150" dirty="0"/>
          </a:p>
        </p:txBody>
      </p:sp>
      <p:sp>
        <p:nvSpPr>
          <p:cNvPr id="3" name="Text 1"/>
          <p:cNvSpPr/>
          <p:nvPr/>
        </p:nvSpPr>
        <p:spPr>
          <a:xfrm>
            <a:off x="640080" y="621792"/>
            <a:ext cx="9692640" cy="685800"/>
          </a:xfrm>
          <a:prstGeom prst="rect">
            <a:avLst/>
          </a:prstGeom>
          <a:noFill/>
          <a:ln/>
        </p:spPr>
        <p:txBody>
          <a:bodyPr wrap="square" rtlCol="0" anchor="t"/>
          <a:lstStyle/>
          <a:p>
            <a:pPr marL="0" indent="0">
              <a:buNone/>
            </a:pPr>
            <a:r>
              <a:rPr lang="en-US" sz="3200" b="1" dirty="0">
                <a:solidFill>
                  <a:srgbClr val="1B1B3A"/>
                </a:solidFill>
                <a:latin typeface="Arial" pitchFamily="34" charset="0"/>
                <a:ea typeface="Arial" pitchFamily="34" charset="-122"/>
                <a:cs typeface="Arial" pitchFamily="34" charset="-120"/>
              </a:rPr>
              <a:t>Quick Recap — What Is an LLM?</a:t>
            </a:r>
            <a:endParaRPr lang="en-US" sz="3200" dirty="0"/>
          </a:p>
        </p:txBody>
      </p:sp>
      <p:sp>
        <p:nvSpPr>
          <p:cNvPr id="4" name="Shape 2"/>
          <p:cNvSpPr/>
          <p:nvPr/>
        </p:nvSpPr>
        <p:spPr>
          <a:xfrm>
            <a:off x="10721340" y="434340"/>
            <a:ext cx="777240" cy="777240"/>
          </a:xfrm>
          <a:prstGeom prst="ellipse">
            <a:avLst/>
          </a:prstGeom>
          <a:solidFill>
            <a:srgbClr val="7C3AED"/>
          </a:solidFill>
          <a:ln/>
        </p:spPr>
        <p:txBody>
          <a:bodyPr/>
          <a:lstStyle/>
          <a:p>
            <a:endParaRPr lang="en-US"/>
          </a:p>
        </p:txBody>
      </p:sp>
      <p:pic>
        <p:nvPicPr>
          <p:cNvPr id="5" name="Image 0" descr="/home/claude/llm_finetune_deck/icons/cpu.png"/>
          <p:cNvPicPr>
            <a:picLocks noChangeAspect="1"/>
          </p:cNvPicPr>
          <p:nvPr/>
        </p:nvPicPr>
        <p:blipFill>
          <a:blip r:embed="rId3"/>
          <a:stretch>
            <a:fillRect/>
          </a:stretch>
        </p:blipFill>
        <p:spPr>
          <a:xfrm>
            <a:off x="10907878" y="620878"/>
            <a:ext cx="404165" cy="404165"/>
          </a:xfrm>
          <a:prstGeom prst="rect">
            <a:avLst/>
          </a:prstGeom>
        </p:spPr>
      </p:pic>
      <p:sp>
        <p:nvSpPr>
          <p:cNvPr id="6" name="Shape 3"/>
          <p:cNvSpPr/>
          <p:nvPr/>
        </p:nvSpPr>
        <p:spPr>
          <a:xfrm>
            <a:off x="640080" y="1783080"/>
            <a:ext cx="2743200" cy="1371600"/>
          </a:xfrm>
          <a:prstGeom prst="roundRect">
            <a:avLst>
              <a:gd name="adj" fmla="val 5333"/>
            </a:avLst>
          </a:prstGeom>
          <a:solidFill>
            <a:srgbClr val="F4F3FA"/>
          </a:solidFill>
          <a:ln/>
          <a:effectLst>
            <a:outerShdw blurRad="88900" dist="25400" dir="5400000" algn="bl" rotWithShape="0">
              <a:srgbClr val="2B2650">
                <a:alpha val="16000"/>
              </a:srgbClr>
            </a:outerShdw>
          </a:effectLst>
        </p:spPr>
        <p:txBody>
          <a:bodyPr/>
          <a:lstStyle/>
          <a:p>
            <a:endParaRPr lang="en-US"/>
          </a:p>
        </p:txBody>
      </p:sp>
      <p:sp>
        <p:nvSpPr>
          <p:cNvPr id="7" name="Text 4"/>
          <p:cNvSpPr/>
          <p:nvPr/>
        </p:nvSpPr>
        <p:spPr>
          <a:xfrm>
            <a:off x="777240" y="1947672"/>
            <a:ext cx="2468880" cy="685800"/>
          </a:xfrm>
          <a:prstGeom prst="rect">
            <a:avLst/>
          </a:prstGeom>
          <a:noFill/>
          <a:ln/>
        </p:spPr>
        <p:txBody>
          <a:bodyPr wrap="square" rtlCol="0" anchor="ctr"/>
          <a:lstStyle/>
          <a:p>
            <a:pPr marL="0" indent="0" algn="ctr">
              <a:buNone/>
            </a:pPr>
            <a:r>
              <a:rPr lang="en-US" sz="1600" b="1" dirty="0">
                <a:solidFill>
                  <a:srgbClr val="1B1B3A"/>
                </a:solidFill>
                <a:latin typeface="Arial" pitchFamily="34" charset="0"/>
                <a:ea typeface="Arial" pitchFamily="34" charset="-122"/>
                <a:cs typeface="Arial" pitchFamily="34" charset="-120"/>
              </a:rPr>
              <a:t>Massive Text</a:t>
            </a:r>
            <a:endParaRPr lang="en-US" sz="1600" dirty="0"/>
          </a:p>
          <a:p>
            <a:pPr marL="0" indent="0" algn="ctr">
              <a:buNone/>
            </a:pPr>
            <a:r>
              <a:rPr lang="en-US" sz="1600" b="1" dirty="0">
                <a:solidFill>
                  <a:srgbClr val="1B1B3A"/>
                </a:solidFill>
                <a:latin typeface="Arial" pitchFamily="34" charset="0"/>
                <a:ea typeface="Arial" pitchFamily="34" charset="-122"/>
                <a:cs typeface="Arial" pitchFamily="34" charset="-120"/>
              </a:rPr>
              <a:t>Corpus</a:t>
            </a:r>
            <a:endParaRPr lang="en-US" sz="1600" dirty="0"/>
          </a:p>
        </p:txBody>
      </p:sp>
      <p:sp>
        <p:nvSpPr>
          <p:cNvPr id="8" name="Text 5"/>
          <p:cNvSpPr/>
          <p:nvPr/>
        </p:nvSpPr>
        <p:spPr>
          <a:xfrm>
            <a:off x="822960" y="2606040"/>
            <a:ext cx="2377440" cy="502920"/>
          </a:xfrm>
          <a:prstGeom prst="rect">
            <a:avLst/>
          </a:prstGeom>
          <a:noFill/>
          <a:ln/>
        </p:spPr>
        <p:txBody>
          <a:bodyPr wrap="square" rtlCol="0" anchor="ctr"/>
          <a:lstStyle/>
          <a:p>
            <a:pPr marL="0" indent="0" algn="ctr">
              <a:buNone/>
            </a:pPr>
            <a:r>
              <a:rPr lang="en-US" sz="1050" dirty="0">
                <a:solidFill>
                  <a:srgbClr val="6B6B85"/>
                </a:solidFill>
                <a:latin typeface="Calibri" pitchFamily="34" charset="0"/>
                <a:ea typeface="Calibri" pitchFamily="34" charset="-122"/>
                <a:cs typeface="Calibri" pitchFamily="34" charset="-120"/>
              </a:rPr>
              <a:t>Web text, books, code — trillions of tokens</a:t>
            </a:r>
            <a:endParaRPr lang="en-US" sz="1050" dirty="0"/>
          </a:p>
        </p:txBody>
      </p:sp>
      <p:sp>
        <p:nvSpPr>
          <p:cNvPr id="9" name="Shape 6"/>
          <p:cNvSpPr/>
          <p:nvPr/>
        </p:nvSpPr>
        <p:spPr>
          <a:xfrm>
            <a:off x="4206240" y="1783080"/>
            <a:ext cx="2743200" cy="1371600"/>
          </a:xfrm>
          <a:prstGeom prst="roundRect">
            <a:avLst>
              <a:gd name="adj" fmla="val 5333"/>
            </a:avLst>
          </a:prstGeom>
          <a:solidFill>
            <a:srgbClr val="F4F3FA"/>
          </a:solidFill>
          <a:ln/>
          <a:effectLst>
            <a:outerShdw blurRad="88900" dist="25400" dir="5400000" algn="bl" rotWithShape="0">
              <a:srgbClr val="2B2650">
                <a:alpha val="16000"/>
              </a:srgbClr>
            </a:outerShdw>
          </a:effectLst>
        </p:spPr>
        <p:txBody>
          <a:bodyPr/>
          <a:lstStyle/>
          <a:p>
            <a:endParaRPr lang="en-US"/>
          </a:p>
        </p:txBody>
      </p:sp>
      <p:sp>
        <p:nvSpPr>
          <p:cNvPr id="10" name="Text 7"/>
          <p:cNvSpPr/>
          <p:nvPr/>
        </p:nvSpPr>
        <p:spPr>
          <a:xfrm>
            <a:off x="4343400" y="1947672"/>
            <a:ext cx="2468880" cy="685800"/>
          </a:xfrm>
          <a:prstGeom prst="rect">
            <a:avLst/>
          </a:prstGeom>
          <a:noFill/>
          <a:ln/>
        </p:spPr>
        <p:txBody>
          <a:bodyPr wrap="square" rtlCol="0" anchor="ctr"/>
          <a:lstStyle/>
          <a:p>
            <a:pPr marL="0" indent="0" algn="ctr">
              <a:buNone/>
            </a:pPr>
            <a:r>
              <a:rPr lang="en-US" sz="1600" b="1" dirty="0">
                <a:solidFill>
                  <a:srgbClr val="1B1B3A"/>
                </a:solidFill>
                <a:latin typeface="Arial" pitchFamily="34" charset="0"/>
                <a:ea typeface="Arial" pitchFamily="34" charset="-122"/>
                <a:cs typeface="Arial" pitchFamily="34" charset="-120"/>
              </a:rPr>
              <a:t>Transformer</a:t>
            </a:r>
            <a:endParaRPr lang="en-US" sz="1600" dirty="0"/>
          </a:p>
          <a:p>
            <a:pPr marL="0" indent="0" algn="ctr">
              <a:buNone/>
            </a:pPr>
            <a:r>
              <a:rPr lang="en-US" sz="1600" b="1" dirty="0">
                <a:solidFill>
                  <a:srgbClr val="1B1B3A"/>
                </a:solidFill>
                <a:latin typeface="Arial" pitchFamily="34" charset="0"/>
                <a:ea typeface="Arial" pitchFamily="34" charset="-122"/>
                <a:cs typeface="Arial" pitchFamily="34" charset="-120"/>
              </a:rPr>
              <a:t>Pretraining</a:t>
            </a:r>
            <a:endParaRPr lang="en-US" sz="1600" dirty="0"/>
          </a:p>
        </p:txBody>
      </p:sp>
      <p:sp>
        <p:nvSpPr>
          <p:cNvPr id="11" name="Text 8"/>
          <p:cNvSpPr/>
          <p:nvPr/>
        </p:nvSpPr>
        <p:spPr>
          <a:xfrm>
            <a:off x="4389120" y="2606040"/>
            <a:ext cx="2377440" cy="502920"/>
          </a:xfrm>
          <a:prstGeom prst="rect">
            <a:avLst/>
          </a:prstGeom>
          <a:noFill/>
          <a:ln/>
        </p:spPr>
        <p:txBody>
          <a:bodyPr wrap="square" rtlCol="0" anchor="ctr"/>
          <a:lstStyle/>
          <a:p>
            <a:pPr marL="0" indent="0" algn="ctr">
              <a:buNone/>
            </a:pPr>
            <a:r>
              <a:rPr lang="en-US" sz="1050" dirty="0">
                <a:solidFill>
                  <a:srgbClr val="6B6B85"/>
                </a:solidFill>
                <a:latin typeface="Calibri" pitchFamily="34" charset="0"/>
                <a:ea typeface="Calibri" pitchFamily="34" charset="-122"/>
                <a:cs typeface="Calibri" pitchFamily="34" charset="-120"/>
              </a:rPr>
              <a:t>Learns next-token prediction at huge scale</a:t>
            </a:r>
            <a:endParaRPr lang="en-US" sz="1050" dirty="0"/>
          </a:p>
        </p:txBody>
      </p:sp>
      <p:sp>
        <p:nvSpPr>
          <p:cNvPr id="12" name="Shape 9"/>
          <p:cNvSpPr/>
          <p:nvPr/>
        </p:nvSpPr>
        <p:spPr>
          <a:xfrm>
            <a:off x="7772400" y="1783080"/>
            <a:ext cx="2743200" cy="1371600"/>
          </a:xfrm>
          <a:prstGeom prst="roundRect">
            <a:avLst>
              <a:gd name="adj" fmla="val 5333"/>
            </a:avLst>
          </a:prstGeom>
          <a:solidFill>
            <a:srgbClr val="ECE4FD"/>
          </a:solidFill>
          <a:ln/>
          <a:effectLst>
            <a:outerShdw blurRad="88900" dist="25400" dir="5400000" algn="bl" rotWithShape="0">
              <a:srgbClr val="2B2650">
                <a:alpha val="16000"/>
              </a:srgbClr>
            </a:outerShdw>
          </a:effectLst>
        </p:spPr>
        <p:txBody>
          <a:bodyPr/>
          <a:lstStyle/>
          <a:p>
            <a:endParaRPr lang="en-US"/>
          </a:p>
        </p:txBody>
      </p:sp>
      <p:sp>
        <p:nvSpPr>
          <p:cNvPr id="13" name="Text 10"/>
          <p:cNvSpPr/>
          <p:nvPr/>
        </p:nvSpPr>
        <p:spPr>
          <a:xfrm>
            <a:off x="7909560" y="1947672"/>
            <a:ext cx="2468880" cy="685800"/>
          </a:xfrm>
          <a:prstGeom prst="rect">
            <a:avLst/>
          </a:prstGeom>
          <a:noFill/>
          <a:ln/>
        </p:spPr>
        <p:txBody>
          <a:bodyPr wrap="square" rtlCol="0" anchor="ctr"/>
          <a:lstStyle/>
          <a:p>
            <a:pPr marL="0" indent="0" algn="ctr">
              <a:buNone/>
            </a:pPr>
            <a:r>
              <a:rPr lang="en-US" sz="1600" b="1" dirty="0">
                <a:solidFill>
                  <a:srgbClr val="1B1B3A"/>
                </a:solidFill>
                <a:latin typeface="Arial" pitchFamily="34" charset="0"/>
                <a:ea typeface="Arial" pitchFamily="34" charset="-122"/>
                <a:cs typeface="Arial" pitchFamily="34" charset="-120"/>
              </a:rPr>
              <a:t>Base Model</a:t>
            </a:r>
            <a:endParaRPr lang="en-US" sz="1600" dirty="0"/>
          </a:p>
        </p:txBody>
      </p:sp>
      <p:sp>
        <p:nvSpPr>
          <p:cNvPr id="14" name="Text 11"/>
          <p:cNvSpPr/>
          <p:nvPr/>
        </p:nvSpPr>
        <p:spPr>
          <a:xfrm>
            <a:off x="7955280" y="2606040"/>
            <a:ext cx="2377440" cy="502920"/>
          </a:xfrm>
          <a:prstGeom prst="rect">
            <a:avLst/>
          </a:prstGeom>
          <a:noFill/>
          <a:ln/>
        </p:spPr>
        <p:txBody>
          <a:bodyPr wrap="square" rtlCol="0" anchor="ctr"/>
          <a:lstStyle/>
          <a:p>
            <a:pPr marL="0" indent="0" algn="ctr">
              <a:buNone/>
            </a:pPr>
            <a:r>
              <a:rPr lang="en-US" sz="1050" dirty="0">
                <a:solidFill>
                  <a:srgbClr val="6B6B85"/>
                </a:solidFill>
                <a:latin typeface="Calibri" pitchFamily="34" charset="0"/>
                <a:ea typeface="Calibri" pitchFamily="34" charset="-122"/>
                <a:cs typeface="Calibri" pitchFamily="34" charset="-120"/>
              </a:rPr>
              <a:t>A general-purpose "autocomplete" engine</a:t>
            </a:r>
            <a:endParaRPr lang="en-US" sz="1050" dirty="0"/>
          </a:p>
        </p:txBody>
      </p:sp>
      <p:sp>
        <p:nvSpPr>
          <p:cNvPr id="15" name="Shape 12"/>
          <p:cNvSpPr/>
          <p:nvPr/>
        </p:nvSpPr>
        <p:spPr>
          <a:xfrm>
            <a:off x="3456432" y="2331720"/>
            <a:ext cx="640080" cy="274320"/>
          </a:xfrm>
          <a:prstGeom prst="rightArrow">
            <a:avLst/>
          </a:prstGeom>
          <a:solidFill>
            <a:srgbClr val="7C3AED"/>
          </a:solidFill>
          <a:ln/>
        </p:spPr>
        <p:txBody>
          <a:bodyPr/>
          <a:lstStyle/>
          <a:p>
            <a:endParaRPr lang="en-US"/>
          </a:p>
        </p:txBody>
      </p:sp>
      <p:sp>
        <p:nvSpPr>
          <p:cNvPr id="16" name="Shape 13"/>
          <p:cNvSpPr/>
          <p:nvPr/>
        </p:nvSpPr>
        <p:spPr>
          <a:xfrm>
            <a:off x="7022592" y="2331720"/>
            <a:ext cx="640080" cy="274320"/>
          </a:xfrm>
          <a:prstGeom prst="rightArrow">
            <a:avLst/>
          </a:prstGeom>
          <a:solidFill>
            <a:srgbClr val="7C3AED"/>
          </a:solidFill>
          <a:ln/>
        </p:spPr>
        <p:txBody>
          <a:bodyPr/>
          <a:lstStyle/>
          <a:p>
            <a:endParaRPr lang="en-US"/>
          </a:p>
        </p:txBody>
      </p:sp>
      <p:sp>
        <p:nvSpPr>
          <p:cNvPr id="17" name="Text 14"/>
          <p:cNvSpPr/>
          <p:nvPr/>
        </p:nvSpPr>
        <p:spPr>
          <a:xfrm>
            <a:off x="640080" y="3794760"/>
            <a:ext cx="10908792" cy="1828800"/>
          </a:xfrm>
          <a:prstGeom prst="rect">
            <a:avLst/>
          </a:prstGeom>
          <a:noFill/>
          <a:ln/>
        </p:spPr>
        <p:txBody>
          <a:bodyPr wrap="square" rtlCol="0" anchor="ctr"/>
          <a:lstStyle/>
          <a:p>
            <a:pPr marL="342900" indent="-342900">
              <a:spcAft>
                <a:spcPts val="1000"/>
              </a:spcAft>
              <a:buSzPct val="100000"/>
              <a:buChar char="•"/>
            </a:pPr>
            <a:r>
              <a:rPr lang="en-US" sz="1500" dirty="0">
                <a:solidFill>
                  <a:srgbClr val="1B1B3A"/>
                </a:solidFill>
                <a:latin typeface="Calibri" pitchFamily="34" charset="0"/>
                <a:ea typeface="Calibri" pitchFamily="34" charset="-122"/>
                <a:cs typeface="Calibri" pitchFamily="34" charset="-120"/>
              </a:rPr>
              <a:t>Trained on trillions of tokens scraped from the web, books, and code</a:t>
            </a:r>
            <a:endParaRPr lang="en-US" sz="1500" dirty="0"/>
          </a:p>
          <a:p>
            <a:pPr marL="342900" indent="-342900">
              <a:spcAft>
                <a:spcPts val="1000"/>
              </a:spcAft>
              <a:buSzPct val="100000"/>
              <a:buChar char="•"/>
            </a:pPr>
            <a:r>
              <a:rPr lang="en-US" sz="1500" dirty="0">
                <a:solidFill>
                  <a:srgbClr val="1B1B3A"/>
                </a:solidFill>
                <a:latin typeface="Calibri" pitchFamily="34" charset="0"/>
                <a:ea typeface="Calibri" pitchFamily="34" charset="-122"/>
                <a:cs typeface="Calibri" pitchFamily="34" charset="-120"/>
              </a:rPr>
              <a:t>Learns grammar, facts, and reasoning patterns — generically, not for any one task</a:t>
            </a:r>
            <a:endParaRPr lang="en-US" sz="1500" dirty="0"/>
          </a:p>
          <a:p>
            <a:pPr marL="342900" indent="-342900">
              <a:spcAft>
                <a:spcPts val="1000"/>
              </a:spcAft>
              <a:buSzPct val="100000"/>
              <a:buChar char="•"/>
            </a:pPr>
            <a:r>
              <a:rPr lang="en-US" sz="1500" dirty="0">
                <a:solidFill>
                  <a:srgbClr val="1B1B3A"/>
                </a:solidFill>
                <a:latin typeface="Calibri" pitchFamily="34" charset="0"/>
                <a:ea typeface="Calibri" pitchFamily="34" charset="-122"/>
                <a:cs typeface="Calibri" pitchFamily="34" charset="-120"/>
              </a:rPr>
              <a:t>Result: a powerful next-word predictor, not yet a helpful, instructable assistant</a:t>
            </a:r>
            <a:endParaRPr lang="en-US" sz="1500" dirty="0"/>
          </a:p>
        </p:txBody>
      </p:sp>
      <p:sp>
        <p:nvSpPr>
          <p:cNvPr id="18" name="Text 15"/>
          <p:cNvSpPr/>
          <p:nvPr/>
        </p:nvSpPr>
        <p:spPr>
          <a:xfrm>
            <a:off x="11292840" y="6473952"/>
            <a:ext cx="502920" cy="274320"/>
          </a:xfrm>
          <a:prstGeom prst="rect">
            <a:avLst/>
          </a:prstGeom>
          <a:noFill/>
          <a:ln/>
        </p:spPr>
        <p:txBody>
          <a:bodyPr wrap="square" rtlCol="0" anchor="ctr"/>
          <a:lstStyle/>
          <a:p>
            <a:pPr marL="0" indent="0" algn="r">
              <a:buNone/>
            </a:pPr>
            <a:r>
              <a:rPr lang="en-US" sz="1000" dirty="0">
                <a:solidFill>
                  <a:srgbClr val="6B6B85"/>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8686800" cy="274320"/>
          </a:xfrm>
          <a:prstGeom prst="rect">
            <a:avLst/>
          </a:prstGeom>
          <a:noFill/>
          <a:ln/>
        </p:spPr>
        <p:txBody>
          <a:bodyPr wrap="square" rtlCol="0" anchor="ctr"/>
          <a:lstStyle/>
          <a:p>
            <a:pPr marL="0" indent="0">
              <a:buNone/>
            </a:pPr>
            <a:r>
              <a:rPr lang="en-US" sz="1150" b="1" kern="0" spc="200" dirty="0">
                <a:solidFill>
                  <a:srgbClr val="7C3AED"/>
                </a:solidFill>
                <a:latin typeface="Calibri" pitchFamily="34" charset="0"/>
                <a:ea typeface="Calibri" pitchFamily="34" charset="-122"/>
                <a:cs typeface="Calibri" pitchFamily="34" charset="-120"/>
              </a:rPr>
              <a:t>FOUNDATIONS</a:t>
            </a:r>
            <a:endParaRPr lang="en-US" sz="1150" dirty="0"/>
          </a:p>
        </p:txBody>
      </p:sp>
      <p:sp>
        <p:nvSpPr>
          <p:cNvPr id="3" name="Text 1"/>
          <p:cNvSpPr/>
          <p:nvPr/>
        </p:nvSpPr>
        <p:spPr>
          <a:xfrm>
            <a:off x="640080" y="621792"/>
            <a:ext cx="9692640" cy="685800"/>
          </a:xfrm>
          <a:prstGeom prst="rect">
            <a:avLst/>
          </a:prstGeom>
          <a:noFill/>
          <a:ln/>
        </p:spPr>
        <p:txBody>
          <a:bodyPr wrap="square" rtlCol="0" anchor="t"/>
          <a:lstStyle/>
          <a:p>
            <a:pPr marL="0" indent="0">
              <a:buNone/>
            </a:pPr>
            <a:r>
              <a:rPr lang="en-US" sz="3200" b="1" dirty="0">
                <a:solidFill>
                  <a:srgbClr val="1B1B3A"/>
                </a:solidFill>
                <a:latin typeface="Arial" pitchFamily="34" charset="0"/>
                <a:ea typeface="Arial" pitchFamily="34" charset="-122"/>
                <a:cs typeface="Arial" pitchFamily="34" charset="-120"/>
              </a:rPr>
              <a:t>Why Isn't a Base Model Enough?</a:t>
            </a:r>
            <a:endParaRPr lang="en-US" sz="3200" dirty="0"/>
          </a:p>
        </p:txBody>
      </p:sp>
      <p:sp>
        <p:nvSpPr>
          <p:cNvPr id="4" name="Shape 2"/>
          <p:cNvSpPr/>
          <p:nvPr/>
        </p:nvSpPr>
        <p:spPr>
          <a:xfrm>
            <a:off x="10721340" y="434340"/>
            <a:ext cx="777240" cy="777240"/>
          </a:xfrm>
          <a:prstGeom prst="ellipse">
            <a:avLst/>
          </a:prstGeom>
          <a:solidFill>
            <a:srgbClr val="7C3AED"/>
          </a:solidFill>
          <a:ln/>
        </p:spPr>
        <p:txBody>
          <a:bodyPr/>
          <a:lstStyle/>
          <a:p>
            <a:endParaRPr lang="en-US"/>
          </a:p>
        </p:txBody>
      </p:sp>
      <p:pic>
        <p:nvPicPr>
          <p:cNvPr id="5" name="Image 0" descr="/home/claude/llm_finetune_deck/icons/alertCircle.png"/>
          <p:cNvPicPr>
            <a:picLocks noChangeAspect="1"/>
          </p:cNvPicPr>
          <p:nvPr/>
        </p:nvPicPr>
        <p:blipFill>
          <a:blip r:embed="rId3"/>
          <a:stretch>
            <a:fillRect/>
          </a:stretch>
        </p:blipFill>
        <p:spPr>
          <a:xfrm>
            <a:off x="10907878" y="620878"/>
            <a:ext cx="404165" cy="404165"/>
          </a:xfrm>
          <a:prstGeom prst="rect">
            <a:avLst/>
          </a:prstGeom>
        </p:spPr>
      </p:pic>
      <p:sp>
        <p:nvSpPr>
          <p:cNvPr id="6" name="Shape 3"/>
          <p:cNvSpPr/>
          <p:nvPr/>
        </p:nvSpPr>
        <p:spPr>
          <a:xfrm>
            <a:off x="640080" y="1691640"/>
            <a:ext cx="5257800" cy="1508760"/>
          </a:xfrm>
          <a:prstGeom prst="roundRect">
            <a:avLst>
              <a:gd name="adj" fmla="val 4848"/>
            </a:avLst>
          </a:prstGeom>
          <a:solidFill>
            <a:srgbClr val="F4F3FA"/>
          </a:solidFill>
          <a:ln/>
          <a:effectLst>
            <a:outerShdw blurRad="88900" dist="25400" dir="5400000" algn="bl" rotWithShape="0">
              <a:srgbClr val="2B2650">
                <a:alpha val="16000"/>
              </a:srgbClr>
            </a:outerShdw>
          </a:effectLst>
        </p:spPr>
        <p:txBody>
          <a:bodyPr/>
          <a:lstStyle/>
          <a:p>
            <a:endParaRPr lang="en-US"/>
          </a:p>
        </p:txBody>
      </p:sp>
      <p:sp>
        <p:nvSpPr>
          <p:cNvPr id="7" name="Shape 4"/>
          <p:cNvSpPr/>
          <p:nvPr/>
        </p:nvSpPr>
        <p:spPr>
          <a:xfrm>
            <a:off x="932688" y="2116836"/>
            <a:ext cx="658368" cy="658368"/>
          </a:xfrm>
          <a:prstGeom prst="ellipse">
            <a:avLst/>
          </a:prstGeom>
          <a:solidFill>
            <a:srgbClr val="7C3AED"/>
          </a:solidFill>
          <a:ln/>
        </p:spPr>
        <p:txBody>
          <a:bodyPr/>
          <a:lstStyle/>
          <a:p>
            <a:endParaRPr lang="en-US"/>
          </a:p>
        </p:txBody>
      </p:sp>
      <p:pic>
        <p:nvPicPr>
          <p:cNvPr id="8" name="Image 1" descr="/home/claude/llm_finetune_deck/icons/alertCircle.png"/>
          <p:cNvPicPr>
            <a:picLocks noChangeAspect="1"/>
          </p:cNvPicPr>
          <p:nvPr/>
        </p:nvPicPr>
        <p:blipFill>
          <a:blip r:embed="rId3"/>
          <a:stretch>
            <a:fillRect/>
          </a:stretch>
        </p:blipFill>
        <p:spPr>
          <a:xfrm>
            <a:off x="1090696" y="2274844"/>
            <a:ext cx="342351" cy="342351"/>
          </a:xfrm>
          <a:prstGeom prst="rect">
            <a:avLst/>
          </a:prstGeom>
        </p:spPr>
      </p:pic>
      <p:sp>
        <p:nvSpPr>
          <p:cNvPr id="9" name="Text 5"/>
          <p:cNvSpPr/>
          <p:nvPr/>
        </p:nvSpPr>
        <p:spPr>
          <a:xfrm>
            <a:off x="1783080" y="1892808"/>
            <a:ext cx="3886200" cy="502920"/>
          </a:xfrm>
          <a:prstGeom prst="rect">
            <a:avLst/>
          </a:prstGeom>
          <a:noFill/>
          <a:ln/>
        </p:spPr>
        <p:txBody>
          <a:bodyPr wrap="square" rtlCol="0" anchor="t"/>
          <a:lstStyle/>
          <a:p>
            <a:pPr marL="0" indent="0">
              <a:buNone/>
            </a:pPr>
            <a:r>
              <a:rPr lang="en-US" sz="1500" b="1" dirty="0">
                <a:solidFill>
                  <a:srgbClr val="1B1B3A"/>
                </a:solidFill>
                <a:latin typeface="Arial" pitchFamily="34" charset="0"/>
                <a:ea typeface="Arial" pitchFamily="34" charset="-122"/>
                <a:cs typeface="Arial" pitchFamily="34" charset="-120"/>
              </a:rPr>
              <a:t>Inconsistent instruction-following</a:t>
            </a:r>
            <a:endParaRPr lang="en-US" sz="1500" dirty="0"/>
          </a:p>
        </p:txBody>
      </p:sp>
      <p:sp>
        <p:nvSpPr>
          <p:cNvPr id="10" name="Text 6"/>
          <p:cNvSpPr/>
          <p:nvPr/>
        </p:nvSpPr>
        <p:spPr>
          <a:xfrm>
            <a:off x="1783080" y="2441448"/>
            <a:ext cx="3886200" cy="640080"/>
          </a:xfrm>
          <a:prstGeom prst="rect">
            <a:avLst/>
          </a:prstGeom>
          <a:noFill/>
          <a:ln/>
        </p:spPr>
        <p:txBody>
          <a:bodyPr wrap="square" rtlCol="0" anchor="t"/>
          <a:lstStyle/>
          <a:p>
            <a:pPr marL="0" indent="0">
              <a:buNone/>
            </a:pPr>
            <a:r>
              <a:rPr lang="en-US" sz="1200" dirty="0">
                <a:solidFill>
                  <a:srgbClr val="6B6B85"/>
                </a:solidFill>
                <a:latin typeface="Calibri" pitchFamily="34" charset="0"/>
                <a:ea typeface="Calibri" pitchFamily="34" charset="-122"/>
                <a:cs typeface="Calibri" pitchFamily="34" charset="-120"/>
              </a:rPr>
              <a:t>Completes text; doesn't reliably obey commands</a:t>
            </a:r>
            <a:endParaRPr lang="en-US" sz="1200" dirty="0"/>
          </a:p>
        </p:txBody>
      </p:sp>
      <p:sp>
        <p:nvSpPr>
          <p:cNvPr id="11" name="Shape 7"/>
          <p:cNvSpPr/>
          <p:nvPr/>
        </p:nvSpPr>
        <p:spPr>
          <a:xfrm>
            <a:off x="6263640" y="1691640"/>
            <a:ext cx="5257800" cy="1508760"/>
          </a:xfrm>
          <a:prstGeom prst="roundRect">
            <a:avLst>
              <a:gd name="adj" fmla="val 4848"/>
            </a:avLst>
          </a:prstGeom>
          <a:solidFill>
            <a:srgbClr val="F4F3FA"/>
          </a:solidFill>
          <a:ln/>
          <a:effectLst>
            <a:outerShdw blurRad="88900" dist="25400" dir="5400000" algn="bl" rotWithShape="0">
              <a:srgbClr val="2B2650">
                <a:alpha val="16000"/>
              </a:srgbClr>
            </a:outerShdw>
          </a:effectLst>
        </p:spPr>
        <p:txBody>
          <a:bodyPr/>
          <a:lstStyle/>
          <a:p>
            <a:endParaRPr lang="en-US"/>
          </a:p>
        </p:txBody>
      </p:sp>
      <p:sp>
        <p:nvSpPr>
          <p:cNvPr id="12" name="Shape 8"/>
          <p:cNvSpPr/>
          <p:nvPr/>
        </p:nvSpPr>
        <p:spPr>
          <a:xfrm>
            <a:off x="6556248" y="2116836"/>
            <a:ext cx="658368" cy="658368"/>
          </a:xfrm>
          <a:prstGeom prst="ellipse">
            <a:avLst/>
          </a:prstGeom>
          <a:solidFill>
            <a:srgbClr val="7C3AED"/>
          </a:solidFill>
          <a:ln/>
        </p:spPr>
        <p:txBody>
          <a:bodyPr/>
          <a:lstStyle/>
          <a:p>
            <a:endParaRPr lang="en-US"/>
          </a:p>
        </p:txBody>
      </p:sp>
      <p:pic>
        <p:nvPicPr>
          <p:cNvPr id="13" name="Image 2" descr="/home/claude/llm_finetune_deck/icons/grid.png"/>
          <p:cNvPicPr>
            <a:picLocks noChangeAspect="1"/>
          </p:cNvPicPr>
          <p:nvPr/>
        </p:nvPicPr>
        <p:blipFill>
          <a:blip r:embed="rId4"/>
          <a:stretch>
            <a:fillRect/>
          </a:stretch>
        </p:blipFill>
        <p:spPr>
          <a:xfrm>
            <a:off x="6714256" y="2274844"/>
            <a:ext cx="342351" cy="342351"/>
          </a:xfrm>
          <a:prstGeom prst="rect">
            <a:avLst/>
          </a:prstGeom>
        </p:spPr>
      </p:pic>
      <p:sp>
        <p:nvSpPr>
          <p:cNvPr id="14" name="Text 9"/>
          <p:cNvSpPr/>
          <p:nvPr/>
        </p:nvSpPr>
        <p:spPr>
          <a:xfrm>
            <a:off x="7406640" y="1892808"/>
            <a:ext cx="3886200" cy="502920"/>
          </a:xfrm>
          <a:prstGeom prst="rect">
            <a:avLst/>
          </a:prstGeom>
          <a:noFill/>
          <a:ln/>
        </p:spPr>
        <p:txBody>
          <a:bodyPr wrap="square" rtlCol="0" anchor="t"/>
          <a:lstStyle/>
          <a:p>
            <a:pPr marL="0" indent="0">
              <a:buNone/>
            </a:pPr>
            <a:r>
              <a:rPr lang="en-US" sz="1500" b="1" dirty="0">
                <a:solidFill>
                  <a:srgbClr val="1B1B3A"/>
                </a:solidFill>
                <a:latin typeface="Arial" pitchFamily="34" charset="0"/>
                <a:ea typeface="Arial" pitchFamily="34" charset="-122"/>
                <a:cs typeface="Arial" pitchFamily="34" charset="-120"/>
              </a:rPr>
              <a:t>Unpredictable format</a:t>
            </a:r>
            <a:endParaRPr lang="en-US" sz="1500" dirty="0"/>
          </a:p>
        </p:txBody>
      </p:sp>
      <p:sp>
        <p:nvSpPr>
          <p:cNvPr id="15" name="Text 10"/>
          <p:cNvSpPr/>
          <p:nvPr/>
        </p:nvSpPr>
        <p:spPr>
          <a:xfrm>
            <a:off x="7406640" y="2441448"/>
            <a:ext cx="3886200" cy="640080"/>
          </a:xfrm>
          <a:prstGeom prst="rect">
            <a:avLst/>
          </a:prstGeom>
          <a:noFill/>
          <a:ln/>
        </p:spPr>
        <p:txBody>
          <a:bodyPr wrap="square" rtlCol="0" anchor="t"/>
          <a:lstStyle/>
          <a:p>
            <a:pPr marL="0" indent="0">
              <a:buNone/>
            </a:pPr>
            <a:r>
              <a:rPr lang="en-US" sz="1200" dirty="0">
                <a:solidFill>
                  <a:srgbClr val="6B6B85"/>
                </a:solidFill>
                <a:latin typeface="Calibri" pitchFamily="34" charset="0"/>
                <a:ea typeface="Calibri" pitchFamily="34" charset="-122"/>
                <a:cs typeface="Calibri" pitchFamily="34" charset="-120"/>
              </a:rPr>
              <a:t>Struggles to reliably output JSON, a style, a persona</a:t>
            </a:r>
            <a:endParaRPr lang="en-US" sz="1200" dirty="0"/>
          </a:p>
        </p:txBody>
      </p:sp>
      <p:sp>
        <p:nvSpPr>
          <p:cNvPr id="16" name="Shape 11"/>
          <p:cNvSpPr/>
          <p:nvPr/>
        </p:nvSpPr>
        <p:spPr>
          <a:xfrm>
            <a:off x="640080" y="3383280"/>
            <a:ext cx="5257800" cy="1508760"/>
          </a:xfrm>
          <a:prstGeom prst="roundRect">
            <a:avLst>
              <a:gd name="adj" fmla="val 4848"/>
            </a:avLst>
          </a:prstGeom>
          <a:solidFill>
            <a:srgbClr val="F4F3FA"/>
          </a:solidFill>
          <a:ln/>
          <a:effectLst>
            <a:outerShdw blurRad="88900" dist="25400" dir="5400000" algn="bl" rotWithShape="0">
              <a:srgbClr val="2B2650">
                <a:alpha val="16000"/>
              </a:srgbClr>
            </a:outerShdw>
          </a:effectLst>
        </p:spPr>
        <p:txBody>
          <a:bodyPr/>
          <a:lstStyle/>
          <a:p>
            <a:endParaRPr lang="en-US"/>
          </a:p>
        </p:txBody>
      </p:sp>
      <p:sp>
        <p:nvSpPr>
          <p:cNvPr id="17" name="Shape 12"/>
          <p:cNvSpPr/>
          <p:nvPr/>
        </p:nvSpPr>
        <p:spPr>
          <a:xfrm>
            <a:off x="932688" y="3808476"/>
            <a:ext cx="658368" cy="658368"/>
          </a:xfrm>
          <a:prstGeom prst="ellipse">
            <a:avLst/>
          </a:prstGeom>
          <a:solidFill>
            <a:srgbClr val="7C3AED"/>
          </a:solidFill>
          <a:ln/>
        </p:spPr>
        <p:txBody>
          <a:bodyPr/>
          <a:lstStyle/>
          <a:p>
            <a:endParaRPr lang="en-US"/>
          </a:p>
        </p:txBody>
      </p:sp>
      <p:pic>
        <p:nvPicPr>
          <p:cNvPr id="18" name="Image 3" descr="/home/claude/llm_finetune_deck/icons/database.png"/>
          <p:cNvPicPr>
            <a:picLocks noChangeAspect="1"/>
          </p:cNvPicPr>
          <p:nvPr/>
        </p:nvPicPr>
        <p:blipFill>
          <a:blip r:embed="rId5"/>
          <a:stretch>
            <a:fillRect/>
          </a:stretch>
        </p:blipFill>
        <p:spPr>
          <a:xfrm>
            <a:off x="1090696" y="3966484"/>
            <a:ext cx="342351" cy="342351"/>
          </a:xfrm>
          <a:prstGeom prst="rect">
            <a:avLst/>
          </a:prstGeom>
        </p:spPr>
      </p:pic>
      <p:sp>
        <p:nvSpPr>
          <p:cNvPr id="19" name="Text 13"/>
          <p:cNvSpPr/>
          <p:nvPr/>
        </p:nvSpPr>
        <p:spPr>
          <a:xfrm>
            <a:off x="1783080" y="3584448"/>
            <a:ext cx="3886200" cy="502920"/>
          </a:xfrm>
          <a:prstGeom prst="rect">
            <a:avLst/>
          </a:prstGeom>
          <a:noFill/>
          <a:ln/>
        </p:spPr>
        <p:txBody>
          <a:bodyPr wrap="square" rtlCol="0" anchor="t"/>
          <a:lstStyle/>
          <a:p>
            <a:pPr marL="0" indent="0">
              <a:buNone/>
            </a:pPr>
            <a:r>
              <a:rPr lang="en-US" sz="1500" b="1" dirty="0">
                <a:solidFill>
                  <a:srgbClr val="1B1B3A"/>
                </a:solidFill>
                <a:latin typeface="Arial" pitchFamily="34" charset="0"/>
                <a:ea typeface="Arial" pitchFamily="34" charset="-122"/>
                <a:cs typeface="Arial" pitchFamily="34" charset="-120"/>
              </a:rPr>
              <a:t>No domain expertise</a:t>
            </a:r>
            <a:endParaRPr lang="en-US" sz="1500" dirty="0"/>
          </a:p>
        </p:txBody>
      </p:sp>
      <p:sp>
        <p:nvSpPr>
          <p:cNvPr id="20" name="Text 14"/>
          <p:cNvSpPr/>
          <p:nvPr/>
        </p:nvSpPr>
        <p:spPr>
          <a:xfrm>
            <a:off x="1783080" y="4133088"/>
            <a:ext cx="3886200" cy="640080"/>
          </a:xfrm>
          <a:prstGeom prst="rect">
            <a:avLst/>
          </a:prstGeom>
          <a:noFill/>
          <a:ln/>
        </p:spPr>
        <p:txBody>
          <a:bodyPr wrap="square" rtlCol="0" anchor="t"/>
          <a:lstStyle/>
          <a:p>
            <a:pPr marL="0" indent="0">
              <a:buNone/>
            </a:pPr>
            <a:r>
              <a:rPr lang="en-US" sz="1200" dirty="0">
                <a:solidFill>
                  <a:srgbClr val="6B6B85"/>
                </a:solidFill>
                <a:latin typeface="Calibri" pitchFamily="34" charset="0"/>
                <a:ea typeface="Calibri" pitchFamily="34" charset="-122"/>
                <a:cs typeface="Calibri" pitchFamily="34" charset="-120"/>
              </a:rPr>
              <a:t>Doesn't know your product, jargon, or edge cases</a:t>
            </a:r>
            <a:endParaRPr lang="en-US" sz="1200" dirty="0"/>
          </a:p>
        </p:txBody>
      </p:sp>
      <p:sp>
        <p:nvSpPr>
          <p:cNvPr id="21" name="Shape 15"/>
          <p:cNvSpPr/>
          <p:nvPr/>
        </p:nvSpPr>
        <p:spPr>
          <a:xfrm>
            <a:off x="6263640" y="3383280"/>
            <a:ext cx="5257800" cy="1508760"/>
          </a:xfrm>
          <a:prstGeom prst="roundRect">
            <a:avLst>
              <a:gd name="adj" fmla="val 4848"/>
            </a:avLst>
          </a:prstGeom>
          <a:solidFill>
            <a:srgbClr val="F4F3FA"/>
          </a:solidFill>
          <a:ln/>
          <a:effectLst>
            <a:outerShdw blurRad="88900" dist="25400" dir="5400000" algn="bl" rotWithShape="0">
              <a:srgbClr val="2B2650">
                <a:alpha val="16000"/>
              </a:srgbClr>
            </a:outerShdw>
          </a:effectLst>
        </p:spPr>
        <p:txBody>
          <a:bodyPr/>
          <a:lstStyle/>
          <a:p>
            <a:endParaRPr lang="en-US"/>
          </a:p>
        </p:txBody>
      </p:sp>
      <p:sp>
        <p:nvSpPr>
          <p:cNvPr id="22" name="Shape 16"/>
          <p:cNvSpPr/>
          <p:nvPr/>
        </p:nvSpPr>
        <p:spPr>
          <a:xfrm>
            <a:off x="6556248" y="3808476"/>
            <a:ext cx="658368" cy="658368"/>
          </a:xfrm>
          <a:prstGeom prst="ellipse">
            <a:avLst/>
          </a:prstGeom>
          <a:solidFill>
            <a:srgbClr val="7C3AED"/>
          </a:solidFill>
          <a:ln/>
        </p:spPr>
        <p:txBody>
          <a:bodyPr/>
          <a:lstStyle/>
          <a:p>
            <a:endParaRPr lang="en-US"/>
          </a:p>
        </p:txBody>
      </p:sp>
      <p:pic>
        <p:nvPicPr>
          <p:cNvPr id="23" name="Image 4" descr="/home/claude/llm_finetune_deck/icons/users.png"/>
          <p:cNvPicPr>
            <a:picLocks noChangeAspect="1"/>
          </p:cNvPicPr>
          <p:nvPr/>
        </p:nvPicPr>
        <p:blipFill>
          <a:blip r:embed="rId6"/>
          <a:stretch>
            <a:fillRect/>
          </a:stretch>
        </p:blipFill>
        <p:spPr>
          <a:xfrm>
            <a:off x="6714256" y="3966484"/>
            <a:ext cx="342351" cy="342351"/>
          </a:xfrm>
          <a:prstGeom prst="rect">
            <a:avLst/>
          </a:prstGeom>
        </p:spPr>
      </p:pic>
      <p:sp>
        <p:nvSpPr>
          <p:cNvPr id="24" name="Text 17"/>
          <p:cNvSpPr/>
          <p:nvPr/>
        </p:nvSpPr>
        <p:spPr>
          <a:xfrm>
            <a:off x="7406640" y="3584448"/>
            <a:ext cx="3886200" cy="502920"/>
          </a:xfrm>
          <a:prstGeom prst="rect">
            <a:avLst/>
          </a:prstGeom>
          <a:noFill/>
          <a:ln/>
        </p:spPr>
        <p:txBody>
          <a:bodyPr wrap="square" rtlCol="0" anchor="t"/>
          <a:lstStyle/>
          <a:p>
            <a:pPr marL="0" indent="0">
              <a:buNone/>
            </a:pPr>
            <a:r>
              <a:rPr lang="en-US" sz="1500" b="1" dirty="0">
                <a:solidFill>
                  <a:srgbClr val="1B1B3A"/>
                </a:solidFill>
                <a:latin typeface="Arial" pitchFamily="34" charset="0"/>
                <a:ea typeface="Arial" pitchFamily="34" charset="-122"/>
                <a:cs typeface="Arial" pitchFamily="34" charset="-120"/>
              </a:rPr>
              <a:t>Not aligned to preference</a:t>
            </a:r>
            <a:endParaRPr lang="en-US" sz="1500" dirty="0"/>
          </a:p>
        </p:txBody>
      </p:sp>
      <p:sp>
        <p:nvSpPr>
          <p:cNvPr id="25" name="Text 18"/>
          <p:cNvSpPr/>
          <p:nvPr/>
        </p:nvSpPr>
        <p:spPr>
          <a:xfrm>
            <a:off x="7406640" y="4133088"/>
            <a:ext cx="3886200" cy="640080"/>
          </a:xfrm>
          <a:prstGeom prst="rect">
            <a:avLst/>
          </a:prstGeom>
          <a:noFill/>
          <a:ln/>
        </p:spPr>
        <p:txBody>
          <a:bodyPr wrap="square" rtlCol="0" anchor="t"/>
          <a:lstStyle/>
          <a:p>
            <a:pPr marL="0" indent="0">
              <a:buNone/>
            </a:pPr>
            <a:r>
              <a:rPr lang="en-US" sz="1200" dirty="0">
                <a:solidFill>
                  <a:srgbClr val="6B6B85"/>
                </a:solidFill>
                <a:latin typeface="Calibri" pitchFamily="34" charset="0"/>
                <a:ea typeface="Calibri" pitchFamily="34" charset="-122"/>
                <a:cs typeface="Calibri" pitchFamily="34" charset="-120"/>
              </a:rPr>
              <a:t>Can be verbose, unhelpful, or unsafe by default</a:t>
            </a:r>
            <a:endParaRPr lang="en-US" sz="1200" dirty="0"/>
          </a:p>
        </p:txBody>
      </p:sp>
      <p:sp>
        <p:nvSpPr>
          <p:cNvPr id="26" name="Shape 19"/>
          <p:cNvSpPr/>
          <p:nvPr/>
        </p:nvSpPr>
        <p:spPr>
          <a:xfrm>
            <a:off x="640080" y="5074920"/>
            <a:ext cx="10908792" cy="658368"/>
          </a:xfrm>
          <a:prstGeom prst="roundRect">
            <a:avLst>
              <a:gd name="adj" fmla="val 11111"/>
            </a:avLst>
          </a:prstGeom>
          <a:solidFill>
            <a:srgbClr val="ECE4FD"/>
          </a:solidFill>
          <a:ln/>
        </p:spPr>
        <p:txBody>
          <a:bodyPr/>
          <a:lstStyle/>
          <a:p>
            <a:endParaRPr lang="en-US"/>
          </a:p>
        </p:txBody>
      </p:sp>
      <p:sp>
        <p:nvSpPr>
          <p:cNvPr id="27" name="Text 20"/>
          <p:cNvSpPr/>
          <p:nvPr/>
        </p:nvSpPr>
        <p:spPr>
          <a:xfrm>
            <a:off x="914400" y="5074920"/>
            <a:ext cx="10360152" cy="658368"/>
          </a:xfrm>
          <a:prstGeom prst="rect">
            <a:avLst/>
          </a:prstGeom>
          <a:noFill/>
          <a:ln/>
        </p:spPr>
        <p:txBody>
          <a:bodyPr wrap="square" rtlCol="0" anchor="ctr"/>
          <a:lstStyle/>
          <a:p>
            <a:pPr marL="0" indent="0">
              <a:buNone/>
            </a:pPr>
            <a:r>
              <a:rPr lang="en-US" sz="1450" b="1" i="1" dirty="0">
                <a:solidFill>
                  <a:srgbClr val="7C3AED"/>
                </a:solidFill>
                <a:latin typeface="Calibri" pitchFamily="34" charset="0"/>
                <a:ea typeface="Calibri" pitchFamily="34" charset="-122"/>
                <a:cs typeface="Calibri" pitchFamily="34" charset="-120"/>
              </a:rPr>
              <a:t>Finetuning bridges the gap between “knows a lot” and “does what you need.”</a:t>
            </a:r>
            <a:endParaRPr lang="en-US" sz="1450" dirty="0"/>
          </a:p>
        </p:txBody>
      </p:sp>
      <p:sp>
        <p:nvSpPr>
          <p:cNvPr id="28" name="Text 21"/>
          <p:cNvSpPr/>
          <p:nvPr/>
        </p:nvSpPr>
        <p:spPr>
          <a:xfrm>
            <a:off x="11292840" y="6473952"/>
            <a:ext cx="502920" cy="274320"/>
          </a:xfrm>
          <a:prstGeom prst="rect">
            <a:avLst/>
          </a:prstGeom>
          <a:noFill/>
          <a:ln/>
        </p:spPr>
        <p:txBody>
          <a:bodyPr wrap="square" rtlCol="0" anchor="ctr"/>
          <a:lstStyle/>
          <a:p>
            <a:pPr marL="0" indent="0" algn="r">
              <a:buNone/>
            </a:pPr>
            <a:r>
              <a:rPr lang="en-US" sz="1000" dirty="0">
                <a:solidFill>
                  <a:srgbClr val="6B6B85"/>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8686800" cy="274320"/>
          </a:xfrm>
          <a:prstGeom prst="rect">
            <a:avLst/>
          </a:prstGeom>
          <a:noFill/>
          <a:ln/>
        </p:spPr>
        <p:txBody>
          <a:bodyPr wrap="square" rtlCol="0" anchor="ctr"/>
          <a:lstStyle/>
          <a:p>
            <a:pPr marL="0" indent="0">
              <a:buNone/>
            </a:pPr>
            <a:r>
              <a:rPr lang="en-US" sz="1150" b="1" kern="0" spc="200" dirty="0">
                <a:solidFill>
                  <a:srgbClr val="7C3AED"/>
                </a:solidFill>
                <a:latin typeface="Calibri" pitchFamily="34" charset="0"/>
                <a:ea typeface="Calibri" pitchFamily="34" charset="-122"/>
                <a:cs typeface="Calibri" pitchFamily="34" charset="-120"/>
              </a:rPr>
              <a:t>FOUNDATIONS</a:t>
            </a:r>
            <a:endParaRPr lang="en-US" sz="1150" dirty="0"/>
          </a:p>
        </p:txBody>
      </p:sp>
      <p:sp>
        <p:nvSpPr>
          <p:cNvPr id="3" name="Text 1"/>
          <p:cNvSpPr/>
          <p:nvPr/>
        </p:nvSpPr>
        <p:spPr>
          <a:xfrm>
            <a:off x="640080" y="621792"/>
            <a:ext cx="9692640" cy="685800"/>
          </a:xfrm>
          <a:prstGeom prst="rect">
            <a:avLst/>
          </a:prstGeom>
          <a:noFill/>
          <a:ln/>
        </p:spPr>
        <p:txBody>
          <a:bodyPr wrap="square" rtlCol="0" anchor="t"/>
          <a:lstStyle/>
          <a:p>
            <a:pPr marL="0" indent="0">
              <a:buNone/>
            </a:pPr>
            <a:r>
              <a:rPr lang="en-US" sz="3200" b="1" dirty="0">
                <a:solidFill>
                  <a:srgbClr val="1B1B3A"/>
                </a:solidFill>
                <a:latin typeface="Arial" pitchFamily="34" charset="0"/>
                <a:ea typeface="Arial" pitchFamily="34" charset="-122"/>
                <a:cs typeface="Arial" pitchFamily="34" charset="-120"/>
              </a:rPr>
              <a:t>What Is Finetuning?</a:t>
            </a:r>
            <a:endParaRPr lang="en-US" sz="3200" dirty="0"/>
          </a:p>
        </p:txBody>
      </p:sp>
      <p:sp>
        <p:nvSpPr>
          <p:cNvPr id="4" name="Shape 2"/>
          <p:cNvSpPr/>
          <p:nvPr/>
        </p:nvSpPr>
        <p:spPr>
          <a:xfrm>
            <a:off x="10721340" y="434340"/>
            <a:ext cx="777240" cy="777240"/>
          </a:xfrm>
          <a:prstGeom prst="ellipse">
            <a:avLst/>
          </a:prstGeom>
          <a:solidFill>
            <a:srgbClr val="7C3AED"/>
          </a:solidFill>
          <a:ln/>
        </p:spPr>
        <p:txBody>
          <a:bodyPr/>
          <a:lstStyle/>
          <a:p>
            <a:endParaRPr lang="en-US"/>
          </a:p>
        </p:txBody>
      </p:sp>
      <p:pic>
        <p:nvPicPr>
          <p:cNvPr id="5" name="Image 0" descr="/home/claude/llm_finetune_deck/icons/gitBranch.png"/>
          <p:cNvPicPr>
            <a:picLocks noChangeAspect="1"/>
          </p:cNvPicPr>
          <p:nvPr/>
        </p:nvPicPr>
        <p:blipFill>
          <a:blip r:embed="rId3"/>
          <a:stretch>
            <a:fillRect/>
          </a:stretch>
        </p:blipFill>
        <p:spPr>
          <a:xfrm>
            <a:off x="10907878" y="620878"/>
            <a:ext cx="404165" cy="404165"/>
          </a:xfrm>
          <a:prstGeom prst="rect">
            <a:avLst/>
          </a:prstGeom>
        </p:spPr>
      </p:pic>
      <p:sp>
        <p:nvSpPr>
          <p:cNvPr id="6" name="Shape 3"/>
          <p:cNvSpPr/>
          <p:nvPr/>
        </p:nvSpPr>
        <p:spPr>
          <a:xfrm>
            <a:off x="640080" y="1691640"/>
            <a:ext cx="10908792" cy="1417320"/>
          </a:xfrm>
          <a:prstGeom prst="roundRect">
            <a:avLst>
              <a:gd name="adj" fmla="val 5161"/>
            </a:avLst>
          </a:prstGeom>
          <a:solidFill>
            <a:srgbClr val="1B1B3A"/>
          </a:solidFill>
          <a:ln/>
          <a:effectLst>
            <a:outerShdw blurRad="88900" dist="25400" dir="5400000" algn="bl" rotWithShape="0">
              <a:srgbClr val="2B2650">
                <a:alpha val="16000"/>
              </a:srgbClr>
            </a:outerShdw>
          </a:effectLst>
        </p:spPr>
        <p:txBody>
          <a:bodyPr/>
          <a:lstStyle/>
          <a:p>
            <a:endParaRPr lang="en-US"/>
          </a:p>
        </p:txBody>
      </p:sp>
      <p:sp>
        <p:nvSpPr>
          <p:cNvPr id="7" name="Text 4"/>
          <p:cNvSpPr/>
          <p:nvPr/>
        </p:nvSpPr>
        <p:spPr>
          <a:xfrm>
            <a:off x="1097280" y="1691640"/>
            <a:ext cx="9994392" cy="1417320"/>
          </a:xfrm>
          <a:prstGeom prst="rect">
            <a:avLst/>
          </a:prstGeom>
          <a:noFill/>
          <a:ln/>
        </p:spPr>
        <p:txBody>
          <a:bodyPr wrap="square" rtlCol="0" anchor="ctr"/>
          <a:lstStyle/>
          <a:p>
            <a:pPr marL="0" indent="0" algn="l">
              <a:buNone/>
            </a:pPr>
            <a:r>
              <a:rPr lang="en-US" sz="1900" b="1" dirty="0">
                <a:solidFill>
                  <a:srgbClr val="FFFFFF"/>
                </a:solidFill>
                <a:latin typeface="Arial" pitchFamily="34" charset="0"/>
                <a:ea typeface="Arial" pitchFamily="34" charset="-122"/>
                <a:cs typeface="Arial" pitchFamily="34" charset="-120"/>
              </a:rPr>
              <a:t>Continue training a pretrained model on a smaller, task-specific dataset — to adapt its behavior, format, or domain knowledge, without starting from scratch.</a:t>
            </a:r>
            <a:endParaRPr lang="en-US" sz="1900" dirty="0"/>
          </a:p>
        </p:txBody>
      </p:sp>
      <p:sp>
        <p:nvSpPr>
          <p:cNvPr id="8" name="Shape 5"/>
          <p:cNvSpPr/>
          <p:nvPr/>
        </p:nvSpPr>
        <p:spPr>
          <a:xfrm>
            <a:off x="640080" y="3429000"/>
            <a:ext cx="3108960" cy="1097280"/>
          </a:xfrm>
          <a:prstGeom prst="roundRect">
            <a:avLst>
              <a:gd name="adj" fmla="val 6667"/>
            </a:avLst>
          </a:prstGeom>
          <a:solidFill>
            <a:srgbClr val="F4F3FA"/>
          </a:solidFill>
          <a:ln/>
          <a:effectLst>
            <a:outerShdw blurRad="88900" dist="25400" dir="5400000" algn="bl" rotWithShape="0">
              <a:srgbClr val="2B2650">
                <a:alpha val="16000"/>
              </a:srgbClr>
            </a:outerShdw>
          </a:effectLst>
        </p:spPr>
        <p:txBody>
          <a:bodyPr/>
          <a:lstStyle/>
          <a:p>
            <a:endParaRPr lang="en-US"/>
          </a:p>
        </p:txBody>
      </p:sp>
      <p:sp>
        <p:nvSpPr>
          <p:cNvPr id="9" name="Text 6"/>
          <p:cNvSpPr/>
          <p:nvPr/>
        </p:nvSpPr>
        <p:spPr>
          <a:xfrm>
            <a:off x="640080" y="3429000"/>
            <a:ext cx="3108960" cy="1097280"/>
          </a:xfrm>
          <a:prstGeom prst="rect">
            <a:avLst/>
          </a:prstGeom>
          <a:noFill/>
          <a:ln/>
        </p:spPr>
        <p:txBody>
          <a:bodyPr wrap="square" rtlCol="0" anchor="ctr"/>
          <a:lstStyle/>
          <a:p>
            <a:pPr marL="0" indent="0" algn="ctr">
              <a:buNone/>
            </a:pPr>
            <a:r>
              <a:rPr lang="en-US" sz="1500" b="1" dirty="0">
                <a:solidFill>
                  <a:srgbClr val="1B1B3A"/>
                </a:solidFill>
                <a:latin typeface="Arial" pitchFamily="34" charset="0"/>
                <a:ea typeface="Arial" pitchFamily="34" charset="-122"/>
                <a:cs typeface="Arial" pitchFamily="34" charset="-120"/>
              </a:rPr>
              <a:t>Base Model</a:t>
            </a:r>
            <a:endParaRPr lang="en-US" sz="1500" dirty="0"/>
          </a:p>
          <a:p>
            <a:pPr marL="0" indent="0" algn="ctr">
              <a:buNone/>
            </a:pPr>
            <a:r>
              <a:rPr lang="en-US" sz="1500" b="1" dirty="0">
                <a:solidFill>
                  <a:srgbClr val="1B1B3A"/>
                </a:solidFill>
                <a:latin typeface="Arial" pitchFamily="34" charset="0"/>
                <a:ea typeface="Arial" pitchFamily="34" charset="-122"/>
                <a:cs typeface="Arial" pitchFamily="34" charset="-120"/>
              </a:rPr>
              <a:t>+ Task Data</a:t>
            </a:r>
            <a:endParaRPr lang="en-US" sz="1500" dirty="0"/>
          </a:p>
        </p:txBody>
      </p:sp>
      <p:sp>
        <p:nvSpPr>
          <p:cNvPr id="10" name="Shape 7"/>
          <p:cNvSpPr/>
          <p:nvPr/>
        </p:nvSpPr>
        <p:spPr>
          <a:xfrm>
            <a:off x="3886200" y="3831336"/>
            <a:ext cx="777240" cy="292608"/>
          </a:xfrm>
          <a:prstGeom prst="rightArrow">
            <a:avLst/>
          </a:prstGeom>
          <a:solidFill>
            <a:srgbClr val="7C3AED"/>
          </a:solidFill>
          <a:ln/>
        </p:spPr>
        <p:txBody>
          <a:bodyPr/>
          <a:lstStyle/>
          <a:p>
            <a:endParaRPr lang="en-US"/>
          </a:p>
        </p:txBody>
      </p:sp>
      <p:sp>
        <p:nvSpPr>
          <p:cNvPr id="11" name="Shape 8"/>
          <p:cNvSpPr/>
          <p:nvPr/>
        </p:nvSpPr>
        <p:spPr>
          <a:xfrm>
            <a:off x="4846320" y="3429000"/>
            <a:ext cx="3108960" cy="1097280"/>
          </a:xfrm>
          <a:prstGeom prst="roundRect">
            <a:avLst>
              <a:gd name="adj" fmla="val 6667"/>
            </a:avLst>
          </a:prstGeom>
          <a:solidFill>
            <a:srgbClr val="ECE4FD"/>
          </a:solidFill>
          <a:ln/>
          <a:effectLst>
            <a:outerShdw blurRad="88900" dist="25400" dir="5400000" algn="bl" rotWithShape="0">
              <a:srgbClr val="2B2650">
                <a:alpha val="16000"/>
              </a:srgbClr>
            </a:outerShdw>
          </a:effectLst>
        </p:spPr>
        <p:txBody>
          <a:bodyPr/>
          <a:lstStyle/>
          <a:p>
            <a:endParaRPr lang="en-US"/>
          </a:p>
        </p:txBody>
      </p:sp>
      <p:sp>
        <p:nvSpPr>
          <p:cNvPr id="12" name="Text 9"/>
          <p:cNvSpPr/>
          <p:nvPr/>
        </p:nvSpPr>
        <p:spPr>
          <a:xfrm>
            <a:off x="4846320" y="3429000"/>
            <a:ext cx="3108960" cy="1097280"/>
          </a:xfrm>
          <a:prstGeom prst="rect">
            <a:avLst/>
          </a:prstGeom>
          <a:noFill/>
          <a:ln/>
        </p:spPr>
        <p:txBody>
          <a:bodyPr wrap="square" rtlCol="0" anchor="ctr"/>
          <a:lstStyle/>
          <a:p>
            <a:pPr marL="0" indent="0" algn="ctr">
              <a:buNone/>
            </a:pPr>
            <a:r>
              <a:rPr lang="en-US" sz="1500" b="1" dirty="0">
                <a:solidFill>
                  <a:srgbClr val="7C3AED"/>
                </a:solidFill>
                <a:latin typeface="Arial" pitchFamily="34" charset="0"/>
                <a:ea typeface="Arial" pitchFamily="34" charset="-122"/>
                <a:cs typeface="Arial" pitchFamily="34" charset="-120"/>
              </a:rPr>
              <a:t>Finetuned Model</a:t>
            </a:r>
            <a:endParaRPr lang="en-US" sz="1500" dirty="0"/>
          </a:p>
        </p:txBody>
      </p:sp>
      <p:sp>
        <p:nvSpPr>
          <p:cNvPr id="13" name="Text 10"/>
          <p:cNvSpPr/>
          <p:nvPr/>
        </p:nvSpPr>
        <p:spPr>
          <a:xfrm>
            <a:off x="640080" y="4800600"/>
            <a:ext cx="10908792" cy="1280160"/>
          </a:xfrm>
          <a:prstGeom prst="rect">
            <a:avLst/>
          </a:prstGeom>
          <a:noFill/>
          <a:ln/>
        </p:spPr>
        <p:txBody>
          <a:bodyPr wrap="square" rtlCol="0" anchor="ctr"/>
          <a:lstStyle/>
          <a:p>
            <a:pPr marL="342900" indent="-342900">
              <a:spcAft>
                <a:spcPts val="800"/>
              </a:spcAft>
              <a:buSzPct val="100000"/>
              <a:buChar char="•"/>
            </a:pPr>
            <a:r>
              <a:rPr lang="en-US" sz="1450" dirty="0">
                <a:solidFill>
                  <a:srgbClr val="1B1B3A"/>
                </a:solidFill>
                <a:latin typeface="Calibri" pitchFamily="34" charset="0"/>
                <a:ea typeface="Calibri" pitchFamily="34" charset="-122"/>
                <a:cs typeface="Calibri" pitchFamily="34" charset="-120"/>
              </a:rPr>
              <a:t>Reuses everything the base model already learned</a:t>
            </a:r>
            <a:endParaRPr lang="en-US" sz="1450" dirty="0"/>
          </a:p>
          <a:p>
            <a:pPr marL="342900" indent="-342900">
              <a:spcAft>
                <a:spcPts val="800"/>
              </a:spcAft>
              <a:buSzPct val="100000"/>
              <a:buChar char="•"/>
            </a:pPr>
            <a:r>
              <a:rPr lang="en-US" sz="1450" dirty="0">
                <a:solidFill>
                  <a:srgbClr val="1B1B3A"/>
                </a:solidFill>
                <a:latin typeface="Calibri" pitchFamily="34" charset="0"/>
                <a:ea typeface="Calibri" pitchFamily="34" charset="-122"/>
                <a:cs typeface="Calibri" pitchFamily="34" charset="-120"/>
              </a:rPr>
              <a:t>Only nudges weights toward your specific task, tone, or domain</a:t>
            </a:r>
            <a:endParaRPr lang="en-US" sz="1450" dirty="0"/>
          </a:p>
          <a:p>
            <a:pPr marL="342900" indent="-342900">
              <a:spcAft>
                <a:spcPts val="800"/>
              </a:spcAft>
              <a:buSzPct val="100000"/>
              <a:buChar char="•"/>
            </a:pPr>
            <a:r>
              <a:rPr lang="en-US" sz="1450" dirty="0">
                <a:solidFill>
                  <a:srgbClr val="1B1B3A"/>
                </a:solidFill>
                <a:latin typeface="Calibri" pitchFamily="34" charset="0"/>
                <a:ea typeface="Calibri" pitchFamily="34" charset="-122"/>
                <a:cs typeface="Calibri" pitchFamily="34" charset="-120"/>
              </a:rPr>
              <a:t>Far cheaper than pretraining — hours to days, not months</a:t>
            </a:r>
            <a:endParaRPr lang="en-US" sz="1450" dirty="0"/>
          </a:p>
        </p:txBody>
      </p:sp>
      <p:sp>
        <p:nvSpPr>
          <p:cNvPr id="14" name="Text 11"/>
          <p:cNvSpPr/>
          <p:nvPr/>
        </p:nvSpPr>
        <p:spPr>
          <a:xfrm>
            <a:off x="11292840" y="6473952"/>
            <a:ext cx="502920" cy="274320"/>
          </a:xfrm>
          <a:prstGeom prst="rect">
            <a:avLst/>
          </a:prstGeom>
          <a:noFill/>
          <a:ln/>
        </p:spPr>
        <p:txBody>
          <a:bodyPr wrap="square" rtlCol="0" anchor="ctr"/>
          <a:lstStyle/>
          <a:p>
            <a:pPr marL="0" indent="0" algn="r">
              <a:buNone/>
            </a:pPr>
            <a:r>
              <a:rPr lang="en-US" sz="1000" dirty="0">
                <a:solidFill>
                  <a:srgbClr val="6B6B85"/>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8686800" cy="274320"/>
          </a:xfrm>
          <a:prstGeom prst="rect">
            <a:avLst/>
          </a:prstGeom>
          <a:noFill/>
          <a:ln/>
        </p:spPr>
        <p:txBody>
          <a:bodyPr wrap="square" rtlCol="0" anchor="ctr"/>
          <a:lstStyle/>
          <a:p>
            <a:pPr marL="0" indent="0">
              <a:buNone/>
            </a:pPr>
            <a:r>
              <a:rPr lang="en-US" sz="1150" b="1" kern="0" spc="200" dirty="0">
                <a:solidFill>
                  <a:srgbClr val="7C3AED"/>
                </a:solidFill>
                <a:latin typeface="Calibri" pitchFamily="34" charset="0"/>
                <a:ea typeface="Calibri" pitchFamily="34" charset="-122"/>
                <a:cs typeface="Calibri" pitchFamily="34" charset="-120"/>
              </a:rPr>
              <a:t>FOUNDATIONS</a:t>
            </a:r>
            <a:endParaRPr lang="en-US" sz="1150" dirty="0"/>
          </a:p>
        </p:txBody>
      </p:sp>
      <p:sp>
        <p:nvSpPr>
          <p:cNvPr id="3" name="Text 1"/>
          <p:cNvSpPr/>
          <p:nvPr/>
        </p:nvSpPr>
        <p:spPr>
          <a:xfrm>
            <a:off x="640080" y="621792"/>
            <a:ext cx="9692640" cy="685800"/>
          </a:xfrm>
          <a:prstGeom prst="rect">
            <a:avLst/>
          </a:prstGeom>
          <a:noFill/>
          <a:ln/>
        </p:spPr>
        <p:txBody>
          <a:bodyPr wrap="square" rtlCol="0" anchor="t"/>
          <a:lstStyle/>
          <a:p>
            <a:pPr marL="0" indent="0">
              <a:buNone/>
            </a:pPr>
            <a:r>
              <a:rPr lang="en-US" sz="3200" b="1" dirty="0">
                <a:solidFill>
                  <a:srgbClr val="1B1B3A"/>
                </a:solidFill>
                <a:latin typeface="Arial" pitchFamily="34" charset="0"/>
                <a:ea typeface="Arial" pitchFamily="34" charset="-122"/>
                <a:cs typeface="Arial" pitchFamily="34" charset="-120"/>
              </a:rPr>
              <a:t>Finetuning vs. Prompting vs. RAG</a:t>
            </a:r>
            <a:endParaRPr lang="en-US" sz="3200" dirty="0"/>
          </a:p>
        </p:txBody>
      </p:sp>
      <p:sp>
        <p:nvSpPr>
          <p:cNvPr id="4" name="Shape 2"/>
          <p:cNvSpPr/>
          <p:nvPr/>
        </p:nvSpPr>
        <p:spPr>
          <a:xfrm>
            <a:off x="10721340" y="434340"/>
            <a:ext cx="777240" cy="777240"/>
          </a:xfrm>
          <a:prstGeom prst="ellipse">
            <a:avLst/>
          </a:prstGeom>
          <a:solidFill>
            <a:srgbClr val="7C3AED"/>
          </a:solidFill>
          <a:ln/>
        </p:spPr>
        <p:txBody>
          <a:bodyPr/>
          <a:lstStyle/>
          <a:p>
            <a:endParaRPr lang="en-US"/>
          </a:p>
        </p:txBody>
      </p:sp>
      <p:pic>
        <p:nvPicPr>
          <p:cNvPr id="5" name="Image 0" descr="/home/claude/llm_finetune_deck/icons/shuffle.png"/>
          <p:cNvPicPr>
            <a:picLocks noChangeAspect="1"/>
          </p:cNvPicPr>
          <p:nvPr/>
        </p:nvPicPr>
        <p:blipFill>
          <a:blip r:embed="rId3"/>
          <a:stretch>
            <a:fillRect/>
          </a:stretch>
        </p:blipFill>
        <p:spPr>
          <a:xfrm>
            <a:off x="10907878" y="620878"/>
            <a:ext cx="404165" cy="404165"/>
          </a:xfrm>
          <a:prstGeom prst="rect">
            <a:avLst/>
          </a:prstGeom>
        </p:spPr>
      </p:pic>
      <p:sp>
        <p:nvSpPr>
          <p:cNvPr id="6" name="Shape 3"/>
          <p:cNvSpPr/>
          <p:nvPr/>
        </p:nvSpPr>
        <p:spPr>
          <a:xfrm>
            <a:off x="640080" y="1691640"/>
            <a:ext cx="3456432" cy="4114800"/>
          </a:xfrm>
          <a:prstGeom prst="roundRect">
            <a:avLst>
              <a:gd name="adj" fmla="val 2116"/>
            </a:avLst>
          </a:prstGeom>
          <a:solidFill>
            <a:srgbClr val="F4F3FA"/>
          </a:solidFill>
          <a:ln/>
          <a:effectLst>
            <a:outerShdw blurRad="88900" dist="25400" dir="5400000" algn="bl" rotWithShape="0">
              <a:srgbClr val="2B2650">
                <a:alpha val="16000"/>
              </a:srgbClr>
            </a:outerShdw>
          </a:effectLst>
        </p:spPr>
        <p:txBody>
          <a:bodyPr/>
          <a:lstStyle/>
          <a:p>
            <a:endParaRPr lang="en-US"/>
          </a:p>
        </p:txBody>
      </p:sp>
      <p:sp>
        <p:nvSpPr>
          <p:cNvPr id="7" name="Text 4"/>
          <p:cNvSpPr/>
          <p:nvPr/>
        </p:nvSpPr>
        <p:spPr>
          <a:xfrm>
            <a:off x="868680" y="1892808"/>
            <a:ext cx="2999232" cy="411480"/>
          </a:xfrm>
          <a:prstGeom prst="rect">
            <a:avLst/>
          </a:prstGeom>
          <a:noFill/>
          <a:ln/>
        </p:spPr>
        <p:txBody>
          <a:bodyPr wrap="square" rtlCol="0" anchor="ctr"/>
          <a:lstStyle/>
          <a:p>
            <a:pPr marL="0" indent="0">
              <a:buNone/>
            </a:pPr>
            <a:r>
              <a:rPr lang="en-US" sz="1800" b="1" dirty="0">
                <a:solidFill>
                  <a:srgbClr val="1B1B3A"/>
                </a:solidFill>
                <a:latin typeface="Arial" pitchFamily="34" charset="0"/>
                <a:ea typeface="Arial" pitchFamily="34" charset="-122"/>
                <a:cs typeface="Arial" pitchFamily="34" charset="-120"/>
              </a:rPr>
              <a:t>Prompting</a:t>
            </a:r>
            <a:endParaRPr lang="en-US" sz="1800" dirty="0"/>
          </a:p>
        </p:txBody>
      </p:sp>
      <p:sp>
        <p:nvSpPr>
          <p:cNvPr id="8" name="Text 5"/>
          <p:cNvSpPr/>
          <p:nvPr/>
        </p:nvSpPr>
        <p:spPr>
          <a:xfrm>
            <a:off x="868680" y="2313432"/>
            <a:ext cx="2999232" cy="548640"/>
          </a:xfrm>
          <a:prstGeom prst="rect">
            <a:avLst/>
          </a:prstGeom>
          <a:noFill/>
          <a:ln/>
        </p:spPr>
        <p:txBody>
          <a:bodyPr wrap="square" rtlCol="0" anchor="t"/>
          <a:lstStyle/>
          <a:p>
            <a:pPr marL="0" indent="0">
              <a:buNone/>
            </a:pPr>
            <a:r>
              <a:rPr lang="en-US" sz="1200" i="1" dirty="0">
                <a:solidFill>
                  <a:srgbClr val="6B6B85"/>
                </a:solidFill>
                <a:latin typeface="Calibri" pitchFamily="34" charset="0"/>
                <a:ea typeface="Calibri" pitchFamily="34" charset="-122"/>
                <a:cs typeface="Calibri" pitchFamily="34" charset="-120"/>
              </a:rPr>
              <a:t>Fastest · zero training</a:t>
            </a:r>
            <a:endParaRPr lang="en-US" sz="1200" dirty="0"/>
          </a:p>
        </p:txBody>
      </p:sp>
      <p:sp>
        <p:nvSpPr>
          <p:cNvPr id="9" name="Text 6"/>
          <p:cNvSpPr/>
          <p:nvPr/>
        </p:nvSpPr>
        <p:spPr>
          <a:xfrm>
            <a:off x="868680" y="3017520"/>
            <a:ext cx="2999232" cy="2560320"/>
          </a:xfrm>
          <a:prstGeom prst="rect">
            <a:avLst/>
          </a:prstGeom>
          <a:noFill/>
          <a:ln/>
        </p:spPr>
        <p:txBody>
          <a:bodyPr wrap="square" rtlCol="0" anchor="t"/>
          <a:lstStyle/>
          <a:p>
            <a:pPr marL="342900" indent="-342900">
              <a:spcAft>
                <a:spcPts val="1000"/>
              </a:spcAft>
              <a:buSzPct val="100000"/>
              <a:buChar char="•"/>
            </a:pPr>
            <a:r>
              <a:rPr lang="en-US" sz="1200" dirty="0">
                <a:solidFill>
                  <a:srgbClr val="1B1B3A"/>
                </a:solidFill>
                <a:latin typeface="Calibri" pitchFamily="34" charset="0"/>
                <a:ea typeface="Calibri" pitchFamily="34" charset="-122"/>
                <a:cs typeface="Calibri" pitchFamily="34" charset="-120"/>
              </a:rPr>
              <a:t>Best for: one-off tasks, few-shot examples</a:t>
            </a:r>
            <a:endParaRPr lang="en-US" sz="1200" dirty="0"/>
          </a:p>
          <a:p>
            <a:pPr marL="342900" indent="-342900">
              <a:spcAft>
                <a:spcPts val="1000"/>
              </a:spcAft>
              <a:buSzPct val="100000"/>
              <a:buChar char="•"/>
            </a:pPr>
            <a:r>
              <a:rPr lang="en-US" sz="1200" dirty="0">
                <a:solidFill>
                  <a:srgbClr val="1B1B3A"/>
                </a:solidFill>
                <a:latin typeface="Calibri" pitchFamily="34" charset="0"/>
                <a:ea typeface="Calibri" pitchFamily="34" charset="-122"/>
                <a:cs typeface="Calibri" pitchFamily="34" charset="-120"/>
              </a:rPr>
              <a:t>Limit: bound by the context window</a:t>
            </a:r>
            <a:endParaRPr lang="en-US" sz="1200" dirty="0"/>
          </a:p>
          <a:p>
            <a:pPr marL="342900" indent="-342900">
              <a:spcAft>
                <a:spcPts val="1000"/>
              </a:spcAft>
              <a:buSzPct val="100000"/>
              <a:buChar char="•"/>
            </a:pPr>
            <a:r>
              <a:rPr lang="en-US" sz="1200" dirty="0">
                <a:solidFill>
                  <a:srgbClr val="1B1B3A"/>
                </a:solidFill>
                <a:latin typeface="Calibri" pitchFamily="34" charset="0"/>
                <a:ea typeface="Calibri" pitchFamily="34" charset="-122"/>
                <a:cs typeface="Calibri" pitchFamily="34" charset="-120"/>
              </a:rPr>
              <a:t>Nothing persists between calls</a:t>
            </a:r>
            <a:endParaRPr lang="en-US" sz="1200" dirty="0"/>
          </a:p>
        </p:txBody>
      </p:sp>
      <p:sp>
        <p:nvSpPr>
          <p:cNvPr id="10" name="Shape 7"/>
          <p:cNvSpPr/>
          <p:nvPr/>
        </p:nvSpPr>
        <p:spPr>
          <a:xfrm>
            <a:off x="4361688" y="1691640"/>
            <a:ext cx="3456432" cy="4114800"/>
          </a:xfrm>
          <a:prstGeom prst="roundRect">
            <a:avLst>
              <a:gd name="adj" fmla="val 2116"/>
            </a:avLst>
          </a:prstGeom>
          <a:solidFill>
            <a:srgbClr val="F4F3FA"/>
          </a:solidFill>
          <a:ln/>
          <a:effectLst>
            <a:outerShdw blurRad="88900" dist="25400" dir="5400000" algn="bl" rotWithShape="0">
              <a:srgbClr val="2B2650">
                <a:alpha val="16000"/>
              </a:srgbClr>
            </a:outerShdw>
          </a:effectLst>
        </p:spPr>
        <p:txBody>
          <a:bodyPr/>
          <a:lstStyle/>
          <a:p>
            <a:endParaRPr lang="en-US"/>
          </a:p>
        </p:txBody>
      </p:sp>
      <p:sp>
        <p:nvSpPr>
          <p:cNvPr id="11" name="Text 8"/>
          <p:cNvSpPr/>
          <p:nvPr/>
        </p:nvSpPr>
        <p:spPr>
          <a:xfrm>
            <a:off x="4590288" y="1892808"/>
            <a:ext cx="2999232" cy="411480"/>
          </a:xfrm>
          <a:prstGeom prst="rect">
            <a:avLst/>
          </a:prstGeom>
          <a:noFill/>
          <a:ln/>
        </p:spPr>
        <p:txBody>
          <a:bodyPr wrap="square" rtlCol="0" anchor="ctr"/>
          <a:lstStyle/>
          <a:p>
            <a:pPr marL="0" indent="0">
              <a:buNone/>
            </a:pPr>
            <a:r>
              <a:rPr lang="en-US" sz="1800" b="1" dirty="0">
                <a:solidFill>
                  <a:srgbClr val="06B6D4"/>
                </a:solidFill>
                <a:latin typeface="Arial" pitchFamily="34" charset="0"/>
                <a:ea typeface="Arial" pitchFamily="34" charset="-122"/>
                <a:cs typeface="Arial" pitchFamily="34" charset="-120"/>
              </a:rPr>
              <a:t>RAG</a:t>
            </a:r>
            <a:endParaRPr lang="en-US" sz="1800" dirty="0"/>
          </a:p>
        </p:txBody>
      </p:sp>
      <p:sp>
        <p:nvSpPr>
          <p:cNvPr id="12" name="Text 9"/>
          <p:cNvSpPr/>
          <p:nvPr/>
        </p:nvSpPr>
        <p:spPr>
          <a:xfrm>
            <a:off x="4590288" y="2313432"/>
            <a:ext cx="2999232" cy="548640"/>
          </a:xfrm>
          <a:prstGeom prst="rect">
            <a:avLst/>
          </a:prstGeom>
          <a:noFill/>
          <a:ln/>
        </p:spPr>
        <p:txBody>
          <a:bodyPr wrap="square" rtlCol="0" anchor="t"/>
          <a:lstStyle/>
          <a:p>
            <a:pPr marL="0" indent="0">
              <a:buNone/>
            </a:pPr>
            <a:r>
              <a:rPr lang="en-US" sz="1200" i="1" dirty="0">
                <a:solidFill>
                  <a:srgbClr val="6B6B85"/>
                </a:solidFill>
                <a:latin typeface="Calibri" pitchFamily="34" charset="0"/>
                <a:ea typeface="Calibri" pitchFamily="34" charset="-122"/>
                <a:cs typeface="Calibri" pitchFamily="34" charset="-120"/>
              </a:rPr>
              <a:t>Injects fresh knowledge at query time</a:t>
            </a:r>
            <a:endParaRPr lang="en-US" sz="1200" dirty="0"/>
          </a:p>
        </p:txBody>
      </p:sp>
      <p:sp>
        <p:nvSpPr>
          <p:cNvPr id="13" name="Text 10"/>
          <p:cNvSpPr/>
          <p:nvPr/>
        </p:nvSpPr>
        <p:spPr>
          <a:xfrm>
            <a:off x="4590288" y="3017520"/>
            <a:ext cx="2999232" cy="2560320"/>
          </a:xfrm>
          <a:prstGeom prst="rect">
            <a:avLst/>
          </a:prstGeom>
          <a:noFill/>
          <a:ln/>
        </p:spPr>
        <p:txBody>
          <a:bodyPr wrap="square" rtlCol="0" anchor="t"/>
          <a:lstStyle/>
          <a:p>
            <a:pPr marL="342900" indent="-342900">
              <a:spcAft>
                <a:spcPts val="1000"/>
              </a:spcAft>
              <a:buSzPct val="100000"/>
              <a:buChar char="•"/>
            </a:pPr>
            <a:r>
              <a:rPr lang="en-US" sz="1200" dirty="0">
                <a:solidFill>
                  <a:srgbClr val="1B1B3A"/>
                </a:solidFill>
                <a:latin typeface="Calibri" pitchFamily="34" charset="0"/>
                <a:ea typeface="Calibri" pitchFamily="34" charset="-122"/>
                <a:cs typeface="Calibri" pitchFamily="34" charset="-120"/>
              </a:rPr>
              <a:t>Best for: fast-changing facts, large corpora</a:t>
            </a:r>
            <a:endParaRPr lang="en-US" sz="1200" dirty="0"/>
          </a:p>
          <a:p>
            <a:pPr marL="342900" indent="-342900">
              <a:spcAft>
                <a:spcPts val="1000"/>
              </a:spcAft>
              <a:buSzPct val="100000"/>
              <a:buChar char="•"/>
            </a:pPr>
            <a:r>
              <a:rPr lang="en-US" sz="1200" dirty="0">
                <a:solidFill>
                  <a:srgbClr val="1B1B3A"/>
                </a:solidFill>
                <a:latin typeface="Calibri" pitchFamily="34" charset="0"/>
                <a:ea typeface="Calibri" pitchFamily="34" charset="-122"/>
                <a:cs typeface="Calibri" pitchFamily="34" charset="-120"/>
              </a:rPr>
              <a:t>Limit: doesn't change tone, format, or reasoning habits</a:t>
            </a:r>
            <a:endParaRPr lang="en-US" sz="1200" dirty="0"/>
          </a:p>
          <a:p>
            <a:pPr marL="342900" indent="-342900">
              <a:spcAft>
                <a:spcPts val="1000"/>
              </a:spcAft>
              <a:buSzPct val="100000"/>
              <a:buChar char="•"/>
            </a:pPr>
            <a:r>
              <a:rPr lang="en-US" sz="1200" dirty="0">
                <a:solidFill>
                  <a:srgbClr val="1B1B3A"/>
                </a:solidFill>
                <a:latin typeface="Calibri" pitchFamily="34" charset="0"/>
                <a:ea typeface="Calibri" pitchFamily="34" charset="-122"/>
                <a:cs typeface="Calibri" pitchFamily="34" charset="-120"/>
              </a:rPr>
              <a:t>Model behavior itself is untouched</a:t>
            </a:r>
            <a:endParaRPr lang="en-US" sz="1200" dirty="0"/>
          </a:p>
        </p:txBody>
      </p:sp>
      <p:sp>
        <p:nvSpPr>
          <p:cNvPr id="14" name="Shape 11"/>
          <p:cNvSpPr/>
          <p:nvPr/>
        </p:nvSpPr>
        <p:spPr>
          <a:xfrm>
            <a:off x="8083296" y="1691640"/>
            <a:ext cx="3456432" cy="4114800"/>
          </a:xfrm>
          <a:prstGeom prst="roundRect">
            <a:avLst>
              <a:gd name="adj" fmla="val 2116"/>
            </a:avLst>
          </a:prstGeom>
          <a:solidFill>
            <a:srgbClr val="ECE4FD"/>
          </a:solidFill>
          <a:ln/>
          <a:effectLst>
            <a:outerShdw blurRad="88900" dist="25400" dir="5400000" algn="bl" rotWithShape="0">
              <a:srgbClr val="2B2650">
                <a:alpha val="16000"/>
              </a:srgbClr>
            </a:outerShdw>
          </a:effectLst>
        </p:spPr>
        <p:txBody>
          <a:bodyPr/>
          <a:lstStyle/>
          <a:p>
            <a:endParaRPr lang="en-US"/>
          </a:p>
        </p:txBody>
      </p:sp>
      <p:sp>
        <p:nvSpPr>
          <p:cNvPr id="15" name="Text 12"/>
          <p:cNvSpPr/>
          <p:nvPr/>
        </p:nvSpPr>
        <p:spPr>
          <a:xfrm>
            <a:off x="8311896" y="1892808"/>
            <a:ext cx="2999232" cy="411480"/>
          </a:xfrm>
          <a:prstGeom prst="rect">
            <a:avLst/>
          </a:prstGeom>
          <a:noFill/>
          <a:ln/>
        </p:spPr>
        <p:txBody>
          <a:bodyPr wrap="square" rtlCol="0" anchor="ctr"/>
          <a:lstStyle/>
          <a:p>
            <a:pPr marL="0" indent="0">
              <a:buNone/>
            </a:pPr>
            <a:r>
              <a:rPr lang="en-US" sz="1800" b="1" dirty="0">
                <a:solidFill>
                  <a:srgbClr val="7C3AED"/>
                </a:solidFill>
                <a:latin typeface="Arial" pitchFamily="34" charset="0"/>
                <a:ea typeface="Arial" pitchFamily="34" charset="-122"/>
                <a:cs typeface="Arial" pitchFamily="34" charset="-120"/>
              </a:rPr>
              <a:t>Finetuning</a:t>
            </a:r>
            <a:endParaRPr lang="en-US" sz="1800" dirty="0"/>
          </a:p>
        </p:txBody>
      </p:sp>
      <p:sp>
        <p:nvSpPr>
          <p:cNvPr id="16" name="Text 13"/>
          <p:cNvSpPr/>
          <p:nvPr/>
        </p:nvSpPr>
        <p:spPr>
          <a:xfrm>
            <a:off x="8311896" y="2313432"/>
            <a:ext cx="2999232" cy="548640"/>
          </a:xfrm>
          <a:prstGeom prst="rect">
            <a:avLst/>
          </a:prstGeom>
          <a:noFill/>
          <a:ln/>
        </p:spPr>
        <p:txBody>
          <a:bodyPr wrap="square" rtlCol="0" anchor="t"/>
          <a:lstStyle/>
          <a:p>
            <a:pPr marL="0" indent="0">
              <a:buNone/>
            </a:pPr>
            <a:r>
              <a:rPr lang="en-US" sz="1200" i="1" dirty="0">
                <a:solidFill>
                  <a:srgbClr val="6B6B85"/>
                </a:solidFill>
                <a:latin typeface="Calibri" pitchFamily="34" charset="0"/>
                <a:ea typeface="Calibri" pitchFamily="34" charset="-122"/>
                <a:cs typeface="Calibri" pitchFamily="34" charset="-120"/>
              </a:rPr>
              <a:t>Changes the model's actual behavior</a:t>
            </a:r>
            <a:endParaRPr lang="en-US" sz="1200" dirty="0"/>
          </a:p>
        </p:txBody>
      </p:sp>
      <p:sp>
        <p:nvSpPr>
          <p:cNvPr id="17" name="Text 14"/>
          <p:cNvSpPr/>
          <p:nvPr/>
        </p:nvSpPr>
        <p:spPr>
          <a:xfrm>
            <a:off x="8311896" y="3017520"/>
            <a:ext cx="2999232" cy="2560320"/>
          </a:xfrm>
          <a:prstGeom prst="rect">
            <a:avLst/>
          </a:prstGeom>
          <a:noFill/>
          <a:ln/>
        </p:spPr>
        <p:txBody>
          <a:bodyPr wrap="square" rtlCol="0" anchor="t"/>
          <a:lstStyle/>
          <a:p>
            <a:pPr marL="342900" indent="-342900">
              <a:spcAft>
                <a:spcPts val="1000"/>
              </a:spcAft>
              <a:buSzPct val="100000"/>
              <a:buChar char="•"/>
            </a:pPr>
            <a:r>
              <a:rPr lang="en-US" sz="1200" dirty="0">
                <a:solidFill>
                  <a:srgbClr val="1B1B3A"/>
                </a:solidFill>
                <a:latin typeface="Calibri" pitchFamily="34" charset="0"/>
                <a:ea typeface="Calibri" pitchFamily="34" charset="-122"/>
                <a:cs typeface="Calibri" pitchFamily="34" charset="-120"/>
              </a:rPr>
              <a:t>Best for: consistent style, structured output, domain reasoning</a:t>
            </a:r>
            <a:endParaRPr lang="en-US" sz="1200" dirty="0"/>
          </a:p>
          <a:p>
            <a:pPr marL="342900" indent="-342900">
              <a:spcAft>
                <a:spcPts val="1000"/>
              </a:spcAft>
              <a:buSzPct val="100000"/>
              <a:buChar char="•"/>
            </a:pPr>
            <a:r>
              <a:rPr lang="en-US" sz="1200" dirty="0">
                <a:solidFill>
                  <a:srgbClr val="1B1B3A"/>
                </a:solidFill>
                <a:latin typeface="Calibri" pitchFamily="34" charset="0"/>
                <a:ea typeface="Calibri" pitchFamily="34" charset="-122"/>
                <a:cs typeface="Calibri" pitchFamily="34" charset="-120"/>
              </a:rPr>
              <a:t>Limit: needs quality data + compute</a:t>
            </a:r>
            <a:endParaRPr lang="en-US" sz="1200" dirty="0"/>
          </a:p>
          <a:p>
            <a:pPr marL="342900" indent="-342900">
              <a:spcAft>
                <a:spcPts val="1000"/>
              </a:spcAft>
              <a:buSzPct val="100000"/>
              <a:buChar char="•"/>
            </a:pPr>
            <a:r>
              <a:rPr lang="en-US" sz="1200" dirty="0">
                <a:solidFill>
                  <a:srgbClr val="1B1B3A"/>
                </a:solidFill>
                <a:latin typeface="Calibri" pitchFamily="34" charset="0"/>
                <a:ea typeface="Calibri" pitchFamily="34" charset="-122"/>
                <a:cs typeface="Calibri" pitchFamily="34" charset="-120"/>
              </a:rPr>
              <a:t>Not ideal for injecting volatile facts</a:t>
            </a:r>
            <a:endParaRPr lang="en-US" sz="1200" dirty="0"/>
          </a:p>
        </p:txBody>
      </p:sp>
      <p:sp>
        <p:nvSpPr>
          <p:cNvPr id="18" name="Text 15"/>
          <p:cNvSpPr/>
          <p:nvPr/>
        </p:nvSpPr>
        <p:spPr>
          <a:xfrm>
            <a:off x="640080" y="5989320"/>
            <a:ext cx="10908792" cy="365760"/>
          </a:xfrm>
          <a:prstGeom prst="rect">
            <a:avLst/>
          </a:prstGeom>
          <a:noFill/>
          <a:ln/>
        </p:spPr>
        <p:txBody>
          <a:bodyPr wrap="square" rtlCol="0" anchor="ctr"/>
          <a:lstStyle/>
          <a:p>
            <a:pPr marL="0" indent="0" algn="ctr">
              <a:buNone/>
            </a:pPr>
            <a:r>
              <a:rPr lang="en-US" sz="1300" i="1" dirty="0">
                <a:solidFill>
                  <a:srgbClr val="6B6B85"/>
                </a:solidFill>
                <a:latin typeface="Calibri" pitchFamily="34" charset="0"/>
                <a:ea typeface="Calibri" pitchFamily="34" charset="-122"/>
                <a:cs typeface="Calibri" pitchFamily="34" charset="-120"/>
              </a:rPr>
              <a:t>Most production systems combine all three.</a:t>
            </a:r>
            <a:endParaRPr lang="en-US" sz="1300" dirty="0"/>
          </a:p>
        </p:txBody>
      </p:sp>
      <p:sp>
        <p:nvSpPr>
          <p:cNvPr id="19" name="Text 16"/>
          <p:cNvSpPr/>
          <p:nvPr/>
        </p:nvSpPr>
        <p:spPr>
          <a:xfrm>
            <a:off x="11292840" y="6473952"/>
            <a:ext cx="502920" cy="274320"/>
          </a:xfrm>
          <a:prstGeom prst="rect">
            <a:avLst/>
          </a:prstGeom>
          <a:noFill/>
          <a:ln/>
        </p:spPr>
        <p:txBody>
          <a:bodyPr wrap="square" rtlCol="0" anchor="ctr"/>
          <a:lstStyle/>
          <a:p>
            <a:pPr marL="0" indent="0" algn="r">
              <a:buNone/>
            </a:pPr>
            <a:r>
              <a:rPr lang="en-US" sz="1000" dirty="0">
                <a:solidFill>
                  <a:srgbClr val="6B6B85"/>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8686800" cy="274320"/>
          </a:xfrm>
          <a:prstGeom prst="rect">
            <a:avLst/>
          </a:prstGeom>
          <a:noFill/>
          <a:ln/>
        </p:spPr>
        <p:txBody>
          <a:bodyPr wrap="square" rtlCol="0" anchor="ctr"/>
          <a:lstStyle/>
          <a:p>
            <a:pPr marL="0" indent="0">
              <a:buNone/>
            </a:pPr>
            <a:r>
              <a:rPr lang="en-US" sz="1150" b="1" kern="0" spc="200" dirty="0">
                <a:solidFill>
                  <a:srgbClr val="7C3AED"/>
                </a:solidFill>
                <a:latin typeface="Calibri" pitchFamily="34" charset="0"/>
                <a:ea typeface="Calibri" pitchFamily="34" charset="-122"/>
                <a:cs typeface="Calibri" pitchFamily="34" charset="-120"/>
              </a:rPr>
              <a:t>METHODS</a:t>
            </a:r>
            <a:endParaRPr lang="en-US" sz="1150" dirty="0"/>
          </a:p>
        </p:txBody>
      </p:sp>
      <p:sp>
        <p:nvSpPr>
          <p:cNvPr id="3" name="Text 1"/>
          <p:cNvSpPr/>
          <p:nvPr/>
        </p:nvSpPr>
        <p:spPr>
          <a:xfrm>
            <a:off x="640080" y="621792"/>
            <a:ext cx="9692640" cy="685800"/>
          </a:xfrm>
          <a:prstGeom prst="rect">
            <a:avLst/>
          </a:prstGeom>
          <a:noFill/>
          <a:ln/>
        </p:spPr>
        <p:txBody>
          <a:bodyPr wrap="square" rtlCol="0" anchor="t"/>
          <a:lstStyle/>
          <a:p>
            <a:pPr marL="0" indent="0">
              <a:buNone/>
            </a:pPr>
            <a:r>
              <a:rPr lang="en-US" sz="3200" b="1" dirty="0">
                <a:solidFill>
                  <a:srgbClr val="1B1B3A"/>
                </a:solidFill>
                <a:latin typeface="Arial" pitchFamily="34" charset="0"/>
                <a:ea typeface="Arial" pitchFamily="34" charset="-122"/>
                <a:cs typeface="Arial" pitchFamily="34" charset="-120"/>
              </a:rPr>
              <a:t>Two Ways to Finetune</a:t>
            </a:r>
            <a:endParaRPr lang="en-US" sz="3200" dirty="0"/>
          </a:p>
        </p:txBody>
      </p:sp>
      <p:sp>
        <p:nvSpPr>
          <p:cNvPr id="4" name="Shape 2"/>
          <p:cNvSpPr/>
          <p:nvPr/>
        </p:nvSpPr>
        <p:spPr>
          <a:xfrm>
            <a:off x="10721340" y="434340"/>
            <a:ext cx="777240" cy="777240"/>
          </a:xfrm>
          <a:prstGeom prst="ellipse">
            <a:avLst/>
          </a:prstGeom>
          <a:solidFill>
            <a:srgbClr val="7C3AED"/>
          </a:solidFill>
          <a:ln/>
        </p:spPr>
        <p:txBody>
          <a:bodyPr/>
          <a:lstStyle/>
          <a:p>
            <a:endParaRPr lang="en-US"/>
          </a:p>
        </p:txBody>
      </p:sp>
      <p:pic>
        <p:nvPicPr>
          <p:cNvPr id="5" name="Image 0" descr="/home/claude/llm_finetune_deck/icons/layers.png"/>
          <p:cNvPicPr>
            <a:picLocks noChangeAspect="1"/>
          </p:cNvPicPr>
          <p:nvPr/>
        </p:nvPicPr>
        <p:blipFill>
          <a:blip r:embed="rId3"/>
          <a:stretch>
            <a:fillRect/>
          </a:stretch>
        </p:blipFill>
        <p:spPr>
          <a:xfrm>
            <a:off x="10907878" y="620878"/>
            <a:ext cx="404165" cy="404165"/>
          </a:xfrm>
          <a:prstGeom prst="rect">
            <a:avLst/>
          </a:prstGeom>
        </p:spPr>
      </p:pic>
      <p:sp>
        <p:nvSpPr>
          <p:cNvPr id="6" name="Shape 3"/>
          <p:cNvSpPr/>
          <p:nvPr/>
        </p:nvSpPr>
        <p:spPr>
          <a:xfrm>
            <a:off x="640080" y="1737360"/>
            <a:ext cx="5257800" cy="4206240"/>
          </a:xfrm>
          <a:prstGeom prst="roundRect">
            <a:avLst>
              <a:gd name="adj" fmla="val 1739"/>
            </a:avLst>
          </a:prstGeom>
          <a:solidFill>
            <a:srgbClr val="F4F3FA"/>
          </a:solidFill>
          <a:ln/>
          <a:effectLst>
            <a:outerShdw blurRad="88900" dist="25400" dir="5400000" algn="bl" rotWithShape="0">
              <a:srgbClr val="2B2650">
                <a:alpha val="16000"/>
              </a:srgbClr>
            </a:outerShdw>
          </a:effectLst>
        </p:spPr>
        <p:txBody>
          <a:bodyPr/>
          <a:lstStyle/>
          <a:p>
            <a:endParaRPr lang="en-US"/>
          </a:p>
        </p:txBody>
      </p:sp>
      <p:sp>
        <p:nvSpPr>
          <p:cNvPr id="7" name="Text 4"/>
          <p:cNvSpPr/>
          <p:nvPr/>
        </p:nvSpPr>
        <p:spPr>
          <a:xfrm>
            <a:off x="960120" y="2011680"/>
            <a:ext cx="4617720" cy="457200"/>
          </a:xfrm>
          <a:prstGeom prst="rect">
            <a:avLst/>
          </a:prstGeom>
          <a:noFill/>
          <a:ln/>
        </p:spPr>
        <p:txBody>
          <a:bodyPr wrap="square" rtlCol="0" anchor="ctr"/>
          <a:lstStyle/>
          <a:p>
            <a:pPr marL="0" indent="0">
              <a:buNone/>
            </a:pPr>
            <a:r>
              <a:rPr lang="en-US" sz="1900" b="1" dirty="0">
                <a:solidFill>
                  <a:srgbClr val="1B1B3A"/>
                </a:solidFill>
                <a:latin typeface="Arial" pitchFamily="34" charset="0"/>
                <a:ea typeface="Arial" pitchFamily="34" charset="-122"/>
                <a:cs typeface="Arial" pitchFamily="34" charset="-120"/>
              </a:rPr>
              <a:t>Full Finetuning</a:t>
            </a:r>
            <a:endParaRPr lang="en-US" sz="1900" dirty="0"/>
          </a:p>
        </p:txBody>
      </p:sp>
      <p:sp>
        <p:nvSpPr>
          <p:cNvPr id="8" name="Text 5"/>
          <p:cNvSpPr/>
          <p:nvPr/>
        </p:nvSpPr>
        <p:spPr>
          <a:xfrm>
            <a:off x="960120" y="2606040"/>
            <a:ext cx="4617720" cy="3017520"/>
          </a:xfrm>
          <a:prstGeom prst="rect">
            <a:avLst/>
          </a:prstGeom>
          <a:noFill/>
          <a:ln/>
        </p:spPr>
        <p:txBody>
          <a:bodyPr wrap="square" rtlCol="0" anchor="t"/>
          <a:lstStyle/>
          <a:p>
            <a:pPr marL="342900" indent="-342900">
              <a:spcAft>
                <a:spcPts val="1200"/>
              </a:spcAft>
              <a:buSzPct val="100000"/>
              <a:buChar char="•"/>
            </a:pPr>
            <a:r>
              <a:rPr lang="en-US" sz="1400" dirty="0">
                <a:solidFill>
                  <a:srgbClr val="1B1B3A"/>
                </a:solidFill>
                <a:latin typeface="Calibri" pitchFamily="34" charset="0"/>
                <a:ea typeface="Calibri" pitchFamily="34" charset="-122"/>
                <a:cs typeface="Calibri" pitchFamily="34" charset="-120"/>
              </a:rPr>
              <a:t>Updates ALL model weights</a:t>
            </a:r>
            <a:endParaRPr lang="en-US" sz="1400" dirty="0"/>
          </a:p>
          <a:p>
            <a:pPr marL="342900" indent="-342900">
              <a:spcAft>
                <a:spcPts val="1200"/>
              </a:spcAft>
              <a:buSzPct val="100000"/>
              <a:buChar char="•"/>
            </a:pPr>
            <a:r>
              <a:rPr lang="en-US" sz="1400" dirty="0">
                <a:solidFill>
                  <a:srgbClr val="1B1B3A"/>
                </a:solidFill>
                <a:latin typeface="Calibri" pitchFamily="34" charset="0"/>
                <a:ea typeface="Calibri" pitchFamily="34" charset="-122"/>
                <a:cs typeface="Calibri" pitchFamily="34" charset="-120"/>
              </a:rPr>
              <a:t>Highest ceiling on quality &amp; adaptation</a:t>
            </a:r>
            <a:endParaRPr lang="en-US" sz="1400" dirty="0"/>
          </a:p>
          <a:p>
            <a:pPr marL="342900" indent="-342900">
              <a:spcAft>
                <a:spcPts val="1200"/>
              </a:spcAft>
              <a:buSzPct val="100000"/>
              <a:buChar char="•"/>
            </a:pPr>
            <a:r>
              <a:rPr lang="en-US" sz="1400" dirty="0">
                <a:solidFill>
                  <a:srgbClr val="1B1B3A"/>
                </a:solidFill>
                <a:latin typeface="Calibri" pitchFamily="34" charset="0"/>
                <a:ea typeface="Calibri" pitchFamily="34" charset="-122"/>
                <a:cs typeface="Calibri" pitchFamily="34" charset="-120"/>
              </a:rPr>
              <a:t>Needs huge VRAM + storage per checkpoint</a:t>
            </a:r>
            <a:endParaRPr lang="en-US" sz="1400" dirty="0"/>
          </a:p>
          <a:p>
            <a:pPr marL="342900" indent="-342900">
              <a:spcAft>
                <a:spcPts val="1200"/>
              </a:spcAft>
              <a:buSzPct val="100000"/>
              <a:buChar char="•"/>
            </a:pPr>
            <a:r>
              <a:rPr lang="en-US" sz="1400" dirty="0">
                <a:solidFill>
                  <a:srgbClr val="1B1B3A"/>
                </a:solidFill>
                <a:latin typeface="Calibri" pitchFamily="34" charset="0"/>
                <a:ea typeface="Calibri" pitchFamily="34" charset="-122"/>
                <a:cs typeface="Calibri" pitchFamily="34" charset="-120"/>
              </a:rPr>
              <a:t>Risk: catastrophic forgetting</a:t>
            </a:r>
            <a:endParaRPr lang="en-US" sz="1400" dirty="0"/>
          </a:p>
        </p:txBody>
      </p:sp>
      <p:sp>
        <p:nvSpPr>
          <p:cNvPr id="9" name="Shape 6"/>
          <p:cNvSpPr/>
          <p:nvPr/>
        </p:nvSpPr>
        <p:spPr>
          <a:xfrm>
            <a:off x="6263640" y="1737360"/>
            <a:ext cx="5257800" cy="4206240"/>
          </a:xfrm>
          <a:prstGeom prst="roundRect">
            <a:avLst>
              <a:gd name="adj" fmla="val 1739"/>
            </a:avLst>
          </a:prstGeom>
          <a:solidFill>
            <a:srgbClr val="ECE4FD"/>
          </a:solidFill>
          <a:ln/>
          <a:effectLst>
            <a:outerShdw blurRad="88900" dist="25400" dir="5400000" algn="bl" rotWithShape="0">
              <a:srgbClr val="2B2650">
                <a:alpha val="16000"/>
              </a:srgbClr>
            </a:outerShdw>
          </a:effectLst>
        </p:spPr>
        <p:txBody>
          <a:bodyPr/>
          <a:lstStyle/>
          <a:p>
            <a:endParaRPr lang="en-US"/>
          </a:p>
        </p:txBody>
      </p:sp>
      <p:sp>
        <p:nvSpPr>
          <p:cNvPr id="10" name="Shape 7"/>
          <p:cNvSpPr/>
          <p:nvPr/>
        </p:nvSpPr>
        <p:spPr>
          <a:xfrm>
            <a:off x="9372600" y="1993392"/>
            <a:ext cx="1874520" cy="365760"/>
          </a:xfrm>
          <a:prstGeom prst="roundRect">
            <a:avLst>
              <a:gd name="adj" fmla="val 50000"/>
            </a:avLst>
          </a:prstGeom>
          <a:solidFill>
            <a:srgbClr val="7C3AED"/>
          </a:solidFill>
          <a:ln/>
        </p:spPr>
        <p:txBody>
          <a:bodyPr/>
          <a:lstStyle/>
          <a:p>
            <a:endParaRPr lang="en-US"/>
          </a:p>
        </p:txBody>
      </p:sp>
      <p:sp>
        <p:nvSpPr>
          <p:cNvPr id="11" name="Text 8"/>
          <p:cNvSpPr/>
          <p:nvPr/>
        </p:nvSpPr>
        <p:spPr>
          <a:xfrm>
            <a:off x="9372600" y="1993392"/>
            <a:ext cx="1874520" cy="365760"/>
          </a:xfrm>
          <a:prstGeom prst="rect">
            <a:avLst/>
          </a:prstGeom>
          <a:noFill/>
          <a:ln/>
        </p:spPr>
        <p:txBody>
          <a:bodyPr wrap="square"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TODAY'S DEFAULT</a:t>
            </a:r>
            <a:endParaRPr lang="en-US" sz="1000" dirty="0"/>
          </a:p>
        </p:txBody>
      </p:sp>
      <p:sp>
        <p:nvSpPr>
          <p:cNvPr id="12" name="Text 9"/>
          <p:cNvSpPr/>
          <p:nvPr/>
        </p:nvSpPr>
        <p:spPr>
          <a:xfrm>
            <a:off x="6583680" y="2011680"/>
            <a:ext cx="2880360" cy="457200"/>
          </a:xfrm>
          <a:prstGeom prst="rect">
            <a:avLst/>
          </a:prstGeom>
          <a:noFill/>
          <a:ln/>
        </p:spPr>
        <p:txBody>
          <a:bodyPr wrap="square" rtlCol="0" anchor="ctr"/>
          <a:lstStyle/>
          <a:p>
            <a:pPr marL="0" indent="0">
              <a:buNone/>
            </a:pPr>
            <a:r>
              <a:rPr lang="en-US" sz="1900" b="1" dirty="0">
                <a:solidFill>
                  <a:srgbClr val="7C3AED"/>
                </a:solidFill>
                <a:latin typeface="Arial" pitchFamily="34" charset="0"/>
                <a:ea typeface="Arial" pitchFamily="34" charset="-122"/>
                <a:cs typeface="Arial" pitchFamily="34" charset="-120"/>
              </a:rPr>
              <a:t>PEFT</a:t>
            </a:r>
            <a:endParaRPr lang="en-US" sz="1900" dirty="0"/>
          </a:p>
        </p:txBody>
      </p:sp>
      <p:sp>
        <p:nvSpPr>
          <p:cNvPr id="13" name="Text 10"/>
          <p:cNvSpPr/>
          <p:nvPr/>
        </p:nvSpPr>
        <p:spPr>
          <a:xfrm>
            <a:off x="6583680" y="2395728"/>
            <a:ext cx="4617720" cy="320040"/>
          </a:xfrm>
          <a:prstGeom prst="rect">
            <a:avLst/>
          </a:prstGeom>
          <a:noFill/>
          <a:ln/>
        </p:spPr>
        <p:txBody>
          <a:bodyPr wrap="square" rtlCol="0" anchor="ctr"/>
          <a:lstStyle/>
          <a:p>
            <a:pPr marL="0" indent="0">
              <a:buNone/>
            </a:pPr>
            <a:r>
              <a:rPr lang="en-US" sz="1200" i="1" dirty="0">
                <a:solidFill>
                  <a:srgbClr val="6B6B85"/>
                </a:solidFill>
                <a:latin typeface="Calibri" pitchFamily="34" charset="0"/>
                <a:ea typeface="Calibri" pitchFamily="34" charset="-122"/>
                <a:cs typeface="Calibri" pitchFamily="34" charset="-120"/>
              </a:rPr>
              <a:t>(Parameter-Efficient Finetuning)</a:t>
            </a:r>
            <a:endParaRPr lang="en-US" sz="1200" dirty="0"/>
          </a:p>
        </p:txBody>
      </p:sp>
      <p:sp>
        <p:nvSpPr>
          <p:cNvPr id="14" name="Text 11"/>
          <p:cNvSpPr/>
          <p:nvPr/>
        </p:nvSpPr>
        <p:spPr>
          <a:xfrm>
            <a:off x="6583680" y="2880360"/>
            <a:ext cx="4617720" cy="2743200"/>
          </a:xfrm>
          <a:prstGeom prst="rect">
            <a:avLst/>
          </a:prstGeom>
          <a:noFill/>
          <a:ln/>
        </p:spPr>
        <p:txBody>
          <a:bodyPr wrap="square" rtlCol="0" anchor="t"/>
          <a:lstStyle/>
          <a:p>
            <a:pPr marL="342900" indent="-342900">
              <a:spcAft>
                <a:spcPts val="1200"/>
              </a:spcAft>
              <a:buSzPct val="100000"/>
              <a:buChar char="•"/>
            </a:pPr>
            <a:r>
              <a:rPr lang="en-US" sz="1400" dirty="0">
                <a:solidFill>
                  <a:srgbClr val="1B1B3A"/>
                </a:solidFill>
                <a:latin typeface="Calibri" pitchFamily="34" charset="0"/>
                <a:ea typeface="Calibri" pitchFamily="34" charset="-122"/>
                <a:cs typeface="Calibri" pitchFamily="34" charset="-120"/>
              </a:rPr>
              <a:t>Updates a small adapter — often &lt; 1% of parameters</a:t>
            </a:r>
            <a:endParaRPr lang="en-US" sz="1400" dirty="0"/>
          </a:p>
          <a:p>
            <a:pPr marL="342900" indent="-342900">
              <a:spcAft>
                <a:spcPts val="1200"/>
              </a:spcAft>
              <a:buSzPct val="100000"/>
              <a:buChar char="•"/>
            </a:pPr>
            <a:r>
              <a:rPr lang="en-US" sz="1400" dirty="0">
                <a:solidFill>
                  <a:srgbClr val="1B1B3A"/>
                </a:solidFill>
                <a:latin typeface="Calibri" pitchFamily="34" charset="0"/>
                <a:ea typeface="Calibri" pitchFamily="34" charset="-122"/>
                <a:cs typeface="Calibri" pitchFamily="34" charset="-120"/>
              </a:rPr>
              <a:t>Base weights stay frozen; original skills preserved</a:t>
            </a:r>
            <a:endParaRPr lang="en-US" sz="1400" dirty="0"/>
          </a:p>
          <a:p>
            <a:pPr marL="342900" indent="-342900">
              <a:spcAft>
                <a:spcPts val="1200"/>
              </a:spcAft>
              <a:buSzPct val="100000"/>
              <a:buChar char="•"/>
            </a:pPr>
            <a:r>
              <a:rPr lang="en-US" sz="1400" dirty="0">
                <a:solidFill>
                  <a:srgbClr val="1B1B3A"/>
                </a:solidFill>
                <a:latin typeface="Calibri" pitchFamily="34" charset="0"/>
                <a:ea typeface="Calibri" pitchFamily="34" charset="-122"/>
                <a:cs typeface="Calibri" pitchFamily="34" charset="-120"/>
              </a:rPr>
              <a:t>Runs on a single consumer or free-tier GPU</a:t>
            </a:r>
            <a:endParaRPr lang="en-US" sz="1400" dirty="0"/>
          </a:p>
          <a:p>
            <a:pPr marL="342900" indent="-342900">
              <a:spcAft>
                <a:spcPts val="1200"/>
              </a:spcAft>
              <a:buSzPct val="100000"/>
              <a:buChar char="•"/>
            </a:pPr>
            <a:r>
              <a:rPr lang="en-US" sz="1400" dirty="0">
                <a:solidFill>
                  <a:srgbClr val="1B1B3A"/>
                </a:solidFill>
                <a:latin typeface="Calibri" pitchFamily="34" charset="0"/>
                <a:ea typeface="Calibri" pitchFamily="34" charset="-122"/>
                <a:cs typeface="Calibri" pitchFamily="34" charset="-120"/>
              </a:rPr>
              <a:t>Covers LoRA, QLoRA, adapters, prefix tuning</a:t>
            </a:r>
            <a:endParaRPr lang="en-US" sz="1400" dirty="0"/>
          </a:p>
        </p:txBody>
      </p:sp>
      <p:sp>
        <p:nvSpPr>
          <p:cNvPr id="15" name="Text 12"/>
          <p:cNvSpPr/>
          <p:nvPr/>
        </p:nvSpPr>
        <p:spPr>
          <a:xfrm>
            <a:off x="11292840" y="6473952"/>
            <a:ext cx="502920" cy="274320"/>
          </a:xfrm>
          <a:prstGeom prst="rect">
            <a:avLst/>
          </a:prstGeom>
          <a:noFill/>
          <a:ln/>
        </p:spPr>
        <p:txBody>
          <a:bodyPr wrap="square" rtlCol="0" anchor="ctr"/>
          <a:lstStyle/>
          <a:p>
            <a:pPr marL="0" indent="0" algn="r">
              <a:buNone/>
            </a:pPr>
            <a:r>
              <a:rPr lang="en-US" sz="1000" dirty="0">
                <a:solidFill>
                  <a:srgbClr val="6B6B85"/>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8686800" cy="274320"/>
          </a:xfrm>
          <a:prstGeom prst="rect">
            <a:avLst/>
          </a:prstGeom>
          <a:noFill/>
          <a:ln/>
        </p:spPr>
        <p:txBody>
          <a:bodyPr wrap="square" rtlCol="0" anchor="ctr"/>
          <a:lstStyle/>
          <a:p>
            <a:pPr marL="0" indent="0">
              <a:buNone/>
            </a:pPr>
            <a:r>
              <a:rPr lang="en-US" sz="1150" b="1" kern="0" spc="200" dirty="0">
                <a:solidFill>
                  <a:srgbClr val="7C3AED"/>
                </a:solidFill>
                <a:latin typeface="Calibri" pitchFamily="34" charset="0"/>
                <a:ea typeface="Calibri" pitchFamily="34" charset="-122"/>
                <a:cs typeface="Calibri" pitchFamily="34" charset="-120"/>
              </a:rPr>
              <a:t>METHODS</a:t>
            </a:r>
            <a:endParaRPr lang="en-US" sz="1150" dirty="0"/>
          </a:p>
        </p:txBody>
      </p:sp>
      <p:sp>
        <p:nvSpPr>
          <p:cNvPr id="3" name="Text 1"/>
          <p:cNvSpPr/>
          <p:nvPr/>
        </p:nvSpPr>
        <p:spPr>
          <a:xfrm>
            <a:off x="640080" y="621792"/>
            <a:ext cx="9692640" cy="685800"/>
          </a:xfrm>
          <a:prstGeom prst="rect">
            <a:avLst/>
          </a:prstGeom>
          <a:noFill/>
          <a:ln/>
        </p:spPr>
        <p:txBody>
          <a:bodyPr wrap="square" rtlCol="0" anchor="t"/>
          <a:lstStyle/>
          <a:p>
            <a:pPr marL="0" indent="0">
              <a:buNone/>
            </a:pPr>
            <a:r>
              <a:rPr lang="en-US" sz="3200" b="1" dirty="0">
                <a:solidFill>
                  <a:srgbClr val="1B1B3A"/>
                </a:solidFill>
                <a:latin typeface="Arial" pitchFamily="34" charset="0"/>
                <a:ea typeface="Arial" pitchFamily="34" charset="-122"/>
                <a:cs typeface="Arial" pitchFamily="34" charset="-120"/>
              </a:rPr>
              <a:t>LoRA &amp; QLoRA, Explained</a:t>
            </a:r>
            <a:endParaRPr lang="en-US" sz="3200" dirty="0"/>
          </a:p>
        </p:txBody>
      </p:sp>
      <p:sp>
        <p:nvSpPr>
          <p:cNvPr id="4" name="Shape 2"/>
          <p:cNvSpPr/>
          <p:nvPr/>
        </p:nvSpPr>
        <p:spPr>
          <a:xfrm>
            <a:off x="10721340" y="434340"/>
            <a:ext cx="777240" cy="777240"/>
          </a:xfrm>
          <a:prstGeom prst="ellipse">
            <a:avLst/>
          </a:prstGeom>
          <a:solidFill>
            <a:srgbClr val="7C3AED"/>
          </a:solidFill>
          <a:ln/>
        </p:spPr>
        <p:txBody>
          <a:bodyPr/>
          <a:lstStyle/>
          <a:p>
            <a:endParaRPr lang="en-US"/>
          </a:p>
        </p:txBody>
      </p:sp>
      <p:pic>
        <p:nvPicPr>
          <p:cNvPr id="5" name="Image 0" descr="/home/claude/llm_finetune_deck/icons/grid.png"/>
          <p:cNvPicPr>
            <a:picLocks noChangeAspect="1"/>
          </p:cNvPicPr>
          <p:nvPr/>
        </p:nvPicPr>
        <p:blipFill>
          <a:blip r:embed="rId3"/>
          <a:stretch>
            <a:fillRect/>
          </a:stretch>
        </p:blipFill>
        <p:spPr>
          <a:xfrm>
            <a:off x="10907878" y="620878"/>
            <a:ext cx="404165" cy="404165"/>
          </a:xfrm>
          <a:prstGeom prst="rect">
            <a:avLst/>
          </a:prstGeom>
        </p:spPr>
      </p:pic>
      <p:sp>
        <p:nvSpPr>
          <p:cNvPr id="6" name="Shape 3"/>
          <p:cNvSpPr/>
          <p:nvPr/>
        </p:nvSpPr>
        <p:spPr>
          <a:xfrm>
            <a:off x="731520" y="1691640"/>
            <a:ext cx="1737360" cy="1828800"/>
          </a:xfrm>
          <a:prstGeom prst="roundRect">
            <a:avLst>
              <a:gd name="adj" fmla="val 4211"/>
            </a:avLst>
          </a:prstGeom>
          <a:solidFill>
            <a:srgbClr val="F4F3FA"/>
          </a:solidFill>
          <a:ln/>
          <a:effectLst>
            <a:outerShdw blurRad="88900" dist="25400" dir="5400000" algn="bl" rotWithShape="0">
              <a:srgbClr val="2B2650">
                <a:alpha val="16000"/>
              </a:srgbClr>
            </a:outerShdw>
          </a:effectLst>
        </p:spPr>
        <p:txBody>
          <a:bodyPr/>
          <a:lstStyle/>
          <a:p>
            <a:endParaRPr lang="en-US"/>
          </a:p>
        </p:txBody>
      </p:sp>
      <p:sp>
        <p:nvSpPr>
          <p:cNvPr id="7" name="Text 4"/>
          <p:cNvSpPr/>
          <p:nvPr/>
        </p:nvSpPr>
        <p:spPr>
          <a:xfrm>
            <a:off x="731520" y="1828800"/>
            <a:ext cx="1737360" cy="822960"/>
          </a:xfrm>
          <a:prstGeom prst="rect">
            <a:avLst/>
          </a:prstGeom>
          <a:noFill/>
          <a:ln/>
        </p:spPr>
        <p:txBody>
          <a:bodyPr wrap="square" rtlCol="0" anchor="ctr"/>
          <a:lstStyle/>
          <a:p>
            <a:pPr marL="0" indent="0" algn="ctr">
              <a:buNone/>
            </a:pPr>
            <a:r>
              <a:rPr lang="en-US" sz="3000" b="1" dirty="0">
                <a:solidFill>
                  <a:srgbClr val="1B1B3A"/>
                </a:solidFill>
                <a:latin typeface="Arial" pitchFamily="34" charset="0"/>
                <a:ea typeface="Arial" pitchFamily="34" charset="-122"/>
                <a:cs typeface="Arial" pitchFamily="34" charset="-120"/>
              </a:rPr>
              <a:t>W</a:t>
            </a:r>
            <a:endParaRPr lang="en-US" sz="3000" dirty="0"/>
          </a:p>
        </p:txBody>
      </p:sp>
      <p:sp>
        <p:nvSpPr>
          <p:cNvPr id="8" name="Text 5"/>
          <p:cNvSpPr/>
          <p:nvPr/>
        </p:nvSpPr>
        <p:spPr>
          <a:xfrm>
            <a:off x="731520" y="2651760"/>
            <a:ext cx="1737360" cy="594360"/>
          </a:xfrm>
          <a:prstGeom prst="rect">
            <a:avLst/>
          </a:prstGeom>
          <a:noFill/>
          <a:ln/>
        </p:spPr>
        <p:txBody>
          <a:bodyPr wrap="square" rtlCol="0" anchor="t"/>
          <a:lstStyle/>
          <a:p>
            <a:pPr marL="0" indent="0" algn="ctr">
              <a:buNone/>
            </a:pPr>
            <a:r>
              <a:rPr lang="en-US" sz="1050" dirty="0">
                <a:solidFill>
                  <a:srgbClr val="6B6B85"/>
                </a:solidFill>
                <a:latin typeface="Calibri" pitchFamily="34" charset="0"/>
                <a:ea typeface="Calibri" pitchFamily="34" charset="-122"/>
                <a:cs typeface="Calibri" pitchFamily="34" charset="-120"/>
              </a:rPr>
              <a:t>frozen, pretrained</a:t>
            </a:r>
            <a:endParaRPr lang="en-US" sz="1050" dirty="0"/>
          </a:p>
        </p:txBody>
      </p:sp>
      <p:sp>
        <p:nvSpPr>
          <p:cNvPr id="9" name="Text 6"/>
          <p:cNvSpPr/>
          <p:nvPr/>
        </p:nvSpPr>
        <p:spPr>
          <a:xfrm>
            <a:off x="2542032" y="2286000"/>
            <a:ext cx="411480" cy="640080"/>
          </a:xfrm>
          <a:prstGeom prst="rect">
            <a:avLst/>
          </a:prstGeom>
          <a:noFill/>
          <a:ln/>
        </p:spPr>
        <p:txBody>
          <a:bodyPr wrap="square" rtlCol="0" anchor="ctr"/>
          <a:lstStyle/>
          <a:p>
            <a:pPr marL="0" indent="0" algn="ctr">
              <a:buNone/>
            </a:pPr>
            <a:r>
              <a:rPr lang="en-US" sz="3000" b="1" dirty="0">
                <a:solidFill>
                  <a:srgbClr val="6B6B85"/>
                </a:solidFill>
                <a:latin typeface="Arial" pitchFamily="34" charset="0"/>
                <a:ea typeface="Arial" pitchFamily="34" charset="-122"/>
                <a:cs typeface="Arial" pitchFamily="34" charset="-120"/>
              </a:rPr>
              <a:t>+</a:t>
            </a:r>
            <a:endParaRPr lang="en-US" sz="3000" dirty="0"/>
          </a:p>
        </p:txBody>
      </p:sp>
      <p:sp>
        <p:nvSpPr>
          <p:cNvPr id="10" name="Shape 7"/>
          <p:cNvSpPr/>
          <p:nvPr/>
        </p:nvSpPr>
        <p:spPr>
          <a:xfrm>
            <a:off x="3017520" y="1691640"/>
            <a:ext cx="2514600" cy="1828800"/>
          </a:xfrm>
          <a:prstGeom prst="roundRect">
            <a:avLst>
              <a:gd name="adj" fmla="val 4000"/>
            </a:avLst>
          </a:prstGeom>
          <a:solidFill>
            <a:srgbClr val="ECE4FD"/>
          </a:solidFill>
          <a:ln/>
          <a:effectLst>
            <a:outerShdw blurRad="88900" dist="25400" dir="5400000" algn="bl" rotWithShape="0">
              <a:srgbClr val="2B2650">
                <a:alpha val="16000"/>
              </a:srgbClr>
            </a:outerShdw>
          </a:effectLst>
        </p:spPr>
        <p:txBody>
          <a:bodyPr/>
          <a:lstStyle/>
          <a:p>
            <a:endParaRPr lang="en-US"/>
          </a:p>
        </p:txBody>
      </p:sp>
      <p:sp>
        <p:nvSpPr>
          <p:cNvPr id="11" name="Text 8"/>
          <p:cNvSpPr/>
          <p:nvPr/>
        </p:nvSpPr>
        <p:spPr>
          <a:xfrm>
            <a:off x="3017520" y="1828800"/>
            <a:ext cx="2514600" cy="457200"/>
          </a:xfrm>
          <a:prstGeom prst="rect">
            <a:avLst/>
          </a:prstGeom>
          <a:noFill/>
          <a:ln/>
        </p:spPr>
        <p:txBody>
          <a:bodyPr wrap="square" rtlCol="0" anchor="ctr"/>
          <a:lstStyle/>
          <a:p>
            <a:pPr marL="0" indent="0" algn="ctr">
              <a:buNone/>
            </a:pPr>
            <a:r>
              <a:rPr lang="en-US" sz="1800" b="1" dirty="0">
                <a:solidFill>
                  <a:srgbClr val="7C3AED"/>
                </a:solidFill>
                <a:latin typeface="Arial" pitchFamily="34" charset="0"/>
                <a:ea typeface="Arial" pitchFamily="34" charset="-122"/>
                <a:cs typeface="Arial" pitchFamily="34" charset="-120"/>
              </a:rPr>
              <a:t>ΔW = A × B</a:t>
            </a:r>
            <a:endParaRPr lang="en-US" sz="1800" dirty="0"/>
          </a:p>
        </p:txBody>
      </p:sp>
      <p:sp>
        <p:nvSpPr>
          <p:cNvPr id="12" name="Shape 9"/>
          <p:cNvSpPr/>
          <p:nvPr/>
        </p:nvSpPr>
        <p:spPr>
          <a:xfrm>
            <a:off x="3794760" y="2313432"/>
            <a:ext cx="320040" cy="777240"/>
          </a:xfrm>
          <a:prstGeom prst="rect">
            <a:avLst/>
          </a:prstGeom>
          <a:solidFill>
            <a:srgbClr val="7C3AED"/>
          </a:solidFill>
          <a:ln/>
        </p:spPr>
        <p:txBody>
          <a:bodyPr/>
          <a:lstStyle/>
          <a:p>
            <a:endParaRPr lang="en-US"/>
          </a:p>
        </p:txBody>
      </p:sp>
      <p:sp>
        <p:nvSpPr>
          <p:cNvPr id="13" name="Text 10"/>
          <p:cNvSpPr/>
          <p:nvPr/>
        </p:nvSpPr>
        <p:spPr>
          <a:xfrm>
            <a:off x="3794760" y="2313432"/>
            <a:ext cx="320040" cy="7772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14" name="Text 11"/>
          <p:cNvSpPr/>
          <p:nvPr/>
        </p:nvSpPr>
        <p:spPr>
          <a:xfrm>
            <a:off x="4160520" y="2542032"/>
            <a:ext cx="274320" cy="320040"/>
          </a:xfrm>
          <a:prstGeom prst="rect">
            <a:avLst/>
          </a:prstGeom>
          <a:noFill/>
          <a:ln/>
        </p:spPr>
        <p:txBody>
          <a:bodyPr wrap="square" rtlCol="0" anchor="ctr"/>
          <a:lstStyle/>
          <a:p>
            <a:pPr marL="0" indent="0" algn="ctr">
              <a:buNone/>
            </a:pPr>
            <a:r>
              <a:rPr lang="en-US" sz="1400" b="1" dirty="0">
                <a:solidFill>
                  <a:srgbClr val="6B6B85"/>
                </a:solidFill>
                <a:latin typeface="Calibri" pitchFamily="34" charset="0"/>
                <a:ea typeface="Calibri" pitchFamily="34" charset="-122"/>
                <a:cs typeface="Calibri" pitchFamily="34" charset="-120"/>
              </a:rPr>
              <a:t>×</a:t>
            </a:r>
            <a:endParaRPr lang="en-US" sz="1400" dirty="0"/>
          </a:p>
        </p:txBody>
      </p:sp>
      <p:sp>
        <p:nvSpPr>
          <p:cNvPr id="15" name="Shape 12"/>
          <p:cNvSpPr/>
          <p:nvPr/>
        </p:nvSpPr>
        <p:spPr>
          <a:xfrm>
            <a:off x="4480560" y="2615184"/>
            <a:ext cx="777240" cy="292608"/>
          </a:xfrm>
          <a:prstGeom prst="rect">
            <a:avLst/>
          </a:prstGeom>
          <a:solidFill>
            <a:srgbClr val="7C3AED"/>
          </a:solidFill>
          <a:ln/>
        </p:spPr>
        <p:txBody>
          <a:bodyPr/>
          <a:lstStyle/>
          <a:p>
            <a:endParaRPr lang="en-US"/>
          </a:p>
        </p:txBody>
      </p:sp>
      <p:sp>
        <p:nvSpPr>
          <p:cNvPr id="16" name="Text 13"/>
          <p:cNvSpPr/>
          <p:nvPr/>
        </p:nvSpPr>
        <p:spPr>
          <a:xfrm>
            <a:off x="4480560" y="2615184"/>
            <a:ext cx="777240"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17" name="Text 14"/>
          <p:cNvSpPr/>
          <p:nvPr/>
        </p:nvSpPr>
        <p:spPr>
          <a:xfrm>
            <a:off x="3017520" y="3044952"/>
            <a:ext cx="2514600" cy="274320"/>
          </a:xfrm>
          <a:prstGeom prst="rect">
            <a:avLst/>
          </a:prstGeom>
          <a:noFill/>
          <a:ln/>
        </p:spPr>
        <p:txBody>
          <a:bodyPr wrap="square" rtlCol="0" anchor="ctr"/>
          <a:lstStyle/>
          <a:p>
            <a:pPr marL="0" indent="0" algn="ctr">
              <a:buNone/>
            </a:pPr>
            <a:r>
              <a:rPr lang="en-US" sz="1000" i="1" dirty="0">
                <a:solidFill>
                  <a:srgbClr val="6B6B85"/>
                </a:solidFill>
                <a:latin typeface="Calibri" pitchFamily="34" charset="0"/>
                <a:ea typeface="Calibri" pitchFamily="34" charset="-122"/>
                <a:cs typeface="Calibri" pitchFamily="34" charset="-120"/>
              </a:rPr>
              <a:t>rank r ≪ d</a:t>
            </a:r>
            <a:endParaRPr lang="en-US" sz="1000" dirty="0"/>
          </a:p>
        </p:txBody>
      </p:sp>
      <p:sp>
        <p:nvSpPr>
          <p:cNvPr id="18" name="Text 15"/>
          <p:cNvSpPr/>
          <p:nvPr/>
        </p:nvSpPr>
        <p:spPr>
          <a:xfrm>
            <a:off x="5742432" y="2286000"/>
            <a:ext cx="411480" cy="640080"/>
          </a:xfrm>
          <a:prstGeom prst="rect">
            <a:avLst/>
          </a:prstGeom>
          <a:noFill/>
          <a:ln/>
        </p:spPr>
        <p:txBody>
          <a:bodyPr wrap="square" rtlCol="0" anchor="ctr"/>
          <a:lstStyle/>
          <a:p>
            <a:pPr marL="0" indent="0" algn="ctr">
              <a:buNone/>
            </a:pPr>
            <a:r>
              <a:rPr lang="en-US" sz="3000" b="1" dirty="0">
                <a:solidFill>
                  <a:srgbClr val="6B6B85"/>
                </a:solidFill>
                <a:latin typeface="Arial" pitchFamily="34" charset="0"/>
                <a:ea typeface="Arial" pitchFamily="34" charset="-122"/>
                <a:cs typeface="Arial" pitchFamily="34" charset="-120"/>
              </a:rPr>
              <a:t>=</a:t>
            </a:r>
            <a:endParaRPr lang="en-US" sz="3000" dirty="0"/>
          </a:p>
        </p:txBody>
      </p:sp>
      <p:sp>
        <p:nvSpPr>
          <p:cNvPr id="19" name="Shape 16"/>
          <p:cNvSpPr/>
          <p:nvPr/>
        </p:nvSpPr>
        <p:spPr>
          <a:xfrm>
            <a:off x="6263640" y="1691640"/>
            <a:ext cx="1737360" cy="1828800"/>
          </a:xfrm>
          <a:prstGeom prst="roundRect">
            <a:avLst>
              <a:gd name="adj" fmla="val 4211"/>
            </a:avLst>
          </a:prstGeom>
          <a:solidFill>
            <a:srgbClr val="1B1B3A"/>
          </a:solidFill>
          <a:ln/>
          <a:effectLst>
            <a:outerShdw blurRad="88900" dist="25400" dir="5400000" algn="bl" rotWithShape="0">
              <a:srgbClr val="2B2650">
                <a:alpha val="16000"/>
              </a:srgbClr>
            </a:outerShdw>
          </a:effectLst>
        </p:spPr>
        <p:txBody>
          <a:bodyPr/>
          <a:lstStyle/>
          <a:p>
            <a:endParaRPr lang="en-US"/>
          </a:p>
        </p:txBody>
      </p:sp>
      <p:sp>
        <p:nvSpPr>
          <p:cNvPr id="20" name="Text 17"/>
          <p:cNvSpPr/>
          <p:nvPr/>
        </p:nvSpPr>
        <p:spPr>
          <a:xfrm>
            <a:off x="6263640" y="1828800"/>
            <a:ext cx="1737360" cy="822960"/>
          </a:xfrm>
          <a:prstGeom prst="rect">
            <a:avLst/>
          </a:prstGeom>
          <a:noFill/>
          <a:ln/>
        </p:spPr>
        <p:txBody>
          <a:bodyPr wrap="square" rtlCol="0" anchor="ctr"/>
          <a:lstStyle/>
          <a:p>
            <a:pPr marL="0" indent="0" algn="ctr">
              <a:buNone/>
            </a:pPr>
            <a:r>
              <a:rPr lang="en-US" sz="2800" b="1" dirty="0">
                <a:solidFill>
                  <a:srgbClr val="FFFFFF"/>
                </a:solidFill>
                <a:latin typeface="Arial" pitchFamily="34" charset="0"/>
                <a:ea typeface="Arial" pitchFamily="34" charset="-122"/>
                <a:cs typeface="Arial" pitchFamily="34" charset="-120"/>
              </a:rPr>
              <a:t>W'</a:t>
            </a:r>
            <a:endParaRPr lang="en-US" sz="2800" dirty="0"/>
          </a:p>
        </p:txBody>
      </p:sp>
      <p:sp>
        <p:nvSpPr>
          <p:cNvPr id="21" name="Text 18"/>
          <p:cNvSpPr/>
          <p:nvPr/>
        </p:nvSpPr>
        <p:spPr>
          <a:xfrm>
            <a:off x="6263640" y="2651760"/>
            <a:ext cx="1737360" cy="594360"/>
          </a:xfrm>
          <a:prstGeom prst="rect">
            <a:avLst/>
          </a:prstGeom>
          <a:noFill/>
          <a:ln/>
        </p:spPr>
        <p:txBody>
          <a:bodyPr wrap="square" rtlCol="0" anchor="t"/>
          <a:lstStyle/>
          <a:p>
            <a:pPr marL="0" indent="0" algn="ctr">
              <a:buNone/>
            </a:pPr>
            <a:r>
              <a:rPr lang="en-US" sz="1050" dirty="0">
                <a:solidFill>
                  <a:srgbClr val="C6C2E8"/>
                </a:solidFill>
                <a:latin typeface="Calibri" pitchFamily="34" charset="0"/>
                <a:ea typeface="Calibri" pitchFamily="34" charset="-122"/>
                <a:cs typeface="Calibri" pitchFamily="34" charset="-120"/>
              </a:rPr>
              <a:t>adapted weights</a:t>
            </a:r>
            <a:endParaRPr lang="en-US" sz="1050" dirty="0"/>
          </a:p>
        </p:txBody>
      </p:sp>
      <p:sp>
        <p:nvSpPr>
          <p:cNvPr id="22" name="Shape 19"/>
          <p:cNvSpPr/>
          <p:nvPr/>
        </p:nvSpPr>
        <p:spPr>
          <a:xfrm>
            <a:off x="8229600" y="1691640"/>
            <a:ext cx="3017520" cy="1828800"/>
          </a:xfrm>
          <a:prstGeom prst="roundRect">
            <a:avLst>
              <a:gd name="adj" fmla="val 4000"/>
            </a:avLst>
          </a:prstGeom>
          <a:solidFill>
            <a:srgbClr val="F4F3FA"/>
          </a:solidFill>
          <a:ln/>
          <a:effectLst>
            <a:outerShdw blurRad="88900" dist="25400" dir="5400000" algn="bl" rotWithShape="0">
              <a:srgbClr val="2B2650">
                <a:alpha val="16000"/>
              </a:srgbClr>
            </a:outerShdw>
          </a:effectLst>
        </p:spPr>
        <p:txBody>
          <a:bodyPr/>
          <a:lstStyle/>
          <a:p>
            <a:endParaRPr lang="en-US"/>
          </a:p>
        </p:txBody>
      </p:sp>
      <p:sp>
        <p:nvSpPr>
          <p:cNvPr id="23" name="Text 20"/>
          <p:cNvSpPr/>
          <p:nvPr/>
        </p:nvSpPr>
        <p:spPr>
          <a:xfrm>
            <a:off x="8412480" y="1828800"/>
            <a:ext cx="2651760" cy="777240"/>
          </a:xfrm>
          <a:prstGeom prst="rect">
            <a:avLst/>
          </a:prstGeom>
          <a:noFill/>
          <a:ln/>
        </p:spPr>
        <p:txBody>
          <a:bodyPr wrap="square" rtlCol="0" anchor="t"/>
          <a:lstStyle/>
          <a:p>
            <a:pPr marL="0" indent="0">
              <a:buNone/>
            </a:pPr>
            <a:r>
              <a:rPr lang="en-US" sz="1250" b="1" dirty="0">
                <a:solidFill>
                  <a:srgbClr val="7C3AED"/>
                </a:solidFill>
                <a:latin typeface="Calibri" pitchFamily="34" charset="0"/>
                <a:ea typeface="Calibri" pitchFamily="34" charset="-122"/>
                <a:cs typeface="Calibri" pitchFamily="34" charset="-120"/>
              </a:rPr>
              <a:t>r </a:t>
            </a:r>
            <a:r>
              <a:rPr lang="en-US" sz="1250" dirty="0">
                <a:solidFill>
                  <a:srgbClr val="1B1B3A"/>
                </a:solidFill>
                <a:latin typeface="Calibri" pitchFamily="34" charset="0"/>
                <a:ea typeface="Calibri" pitchFamily="34" charset="-122"/>
                <a:cs typeface="Calibri" pitchFamily="34" charset="-120"/>
              </a:rPr>
              <a:t>is small (8–64) vs. </a:t>
            </a:r>
            <a:r>
              <a:rPr lang="en-US" sz="1250" b="1" dirty="0">
                <a:solidFill>
                  <a:srgbClr val="7C3AED"/>
                </a:solidFill>
                <a:latin typeface="Calibri" pitchFamily="34" charset="0"/>
                <a:ea typeface="Calibri" pitchFamily="34" charset="-122"/>
                <a:cs typeface="Calibri" pitchFamily="34" charset="-120"/>
              </a:rPr>
              <a:t>d </a:t>
            </a:r>
            <a:r>
              <a:rPr lang="en-US" sz="1250" dirty="0">
                <a:solidFill>
                  <a:srgbClr val="1B1B3A"/>
                </a:solidFill>
                <a:latin typeface="Calibri" pitchFamily="34" charset="0"/>
                <a:ea typeface="Calibri" pitchFamily="34" charset="-122"/>
                <a:cs typeface="Calibri" pitchFamily="34" charset="-120"/>
              </a:rPr>
              <a:t>in the thousands.</a:t>
            </a:r>
            <a:endParaRPr lang="en-US" sz="1250" dirty="0"/>
          </a:p>
        </p:txBody>
      </p:sp>
      <p:sp>
        <p:nvSpPr>
          <p:cNvPr id="24" name="Text 21"/>
          <p:cNvSpPr/>
          <p:nvPr/>
        </p:nvSpPr>
        <p:spPr>
          <a:xfrm>
            <a:off x="8412480" y="2606040"/>
            <a:ext cx="2651760" cy="640080"/>
          </a:xfrm>
          <a:prstGeom prst="rect">
            <a:avLst/>
          </a:prstGeom>
          <a:noFill/>
          <a:ln/>
        </p:spPr>
        <p:txBody>
          <a:bodyPr wrap="square" rtlCol="0" anchor="t"/>
          <a:lstStyle/>
          <a:p>
            <a:pPr marL="0" indent="0">
              <a:buNone/>
            </a:pPr>
            <a:r>
              <a:rPr lang="en-US" sz="1100" i="1" dirty="0">
                <a:solidFill>
                  <a:srgbClr val="6B6B85"/>
                </a:solidFill>
                <a:latin typeface="Calibri" pitchFamily="34" charset="0"/>
                <a:ea typeface="Calibri" pitchFamily="34" charset="-122"/>
                <a:cs typeface="Calibri" pitchFamily="34" charset="-120"/>
              </a:rPr>
              <a:t>LoRA trains roughly 0.1–1% of the base model’s parameters.</a:t>
            </a:r>
            <a:endParaRPr lang="en-US" sz="1100" dirty="0"/>
          </a:p>
        </p:txBody>
      </p:sp>
      <p:sp>
        <p:nvSpPr>
          <p:cNvPr id="25" name="Shape 22"/>
          <p:cNvSpPr/>
          <p:nvPr/>
        </p:nvSpPr>
        <p:spPr>
          <a:xfrm>
            <a:off x="640080" y="3794760"/>
            <a:ext cx="10908792" cy="914400"/>
          </a:xfrm>
          <a:prstGeom prst="roundRect">
            <a:avLst>
              <a:gd name="adj" fmla="val 8000"/>
            </a:avLst>
          </a:prstGeom>
          <a:solidFill>
            <a:srgbClr val="ECE4FD"/>
          </a:solidFill>
          <a:ln/>
        </p:spPr>
        <p:txBody>
          <a:bodyPr/>
          <a:lstStyle/>
          <a:p>
            <a:endParaRPr lang="en-US"/>
          </a:p>
        </p:txBody>
      </p:sp>
      <p:sp>
        <p:nvSpPr>
          <p:cNvPr id="26" name="Text 23"/>
          <p:cNvSpPr/>
          <p:nvPr/>
        </p:nvSpPr>
        <p:spPr>
          <a:xfrm>
            <a:off x="960120" y="3794760"/>
            <a:ext cx="10268712" cy="914400"/>
          </a:xfrm>
          <a:prstGeom prst="rect">
            <a:avLst/>
          </a:prstGeom>
          <a:noFill/>
          <a:ln/>
        </p:spPr>
        <p:txBody>
          <a:bodyPr wrap="square" rtlCol="0" anchor="ctr"/>
          <a:lstStyle/>
          <a:p>
            <a:pPr marL="0" indent="0">
              <a:buNone/>
            </a:pPr>
            <a:r>
              <a:rPr lang="en-US" sz="1500" b="1" dirty="0">
                <a:solidFill>
                  <a:srgbClr val="7C3AED"/>
                </a:solidFill>
                <a:latin typeface="Calibri" pitchFamily="34" charset="0"/>
                <a:ea typeface="Calibri" pitchFamily="34" charset="-122"/>
                <a:cs typeface="Calibri" pitchFamily="34" charset="-120"/>
              </a:rPr>
              <a:t>QLoRA: </a:t>
            </a:r>
            <a:r>
              <a:rPr lang="en-US" sz="1500" dirty="0">
                <a:solidFill>
                  <a:srgbClr val="1B1B3A"/>
                </a:solidFill>
                <a:latin typeface="Calibri" pitchFamily="34" charset="0"/>
                <a:ea typeface="Calibri" pitchFamily="34" charset="-122"/>
                <a:cs typeface="Calibri" pitchFamily="34" charset="-120"/>
              </a:rPr>
              <a:t>4-bit quantized base + LoRA → a 65B-parameter model finetuned on a single 48GB GPU </a:t>
            </a:r>
            <a:r>
              <a:rPr lang="en-US" sz="1500" i="1" dirty="0">
                <a:solidFill>
                  <a:srgbClr val="6B6B85"/>
                </a:solidFill>
                <a:latin typeface="Calibri" pitchFamily="34" charset="0"/>
                <a:ea typeface="Calibri" pitchFamily="34" charset="-122"/>
                <a:cs typeface="Calibri" pitchFamily="34" charset="-120"/>
              </a:rPr>
              <a:t>(Dettmers et al., 2023)</a:t>
            </a:r>
            <a:endParaRPr lang="en-US" sz="1500" dirty="0"/>
          </a:p>
        </p:txBody>
      </p:sp>
      <p:sp>
        <p:nvSpPr>
          <p:cNvPr id="27" name="Text 24"/>
          <p:cNvSpPr/>
          <p:nvPr/>
        </p:nvSpPr>
        <p:spPr>
          <a:xfrm>
            <a:off x="640080" y="4983480"/>
            <a:ext cx="10908792" cy="1371600"/>
          </a:xfrm>
          <a:prstGeom prst="rect">
            <a:avLst/>
          </a:prstGeom>
          <a:noFill/>
          <a:ln/>
        </p:spPr>
        <p:txBody>
          <a:bodyPr wrap="square" rtlCol="0" anchor="t"/>
          <a:lstStyle/>
          <a:p>
            <a:pPr marL="342900" indent="-342900">
              <a:spcAft>
                <a:spcPts val="1000"/>
              </a:spcAft>
              <a:buSzPct val="100000"/>
              <a:buChar char="•"/>
            </a:pPr>
            <a:r>
              <a:rPr lang="en-US" sz="1350" dirty="0">
                <a:solidFill>
                  <a:srgbClr val="1B1B3A"/>
                </a:solidFill>
                <a:latin typeface="Calibri" pitchFamily="34" charset="0"/>
                <a:ea typeface="Calibri" pitchFamily="34" charset="-122"/>
                <a:cs typeface="Calibri" pitchFamily="34" charset="-120"/>
              </a:rPr>
              <a:t>LoRA freezes the original weight matrix and learns a small low-rank update instead of touching it directly</a:t>
            </a:r>
            <a:endParaRPr lang="en-US" sz="1350" dirty="0"/>
          </a:p>
          <a:p>
            <a:pPr marL="342900" indent="-342900">
              <a:spcAft>
                <a:spcPts val="1000"/>
              </a:spcAft>
              <a:buSzPct val="100000"/>
              <a:buChar char="•"/>
            </a:pPr>
            <a:r>
              <a:rPr lang="en-US" sz="1350" dirty="0">
                <a:solidFill>
                  <a:srgbClr val="1B1B3A"/>
                </a:solidFill>
                <a:latin typeface="Calibri" pitchFamily="34" charset="0"/>
                <a:ea typeface="Calibri" pitchFamily="34" charset="-122"/>
                <a:cs typeface="Calibri" pitchFamily="34" charset="-120"/>
              </a:rPr>
              <a:t>QLoRA adds 4-bit quantization of the frozen base — same idea, roughly 4x less memory, near-identical quality</a:t>
            </a:r>
            <a:endParaRPr lang="en-US" sz="1350" dirty="0"/>
          </a:p>
        </p:txBody>
      </p:sp>
      <p:sp>
        <p:nvSpPr>
          <p:cNvPr id="28" name="Text 25"/>
          <p:cNvSpPr/>
          <p:nvPr/>
        </p:nvSpPr>
        <p:spPr>
          <a:xfrm>
            <a:off x="11292840" y="6473952"/>
            <a:ext cx="502920" cy="274320"/>
          </a:xfrm>
          <a:prstGeom prst="rect">
            <a:avLst/>
          </a:prstGeom>
          <a:noFill/>
          <a:ln/>
        </p:spPr>
        <p:txBody>
          <a:bodyPr wrap="square" rtlCol="0" anchor="ctr"/>
          <a:lstStyle/>
          <a:p>
            <a:pPr marL="0" indent="0" algn="r">
              <a:buNone/>
            </a:pPr>
            <a:r>
              <a:rPr lang="en-US" sz="1000" dirty="0">
                <a:solidFill>
                  <a:srgbClr val="6B6B85"/>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8686800" cy="274320"/>
          </a:xfrm>
          <a:prstGeom prst="rect">
            <a:avLst/>
          </a:prstGeom>
          <a:noFill/>
          <a:ln/>
        </p:spPr>
        <p:txBody>
          <a:bodyPr wrap="square" rtlCol="0" anchor="ctr"/>
          <a:lstStyle/>
          <a:p>
            <a:pPr marL="0" indent="0">
              <a:buNone/>
            </a:pPr>
            <a:r>
              <a:rPr lang="en-US" sz="1150" b="1" kern="0" spc="200" dirty="0">
                <a:solidFill>
                  <a:srgbClr val="7C3AED"/>
                </a:solidFill>
                <a:latin typeface="Calibri" pitchFamily="34" charset="0"/>
                <a:ea typeface="Calibri" pitchFamily="34" charset="-122"/>
                <a:cs typeface="Calibri" pitchFamily="34" charset="-120"/>
              </a:rPr>
              <a:t>METHODS</a:t>
            </a:r>
            <a:endParaRPr lang="en-US" sz="1150" dirty="0"/>
          </a:p>
        </p:txBody>
      </p:sp>
      <p:sp>
        <p:nvSpPr>
          <p:cNvPr id="3" name="Text 1"/>
          <p:cNvSpPr/>
          <p:nvPr/>
        </p:nvSpPr>
        <p:spPr>
          <a:xfrm>
            <a:off x="640080" y="621792"/>
            <a:ext cx="9692640" cy="685800"/>
          </a:xfrm>
          <a:prstGeom prst="rect">
            <a:avLst/>
          </a:prstGeom>
          <a:noFill/>
          <a:ln/>
        </p:spPr>
        <p:txBody>
          <a:bodyPr wrap="square" rtlCol="0" anchor="t"/>
          <a:lstStyle/>
          <a:p>
            <a:pPr marL="0" indent="0">
              <a:buNone/>
            </a:pPr>
            <a:r>
              <a:rPr lang="en-US" sz="3200" b="1" dirty="0">
                <a:solidFill>
                  <a:srgbClr val="1B1B3A"/>
                </a:solidFill>
                <a:latin typeface="Arial" pitchFamily="34" charset="0"/>
                <a:ea typeface="Arial" pitchFamily="34" charset="-122"/>
                <a:cs typeface="Arial" pitchFamily="34" charset="-120"/>
              </a:rPr>
              <a:t>Teaching Facts vs. Teaching Preference</a:t>
            </a:r>
            <a:endParaRPr lang="en-US" sz="3200" dirty="0"/>
          </a:p>
        </p:txBody>
      </p:sp>
      <p:sp>
        <p:nvSpPr>
          <p:cNvPr id="4" name="Shape 2"/>
          <p:cNvSpPr/>
          <p:nvPr/>
        </p:nvSpPr>
        <p:spPr>
          <a:xfrm>
            <a:off x="10721340" y="434340"/>
            <a:ext cx="777240" cy="777240"/>
          </a:xfrm>
          <a:prstGeom prst="ellipse">
            <a:avLst/>
          </a:prstGeom>
          <a:solidFill>
            <a:srgbClr val="7C3AED"/>
          </a:solidFill>
          <a:ln/>
        </p:spPr>
        <p:txBody>
          <a:bodyPr/>
          <a:lstStyle/>
          <a:p>
            <a:endParaRPr lang="en-US"/>
          </a:p>
        </p:txBody>
      </p:sp>
      <p:pic>
        <p:nvPicPr>
          <p:cNvPr id="5" name="Image 0" descr="/home/claude/llm_finetune_deck/icons/users.png"/>
          <p:cNvPicPr>
            <a:picLocks noChangeAspect="1"/>
          </p:cNvPicPr>
          <p:nvPr/>
        </p:nvPicPr>
        <p:blipFill>
          <a:blip r:embed="rId3"/>
          <a:stretch>
            <a:fillRect/>
          </a:stretch>
        </p:blipFill>
        <p:spPr>
          <a:xfrm>
            <a:off x="10907878" y="620878"/>
            <a:ext cx="404165" cy="404165"/>
          </a:xfrm>
          <a:prstGeom prst="rect">
            <a:avLst/>
          </a:prstGeom>
        </p:spPr>
      </p:pic>
      <p:sp>
        <p:nvSpPr>
          <p:cNvPr id="6" name="Shape 3"/>
          <p:cNvSpPr/>
          <p:nvPr/>
        </p:nvSpPr>
        <p:spPr>
          <a:xfrm>
            <a:off x="640080" y="1737360"/>
            <a:ext cx="5257800" cy="3794760"/>
          </a:xfrm>
          <a:prstGeom prst="roundRect">
            <a:avLst>
              <a:gd name="adj" fmla="val 1928"/>
            </a:avLst>
          </a:prstGeom>
          <a:solidFill>
            <a:srgbClr val="ECE4FD"/>
          </a:solidFill>
          <a:ln/>
          <a:effectLst>
            <a:outerShdw blurRad="88900" dist="25400" dir="5400000" algn="bl" rotWithShape="0">
              <a:srgbClr val="2B2650">
                <a:alpha val="16000"/>
              </a:srgbClr>
            </a:outerShdw>
          </a:effectLst>
        </p:spPr>
        <p:txBody>
          <a:bodyPr/>
          <a:lstStyle/>
          <a:p>
            <a:endParaRPr lang="en-US"/>
          </a:p>
        </p:txBody>
      </p:sp>
      <p:sp>
        <p:nvSpPr>
          <p:cNvPr id="7" name="Text 4"/>
          <p:cNvSpPr/>
          <p:nvPr/>
        </p:nvSpPr>
        <p:spPr>
          <a:xfrm>
            <a:off x="960120" y="2011680"/>
            <a:ext cx="4617720" cy="548640"/>
          </a:xfrm>
          <a:prstGeom prst="rect">
            <a:avLst/>
          </a:prstGeom>
          <a:noFill/>
          <a:ln/>
        </p:spPr>
        <p:txBody>
          <a:bodyPr wrap="square" rtlCol="0" anchor="ctr"/>
          <a:lstStyle/>
          <a:p>
            <a:pPr marL="0" indent="0">
              <a:buNone/>
            </a:pPr>
            <a:r>
              <a:rPr lang="en-US" sz="1700" b="1" dirty="0">
                <a:solidFill>
                  <a:srgbClr val="7C3AED"/>
                </a:solidFill>
                <a:latin typeface="Arial" pitchFamily="34" charset="0"/>
                <a:ea typeface="Arial" pitchFamily="34" charset="-122"/>
                <a:cs typeface="Arial" pitchFamily="34" charset="-120"/>
              </a:rPr>
              <a:t>Supervised Finetuning (SFT)</a:t>
            </a:r>
            <a:endParaRPr lang="en-US" sz="1700" dirty="0"/>
          </a:p>
        </p:txBody>
      </p:sp>
      <p:sp>
        <p:nvSpPr>
          <p:cNvPr id="8" name="Text 5"/>
          <p:cNvSpPr/>
          <p:nvPr/>
        </p:nvSpPr>
        <p:spPr>
          <a:xfrm>
            <a:off x="960120" y="2651760"/>
            <a:ext cx="4617720" cy="2651760"/>
          </a:xfrm>
          <a:prstGeom prst="rect">
            <a:avLst/>
          </a:prstGeom>
          <a:noFill/>
          <a:ln/>
        </p:spPr>
        <p:txBody>
          <a:bodyPr wrap="square" rtlCol="0" anchor="t"/>
          <a:lstStyle/>
          <a:p>
            <a:pPr marL="342900" indent="-342900">
              <a:spcAft>
                <a:spcPts val="1200"/>
              </a:spcAft>
              <a:buSzPct val="100000"/>
              <a:buChar char="•"/>
            </a:pPr>
            <a:r>
              <a:rPr lang="en-US" sz="1400" dirty="0">
                <a:solidFill>
                  <a:srgbClr val="1B1B3A"/>
                </a:solidFill>
                <a:latin typeface="Calibri" pitchFamily="34" charset="0"/>
                <a:ea typeface="Calibri" pitchFamily="34" charset="-122"/>
                <a:cs typeface="Calibri" pitchFamily="34" charset="-120"/>
              </a:rPr>
              <a:t>Trains on (instruction → ideal response) pairs</a:t>
            </a:r>
            <a:endParaRPr lang="en-US" sz="1400" dirty="0"/>
          </a:p>
          <a:p>
            <a:pPr marL="342900" indent="-342900">
              <a:spcAft>
                <a:spcPts val="1200"/>
              </a:spcAft>
              <a:buSzPct val="100000"/>
              <a:buChar char="•"/>
            </a:pPr>
            <a:r>
              <a:rPr lang="en-US" sz="1400" dirty="0">
                <a:solidFill>
                  <a:srgbClr val="1B1B3A"/>
                </a:solidFill>
                <a:latin typeface="Calibri" pitchFamily="34" charset="0"/>
                <a:ea typeface="Calibri" pitchFamily="34" charset="-122"/>
                <a:cs typeface="Calibri" pitchFamily="34" charset="-120"/>
              </a:rPr>
              <a:t>Teaches format, tone, and task-following</a:t>
            </a:r>
            <a:endParaRPr lang="en-US" sz="1400" dirty="0"/>
          </a:p>
          <a:p>
            <a:pPr marL="342900" indent="-342900">
              <a:spcAft>
                <a:spcPts val="1200"/>
              </a:spcAft>
              <a:buSzPct val="100000"/>
              <a:buChar char="•"/>
            </a:pPr>
            <a:r>
              <a:rPr lang="en-US" sz="1400" dirty="0">
                <a:solidFill>
                  <a:srgbClr val="1B1B3A"/>
                </a:solidFill>
                <a:latin typeface="Calibri" pitchFamily="34" charset="0"/>
                <a:ea typeface="Calibri" pitchFamily="34" charset="-122"/>
                <a:cs typeface="Calibri" pitchFamily="34" charset="-120"/>
              </a:rPr>
              <a:t>“Show it good examples”</a:t>
            </a:r>
            <a:endParaRPr lang="en-US" sz="1400" dirty="0"/>
          </a:p>
        </p:txBody>
      </p:sp>
      <p:sp>
        <p:nvSpPr>
          <p:cNvPr id="9" name="Shape 6"/>
          <p:cNvSpPr/>
          <p:nvPr/>
        </p:nvSpPr>
        <p:spPr>
          <a:xfrm>
            <a:off x="6263640" y="1737360"/>
            <a:ext cx="5257800" cy="3794760"/>
          </a:xfrm>
          <a:prstGeom prst="roundRect">
            <a:avLst>
              <a:gd name="adj" fmla="val 1928"/>
            </a:avLst>
          </a:prstGeom>
          <a:solidFill>
            <a:srgbClr val="DEF7FA"/>
          </a:solidFill>
          <a:ln/>
          <a:effectLst>
            <a:outerShdw blurRad="88900" dist="25400" dir="5400000" algn="bl" rotWithShape="0">
              <a:srgbClr val="2B2650">
                <a:alpha val="16000"/>
              </a:srgbClr>
            </a:outerShdw>
          </a:effectLst>
        </p:spPr>
        <p:txBody>
          <a:bodyPr/>
          <a:lstStyle/>
          <a:p>
            <a:endParaRPr lang="en-US"/>
          </a:p>
        </p:txBody>
      </p:sp>
      <p:sp>
        <p:nvSpPr>
          <p:cNvPr id="10" name="Text 7"/>
          <p:cNvSpPr/>
          <p:nvPr/>
        </p:nvSpPr>
        <p:spPr>
          <a:xfrm>
            <a:off x="6583680" y="2011680"/>
            <a:ext cx="4617720" cy="548640"/>
          </a:xfrm>
          <a:prstGeom prst="rect">
            <a:avLst/>
          </a:prstGeom>
          <a:noFill/>
          <a:ln/>
        </p:spPr>
        <p:txBody>
          <a:bodyPr wrap="square" rtlCol="0" anchor="ctr"/>
          <a:lstStyle/>
          <a:p>
            <a:pPr marL="0" indent="0">
              <a:buNone/>
            </a:pPr>
            <a:r>
              <a:rPr lang="en-US" sz="1700" b="1" dirty="0">
                <a:solidFill>
                  <a:srgbClr val="06B6D4"/>
                </a:solidFill>
                <a:latin typeface="Arial" pitchFamily="34" charset="0"/>
                <a:ea typeface="Arial" pitchFamily="34" charset="-122"/>
                <a:cs typeface="Arial" pitchFamily="34" charset="-120"/>
              </a:rPr>
              <a:t>Alignment — RLHF / DPO</a:t>
            </a:r>
            <a:endParaRPr lang="en-US" sz="1700" dirty="0"/>
          </a:p>
        </p:txBody>
      </p:sp>
      <p:sp>
        <p:nvSpPr>
          <p:cNvPr id="11" name="Text 8"/>
          <p:cNvSpPr/>
          <p:nvPr/>
        </p:nvSpPr>
        <p:spPr>
          <a:xfrm>
            <a:off x="6583680" y="2651760"/>
            <a:ext cx="4617720" cy="2651760"/>
          </a:xfrm>
          <a:prstGeom prst="rect">
            <a:avLst/>
          </a:prstGeom>
          <a:noFill/>
          <a:ln/>
        </p:spPr>
        <p:txBody>
          <a:bodyPr wrap="square" rtlCol="0" anchor="t"/>
          <a:lstStyle/>
          <a:p>
            <a:pPr marL="342900" indent="-342900">
              <a:spcAft>
                <a:spcPts val="1200"/>
              </a:spcAft>
              <a:buSzPct val="100000"/>
              <a:buChar char="•"/>
            </a:pPr>
            <a:r>
              <a:rPr lang="en-US" sz="1400" dirty="0">
                <a:solidFill>
                  <a:srgbClr val="1B1B3A"/>
                </a:solidFill>
                <a:latin typeface="Calibri" pitchFamily="34" charset="0"/>
                <a:ea typeface="Calibri" pitchFamily="34" charset="-122"/>
                <a:cs typeface="Calibri" pitchFamily="34" charset="-120"/>
              </a:rPr>
              <a:t>Trains on preference pairs (response A &gt; response B)</a:t>
            </a:r>
            <a:endParaRPr lang="en-US" sz="1400" dirty="0"/>
          </a:p>
          <a:p>
            <a:pPr marL="342900" indent="-342900">
              <a:spcAft>
                <a:spcPts val="1200"/>
              </a:spcAft>
              <a:buSzPct val="100000"/>
              <a:buChar char="•"/>
            </a:pPr>
            <a:r>
              <a:rPr lang="en-US" sz="1400" dirty="0">
                <a:solidFill>
                  <a:srgbClr val="1B1B3A"/>
                </a:solidFill>
                <a:latin typeface="Calibri" pitchFamily="34" charset="0"/>
                <a:ea typeface="Calibri" pitchFamily="34" charset="-122"/>
                <a:cs typeface="Calibri" pitchFamily="34" charset="-120"/>
              </a:rPr>
              <a:t>Teaches nuanced judgment and safety-conscious style</a:t>
            </a:r>
            <a:endParaRPr lang="en-US" sz="1400" dirty="0"/>
          </a:p>
          <a:p>
            <a:pPr marL="342900" indent="-342900">
              <a:spcAft>
                <a:spcPts val="1200"/>
              </a:spcAft>
              <a:buSzPct val="100000"/>
              <a:buChar char="•"/>
            </a:pPr>
            <a:r>
              <a:rPr lang="en-US" sz="1400" dirty="0">
                <a:solidFill>
                  <a:srgbClr val="1B1B3A"/>
                </a:solidFill>
                <a:latin typeface="Calibri" pitchFamily="34" charset="0"/>
                <a:ea typeface="Calibri" pitchFamily="34" charset="-122"/>
                <a:cs typeface="Calibri" pitchFamily="34" charset="-120"/>
              </a:rPr>
              <a:t>“Teach it what humans prefer”</a:t>
            </a:r>
            <a:endParaRPr lang="en-US" sz="1400" dirty="0"/>
          </a:p>
        </p:txBody>
      </p:sp>
      <p:sp>
        <p:nvSpPr>
          <p:cNvPr id="12" name="Shape 9"/>
          <p:cNvSpPr/>
          <p:nvPr/>
        </p:nvSpPr>
        <p:spPr>
          <a:xfrm>
            <a:off x="640080" y="5669280"/>
            <a:ext cx="10908792" cy="685800"/>
          </a:xfrm>
          <a:prstGeom prst="roundRect">
            <a:avLst>
              <a:gd name="adj" fmla="val 10667"/>
            </a:avLst>
          </a:prstGeom>
          <a:solidFill>
            <a:srgbClr val="F4F3FA"/>
          </a:solidFill>
          <a:ln/>
        </p:spPr>
        <p:txBody>
          <a:bodyPr/>
          <a:lstStyle/>
          <a:p>
            <a:endParaRPr lang="en-US"/>
          </a:p>
        </p:txBody>
      </p:sp>
      <p:sp>
        <p:nvSpPr>
          <p:cNvPr id="13" name="Text 10"/>
          <p:cNvSpPr/>
          <p:nvPr/>
        </p:nvSpPr>
        <p:spPr>
          <a:xfrm>
            <a:off x="914400" y="5669280"/>
            <a:ext cx="10360152" cy="685800"/>
          </a:xfrm>
          <a:prstGeom prst="rect">
            <a:avLst/>
          </a:prstGeom>
          <a:noFill/>
          <a:ln/>
        </p:spPr>
        <p:txBody>
          <a:bodyPr wrap="square" rtlCol="0" anchor="ctr"/>
          <a:lstStyle/>
          <a:p>
            <a:pPr marL="0" indent="0">
              <a:buNone/>
            </a:pPr>
            <a:r>
              <a:rPr lang="en-US" sz="1450" i="1" dirty="0">
                <a:solidFill>
                  <a:srgbClr val="6B6B85"/>
                </a:solidFill>
                <a:latin typeface="Calibri" pitchFamily="34" charset="0"/>
                <a:ea typeface="Calibri" pitchFamily="34" charset="-122"/>
                <a:cs typeface="Calibri" pitchFamily="34" charset="-120"/>
              </a:rPr>
              <a:t>Typical modern recipe:  </a:t>
            </a:r>
            <a:r>
              <a:rPr lang="en-US" sz="1450" b="1" dirty="0">
                <a:solidFill>
                  <a:srgbClr val="1B1B3A"/>
                </a:solidFill>
                <a:latin typeface="Calibri" pitchFamily="34" charset="0"/>
                <a:ea typeface="Calibri" pitchFamily="34" charset="-122"/>
                <a:cs typeface="Calibri" pitchFamily="34" charset="-120"/>
              </a:rPr>
              <a:t>Pretrain → SFT → RLHF / DPO</a:t>
            </a:r>
            <a:endParaRPr lang="en-US" sz="1450" dirty="0"/>
          </a:p>
        </p:txBody>
      </p:sp>
      <p:sp>
        <p:nvSpPr>
          <p:cNvPr id="14" name="Text 11"/>
          <p:cNvSpPr/>
          <p:nvPr/>
        </p:nvSpPr>
        <p:spPr>
          <a:xfrm>
            <a:off x="11292840" y="6473952"/>
            <a:ext cx="502920" cy="274320"/>
          </a:xfrm>
          <a:prstGeom prst="rect">
            <a:avLst/>
          </a:prstGeom>
          <a:noFill/>
          <a:ln/>
        </p:spPr>
        <p:txBody>
          <a:bodyPr wrap="square" rtlCol="0" anchor="ctr"/>
          <a:lstStyle/>
          <a:p>
            <a:pPr marL="0" indent="0" algn="r">
              <a:buNone/>
            </a:pPr>
            <a:r>
              <a:rPr lang="en-US" sz="1000" dirty="0">
                <a:solidFill>
                  <a:srgbClr val="6B6B85"/>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1B3A"/>
        </a:solidFill>
        <a:effectLst/>
      </p:bgPr>
    </p:bg>
    <p:spTree>
      <p:nvGrpSpPr>
        <p:cNvPr id="1" name=""/>
        <p:cNvGrpSpPr/>
        <p:nvPr/>
      </p:nvGrpSpPr>
      <p:grpSpPr>
        <a:xfrm>
          <a:off x="0" y="0"/>
          <a:ext cx="0" cy="0"/>
          <a:chOff x="0" y="0"/>
          <a:chExt cx="0" cy="0"/>
        </a:xfrm>
      </p:grpSpPr>
      <p:sp>
        <p:nvSpPr>
          <p:cNvPr id="2" name="Text 0"/>
          <p:cNvSpPr/>
          <p:nvPr/>
        </p:nvSpPr>
        <p:spPr>
          <a:xfrm>
            <a:off x="640080" y="384048"/>
            <a:ext cx="8686800" cy="274320"/>
          </a:xfrm>
          <a:prstGeom prst="rect">
            <a:avLst/>
          </a:prstGeom>
          <a:noFill/>
          <a:ln/>
        </p:spPr>
        <p:txBody>
          <a:bodyPr wrap="square" rtlCol="0" anchor="ctr"/>
          <a:lstStyle/>
          <a:p>
            <a:pPr marL="0" indent="0">
              <a:buNone/>
            </a:pPr>
            <a:r>
              <a:rPr lang="en-US" sz="1150" b="1" kern="0" spc="200" dirty="0">
                <a:solidFill>
                  <a:srgbClr val="06B6D4"/>
                </a:solidFill>
                <a:latin typeface="Calibri" pitchFamily="34" charset="0"/>
                <a:ea typeface="Calibri" pitchFamily="34" charset="-122"/>
                <a:cs typeface="Calibri" pitchFamily="34" charset="-120"/>
              </a:rPr>
              <a:t>THE PIPELINE</a:t>
            </a:r>
            <a:endParaRPr lang="en-US" sz="1150" dirty="0"/>
          </a:p>
        </p:txBody>
      </p:sp>
      <p:sp>
        <p:nvSpPr>
          <p:cNvPr id="3" name="Text 1"/>
          <p:cNvSpPr/>
          <p:nvPr/>
        </p:nvSpPr>
        <p:spPr>
          <a:xfrm>
            <a:off x="640080" y="621792"/>
            <a:ext cx="10515600" cy="685800"/>
          </a:xfrm>
          <a:prstGeom prst="rect">
            <a:avLst/>
          </a:prstGeom>
          <a:noFill/>
          <a:ln/>
        </p:spPr>
        <p:txBody>
          <a:bodyPr wrap="square" rtlCol="0" anchor="t"/>
          <a:lstStyle/>
          <a:p>
            <a:pPr marL="0" indent="0">
              <a:buNone/>
            </a:pPr>
            <a:r>
              <a:rPr lang="en-US" sz="3200" b="1" dirty="0">
                <a:solidFill>
                  <a:srgbClr val="FFFFFF"/>
                </a:solidFill>
                <a:latin typeface="Arial" pitchFamily="34" charset="0"/>
                <a:ea typeface="Arial" pitchFamily="34" charset="-122"/>
                <a:cs typeface="Arial" pitchFamily="34" charset="-120"/>
              </a:rPr>
              <a:t>The Finetuning Pipeline — A to Z</a:t>
            </a:r>
            <a:endParaRPr lang="en-US" sz="3200" dirty="0"/>
          </a:p>
        </p:txBody>
      </p:sp>
      <p:sp>
        <p:nvSpPr>
          <p:cNvPr id="4" name="Text 2"/>
          <p:cNvSpPr/>
          <p:nvPr/>
        </p:nvSpPr>
        <p:spPr>
          <a:xfrm>
            <a:off x="640080" y="1325880"/>
            <a:ext cx="10058400" cy="365760"/>
          </a:xfrm>
          <a:prstGeom prst="rect">
            <a:avLst/>
          </a:prstGeom>
          <a:noFill/>
          <a:ln/>
        </p:spPr>
        <p:txBody>
          <a:bodyPr wrap="square" rtlCol="0" anchor="ctr"/>
          <a:lstStyle/>
          <a:p>
            <a:pPr marL="0" indent="0">
              <a:buNone/>
            </a:pPr>
            <a:r>
              <a:rPr lang="en-US" sz="1500" i="1" dirty="0">
                <a:solidFill>
                  <a:srgbClr val="C6C2E8"/>
                </a:solidFill>
                <a:latin typeface="Calibri" pitchFamily="34" charset="0"/>
                <a:ea typeface="Calibri" pitchFamily="34" charset="-122"/>
                <a:cs typeface="Calibri" pitchFamily="34" charset="-120"/>
              </a:rPr>
              <a:t>Seven steps from idea to a model in production.</a:t>
            </a:r>
            <a:endParaRPr lang="en-US" sz="1500" dirty="0"/>
          </a:p>
        </p:txBody>
      </p:sp>
      <p:sp>
        <p:nvSpPr>
          <p:cNvPr id="5" name="Shape 3"/>
          <p:cNvSpPr/>
          <p:nvPr/>
        </p:nvSpPr>
        <p:spPr>
          <a:xfrm>
            <a:off x="10721340" y="434340"/>
            <a:ext cx="777240" cy="777240"/>
          </a:xfrm>
          <a:prstGeom prst="ellipse">
            <a:avLst/>
          </a:prstGeom>
          <a:solidFill>
            <a:srgbClr val="7C3AED"/>
          </a:solidFill>
          <a:ln/>
        </p:spPr>
        <p:txBody>
          <a:bodyPr/>
          <a:lstStyle/>
          <a:p>
            <a:endParaRPr lang="en-US"/>
          </a:p>
        </p:txBody>
      </p:sp>
      <p:pic>
        <p:nvPicPr>
          <p:cNvPr id="6" name="Image 0" descr="/home/claude/llm_finetune_deck/icons/trendingUp.png"/>
          <p:cNvPicPr>
            <a:picLocks noChangeAspect="1"/>
          </p:cNvPicPr>
          <p:nvPr/>
        </p:nvPicPr>
        <p:blipFill>
          <a:blip r:embed="rId3"/>
          <a:stretch>
            <a:fillRect/>
          </a:stretch>
        </p:blipFill>
        <p:spPr>
          <a:xfrm>
            <a:off x="10907878" y="620878"/>
            <a:ext cx="404165" cy="404165"/>
          </a:xfrm>
          <a:prstGeom prst="rect">
            <a:avLst/>
          </a:prstGeom>
        </p:spPr>
      </p:pic>
      <p:sp>
        <p:nvSpPr>
          <p:cNvPr id="7" name="Shape 4"/>
          <p:cNvSpPr/>
          <p:nvPr/>
        </p:nvSpPr>
        <p:spPr>
          <a:xfrm>
            <a:off x="1234440" y="3246120"/>
            <a:ext cx="9692640" cy="0"/>
          </a:xfrm>
          <a:prstGeom prst="line">
            <a:avLst/>
          </a:prstGeom>
          <a:noFill/>
          <a:ln w="25400">
            <a:solidFill>
              <a:srgbClr val="3A3670"/>
            </a:solidFill>
            <a:prstDash val="solid"/>
          </a:ln>
        </p:spPr>
        <p:txBody>
          <a:bodyPr/>
          <a:lstStyle/>
          <a:p>
            <a:endParaRPr lang="en-US"/>
          </a:p>
        </p:txBody>
      </p:sp>
      <p:sp>
        <p:nvSpPr>
          <p:cNvPr id="8" name="Shape 5"/>
          <p:cNvSpPr/>
          <p:nvPr/>
        </p:nvSpPr>
        <p:spPr>
          <a:xfrm>
            <a:off x="950976" y="2962656"/>
            <a:ext cx="566928" cy="566928"/>
          </a:xfrm>
          <a:prstGeom prst="ellipse">
            <a:avLst/>
          </a:prstGeom>
          <a:solidFill>
            <a:srgbClr val="7C3AED"/>
          </a:solidFill>
          <a:ln/>
        </p:spPr>
        <p:txBody>
          <a:bodyPr/>
          <a:lstStyle/>
          <a:p>
            <a:endParaRPr lang="en-US"/>
          </a:p>
        </p:txBody>
      </p:sp>
      <p:pic>
        <p:nvPicPr>
          <p:cNvPr id="9" name="Image 1" descr="/home/claude/llm_finetune_deck/icons/target.png"/>
          <p:cNvPicPr>
            <a:picLocks noChangeAspect="1"/>
          </p:cNvPicPr>
          <p:nvPr/>
        </p:nvPicPr>
        <p:blipFill>
          <a:blip r:embed="rId4"/>
          <a:stretch>
            <a:fillRect/>
          </a:stretch>
        </p:blipFill>
        <p:spPr>
          <a:xfrm>
            <a:off x="1087039" y="3098719"/>
            <a:ext cx="294803" cy="294803"/>
          </a:xfrm>
          <a:prstGeom prst="rect">
            <a:avLst/>
          </a:prstGeom>
        </p:spPr>
      </p:pic>
      <p:sp>
        <p:nvSpPr>
          <p:cNvPr id="10" name="Shape 6"/>
          <p:cNvSpPr/>
          <p:nvPr/>
        </p:nvSpPr>
        <p:spPr>
          <a:xfrm>
            <a:off x="1380744" y="2825496"/>
            <a:ext cx="310896" cy="310896"/>
          </a:xfrm>
          <a:prstGeom prst="ellipse">
            <a:avLst/>
          </a:prstGeom>
          <a:solidFill>
            <a:srgbClr val="06B6D4"/>
          </a:solidFill>
          <a:ln w="19050">
            <a:solidFill>
              <a:srgbClr val="1B1B3A"/>
            </a:solidFill>
            <a:prstDash val="solid"/>
          </a:ln>
        </p:spPr>
        <p:txBody>
          <a:bodyPr/>
          <a:lstStyle/>
          <a:p>
            <a:endParaRPr lang="en-US"/>
          </a:p>
        </p:txBody>
      </p:sp>
      <p:sp>
        <p:nvSpPr>
          <p:cNvPr id="11" name="Text 7"/>
          <p:cNvSpPr/>
          <p:nvPr/>
        </p:nvSpPr>
        <p:spPr>
          <a:xfrm>
            <a:off x="1380744" y="2825496"/>
            <a:ext cx="310896" cy="310896"/>
          </a:xfrm>
          <a:prstGeom prst="rect">
            <a:avLst/>
          </a:prstGeom>
          <a:noFill/>
          <a:ln/>
        </p:spPr>
        <p:txBody>
          <a:bodyPr wrap="square" rtlCol="0" anchor="ctr"/>
          <a:lstStyle/>
          <a:p>
            <a:pPr marL="0" indent="0" algn="ctr">
              <a:buNone/>
            </a:pPr>
            <a:r>
              <a:rPr lang="en-US" sz="1100" b="1" dirty="0">
                <a:solidFill>
                  <a:srgbClr val="1B1B3A"/>
                </a:solidFill>
                <a:latin typeface="Calibri" pitchFamily="34" charset="0"/>
                <a:ea typeface="Calibri" pitchFamily="34" charset="-122"/>
                <a:cs typeface="Calibri" pitchFamily="34" charset="-120"/>
              </a:rPr>
              <a:t>1</a:t>
            </a:r>
            <a:endParaRPr lang="en-US" sz="1100" dirty="0"/>
          </a:p>
        </p:txBody>
      </p:sp>
      <p:sp>
        <p:nvSpPr>
          <p:cNvPr id="12" name="Text 8"/>
          <p:cNvSpPr/>
          <p:nvPr/>
        </p:nvSpPr>
        <p:spPr>
          <a:xfrm>
            <a:off x="457200" y="3703320"/>
            <a:ext cx="1554480" cy="640080"/>
          </a:xfrm>
          <a:prstGeom prst="rect">
            <a:avLst/>
          </a:prstGeom>
          <a:noFill/>
          <a:ln/>
        </p:spPr>
        <p:txBody>
          <a:bodyPr wrap="square" rtlCol="0" anchor="t"/>
          <a:lstStyle/>
          <a:p>
            <a:pPr marL="0" indent="0" algn="ctr">
              <a:buNone/>
            </a:pPr>
            <a:r>
              <a:rPr lang="en-US" sz="1250" b="1" dirty="0">
                <a:solidFill>
                  <a:srgbClr val="FFFFFF"/>
                </a:solidFill>
                <a:latin typeface="Calibri" pitchFamily="34" charset="0"/>
                <a:ea typeface="Calibri" pitchFamily="34" charset="-122"/>
                <a:cs typeface="Calibri" pitchFamily="34" charset="-120"/>
              </a:rPr>
              <a:t>Define Task</a:t>
            </a:r>
            <a:endParaRPr lang="en-US" sz="1250" dirty="0"/>
          </a:p>
        </p:txBody>
      </p:sp>
      <p:sp>
        <p:nvSpPr>
          <p:cNvPr id="13" name="Shape 9"/>
          <p:cNvSpPr/>
          <p:nvPr/>
        </p:nvSpPr>
        <p:spPr>
          <a:xfrm>
            <a:off x="2566416" y="2962656"/>
            <a:ext cx="566928" cy="566928"/>
          </a:xfrm>
          <a:prstGeom prst="ellipse">
            <a:avLst/>
          </a:prstGeom>
          <a:solidFill>
            <a:srgbClr val="7C3AED"/>
          </a:solidFill>
          <a:ln/>
        </p:spPr>
        <p:txBody>
          <a:bodyPr/>
          <a:lstStyle/>
          <a:p>
            <a:endParaRPr lang="en-US"/>
          </a:p>
        </p:txBody>
      </p:sp>
      <p:pic>
        <p:nvPicPr>
          <p:cNvPr id="14" name="Image 2" descr="/home/claude/llm_finetune_deck/icons/database.png"/>
          <p:cNvPicPr>
            <a:picLocks noChangeAspect="1"/>
          </p:cNvPicPr>
          <p:nvPr/>
        </p:nvPicPr>
        <p:blipFill>
          <a:blip r:embed="rId5"/>
          <a:stretch>
            <a:fillRect/>
          </a:stretch>
        </p:blipFill>
        <p:spPr>
          <a:xfrm>
            <a:off x="2702479" y="3098719"/>
            <a:ext cx="294803" cy="294803"/>
          </a:xfrm>
          <a:prstGeom prst="rect">
            <a:avLst/>
          </a:prstGeom>
        </p:spPr>
      </p:pic>
      <p:sp>
        <p:nvSpPr>
          <p:cNvPr id="15" name="Shape 10"/>
          <p:cNvSpPr/>
          <p:nvPr/>
        </p:nvSpPr>
        <p:spPr>
          <a:xfrm>
            <a:off x="2996184" y="2825496"/>
            <a:ext cx="310896" cy="310896"/>
          </a:xfrm>
          <a:prstGeom prst="ellipse">
            <a:avLst/>
          </a:prstGeom>
          <a:solidFill>
            <a:srgbClr val="06B6D4"/>
          </a:solidFill>
          <a:ln w="19050">
            <a:solidFill>
              <a:srgbClr val="1B1B3A"/>
            </a:solidFill>
            <a:prstDash val="solid"/>
          </a:ln>
        </p:spPr>
        <p:txBody>
          <a:bodyPr/>
          <a:lstStyle/>
          <a:p>
            <a:endParaRPr lang="en-US"/>
          </a:p>
        </p:txBody>
      </p:sp>
      <p:sp>
        <p:nvSpPr>
          <p:cNvPr id="16" name="Text 11"/>
          <p:cNvSpPr/>
          <p:nvPr/>
        </p:nvSpPr>
        <p:spPr>
          <a:xfrm>
            <a:off x="2996184" y="2825496"/>
            <a:ext cx="310896" cy="310896"/>
          </a:xfrm>
          <a:prstGeom prst="rect">
            <a:avLst/>
          </a:prstGeom>
          <a:noFill/>
          <a:ln/>
        </p:spPr>
        <p:txBody>
          <a:bodyPr wrap="square" rtlCol="0" anchor="ctr"/>
          <a:lstStyle/>
          <a:p>
            <a:pPr marL="0" indent="0" algn="ctr">
              <a:buNone/>
            </a:pPr>
            <a:r>
              <a:rPr lang="en-US" sz="1100" b="1" dirty="0">
                <a:solidFill>
                  <a:srgbClr val="1B1B3A"/>
                </a:solidFill>
                <a:latin typeface="Calibri" pitchFamily="34" charset="0"/>
                <a:ea typeface="Calibri" pitchFamily="34" charset="-122"/>
                <a:cs typeface="Calibri" pitchFamily="34" charset="-120"/>
              </a:rPr>
              <a:t>2</a:t>
            </a:r>
            <a:endParaRPr lang="en-US" sz="1100" dirty="0"/>
          </a:p>
        </p:txBody>
      </p:sp>
      <p:sp>
        <p:nvSpPr>
          <p:cNvPr id="17" name="Text 12"/>
          <p:cNvSpPr/>
          <p:nvPr/>
        </p:nvSpPr>
        <p:spPr>
          <a:xfrm>
            <a:off x="2072640" y="3703320"/>
            <a:ext cx="1554480" cy="640080"/>
          </a:xfrm>
          <a:prstGeom prst="rect">
            <a:avLst/>
          </a:prstGeom>
          <a:noFill/>
          <a:ln/>
        </p:spPr>
        <p:txBody>
          <a:bodyPr wrap="square" rtlCol="0" anchor="t"/>
          <a:lstStyle/>
          <a:p>
            <a:pPr marL="0" indent="0" algn="ctr">
              <a:buNone/>
            </a:pPr>
            <a:r>
              <a:rPr lang="en-US" sz="1250" b="1" dirty="0">
                <a:solidFill>
                  <a:srgbClr val="FFFFFF"/>
                </a:solidFill>
                <a:latin typeface="Calibri" pitchFamily="34" charset="0"/>
                <a:ea typeface="Calibri" pitchFamily="34" charset="-122"/>
                <a:cs typeface="Calibri" pitchFamily="34" charset="-120"/>
              </a:rPr>
              <a:t>Prepare Data</a:t>
            </a:r>
            <a:endParaRPr lang="en-US" sz="1250" dirty="0"/>
          </a:p>
        </p:txBody>
      </p:sp>
      <p:sp>
        <p:nvSpPr>
          <p:cNvPr id="18" name="Shape 13"/>
          <p:cNvSpPr/>
          <p:nvPr/>
        </p:nvSpPr>
        <p:spPr>
          <a:xfrm>
            <a:off x="4181856" y="2962656"/>
            <a:ext cx="566928" cy="566928"/>
          </a:xfrm>
          <a:prstGeom prst="ellipse">
            <a:avLst/>
          </a:prstGeom>
          <a:solidFill>
            <a:srgbClr val="7C3AED"/>
          </a:solidFill>
          <a:ln/>
        </p:spPr>
        <p:txBody>
          <a:bodyPr/>
          <a:lstStyle/>
          <a:p>
            <a:endParaRPr lang="en-US"/>
          </a:p>
        </p:txBody>
      </p:sp>
      <p:pic>
        <p:nvPicPr>
          <p:cNvPr id="19" name="Image 3" descr="/home/claude/llm_finetune_deck/icons/package.png"/>
          <p:cNvPicPr>
            <a:picLocks noChangeAspect="1"/>
          </p:cNvPicPr>
          <p:nvPr/>
        </p:nvPicPr>
        <p:blipFill>
          <a:blip r:embed="rId6"/>
          <a:stretch>
            <a:fillRect/>
          </a:stretch>
        </p:blipFill>
        <p:spPr>
          <a:xfrm>
            <a:off x="4317919" y="3098719"/>
            <a:ext cx="294803" cy="294803"/>
          </a:xfrm>
          <a:prstGeom prst="rect">
            <a:avLst/>
          </a:prstGeom>
        </p:spPr>
      </p:pic>
      <p:sp>
        <p:nvSpPr>
          <p:cNvPr id="20" name="Shape 14"/>
          <p:cNvSpPr/>
          <p:nvPr/>
        </p:nvSpPr>
        <p:spPr>
          <a:xfrm>
            <a:off x="4611624" y="2825496"/>
            <a:ext cx="310896" cy="310896"/>
          </a:xfrm>
          <a:prstGeom prst="ellipse">
            <a:avLst/>
          </a:prstGeom>
          <a:solidFill>
            <a:srgbClr val="06B6D4"/>
          </a:solidFill>
          <a:ln w="19050">
            <a:solidFill>
              <a:srgbClr val="1B1B3A"/>
            </a:solidFill>
            <a:prstDash val="solid"/>
          </a:ln>
        </p:spPr>
        <p:txBody>
          <a:bodyPr/>
          <a:lstStyle/>
          <a:p>
            <a:endParaRPr lang="en-US"/>
          </a:p>
        </p:txBody>
      </p:sp>
      <p:sp>
        <p:nvSpPr>
          <p:cNvPr id="21" name="Text 15"/>
          <p:cNvSpPr/>
          <p:nvPr/>
        </p:nvSpPr>
        <p:spPr>
          <a:xfrm>
            <a:off x="4611624" y="2825496"/>
            <a:ext cx="310896" cy="310896"/>
          </a:xfrm>
          <a:prstGeom prst="rect">
            <a:avLst/>
          </a:prstGeom>
          <a:noFill/>
          <a:ln/>
        </p:spPr>
        <p:txBody>
          <a:bodyPr wrap="square" rtlCol="0" anchor="ctr"/>
          <a:lstStyle/>
          <a:p>
            <a:pPr marL="0" indent="0" algn="ctr">
              <a:buNone/>
            </a:pPr>
            <a:r>
              <a:rPr lang="en-US" sz="1100" b="1" dirty="0">
                <a:solidFill>
                  <a:srgbClr val="1B1B3A"/>
                </a:solidFill>
                <a:latin typeface="Calibri" pitchFamily="34" charset="0"/>
                <a:ea typeface="Calibri" pitchFamily="34" charset="-122"/>
                <a:cs typeface="Calibri" pitchFamily="34" charset="-120"/>
              </a:rPr>
              <a:t>3</a:t>
            </a:r>
            <a:endParaRPr lang="en-US" sz="1100" dirty="0"/>
          </a:p>
        </p:txBody>
      </p:sp>
      <p:sp>
        <p:nvSpPr>
          <p:cNvPr id="22" name="Text 16"/>
          <p:cNvSpPr/>
          <p:nvPr/>
        </p:nvSpPr>
        <p:spPr>
          <a:xfrm>
            <a:off x="3688080" y="3703320"/>
            <a:ext cx="1554480" cy="640080"/>
          </a:xfrm>
          <a:prstGeom prst="rect">
            <a:avLst/>
          </a:prstGeom>
          <a:noFill/>
          <a:ln/>
        </p:spPr>
        <p:txBody>
          <a:bodyPr wrap="square" rtlCol="0" anchor="t"/>
          <a:lstStyle/>
          <a:p>
            <a:pPr marL="0" indent="0" algn="ctr">
              <a:buNone/>
            </a:pPr>
            <a:r>
              <a:rPr lang="en-US" sz="1250" b="1" dirty="0">
                <a:solidFill>
                  <a:srgbClr val="FFFFFF"/>
                </a:solidFill>
                <a:latin typeface="Calibri" pitchFamily="34" charset="0"/>
                <a:ea typeface="Calibri" pitchFamily="34" charset="-122"/>
                <a:cs typeface="Calibri" pitchFamily="34" charset="-120"/>
              </a:rPr>
              <a:t>Choose Model</a:t>
            </a:r>
            <a:endParaRPr lang="en-US" sz="1250" dirty="0"/>
          </a:p>
        </p:txBody>
      </p:sp>
      <p:sp>
        <p:nvSpPr>
          <p:cNvPr id="23" name="Shape 17"/>
          <p:cNvSpPr/>
          <p:nvPr/>
        </p:nvSpPr>
        <p:spPr>
          <a:xfrm>
            <a:off x="5797296" y="2962656"/>
            <a:ext cx="566928" cy="566928"/>
          </a:xfrm>
          <a:prstGeom prst="ellipse">
            <a:avLst/>
          </a:prstGeom>
          <a:solidFill>
            <a:srgbClr val="7C3AED"/>
          </a:solidFill>
          <a:ln/>
        </p:spPr>
        <p:txBody>
          <a:bodyPr/>
          <a:lstStyle/>
          <a:p>
            <a:endParaRPr lang="en-US"/>
          </a:p>
        </p:txBody>
      </p:sp>
      <p:pic>
        <p:nvPicPr>
          <p:cNvPr id="24" name="Image 4" descr="/home/claude/llm_finetune_deck/icons/server.png"/>
          <p:cNvPicPr>
            <a:picLocks noChangeAspect="1"/>
          </p:cNvPicPr>
          <p:nvPr/>
        </p:nvPicPr>
        <p:blipFill>
          <a:blip r:embed="rId7"/>
          <a:stretch>
            <a:fillRect/>
          </a:stretch>
        </p:blipFill>
        <p:spPr>
          <a:xfrm>
            <a:off x="5933359" y="3098719"/>
            <a:ext cx="294803" cy="294803"/>
          </a:xfrm>
          <a:prstGeom prst="rect">
            <a:avLst/>
          </a:prstGeom>
        </p:spPr>
      </p:pic>
      <p:sp>
        <p:nvSpPr>
          <p:cNvPr id="25" name="Shape 18"/>
          <p:cNvSpPr/>
          <p:nvPr/>
        </p:nvSpPr>
        <p:spPr>
          <a:xfrm>
            <a:off x="6227064" y="2825496"/>
            <a:ext cx="310896" cy="310896"/>
          </a:xfrm>
          <a:prstGeom prst="ellipse">
            <a:avLst/>
          </a:prstGeom>
          <a:solidFill>
            <a:srgbClr val="06B6D4"/>
          </a:solidFill>
          <a:ln w="19050">
            <a:solidFill>
              <a:srgbClr val="1B1B3A"/>
            </a:solidFill>
            <a:prstDash val="solid"/>
          </a:ln>
        </p:spPr>
        <p:txBody>
          <a:bodyPr/>
          <a:lstStyle/>
          <a:p>
            <a:endParaRPr lang="en-US"/>
          </a:p>
        </p:txBody>
      </p:sp>
      <p:sp>
        <p:nvSpPr>
          <p:cNvPr id="26" name="Text 19"/>
          <p:cNvSpPr/>
          <p:nvPr/>
        </p:nvSpPr>
        <p:spPr>
          <a:xfrm>
            <a:off x="6227064" y="2825496"/>
            <a:ext cx="310896" cy="310896"/>
          </a:xfrm>
          <a:prstGeom prst="rect">
            <a:avLst/>
          </a:prstGeom>
          <a:noFill/>
          <a:ln/>
        </p:spPr>
        <p:txBody>
          <a:bodyPr wrap="square" rtlCol="0" anchor="ctr"/>
          <a:lstStyle/>
          <a:p>
            <a:pPr marL="0" indent="0" algn="ctr">
              <a:buNone/>
            </a:pPr>
            <a:r>
              <a:rPr lang="en-US" sz="1100" b="1" dirty="0">
                <a:solidFill>
                  <a:srgbClr val="1B1B3A"/>
                </a:solidFill>
                <a:latin typeface="Calibri" pitchFamily="34" charset="0"/>
                <a:ea typeface="Calibri" pitchFamily="34" charset="-122"/>
                <a:cs typeface="Calibri" pitchFamily="34" charset="-120"/>
              </a:rPr>
              <a:t>4</a:t>
            </a:r>
            <a:endParaRPr lang="en-US" sz="1100" dirty="0"/>
          </a:p>
        </p:txBody>
      </p:sp>
      <p:sp>
        <p:nvSpPr>
          <p:cNvPr id="27" name="Text 20"/>
          <p:cNvSpPr/>
          <p:nvPr/>
        </p:nvSpPr>
        <p:spPr>
          <a:xfrm>
            <a:off x="5303520" y="3703320"/>
            <a:ext cx="1554480" cy="640080"/>
          </a:xfrm>
          <a:prstGeom prst="rect">
            <a:avLst/>
          </a:prstGeom>
          <a:noFill/>
          <a:ln/>
        </p:spPr>
        <p:txBody>
          <a:bodyPr wrap="square" rtlCol="0" anchor="t"/>
          <a:lstStyle/>
          <a:p>
            <a:pPr marL="0" indent="0" algn="ctr">
              <a:buNone/>
            </a:pPr>
            <a:r>
              <a:rPr lang="en-US" sz="1250" b="1" dirty="0">
                <a:solidFill>
                  <a:srgbClr val="FFFFFF"/>
                </a:solidFill>
                <a:latin typeface="Calibri" pitchFamily="34" charset="0"/>
                <a:ea typeface="Calibri" pitchFamily="34" charset="-122"/>
                <a:cs typeface="Calibri" pitchFamily="34" charset="-120"/>
              </a:rPr>
              <a:t>Set Up Compute</a:t>
            </a:r>
            <a:endParaRPr lang="en-US" sz="1250" dirty="0"/>
          </a:p>
        </p:txBody>
      </p:sp>
      <p:sp>
        <p:nvSpPr>
          <p:cNvPr id="28" name="Shape 21"/>
          <p:cNvSpPr/>
          <p:nvPr/>
        </p:nvSpPr>
        <p:spPr>
          <a:xfrm>
            <a:off x="7412736" y="2962656"/>
            <a:ext cx="566928" cy="566928"/>
          </a:xfrm>
          <a:prstGeom prst="ellipse">
            <a:avLst/>
          </a:prstGeom>
          <a:solidFill>
            <a:srgbClr val="7C3AED"/>
          </a:solidFill>
          <a:ln/>
        </p:spPr>
        <p:txBody>
          <a:bodyPr/>
          <a:lstStyle/>
          <a:p>
            <a:endParaRPr lang="en-US"/>
          </a:p>
        </p:txBody>
      </p:sp>
      <p:pic>
        <p:nvPicPr>
          <p:cNvPr id="29" name="Image 5" descr="/home/claude/llm_finetune_deck/icons/sliders.png"/>
          <p:cNvPicPr>
            <a:picLocks noChangeAspect="1"/>
          </p:cNvPicPr>
          <p:nvPr/>
        </p:nvPicPr>
        <p:blipFill>
          <a:blip r:embed="rId8"/>
          <a:stretch>
            <a:fillRect/>
          </a:stretch>
        </p:blipFill>
        <p:spPr>
          <a:xfrm>
            <a:off x="7548799" y="3098719"/>
            <a:ext cx="294803" cy="294803"/>
          </a:xfrm>
          <a:prstGeom prst="rect">
            <a:avLst/>
          </a:prstGeom>
        </p:spPr>
      </p:pic>
      <p:sp>
        <p:nvSpPr>
          <p:cNvPr id="30" name="Shape 22"/>
          <p:cNvSpPr/>
          <p:nvPr/>
        </p:nvSpPr>
        <p:spPr>
          <a:xfrm>
            <a:off x="7842504" y="2825496"/>
            <a:ext cx="310896" cy="310896"/>
          </a:xfrm>
          <a:prstGeom prst="ellipse">
            <a:avLst/>
          </a:prstGeom>
          <a:solidFill>
            <a:srgbClr val="06B6D4"/>
          </a:solidFill>
          <a:ln w="19050">
            <a:solidFill>
              <a:srgbClr val="1B1B3A"/>
            </a:solidFill>
            <a:prstDash val="solid"/>
          </a:ln>
        </p:spPr>
        <p:txBody>
          <a:bodyPr/>
          <a:lstStyle/>
          <a:p>
            <a:endParaRPr lang="en-US"/>
          </a:p>
        </p:txBody>
      </p:sp>
      <p:sp>
        <p:nvSpPr>
          <p:cNvPr id="31" name="Text 23"/>
          <p:cNvSpPr/>
          <p:nvPr/>
        </p:nvSpPr>
        <p:spPr>
          <a:xfrm>
            <a:off x="7842504" y="2825496"/>
            <a:ext cx="310896" cy="310896"/>
          </a:xfrm>
          <a:prstGeom prst="rect">
            <a:avLst/>
          </a:prstGeom>
          <a:noFill/>
          <a:ln/>
        </p:spPr>
        <p:txBody>
          <a:bodyPr wrap="square" rtlCol="0" anchor="ctr"/>
          <a:lstStyle/>
          <a:p>
            <a:pPr marL="0" indent="0" algn="ctr">
              <a:buNone/>
            </a:pPr>
            <a:r>
              <a:rPr lang="en-US" sz="1100" b="1" dirty="0">
                <a:solidFill>
                  <a:srgbClr val="1B1B3A"/>
                </a:solidFill>
                <a:latin typeface="Calibri" pitchFamily="34" charset="0"/>
                <a:ea typeface="Calibri" pitchFamily="34" charset="-122"/>
                <a:cs typeface="Calibri" pitchFamily="34" charset="-120"/>
              </a:rPr>
              <a:t>5</a:t>
            </a:r>
            <a:endParaRPr lang="en-US" sz="1100" dirty="0"/>
          </a:p>
        </p:txBody>
      </p:sp>
      <p:sp>
        <p:nvSpPr>
          <p:cNvPr id="32" name="Text 24"/>
          <p:cNvSpPr/>
          <p:nvPr/>
        </p:nvSpPr>
        <p:spPr>
          <a:xfrm>
            <a:off x="6918960" y="3703320"/>
            <a:ext cx="1554480" cy="640080"/>
          </a:xfrm>
          <a:prstGeom prst="rect">
            <a:avLst/>
          </a:prstGeom>
          <a:noFill/>
          <a:ln/>
        </p:spPr>
        <p:txBody>
          <a:bodyPr wrap="square" rtlCol="0" anchor="t"/>
          <a:lstStyle/>
          <a:p>
            <a:pPr marL="0" indent="0" algn="ctr">
              <a:buNone/>
            </a:pPr>
            <a:r>
              <a:rPr lang="en-US" sz="1250" b="1" dirty="0">
                <a:solidFill>
                  <a:srgbClr val="FFFFFF"/>
                </a:solidFill>
                <a:latin typeface="Calibri" pitchFamily="34" charset="0"/>
                <a:ea typeface="Calibri" pitchFamily="34" charset="-122"/>
                <a:cs typeface="Calibri" pitchFamily="34" charset="-120"/>
              </a:rPr>
              <a:t>Configure &amp; Train</a:t>
            </a:r>
            <a:endParaRPr lang="en-US" sz="1250" dirty="0"/>
          </a:p>
        </p:txBody>
      </p:sp>
      <p:sp>
        <p:nvSpPr>
          <p:cNvPr id="33" name="Shape 25"/>
          <p:cNvSpPr/>
          <p:nvPr/>
        </p:nvSpPr>
        <p:spPr>
          <a:xfrm>
            <a:off x="9028176" y="2962656"/>
            <a:ext cx="566928" cy="566928"/>
          </a:xfrm>
          <a:prstGeom prst="ellipse">
            <a:avLst/>
          </a:prstGeom>
          <a:solidFill>
            <a:srgbClr val="7C3AED"/>
          </a:solidFill>
          <a:ln/>
        </p:spPr>
        <p:txBody>
          <a:bodyPr/>
          <a:lstStyle/>
          <a:p>
            <a:endParaRPr lang="en-US"/>
          </a:p>
        </p:txBody>
      </p:sp>
      <p:pic>
        <p:nvPicPr>
          <p:cNvPr id="34" name="Image 6" descr="/home/claude/llm_finetune_deck/icons/checkCircle.png"/>
          <p:cNvPicPr>
            <a:picLocks noChangeAspect="1"/>
          </p:cNvPicPr>
          <p:nvPr/>
        </p:nvPicPr>
        <p:blipFill>
          <a:blip r:embed="rId9"/>
          <a:stretch>
            <a:fillRect/>
          </a:stretch>
        </p:blipFill>
        <p:spPr>
          <a:xfrm>
            <a:off x="9164239" y="3098719"/>
            <a:ext cx="294803" cy="294803"/>
          </a:xfrm>
          <a:prstGeom prst="rect">
            <a:avLst/>
          </a:prstGeom>
        </p:spPr>
      </p:pic>
      <p:sp>
        <p:nvSpPr>
          <p:cNvPr id="35" name="Shape 26"/>
          <p:cNvSpPr/>
          <p:nvPr/>
        </p:nvSpPr>
        <p:spPr>
          <a:xfrm>
            <a:off x="9457944" y="2825496"/>
            <a:ext cx="310896" cy="310896"/>
          </a:xfrm>
          <a:prstGeom prst="ellipse">
            <a:avLst/>
          </a:prstGeom>
          <a:solidFill>
            <a:srgbClr val="06B6D4"/>
          </a:solidFill>
          <a:ln w="19050">
            <a:solidFill>
              <a:srgbClr val="1B1B3A"/>
            </a:solidFill>
            <a:prstDash val="solid"/>
          </a:ln>
        </p:spPr>
        <p:txBody>
          <a:bodyPr/>
          <a:lstStyle/>
          <a:p>
            <a:endParaRPr lang="en-US"/>
          </a:p>
        </p:txBody>
      </p:sp>
      <p:sp>
        <p:nvSpPr>
          <p:cNvPr id="36" name="Text 27"/>
          <p:cNvSpPr/>
          <p:nvPr/>
        </p:nvSpPr>
        <p:spPr>
          <a:xfrm>
            <a:off x="9457944" y="2825496"/>
            <a:ext cx="310896" cy="310896"/>
          </a:xfrm>
          <a:prstGeom prst="rect">
            <a:avLst/>
          </a:prstGeom>
          <a:noFill/>
          <a:ln/>
        </p:spPr>
        <p:txBody>
          <a:bodyPr wrap="square" rtlCol="0" anchor="ctr"/>
          <a:lstStyle/>
          <a:p>
            <a:pPr marL="0" indent="0" algn="ctr">
              <a:buNone/>
            </a:pPr>
            <a:r>
              <a:rPr lang="en-US" sz="1100" b="1" dirty="0">
                <a:solidFill>
                  <a:srgbClr val="1B1B3A"/>
                </a:solidFill>
                <a:latin typeface="Calibri" pitchFamily="34" charset="0"/>
                <a:ea typeface="Calibri" pitchFamily="34" charset="-122"/>
                <a:cs typeface="Calibri" pitchFamily="34" charset="-120"/>
              </a:rPr>
              <a:t>6</a:t>
            </a:r>
            <a:endParaRPr lang="en-US" sz="1100" dirty="0"/>
          </a:p>
        </p:txBody>
      </p:sp>
      <p:sp>
        <p:nvSpPr>
          <p:cNvPr id="37" name="Text 28"/>
          <p:cNvSpPr/>
          <p:nvPr/>
        </p:nvSpPr>
        <p:spPr>
          <a:xfrm>
            <a:off x="8534400" y="3703320"/>
            <a:ext cx="1554480" cy="640080"/>
          </a:xfrm>
          <a:prstGeom prst="rect">
            <a:avLst/>
          </a:prstGeom>
          <a:noFill/>
          <a:ln/>
        </p:spPr>
        <p:txBody>
          <a:bodyPr wrap="square" rtlCol="0" anchor="t"/>
          <a:lstStyle/>
          <a:p>
            <a:pPr marL="0" indent="0" algn="ctr">
              <a:buNone/>
            </a:pPr>
            <a:r>
              <a:rPr lang="en-US" sz="1250" b="1" dirty="0">
                <a:solidFill>
                  <a:srgbClr val="FFFFFF"/>
                </a:solidFill>
                <a:latin typeface="Calibri" pitchFamily="34" charset="0"/>
                <a:ea typeface="Calibri" pitchFamily="34" charset="-122"/>
                <a:cs typeface="Calibri" pitchFamily="34" charset="-120"/>
              </a:rPr>
              <a:t>Evaluate</a:t>
            </a:r>
            <a:endParaRPr lang="en-US" sz="1250" dirty="0"/>
          </a:p>
        </p:txBody>
      </p:sp>
      <p:sp>
        <p:nvSpPr>
          <p:cNvPr id="38" name="Shape 29"/>
          <p:cNvSpPr/>
          <p:nvPr/>
        </p:nvSpPr>
        <p:spPr>
          <a:xfrm>
            <a:off x="10643616" y="2962656"/>
            <a:ext cx="566928" cy="566928"/>
          </a:xfrm>
          <a:prstGeom prst="ellipse">
            <a:avLst/>
          </a:prstGeom>
          <a:solidFill>
            <a:srgbClr val="7C3AED"/>
          </a:solidFill>
          <a:ln/>
        </p:spPr>
        <p:txBody>
          <a:bodyPr/>
          <a:lstStyle/>
          <a:p>
            <a:endParaRPr lang="en-US"/>
          </a:p>
        </p:txBody>
      </p:sp>
      <p:pic>
        <p:nvPicPr>
          <p:cNvPr id="39" name="Image 7" descr="/home/claude/llm_finetune_deck/icons/uploadCloud.png"/>
          <p:cNvPicPr>
            <a:picLocks noChangeAspect="1"/>
          </p:cNvPicPr>
          <p:nvPr/>
        </p:nvPicPr>
        <p:blipFill>
          <a:blip r:embed="rId10"/>
          <a:stretch>
            <a:fillRect/>
          </a:stretch>
        </p:blipFill>
        <p:spPr>
          <a:xfrm>
            <a:off x="10779679" y="3098719"/>
            <a:ext cx="294803" cy="294803"/>
          </a:xfrm>
          <a:prstGeom prst="rect">
            <a:avLst/>
          </a:prstGeom>
        </p:spPr>
      </p:pic>
      <p:sp>
        <p:nvSpPr>
          <p:cNvPr id="40" name="Shape 30"/>
          <p:cNvSpPr/>
          <p:nvPr/>
        </p:nvSpPr>
        <p:spPr>
          <a:xfrm>
            <a:off x="11073384" y="2825496"/>
            <a:ext cx="310896" cy="310896"/>
          </a:xfrm>
          <a:prstGeom prst="ellipse">
            <a:avLst/>
          </a:prstGeom>
          <a:solidFill>
            <a:srgbClr val="06B6D4"/>
          </a:solidFill>
          <a:ln w="19050">
            <a:solidFill>
              <a:srgbClr val="1B1B3A"/>
            </a:solidFill>
            <a:prstDash val="solid"/>
          </a:ln>
        </p:spPr>
        <p:txBody>
          <a:bodyPr/>
          <a:lstStyle/>
          <a:p>
            <a:endParaRPr lang="en-US"/>
          </a:p>
        </p:txBody>
      </p:sp>
      <p:sp>
        <p:nvSpPr>
          <p:cNvPr id="41" name="Text 31"/>
          <p:cNvSpPr/>
          <p:nvPr/>
        </p:nvSpPr>
        <p:spPr>
          <a:xfrm>
            <a:off x="11073384" y="2825496"/>
            <a:ext cx="310896" cy="310896"/>
          </a:xfrm>
          <a:prstGeom prst="rect">
            <a:avLst/>
          </a:prstGeom>
          <a:noFill/>
          <a:ln/>
        </p:spPr>
        <p:txBody>
          <a:bodyPr wrap="square" rtlCol="0" anchor="ctr"/>
          <a:lstStyle/>
          <a:p>
            <a:pPr marL="0" indent="0" algn="ctr">
              <a:buNone/>
            </a:pPr>
            <a:r>
              <a:rPr lang="en-US" sz="1100" b="1" dirty="0">
                <a:solidFill>
                  <a:srgbClr val="1B1B3A"/>
                </a:solidFill>
                <a:latin typeface="Calibri" pitchFamily="34" charset="0"/>
                <a:ea typeface="Calibri" pitchFamily="34" charset="-122"/>
                <a:cs typeface="Calibri" pitchFamily="34" charset="-120"/>
              </a:rPr>
              <a:t>7</a:t>
            </a:r>
            <a:endParaRPr lang="en-US" sz="1100" dirty="0"/>
          </a:p>
        </p:txBody>
      </p:sp>
      <p:sp>
        <p:nvSpPr>
          <p:cNvPr id="42" name="Text 32"/>
          <p:cNvSpPr/>
          <p:nvPr/>
        </p:nvSpPr>
        <p:spPr>
          <a:xfrm>
            <a:off x="10149840" y="3703320"/>
            <a:ext cx="1554480" cy="640080"/>
          </a:xfrm>
          <a:prstGeom prst="rect">
            <a:avLst/>
          </a:prstGeom>
          <a:noFill/>
          <a:ln/>
        </p:spPr>
        <p:txBody>
          <a:bodyPr wrap="square" rtlCol="0" anchor="t"/>
          <a:lstStyle/>
          <a:p>
            <a:pPr marL="0" indent="0" algn="ctr">
              <a:buNone/>
            </a:pPr>
            <a:r>
              <a:rPr lang="en-US" sz="1250" b="1" dirty="0">
                <a:solidFill>
                  <a:srgbClr val="FFFFFF"/>
                </a:solidFill>
                <a:latin typeface="Calibri" pitchFamily="34" charset="0"/>
                <a:ea typeface="Calibri" pitchFamily="34" charset="-122"/>
                <a:cs typeface="Calibri" pitchFamily="34" charset="-120"/>
              </a:rPr>
              <a:t>Deploy &amp; Monitor</a:t>
            </a:r>
            <a:endParaRPr lang="en-US" sz="1250" dirty="0"/>
          </a:p>
        </p:txBody>
      </p:sp>
      <p:sp>
        <p:nvSpPr>
          <p:cNvPr id="43" name="Text 33"/>
          <p:cNvSpPr/>
          <p:nvPr/>
        </p:nvSpPr>
        <p:spPr>
          <a:xfrm>
            <a:off x="640080" y="5212080"/>
            <a:ext cx="10058400" cy="457200"/>
          </a:xfrm>
          <a:prstGeom prst="rect">
            <a:avLst/>
          </a:prstGeom>
          <a:noFill/>
          <a:ln/>
        </p:spPr>
        <p:txBody>
          <a:bodyPr wrap="square" rtlCol="0" anchor="ctr"/>
          <a:lstStyle/>
          <a:p>
            <a:pPr marL="0" indent="0" algn="ctr">
              <a:buNone/>
            </a:pPr>
            <a:r>
              <a:rPr lang="en-US" sz="1300" dirty="0">
                <a:solidFill>
                  <a:srgbClr val="C6C2E8"/>
                </a:solidFill>
                <a:latin typeface="Calibri" pitchFamily="34" charset="0"/>
                <a:ea typeface="Calibri" pitchFamily="34" charset="-122"/>
                <a:cs typeface="Calibri" pitchFamily="34" charset="-120"/>
              </a:rPr>
              <a:t>We’ll walk through each step next — what it means, and exactly what tool to reach for.</a:t>
            </a:r>
            <a:endParaRPr lang="en-US" sz="1300" dirty="0"/>
          </a:p>
        </p:txBody>
      </p:sp>
      <p:sp>
        <p:nvSpPr>
          <p:cNvPr id="44" name="Text 34"/>
          <p:cNvSpPr/>
          <p:nvPr/>
        </p:nvSpPr>
        <p:spPr>
          <a:xfrm>
            <a:off x="11292840" y="6473952"/>
            <a:ext cx="502920" cy="274320"/>
          </a:xfrm>
          <a:prstGeom prst="rect">
            <a:avLst/>
          </a:prstGeom>
          <a:noFill/>
          <a:ln/>
        </p:spPr>
        <p:txBody>
          <a:bodyPr wrap="square" rtlCol="0" anchor="ctr"/>
          <a:lstStyle/>
          <a:p>
            <a:pPr marL="0" indent="0" algn="r">
              <a:buNone/>
            </a:pPr>
            <a:r>
              <a:rPr lang="en-US" sz="1000" dirty="0">
                <a:solidFill>
                  <a:srgbClr val="6B6B85"/>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8686800" cy="274320"/>
          </a:xfrm>
          <a:prstGeom prst="rect">
            <a:avLst/>
          </a:prstGeom>
          <a:noFill/>
          <a:ln/>
        </p:spPr>
        <p:txBody>
          <a:bodyPr wrap="square" rtlCol="0" anchor="ctr"/>
          <a:lstStyle/>
          <a:p>
            <a:pPr marL="0" indent="0">
              <a:buNone/>
            </a:pPr>
            <a:r>
              <a:rPr lang="en-US" sz="1150" b="1" kern="0" spc="200" dirty="0">
                <a:solidFill>
                  <a:srgbClr val="7C3AED"/>
                </a:solidFill>
                <a:latin typeface="Calibri" pitchFamily="34" charset="0"/>
                <a:ea typeface="Calibri" pitchFamily="34" charset="-122"/>
                <a:cs typeface="Calibri" pitchFamily="34" charset="-120"/>
              </a:rPr>
              <a:t>THE PIPELINE · STEP 1–2 OF 7</a:t>
            </a:r>
            <a:endParaRPr lang="en-US" sz="1150" dirty="0"/>
          </a:p>
        </p:txBody>
      </p:sp>
      <p:sp>
        <p:nvSpPr>
          <p:cNvPr id="3" name="Text 1"/>
          <p:cNvSpPr/>
          <p:nvPr/>
        </p:nvSpPr>
        <p:spPr>
          <a:xfrm>
            <a:off x="640080" y="621792"/>
            <a:ext cx="9692640" cy="685800"/>
          </a:xfrm>
          <a:prstGeom prst="rect">
            <a:avLst/>
          </a:prstGeom>
          <a:noFill/>
          <a:ln/>
        </p:spPr>
        <p:txBody>
          <a:bodyPr wrap="square" rtlCol="0" anchor="t"/>
          <a:lstStyle/>
          <a:p>
            <a:pPr marL="0" indent="0">
              <a:buNone/>
            </a:pPr>
            <a:r>
              <a:rPr lang="en-US" sz="3200" b="1" dirty="0">
                <a:solidFill>
                  <a:srgbClr val="1B1B3A"/>
                </a:solidFill>
                <a:latin typeface="Arial" pitchFamily="34" charset="0"/>
                <a:ea typeface="Arial" pitchFamily="34" charset="-122"/>
                <a:cs typeface="Arial" pitchFamily="34" charset="-120"/>
              </a:rPr>
              <a:t>Define the Task, Prepare the Data</a:t>
            </a:r>
            <a:endParaRPr lang="en-US" sz="3200" dirty="0"/>
          </a:p>
        </p:txBody>
      </p:sp>
      <p:sp>
        <p:nvSpPr>
          <p:cNvPr id="4" name="Shape 2"/>
          <p:cNvSpPr/>
          <p:nvPr/>
        </p:nvSpPr>
        <p:spPr>
          <a:xfrm>
            <a:off x="10721340" y="434340"/>
            <a:ext cx="777240" cy="777240"/>
          </a:xfrm>
          <a:prstGeom prst="ellipse">
            <a:avLst/>
          </a:prstGeom>
          <a:solidFill>
            <a:srgbClr val="7C3AED"/>
          </a:solidFill>
          <a:ln/>
        </p:spPr>
        <p:txBody>
          <a:bodyPr/>
          <a:lstStyle/>
          <a:p>
            <a:endParaRPr lang="en-US"/>
          </a:p>
        </p:txBody>
      </p:sp>
      <p:pic>
        <p:nvPicPr>
          <p:cNvPr id="5" name="Image 0" descr="/home/claude/llm_finetune_deck/icons/database.png"/>
          <p:cNvPicPr>
            <a:picLocks noChangeAspect="1"/>
          </p:cNvPicPr>
          <p:nvPr/>
        </p:nvPicPr>
        <p:blipFill>
          <a:blip r:embed="rId3"/>
          <a:stretch>
            <a:fillRect/>
          </a:stretch>
        </p:blipFill>
        <p:spPr>
          <a:xfrm>
            <a:off x="10907878" y="620878"/>
            <a:ext cx="404165" cy="404165"/>
          </a:xfrm>
          <a:prstGeom prst="rect">
            <a:avLst/>
          </a:prstGeom>
        </p:spPr>
      </p:pic>
      <p:sp>
        <p:nvSpPr>
          <p:cNvPr id="6" name="Shape 3"/>
          <p:cNvSpPr/>
          <p:nvPr/>
        </p:nvSpPr>
        <p:spPr>
          <a:xfrm>
            <a:off x="640080" y="1737360"/>
            <a:ext cx="5257800" cy="2834640"/>
          </a:xfrm>
          <a:prstGeom prst="roundRect">
            <a:avLst>
              <a:gd name="adj" fmla="val 2581"/>
            </a:avLst>
          </a:prstGeom>
          <a:solidFill>
            <a:srgbClr val="F4F3FA"/>
          </a:solidFill>
          <a:ln/>
          <a:effectLst>
            <a:outerShdw blurRad="88900" dist="25400" dir="5400000" algn="bl" rotWithShape="0">
              <a:srgbClr val="2B2650">
                <a:alpha val="16000"/>
              </a:srgbClr>
            </a:outerShdw>
          </a:effectLst>
        </p:spPr>
        <p:txBody>
          <a:bodyPr/>
          <a:lstStyle/>
          <a:p>
            <a:endParaRPr lang="en-US"/>
          </a:p>
        </p:txBody>
      </p:sp>
      <p:sp>
        <p:nvSpPr>
          <p:cNvPr id="7" name="Shape 4"/>
          <p:cNvSpPr/>
          <p:nvPr/>
        </p:nvSpPr>
        <p:spPr>
          <a:xfrm>
            <a:off x="891540" y="1943100"/>
            <a:ext cx="594360" cy="594360"/>
          </a:xfrm>
          <a:prstGeom prst="ellipse">
            <a:avLst/>
          </a:prstGeom>
          <a:solidFill>
            <a:srgbClr val="7C3AED"/>
          </a:solidFill>
          <a:ln/>
        </p:spPr>
        <p:txBody>
          <a:bodyPr/>
          <a:lstStyle/>
          <a:p>
            <a:endParaRPr lang="en-US"/>
          </a:p>
        </p:txBody>
      </p:sp>
      <p:pic>
        <p:nvPicPr>
          <p:cNvPr id="8" name="Image 1" descr="/home/claude/llm_finetune_deck/icons/target.png"/>
          <p:cNvPicPr>
            <a:picLocks noChangeAspect="1"/>
          </p:cNvPicPr>
          <p:nvPr/>
        </p:nvPicPr>
        <p:blipFill>
          <a:blip r:embed="rId4"/>
          <a:stretch>
            <a:fillRect/>
          </a:stretch>
        </p:blipFill>
        <p:spPr>
          <a:xfrm>
            <a:off x="1034186" y="2085746"/>
            <a:ext cx="309067" cy="309067"/>
          </a:xfrm>
          <a:prstGeom prst="rect">
            <a:avLst/>
          </a:prstGeom>
        </p:spPr>
      </p:pic>
      <p:sp>
        <p:nvSpPr>
          <p:cNvPr id="9" name="Text 5"/>
          <p:cNvSpPr/>
          <p:nvPr/>
        </p:nvSpPr>
        <p:spPr>
          <a:xfrm>
            <a:off x="1691640" y="1965960"/>
            <a:ext cx="4069080" cy="502920"/>
          </a:xfrm>
          <a:prstGeom prst="rect">
            <a:avLst/>
          </a:prstGeom>
          <a:noFill/>
          <a:ln/>
        </p:spPr>
        <p:txBody>
          <a:bodyPr wrap="square" rtlCol="0" anchor="ctr"/>
          <a:lstStyle/>
          <a:p>
            <a:pPr marL="0" indent="0">
              <a:buNone/>
            </a:pPr>
            <a:r>
              <a:rPr lang="en-US" sz="1600" b="1" dirty="0">
                <a:solidFill>
                  <a:srgbClr val="1B1B3A"/>
                </a:solidFill>
                <a:latin typeface="Arial" pitchFamily="34" charset="0"/>
                <a:ea typeface="Arial" pitchFamily="34" charset="-122"/>
                <a:cs typeface="Arial" pitchFamily="34" charset="-120"/>
              </a:rPr>
              <a:t>1. Define the Task</a:t>
            </a:r>
            <a:endParaRPr lang="en-US" sz="1600" dirty="0"/>
          </a:p>
        </p:txBody>
      </p:sp>
      <p:sp>
        <p:nvSpPr>
          <p:cNvPr id="10" name="Text 6"/>
          <p:cNvSpPr/>
          <p:nvPr/>
        </p:nvSpPr>
        <p:spPr>
          <a:xfrm>
            <a:off x="960120" y="2697480"/>
            <a:ext cx="4617720" cy="1737360"/>
          </a:xfrm>
          <a:prstGeom prst="rect">
            <a:avLst/>
          </a:prstGeom>
          <a:noFill/>
          <a:ln/>
        </p:spPr>
        <p:txBody>
          <a:bodyPr wrap="square" rtlCol="0" anchor="t"/>
          <a:lstStyle/>
          <a:p>
            <a:pPr marL="342900" indent="-342900">
              <a:spcAft>
                <a:spcPts val="1000"/>
              </a:spcAft>
              <a:buSzPct val="100000"/>
              <a:buChar char="•"/>
            </a:pPr>
            <a:r>
              <a:rPr lang="en-US" sz="1300" dirty="0">
                <a:solidFill>
                  <a:srgbClr val="1B1B3A"/>
                </a:solidFill>
                <a:latin typeface="Calibri" pitchFamily="34" charset="0"/>
                <a:ea typeface="Calibri" pitchFamily="34" charset="-122"/>
                <a:cs typeface="Calibri" pitchFamily="34" charset="-120"/>
              </a:rPr>
              <a:t>Write 5–10 example input/output pairs before collecting any data</a:t>
            </a:r>
            <a:endParaRPr lang="en-US" sz="1300" dirty="0"/>
          </a:p>
          <a:p>
            <a:pPr marL="342900" indent="-342900">
              <a:spcAft>
                <a:spcPts val="1000"/>
              </a:spcAft>
              <a:buSzPct val="100000"/>
              <a:buChar char="•"/>
            </a:pPr>
            <a:r>
              <a:rPr lang="en-US" sz="1300" dirty="0">
                <a:solidFill>
                  <a:srgbClr val="1B1B3A"/>
                </a:solidFill>
                <a:latin typeface="Calibri" pitchFamily="34" charset="0"/>
                <a:ea typeface="Calibri" pitchFamily="34" charset="-122"/>
                <a:cs typeface="Calibri" pitchFamily="34" charset="-120"/>
              </a:rPr>
              <a:t>Decide what should change: format? tone? domain knowledge? reasoning style?</a:t>
            </a:r>
            <a:endParaRPr lang="en-US" sz="1300" dirty="0"/>
          </a:p>
        </p:txBody>
      </p:sp>
      <p:sp>
        <p:nvSpPr>
          <p:cNvPr id="11" name="Shape 7"/>
          <p:cNvSpPr/>
          <p:nvPr/>
        </p:nvSpPr>
        <p:spPr>
          <a:xfrm>
            <a:off x="6263640" y="1737360"/>
            <a:ext cx="5257800" cy="2834640"/>
          </a:xfrm>
          <a:prstGeom prst="roundRect">
            <a:avLst>
              <a:gd name="adj" fmla="val 2581"/>
            </a:avLst>
          </a:prstGeom>
          <a:solidFill>
            <a:srgbClr val="F4F3FA"/>
          </a:solidFill>
          <a:ln/>
          <a:effectLst>
            <a:outerShdw blurRad="88900" dist="25400" dir="5400000" algn="bl" rotWithShape="0">
              <a:srgbClr val="2B2650">
                <a:alpha val="16000"/>
              </a:srgbClr>
            </a:outerShdw>
          </a:effectLst>
        </p:spPr>
        <p:txBody>
          <a:bodyPr/>
          <a:lstStyle/>
          <a:p>
            <a:endParaRPr lang="en-US"/>
          </a:p>
        </p:txBody>
      </p:sp>
      <p:sp>
        <p:nvSpPr>
          <p:cNvPr id="12" name="Shape 8"/>
          <p:cNvSpPr/>
          <p:nvPr/>
        </p:nvSpPr>
        <p:spPr>
          <a:xfrm>
            <a:off x="6515100" y="1943100"/>
            <a:ext cx="594360" cy="594360"/>
          </a:xfrm>
          <a:prstGeom prst="ellipse">
            <a:avLst/>
          </a:prstGeom>
          <a:solidFill>
            <a:srgbClr val="7C3AED"/>
          </a:solidFill>
          <a:ln/>
        </p:spPr>
        <p:txBody>
          <a:bodyPr/>
          <a:lstStyle/>
          <a:p>
            <a:endParaRPr lang="en-US"/>
          </a:p>
        </p:txBody>
      </p:sp>
      <p:pic>
        <p:nvPicPr>
          <p:cNvPr id="13" name="Image 2" descr="/home/claude/llm_finetune_deck/icons/database.png"/>
          <p:cNvPicPr>
            <a:picLocks noChangeAspect="1"/>
          </p:cNvPicPr>
          <p:nvPr/>
        </p:nvPicPr>
        <p:blipFill>
          <a:blip r:embed="rId3"/>
          <a:stretch>
            <a:fillRect/>
          </a:stretch>
        </p:blipFill>
        <p:spPr>
          <a:xfrm>
            <a:off x="6657746" y="2085746"/>
            <a:ext cx="309067" cy="309067"/>
          </a:xfrm>
          <a:prstGeom prst="rect">
            <a:avLst/>
          </a:prstGeom>
        </p:spPr>
      </p:pic>
      <p:sp>
        <p:nvSpPr>
          <p:cNvPr id="14" name="Text 9"/>
          <p:cNvSpPr/>
          <p:nvPr/>
        </p:nvSpPr>
        <p:spPr>
          <a:xfrm>
            <a:off x="7315200" y="1965960"/>
            <a:ext cx="4069080" cy="502920"/>
          </a:xfrm>
          <a:prstGeom prst="rect">
            <a:avLst/>
          </a:prstGeom>
          <a:noFill/>
          <a:ln/>
        </p:spPr>
        <p:txBody>
          <a:bodyPr wrap="square" rtlCol="0" anchor="ctr"/>
          <a:lstStyle/>
          <a:p>
            <a:pPr marL="0" indent="0">
              <a:buNone/>
            </a:pPr>
            <a:r>
              <a:rPr lang="en-US" sz="1600" b="1" dirty="0">
                <a:solidFill>
                  <a:srgbClr val="1B1B3A"/>
                </a:solidFill>
                <a:latin typeface="Arial" pitchFamily="34" charset="0"/>
                <a:ea typeface="Arial" pitchFamily="34" charset="-122"/>
                <a:cs typeface="Arial" pitchFamily="34" charset="-120"/>
              </a:rPr>
              <a:t>2. Prepare the Data</a:t>
            </a:r>
            <a:endParaRPr lang="en-US" sz="1600" dirty="0"/>
          </a:p>
        </p:txBody>
      </p:sp>
      <p:sp>
        <p:nvSpPr>
          <p:cNvPr id="15" name="Text 10"/>
          <p:cNvSpPr/>
          <p:nvPr/>
        </p:nvSpPr>
        <p:spPr>
          <a:xfrm>
            <a:off x="6583680" y="2697480"/>
            <a:ext cx="4617720" cy="1737360"/>
          </a:xfrm>
          <a:prstGeom prst="rect">
            <a:avLst/>
          </a:prstGeom>
          <a:noFill/>
          <a:ln/>
        </p:spPr>
        <p:txBody>
          <a:bodyPr wrap="square" rtlCol="0" anchor="t"/>
          <a:lstStyle/>
          <a:p>
            <a:pPr marL="342900" indent="-342900">
              <a:spcAft>
                <a:spcPts val="800"/>
              </a:spcAft>
              <a:buSzPct val="100000"/>
              <a:buChar char="•"/>
            </a:pPr>
            <a:r>
              <a:rPr lang="en-US" sz="1300" dirty="0">
                <a:solidFill>
                  <a:srgbClr val="1B1B3A"/>
                </a:solidFill>
                <a:latin typeface="Calibri" pitchFamily="34" charset="0"/>
                <a:ea typeface="Calibri" pitchFamily="34" charset="-122"/>
                <a:cs typeface="Calibri" pitchFamily="34" charset="-120"/>
              </a:rPr>
              <a:t>Format as instruction–response pairs (JSONL)</a:t>
            </a:r>
            <a:endParaRPr lang="en-US" sz="1300" dirty="0"/>
          </a:p>
          <a:p>
            <a:pPr marL="342900" indent="-342900">
              <a:spcAft>
                <a:spcPts val="800"/>
              </a:spcAft>
              <a:buSzPct val="100000"/>
              <a:buChar char="•"/>
            </a:pPr>
            <a:r>
              <a:rPr lang="en-US" sz="1300" dirty="0">
                <a:solidFill>
                  <a:srgbClr val="1B1B3A"/>
                </a:solidFill>
                <a:latin typeface="Calibri" pitchFamily="34" charset="0"/>
                <a:ea typeface="Calibri" pitchFamily="34" charset="-122"/>
                <a:cs typeface="Calibri" pitchFamily="34" charset="-120"/>
              </a:rPr>
              <a:t>Quality &gt; quantity — 1,000 clean examples often beat 100,000 noisy ones</a:t>
            </a:r>
            <a:endParaRPr lang="en-US" sz="1300" dirty="0"/>
          </a:p>
          <a:p>
            <a:pPr marL="342900" indent="-342900">
              <a:spcAft>
                <a:spcPts val="800"/>
              </a:spcAft>
              <a:buSzPct val="100000"/>
              <a:buChar char="•"/>
            </a:pPr>
            <a:r>
              <a:rPr lang="en-US" sz="1300" dirty="0">
                <a:solidFill>
                  <a:srgbClr val="1B1B3A"/>
                </a:solidFill>
                <a:latin typeface="Calibri" pitchFamily="34" charset="0"/>
                <a:ea typeface="Calibri" pitchFamily="34" charset="-122"/>
                <a:cs typeface="Calibri" pitchFamily="34" charset="-120"/>
              </a:rPr>
              <a:t>Deduplicate, strip PII, balance task coverage</a:t>
            </a:r>
            <a:endParaRPr lang="en-US" sz="1300" dirty="0"/>
          </a:p>
        </p:txBody>
      </p:sp>
      <p:sp>
        <p:nvSpPr>
          <p:cNvPr id="16" name="Shape 11"/>
          <p:cNvSpPr/>
          <p:nvPr/>
        </p:nvSpPr>
        <p:spPr>
          <a:xfrm>
            <a:off x="640080" y="4800600"/>
            <a:ext cx="10908792" cy="1234440"/>
          </a:xfrm>
          <a:prstGeom prst="roundRect">
            <a:avLst>
              <a:gd name="adj" fmla="val 5926"/>
            </a:avLst>
          </a:prstGeom>
          <a:solidFill>
            <a:srgbClr val="141330"/>
          </a:solidFill>
          <a:ln/>
        </p:spPr>
        <p:txBody>
          <a:bodyPr/>
          <a:lstStyle/>
          <a:p>
            <a:endParaRPr lang="en-US"/>
          </a:p>
        </p:txBody>
      </p:sp>
      <p:sp>
        <p:nvSpPr>
          <p:cNvPr id="17" name="Text 12"/>
          <p:cNvSpPr/>
          <p:nvPr/>
        </p:nvSpPr>
        <p:spPr>
          <a:xfrm>
            <a:off x="960120" y="4800600"/>
            <a:ext cx="10268712" cy="1234440"/>
          </a:xfrm>
          <a:prstGeom prst="rect">
            <a:avLst/>
          </a:prstGeom>
          <a:noFill/>
          <a:ln/>
        </p:spPr>
        <p:txBody>
          <a:bodyPr wrap="square" rtlCol="0" anchor="ctr"/>
          <a:lstStyle/>
          <a:p>
            <a:pPr marL="0" indent="0">
              <a:buNone/>
            </a:pPr>
            <a:r>
              <a:rPr lang="en-US" sz="1350" dirty="0">
                <a:solidFill>
                  <a:srgbClr val="B79CFF"/>
                </a:solidFill>
                <a:latin typeface="Courier New" pitchFamily="34" charset="0"/>
                <a:ea typeface="Courier New" pitchFamily="34" charset="-122"/>
                <a:cs typeface="Courier New" pitchFamily="34" charset="-120"/>
              </a:rPr>
              <a:t>{"instruction": </a:t>
            </a:r>
            <a:r>
              <a:rPr lang="en-US" sz="1350" dirty="0">
                <a:solidFill>
                  <a:srgbClr val="9FE6C8"/>
                </a:solidFill>
                <a:latin typeface="Courier New" pitchFamily="34" charset="0"/>
                <a:ea typeface="Courier New" pitchFamily="34" charset="-122"/>
                <a:cs typeface="Courier New" pitchFamily="34" charset="-120"/>
              </a:rPr>
              <a:t>"Summarize this support ticket"</a:t>
            </a:r>
            <a:r>
              <a:rPr lang="en-US" sz="1350" dirty="0">
                <a:solidFill>
                  <a:srgbClr val="D6D3EC"/>
                </a:solidFill>
                <a:latin typeface="Courier New" pitchFamily="34" charset="0"/>
                <a:ea typeface="Courier New" pitchFamily="34" charset="-122"/>
                <a:cs typeface="Courier New" pitchFamily="34" charset="-120"/>
              </a:rPr>
              <a:t>,
</a:t>
            </a:r>
            <a:r>
              <a:rPr lang="en-US" sz="1350" dirty="0">
                <a:solidFill>
                  <a:srgbClr val="B79CFF"/>
                </a:solidFill>
                <a:latin typeface="Courier New" pitchFamily="34" charset="0"/>
                <a:ea typeface="Courier New" pitchFamily="34" charset="-122"/>
                <a:cs typeface="Courier New" pitchFamily="34" charset="-120"/>
              </a:rPr>
              <a:t> "input": </a:t>
            </a:r>
            <a:r>
              <a:rPr lang="en-US" sz="1350" dirty="0">
                <a:solidFill>
                  <a:srgbClr val="9FE6C8"/>
                </a:solidFill>
                <a:latin typeface="Courier New" pitchFamily="34" charset="0"/>
                <a:ea typeface="Courier New" pitchFamily="34" charset="-122"/>
                <a:cs typeface="Courier New" pitchFamily="34" charset="-120"/>
              </a:rPr>
              <a:t>"&lt;ticket text&gt;"</a:t>
            </a:r>
            <a:r>
              <a:rPr lang="en-US" sz="1350" dirty="0">
                <a:solidFill>
                  <a:srgbClr val="D6D3EC"/>
                </a:solidFill>
                <a:latin typeface="Courier New" pitchFamily="34" charset="0"/>
                <a:ea typeface="Courier New" pitchFamily="34" charset="-122"/>
                <a:cs typeface="Courier New" pitchFamily="34" charset="-120"/>
              </a:rPr>
              <a:t>, </a:t>
            </a:r>
            <a:r>
              <a:rPr lang="en-US" sz="1350" dirty="0">
                <a:solidFill>
                  <a:srgbClr val="B79CFF"/>
                </a:solidFill>
                <a:latin typeface="Courier New" pitchFamily="34" charset="0"/>
                <a:ea typeface="Courier New" pitchFamily="34" charset="-122"/>
                <a:cs typeface="Courier New" pitchFamily="34" charset="-120"/>
              </a:rPr>
              <a:t>"output": </a:t>
            </a:r>
            <a:r>
              <a:rPr lang="en-US" sz="1350" dirty="0">
                <a:solidFill>
                  <a:srgbClr val="9FE6C8"/>
                </a:solidFill>
                <a:latin typeface="Courier New" pitchFamily="34" charset="0"/>
                <a:ea typeface="Courier New" pitchFamily="34" charset="-122"/>
                <a:cs typeface="Courier New" pitchFamily="34" charset="-120"/>
              </a:rPr>
              <a:t>"&lt;ideal summary&gt;"</a:t>
            </a:r>
            <a:r>
              <a:rPr lang="en-US" sz="1350" dirty="0">
                <a:solidFill>
                  <a:srgbClr val="D6D3EC"/>
                </a:solidFill>
                <a:latin typeface="Courier New" pitchFamily="34" charset="0"/>
                <a:ea typeface="Courier New" pitchFamily="34" charset="-122"/>
                <a:cs typeface="Courier New" pitchFamily="34" charset="-120"/>
              </a:rPr>
              <a:t>}</a:t>
            </a:r>
            <a:endParaRPr lang="en-US" sz="1350" dirty="0"/>
          </a:p>
        </p:txBody>
      </p:sp>
      <p:sp>
        <p:nvSpPr>
          <p:cNvPr id="18" name="Text 13"/>
          <p:cNvSpPr/>
          <p:nvPr/>
        </p:nvSpPr>
        <p:spPr>
          <a:xfrm>
            <a:off x="11292840" y="6473952"/>
            <a:ext cx="502920" cy="274320"/>
          </a:xfrm>
          <a:prstGeom prst="rect">
            <a:avLst/>
          </a:prstGeom>
          <a:noFill/>
          <a:ln/>
        </p:spPr>
        <p:txBody>
          <a:bodyPr wrap="square" rtlCol="0" anchor="ctr"/>
          <a:lstStyle/>
          <a:p>
            <a:pPr marL="0" indent="0" algn="r">
              <a:buNone/>
            </a:pPr>
            <a:r>
              <a:rPr lang="en-US" sz="1000" dirty="0">
                <a:solidFill>
                  <a:srgbClr val="6B6B85"/>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8686800" cy="274320"/>
          </a:xfrm>
          <a:prstGeom prst="rect">
            <a:avLst/>
          </a:prstGeom>
          <a:noFill/>
          <a:ln/>
        </p:spPr>
        <p:txBody>
          <a:bodyPr wrap="square" rtlCol="0" anchor="ctr"/>
          <a:lstStyle/>
          <a:p>
            <a:pPr marL="0" indent="0">
              <a:buNone/>
            </a:pPr>
            <a:r>
              <a:rPr lang="en-US" sz="1150" b="1" kern="0" spc="200" dirty="0">
                <a:solidFill>
                  <a:srgbClr val="7C3AED"/>
                </a:solidFill>
                <a:latin typeface="Calibri" pitchFamily="34" charset="0"/>
                <a:ea typeface="Calibri" pitchFamily="34" charset="-122"/>
                <a:cs typeface="Calibri" pitchFamily="34" charset="-120"/>
              </a:rPr>
              <a:t>THE PIPELINE · STEP 3 OF 7</a:t>
            </a:r>
            <a:endParaRPr lang="en-US" sz="1150" dirty="0"/>
          </a:p>
        </p:txBody>
      </p:sp>
      <p:sp>
        <p:nvSpPr>
          <p:cNvPr id="3" name="Text 1"/>
          <p:cNvSpPr/>
          <p:nvPr/>
        </p:nvSpPr>
        <p:spPr>
          <a:xfrm>
            <a:off x="640080" y="621792"/>
            <a:ext cx="9692640" cy="685800"/>
          </a:xfrm>
          <a:prstGeom prst="rect">
            <a:avLst/>
          </a:prstGeom>
          <a:noFill/>
          <a:ln/>
        </p:spPr>
        <p:txBody>
          <a:bodyPr wrap="square" rtlCol="0" anchor="t"/>
          <a:lstStyle/>
          <a:p>
            <a:pPr marL="0" indent="0">
              <a:buNone/>
            </a:pPr>
            <a:r>
              <a:rPr lang="en-US" sz="3200" b="1" dirty="0">
                <a:solidFill>
                  <a:srgbClr val="1B1B3A"/>
                </a:solidFill>
                <a:latin typeface="Arial" pitchFamily="34" charset="0"/>
                <a:ea typeface="Arial" pitchFamily="34" charset="-122"/>
                <a:cs typeface="Arial" pitchFamily="34" charset="-120"/>
              </a:rPr>
              <a:t>Choose a Base Model</a:t>
            </a:r>
            <a:endParaRPr lang="en-US" sz="3200" dirty="0"/>
          </a:p>
        </p:txBody>
      </p:sp>
      <p:sp>
        <p:nvSpPr>
          <p:cNvPr id="4" name="Shape 2"/>
          <p:cNvSpPr/>
          <p:nvPr/>
        </p:nvSpPr>
        <p:spPr>
          <a:xfrm>
            <a:off x="10721340" y="434340"/>
            <a:ext cx="777240" cy="777240"/>
          </a:xfrm>
          <a:prstGeom prst="ellipse">
            <a:avLst/>
          </a:prstGeom>
          <a:solidFill>
            <a:srgbClr val="7C3AED"/>
          </a:solidFill>
          <a:ln/>
        </p:spPr>
        <p:txBody>
          <a:bodyPr/>
          <a:lstStyle/>
          <a:p>
            <a:endParaRPr lang="en-US"/>
          </a:p>
        </p:txBody>
      </p:sp>
      <p:pic>
        <p:nvPicPr>
          <p:cNvPr id="5" name="Image 0" descr="/home/claude/llm_finetune_deck/icons/package.png"/>
          <p:cNvPicPr>
            <a:picLocks noChangeAspect="1"/>
          </p:cNvPicPr>
          <p:nvPr/>
        </p:nvPicPr>
        <p:blipFill>
          <a:blip r:embed="rId3"/>
          <a:stretch>
            <a:fillRect/>
          </a:stretch>
        </p:blipFill>
        <p:spPr>
          <a:xfrm>
            <a:off x="10907878" y="620878"/>
            <a:ext cx="404165" cy="404165"/>
          </a:xfrm>
          <a:prstGeom prst="rect">
            <a:avLst/>
          </a:prstGeom>
        </p:spPr>
      </p:pic>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08792" cy="3291840"/>
        </p:xfrm>
        <a:graphic>
          <a:graphicData uri="http://schemas.openxmlformats.org/drawingml/2006/table">
            <a:tbl>
              <a:tblPr/>
              <a:tblGrid>
                <a:gridCol w="27432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5879592">
                  <a:extLst>
                    <a:ext uri="{9D8B030D-6E8A-4147-A177-3AD203B41FA5}">
                      <a16:colId xmlns:a16="http://schemas.microsoft.com/office/drawing/2014/main" val="20002"/>
                    </a:ext>
                  </a:extLst>
                </a:gridCol>
              </a:tblGrid>
              <a:tr h="548640">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Model</a:t>
                      </a:r>
                      <a:endParaRPr lang="en-US" sz="1350" dirty="0">
                        <a:latin typeface="Calibri" charset="0"/>
                        <a:ea typeface="Calibri" charset="0"/>
                        <a:cs typeface="Calibri" charset="0"/>
                      </a:endParaRPr>
                    </a:p>
                  </a:txBody>
                  <a:tcPr marL="73152" marR="73152" marT="73152" marB="73152" anchor="ctr">
                    <a:lnL w="9525" cap="flat" cmpd="sng" algn="ctr">
                      <a:solidFill>
                        <a:srgbClr val="E3E1F1"/>
                      </a:solidFill>
                      <a:prstDash val="solid"/>
                      <a:round/>
                      <a:headEnd type="none" w="med" len="med"/>
                      <a:tailEnd type="none" w="med" len="med"/>
                    </a:lnL>
                    <a:lnR w="9525" cap="flat" cmpd="sng" algn="ctr">
                      <a:solidFill>
                        <a:srgbClr val="E3E1F1"/>
                      </a:solidFill>
                      <a:prstDash val="solid"/>
                      <a:round/>
                      <a:headEnd type="none" w="med" len="med"/>
                      <a:tailEnd type="none" w="med" len="med"/>
                    </a:lnR>
                    <a:lnT w="9525" cap="flat" cmpd="sng" algn="ctr">
                      <a:solidFill>
                        <a:srgbClr val="E3E1F1"/>
                      </a:solidFill>
                      <a:prstDash val="solid"/>
                      <a:round/>
                      <a:headEnd type="none" w="med" len="med"/>
                      <a:tailEnd type="none" w="med" len="med"/>
                    </a:lnT>
                    <a:lnB w="9525" cap="flat" cmpd="sng" algn="ctr">
                      <a:solidFill>
                        <a:srgbClr val="E3E1F1"/>
                      </a:solidFill>
                      <a:prstDash val="solid"/>
                      <a:round/>
                      <a:headEnd type="none" w="med" len="med"/>
                      <a:tailEnd type="none" w="med" len="med"/>
                    </a:lnB>
                    <a:solidFill>
                      <a:srgbClr val="1B1B3A"/>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Size Range</a:t>
                      </a:r>
                      <a:endParaRPr lang="en-US" sz="1350" dirty="0">
                        <a:latin typeface="Calibri" charset="0"/>
                        <a:ea typeface="Calibri" charset="0"/>
                        <a:cs typeface="Calibri" charset="0"/>
                      </a:endParaRPr>
                    </a:p>
                  </a:txBody>
                  <a:tcPr marL="73152" marR="73152" marT="73152" marB="73152" anchor="ctr">
                    <a:lnL w="9525" cap="flat" cmpd="sng" algn="ctr">
                      <a:solidFill>
                        <a:srgbClr val="E3E1F1"/>
                      </a:solidFill>
                      <a:prstDash val="solid"/>
                      <a:round/>
                      <a:headEnd type="none" w="med" len="med"/>
                      <a:tailEnd type="none" w="med" len="med"/>
                    </a:lnL>
                    <a:lnR w="9525" cap="flat" cmpd="sng" algn="ctr">
                      <a:solidFill>
                        <a:srgbClr val="E3E1F1"/>
                      </a:solidFill>
                      <a:prstDash val="solid"/>
                      <a:round/>
                      <a:headEnd type="none" w="med" len="med"/>
                      <a:tailEnd type="none" w="med" len="med"/>
                    </a:lnR>
                    <a:lnT w="9525" cap="flat" cmpd="sng" algn="ctr">
                      <a:solidFill>
                        <a:srgbClr val="E3E1F1"/>
                      </a:solidFill>
                      <a:prstDash val="solid"/>
                      <a:round/>
                      <a:headEnd type="none" w="med" len="med"/>
                      <a:tailEnd type="none" w="med" len="med"/>
                    </a:lnT>
                    <a:lnB w="9525" cap="flat" cmpd="sng" algn="ctr">
                      <a:solidFill>
                        <a:srgbClr val="E3E1F1"/>
                      </a:solidFill>
                      <a:prstDash val="solid"/>
                      <a:round/>
                      <a:headEnd type="none" w="med" len="med"/>
                      <a:tailEnd type="none" w="med" len="med"/>
                    </a:lnB>
                    <a:solidFill>
                      <a:srgbClr val="1B1B3A"/>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Known For</a:t>
                      </a:r>
                      <a:endParaRPr lang="en-US" sz="1350" dirty="0">
                        <a:latin typeface="Calibri" charset="0"/>
                        <a:ea typeface="Calibri" charset="0"/>
                        <a:cs typeface="Calibri" charset="0"/>
                      </a:endParaRPr>
                    </a:p>
                  </a:txBody>
                  <a:tcPr marL="73152" marR="73152" marT="73152" marB="73152" anchor="ctr">
                    <a:lnL w="9525" cap="flat" cmpd="sng" algn="ctr">
                      <a:solidFill>
                        <a:srgbClr val="E3E1F1"/>
                      </a:solidFill>
                      <a:prstDash val="solid"/>
                      <a:round/>
                      <a:headEnd type="none" w="med" len="med"/>
                      <a:tailEnd type="none" w="med" len="med"/>
                    </a:lnL>
                    <a:lnR w="9525" cap="flat" cmpd="sng" algn="ctr">
                      <a:solidFill>
                        <a:srgbClr val="E3E1F1"/>
                      </a:solidFill>
                      <a:prstDash val="solid"/>
                      <a:round/>
                      <a:headEnd type="none" w="med" len="med"/>
                      <a:tailEnd type="none" w="med" len="med"/>
                    </a:lnR>
                    <a:lnT w="9525" cap="flat" cmpd="sng" algn="ctr">
                      <a:solidFill>
                        <a:srgbClr val="E3E1F1"/>
                      </a:solidFill>
                      <a:prstDash val="solid"/>
                      <a:round/>
                      <a:headEnd type="none" w="med" len="med"/>
                      <a:tailEnd type="none" w="med" len="med"/>
                    </a:lnT>
                    <a:lnB w="9525" cap="flat" cmpd="sng" algn="ctr">
                      <a:solidFill>
                        <a:srgbClr val="E3E1F1"/>
                      </a:solidFill>
                      <a:prstDash val="solid"/>
                      <a:round/>
                      <a:headEnd type="none" w="med" len="med"/>
                      <a:tailEnd type="none" w="med" len="med"/>
                    </a:lnB>
                    <a:solidFill>
                      <a:srgbClr val="1B1B3A"/>
                    </a:solidFill>
                  </a:tcPr>
                </a:tc>
                <a:extLst>
                  <a:ext uri="{0D108BD9-81ED-4DB2-BD59-A6C34878D82A}">
                    <a16:rowId xmlns:a16="http://schemas.microsoft.com/office/drawing/2014/main" val="10000"/>
                  </a:ext>
                </a:extLst>
              </a:tr>
              <a:tr h="548640">
                <a:tc>
                  <a:txBody>
                    <a:bodyPr/>
                    <a:lstStyle/>
                    <a:p>
                      <a:pPr marL="0" indent="0">
                        <a:buNone/>
                      </a:pPr>
                      <a:r>
                        <a:rPr lang="en-US" sz="1350" dirty="0">
                          <a:solidFill>
                            <a:srgbClr val="1B1B3A"/>
                          </a:solidFill>
                          <a:latin typeface="Calibri" pitchFamily="34" charset="0"/>
                          <a:ea typeface="Calibri" pitchFamily="34" charset="-122"/>
                          <a:cs typeface="Calibri" pitchFamily="34" charset="-120"/>
                        </a:rPr>
                        <a:t>Llama 3.x</a:t>
                      </a:r>
                      <a:endParaRPr lang="en-US" sz="1350" dirty="0">
                        <a:latin typeface="Calibri" charset="0"/>
                        <a:ea typeface="Calibri" charset="0"/>
                        <a:cs typeface="Calibri" charset="0"/>
                      </a:endParaRPr>
                    </a:p>
                  </a:txBody>
                  <a:tcPr marL="73152" marR="73152" marT="73152" marB="73152" anchor="ctr">
                    <a:lnL w="9525" cap="flat" cmpd="sng" algn="ctr">
                      <a:solidFill>
                        <a:srgbClr val="E3E1F1"/>
                      </a:solidFill>
                      <a:prstDash val="solid"/>
                      <a:round/>
                      <a:headEnd type="none" w="med" len="med"/>
                      <a:tailEnd type="none" w="med" len="med"/>
                    </a:lnL>
                    <a:lnR w="9525" cap="flat" cmpd="sng" algn="ctr">
                      <a:solidFill>
                        <a:srgbClr val="E3E1F1"/>
                      </a:solidFill>
                      <a:prstDash val="solid"/>
                      <a:round/>
                      <a:headEnd type="none" w="med" len="med"/>
                      <a:tailEnd type="none" w="med" len="med"/>
                    </a:lnR>
                    <a:lnT w="9525" cap="flat" cmpd="sng" algn="ctr">
                      <a:solidFill>
                        <a:srgbClr val="E3E1F1"/>
                      </a:solidFill>
                      <a:prstDash val="solid"/>
                      <a:round/>
                      <a:headEnd type="none" w="med" len="med"/>
                      <a:tailEnd type="none" w="med" len="med"/>
                    </a:lnT>
                    <a:lnB w="9525" cap="flat" cmpd="sng" algn="ctr">
                      <a:solidFill>
                        <a:srgbClr val="E3E1F1"/>
                      </a:solidFill>
                      <a:prstDash val="solid"/>
                      <a:round/>
                      <a:headEnd type="none" w="med" len="med"/>
                      <a:tailEnd type="none" w="med" len="med"/>
                    </a:lnB>
                    <a:solidFill>
                      <a:srgbClr val="F4F3FA"/>
                    </a:solidFill>
                  </a:tcPr>
                </a:tc>
                <a:tc>
                  <a:txBody>
                    <a:bodyPr/>
                    <a:lstStyle/>
                    <a:p>
                      <a:pPr marL="0" indent="0">
                        <a:buNone/>
                      </a:pPr>
                      <a:r>
                        <a:rPr lang="en-US" sz="1350" dirty="0">
                          <a:solidFill>
                            <a:srgbClr val="1B1B3A"/>
                          </a:solidFill>
                          <a:latin typeface="Calibri" pitchFamily="34" charset="0"/>
                          <a:ea typeface="Calibri" pitchFamily="34" charset="-122"/>
                          <a:cs typeface="Calibri" pitchFamily="34" charset="-120"/>
                        </a:rPr>
                        <a:t>1B – 405B</a:t>
                      </a:r>
                      <a:endParaRPr lang="en-US" sz="1350" dirty="0">
                        <a:latin typeface="Calibri" charset="0"/>
                        <a:ea typeface="Calibri" charset="0"/>
                        <a:cs typeface="Calibri" charset="0"/>
                      </a:endParaRPr>
                    </a:p>
                  </a:txBody>
                  <a:tcPr marL="73152" marR="73152" marT="73152" marB="73152" anchor="ctr">
                    <a:lnL w="9525" cap="flat" cmpd="sng" algn="ctr">
                      <a:solidFill>
                        <a:srgbClr val="E3E1F1"/>
                      </a:solidFill>
                      <a:prstDash val="solid"/>
                      <a:round/>
                      <a:headEnd type="none" w="med" len="med"/>
                      <a:tailEnd type="none" w="med" len="med"/>
                    </a:lnL>
                    <a:lnR w="9525" cap="flat" cmpd="sng" algn="ctr">
                      <a:solidFill>
                        <a:srgbClr val="E3E1F1"/>
                      </a:solidFill>
                      <a:prstDash val="solid"/>
                      <a:round/>
                      <a:headEnd type="none" w="med" len="med"/>
                      <a:tailEnd type="none" w="med" len="med"/>
                    </a:lnR>
                    <a:lnT w="9525" cap="flat" cmpd="sng" algn="ctr">
                      <a:solidFill>
                        <a:srgbClr val="E3E1F1"/>
                      </a:solidFill>
                      <a:prstDash val="solid"/>
                      <a:round/>
                      <a:headEnd type="none" w="med" len="med"/>
                      <a:tailEnd type="none" w="med" len="med"/>
                    </a:lnT>
                    <a:lnB w="9525" cap="flat" cmpd="sng" algn="ctr">
                      <a:solidFill>
                        <a:srgbClr val="E3E1F1"/>
                      </a:solidFill>
                      <a:prstDash val="solid"/>
                      <a:round/>
                      <a:headEnd type="none" w="med" len="med"/>
                      <a:tailEnd type="none" w="med" len="med"/>
                    </a:lnB>
                    <a:solidFill>
                      <a:srgbClr val="F4F3FA"/>
                    </a:solidFill>
                  </a:tcPr>
                </a:tc>
                <a:tc>
                  <a:txBody>
                    <a:bodyPr/>
                    <a:lstStyle/>
                    <a:p>
                      <a:pPr marL="0" indent="0">
                        <a:buNone/>
                      </a:pPr>
                      <a:r>
                        <a:rPr lang="en-US" sz="1350" dirty="0">
                          <a:solidFill>
                            <a:srgbClr val="1B1B3A"/>
                          </a:solidFill>
                          <a:latin typeface="Calibri" pitchFamily="34" charset="0"/>
                          <a:ea typeface="Calibri" pitchFamily="34" charset="-122"/>
                          <a:cs typeface="Calibri" pitchFamily="34" charset="-120"/>
                        </a:rPr>
                        <a:t>Strong general baseline, huge community &amp; tooling</a:t>
                      </a:r>
                      <a:endParaRPr lang="en-US" sz="1350" dirty="0">
                        <a:latin typeface="Calibri" charset="0"/>
                        <a:ea typeface="Calibri" charset="0"/>
                        <a:cs typeface="Calibri" charset="0"/>
                      </a:endParaRPr>
                    </a:p>
                  </a:txBody>
                  <a:tcPr marL="73152" marR="73152" marT="73152" marB="73152" anchor="ctr">
                    <a:lnL w="9525" cap="flat" cmpd="sng" algn="ctr">
                      <a:solidFill>
                        <a:srgbClr val="E3E1F1"/>
                      </a:solidFill>
                      <a:prstDash val="solid"/>
                      <a:round/>
                      <a:headEnd type="none" w="med" len="med"/>
                      <a:tailEnd type="none" w="med" len="med"/>
                    </a:lnL>
                    <a:lnR w="9525" cap="flat" cmpd="sng" algn="ctr">
                      <a:solidFill>
                        <a:srgbClr val="E3E1F1"/>
                      </a:solidFill>
                      <a:prstDash val="solid"/>
                      <a:round/>
                      <a:headEnd type="none" w="med" len="med"/>
                      <a:tailEnd type="none" w="med" len="med"/>
                    </a:lnR>
                    <a:lnT w="9525" cap="flat" cmpd="sng" algn="ctr">
                      <a:solidFill>
                        <a:srgbClr val="E3E1F1"/>
                      </a:solidFill>
                      <a:prstDash val="solid"/>
                      <a:round/>
                      <a:headEnd type="none" w="med" len="med"/>
                      <a:tailEnd type="none" w="med" len="med"/>
                    </a:lnT>
                    <a:lnB w="9525" cap="flat" cmpd="sng" algn="ctr">
                      <a:solidFill>
                        <a:srgbClr val="E3E1F1"/>
                      </a:solidFill>
                      <a:prstDash val="solid"/>
                      <a:round/>
                      <a:headEnd type="none" w="med" len="med"/>
                      <a:tailEnd type="none" w="med" len="med"/>
                    </a:lnB>
                    <a:solidFill>
                      <a:srgbClr val="F4F3FA"/>
                    </a:solidFill>
                  </a:tcPr>
                </a:tc>
                <a:extLst>
                  <a:ext uri="{0D108BD9-81ED-4DB2-BD59-A6C34878D82A}">
                    <a16:rowId xmlns:a16="http://schemas.microsoft.com/office/drawing/2014/main" val="10001"/>
                  </a:ext>
                </a:extLst>
              </a:tr>
              <a:tr h="548640">
                <a:tc>
                  <a:txBody>
                    <a:bodyPr/>
                    <a:lstStyle/>
                    <a:p>
                      <a:pPr marL="0" indent="0">
                        <a:buNone/>
                      </a:pPr>
                      <a:r>
                        <a:rPr lang="en-US" sz="1350" dirty="0">
                          <a:solidFill>
                            <a:srgbClr val="1B1B3A"/>
                          </a:solidFill>
                          <a:latin typeface="Calibri" pitchFamily="34" charset="0"/>
                          <a:ea typeface="Calibri" pitchFamily="34" charset="-122"/>
                          <a:cs typeface="Calibri" pitchFamily="34" charset="-120"/>
                        </a:rPr>
                        <a:t>Mistral / Mixtral</a:t>
                      </a:r>
                      <a:endParaRPr lang="en-US" sz="1350" dirty="0">
                        <a:latin typeface="Calibri" charset="0"/>
                        <a:ea typeface="Calibri" charset="0"/>
                        <a:cs typeface="Calibri" charset="0"/>
                      </a:endParaRPr>
                    </a:p>
                  </a:txBody>
                  <a:tcPr marL="73152" marR="73152" marT="73152" marB="73152" anchor="ctr">
                    <a:lnL w="9525" cap="flat" cmpd="sng" algn="ctr">
                      <a:solidFill>
                        <a:srgbClr val="E3E1F1"/>
                      </a:solidFill>
                      <a:prstDash val="solid"/>
                      <a:round/>
                      <a:headEnd type="none" w="med" len="med"/>
                      <a:tailEnd type="none" w="med" len="med"/>
                    </a:lnL>
                    <a:lnR w="9525" cap="flat" cmpd="sng" algn="ctr">
                      <a:solidFill>
                        <a:srgbClr val="E3E1F1"/>
                      </a:solidFill>
                      <a:prstDash val="solid"/>
                      <a:round/>
                      <a:headEnd type="none" w="med" len="med"/>
                      <a:tailEnd type="none" w="med" len="med"/>
                    </a:lnR>
                    <a:lnT w="9525" cap="flat" cmpd="sng" algn="ctr">
                      <a:solidFill>
                        <a:srgbClr val="E3E1F1"/>
                      </a:solidFill>
                      <a:prstDash val="solid"/>
                      <a:round/>
                      <a:headEnd type="none" w="med" len="med"/>
                      <a:tailEnd type="none" w="med" len="med"/>
                    </a:lnT>
                    <a:lnB w="9525" cap="flat" cmpd="sng" algn="ctr">
                      <a:solidFill>
                        <a:srgbClr val="E3E1F1"/>
                      </a:solidFill>
                      <a:prstDash val="solid"/>
                      <a:round/>
                      <a:headEnd type="none" w="med" len="med"/>
                      <a:tailEnd type="none" w="med" len="med"/>
                    </a:lnB>
                    <a:solidFill>
                      <a:srgbClr val="FFFFFF"/>
                    </a:solidFill>
                  </a:tcPr>
                </a:tc>
                <a:tc>
                  <a:txBody>
                    <a:bodyPr/>
                    <a:lstStyle/>
                    <a:p>
                      <a:pPr marL="0" indent="0">
                        <a:buNone/>
                      </a:pPr>
                      <a:r>
                        <a:rPr lang="en-US" sz="1350" dirty="0">
                          <a:solidFill>
                            <a:srgbClr val="1B1B3A"/>
                          </a:solidFill>
                          <a:latin typeface="Calibri" pitchFamily="34" charset="0"/>
                          <a:ea typeface="Calibri" pitchFamily="34" charset="-122"/>
                          <a:cs typeface="Calibri" pitchFamily="34" charset="-120"/>
                        </a:rPr>
                        <a:t>7B – 8x22B</a:t>
                      </a:r>
                      <a:endParaRPr lang="en-US" sz="1350" dirty="0">
                        <a:latin typeface="Calibri" charset="0"/>
                        <a:ea typeface="Calibri" charset="0"/>
                        <a:cs typeface="Calibri" charset="0"/>
                      </a:endParaRPr>
                    </a:p>
                  </a:txBody>
                  <a:tcPr marL="73152" marR="73152" marT="73152" marB="73152" anchor="ctr">
                    <a:lnL w="9525" cap="flat" cmpd="sng" algn="ctr">
                      <a:solidFill>
                        <a:srgbClr val="E3E1F1"/>
                      </a:solidFill>
                      <a:prstDash val="solid"/>
                      <a:round/>
                      <a:headEnd type="none" w="med" len="med"/>
                      <a:tailEnd type="none" w="med" len="med"/>
                    </a:lnL>
                    <a:lnR w="9525" cap="flat" cmpd="sng" algn="ctr">
                      <a:solidFill>
                        <a:srgbClr val="E3E1F1"/>
                      </a:solidFill>
                      <a:prstDash val="solid"/>
                      <a:round/>
                      <a:headEnd type="none" w="med" len="med"/>
                      <a:tailEnd type="none" w="med" len="med"/>
                    </a:lnR>
                    <a:lnT w="9525" cap="flat" cmpd="sng" algn="ctr">
                      <a:solidFill>
                        <a:srgbClr val="E3E1F1"/>
                      </a:solidFill>
                      <a:prstDash val="solid"/>
                      <a:round/>
                      <a:headEnd type="none" w="med" len="med"/>
                      <a:tailEnd type="none" w="med" len="med"/>
                    </a:lnT>
                    <a:lnB w="9525" cap="flat" cmpd="sng" algn="ctr">
                      <a:solidFill>
                        <a:srgbClr val="E3E1F1"/>
                      </a:solidFill>
                      <a:prstDash val="solid"/>
                      <a:round/>
                      <a:headEnd type="none" w="med" len="med"/>
                      <a:tailEnd type="none" w="med" len="med"/>
                    </a:lnB>
                    <a:solidFill>
                      <a:srgbClr val="FFFFFF"/>
                    </a:solidFill>
                  </a:tcPr>
                </a:tc>
                <a:tc>
                  <a:txBody>
                    <a:bodyPr/>
                    <a:lstStyle/>
                    <a:p>
                      <a:pPr marL="0" indent="0">
                        <a:buNone/>
                      </a:pPr>
                      <a:r>
                        <a:rPr lang="en-US" sz="1350" dirty="0">
                          <a:solidFill>
                            <a:srgbClr val="1B1B3A"/>
                          </a:solidFill>
                          <a:latin typeface="Calibri" pitchFamily="34" charset="0"/>
                          <a:ea typeface="Calibri" pitchFamily="34" charset="-122"/>
                          <a:cs typeface="Calibri" pitchFamily="34" charset="-120"/>
                        </a:rPr>
                        <a:t>Efficient, strong reasoning-per-parameter</a:t>
                      </a:r>
                      <a:endParaRPr lang="en-US" sz="1350" dirty="0">
                        <a:latin typeface="Calibri" charset="0"/>
                        <a:ea typeface="Calibri" charset="0"/>
                        <a:cs typeface="Calibri" charset="0"/>
                      </a:endParaRPr>
                    </a:p>
                  </a:txBody>
                  <a:tcPr marL="73152" marR="73152" marT="73152" marB="73152" anchor="ctr">
                    <a:lnL w="9525" cap="flat" cmpd="sng" algn="ctr">
                      <a:solidFill>
                        <a:srgbClr val="E3E1F1"/>
                      </a:solidFill>
                      <a:prstDash val="solid"/>
                      <a:round/>
                      <a:headEnd type="none" w="med" len="med"/>
                      <a:tailEnd type="none" w="med" len="med"/>
                    </a:lnL>
                    <a:lnR w="9525" cap="flat" cmpd="sng" algn="ctr">
                      <a:solidFill>
                        <a:srgbClr val="E3E1F1"/>
                      </a:solidFill>
                      <a:prstDash val="solid"/>
                      <a:round/>
                      <a:headEnd type="none" w="med" len="med"/>
                      <a:tailEnd type="none" w="med" len="med"/>
                    </a:lnR>
                    <a:lnT w="9525" cap="flat" cmpd="sng" algn="ctr">
                      <a:solidFill>
                        <a:srgbClr val="E3E1F1"/>
                      </a:solidFill>
                      <a:prstDash val="solid"/>
                      <a:round/>
                      <a:headEnd type="none" w="med" len="med"/>
                      <a:tailEnd type="none" w="med" len="med"/>
                    </a:lnT>
                    <a:lnB w="9525" cap="flat" cmpd="sng" algn="ctr">
                      <a:solidFill>
                        <a:srgbClr val="E3E1F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buNone/>
                      </a:pPr>
                      <a:r>
                        <a:rPr lang="en-US" sz="1350" dirty="0">
                          <a:solidFill>
                            <a:srgbClr val="1B1B3A"/>
                          </a:solidFill>
                          <a:latin typeface="Calibri" pitchFamily="34" charset="0"/>
                          <a:ea typeface="Calibri" pitchFamily="34" charset="-122"/>
                          <a:cs typeface="Calibri" pitchFamily="34" charset="-120"/>
                        </a:rPr>
                        <a:t>Qwen 2.5</a:t>
                      </a:r>
                      <a:endParaRPr lang="en-US" sz="1350" dirty="0">
                        <a:latin typeface="Calibri" charset="0"/>
                        <a:ea typeface="Calibri" charset="0"/>
                        <a:cs typeface="Calibri" charset="0"/>
                      </a:endParaRPr>
                    </a:p>
                  </a:txBody>
                  <a:tcPr marL="73152" marR="73152" marT="73152" marB="73152" anchor="ctr">
                    <a:lnL w="9525" cap="flat" cmpd="sng" algn="ctr">
                      <a:solidFill>
                        <a:srgbClr val="E3E1F1"/>
                      </a:solidFill>
                      <a:prstDash val="solid"/>
                      <a:round/>
                      <a:headEnd type="none" w="med" len="med"/>
                      <a:tailEnd type="none" w="med" len="med"/>
                    </a:lnL>
                    <a:lnR w="9525" cap="flat" cmpd="sng" algn="ctr">
                      <a:solidFill>
                        <a:srgbClr val="E3E1F1"/>
                      </a:solidFill>
                      <a:prstDash val="solid"/>
                      <a:round/>
                      <a:headEnd type="none" w="med" len="med"/>
                      <a:tailEnd type="none" w="med" len="med"/>
                    </a:lnR>
                    <a:lnT w="9525" cap="flat" cmpd="sng" algn="ctr">
                      <a:solidFill>
                        <a:srgbClr val="E3E1F1"/>
                      </a:solidFill>
                      <a:prstDash val="solid"/>
                      <a:round/>
                      <a:headEnd type="none" w="med" len="med"/>
                      <a:tailEnd type="none" w="med" len="med"/>
                    </a:lnT>
                    <a:lnB w="9525" cap="flat" cmpd="sng" algn="ctr">
                      <a:solidFill>
                        <a:srgbClr val="E3E1F1"/>
                      </a:solidFill>
                      <a:prstDash val="solid"/>
                      <a:round/>
                      <a:headEnd type="none" w="med" len="med"/>
                      <a:tailEnd type="none" w="med" len="med"/>
                    </a:lnB>
                    <a:solidFill>
                      <a:srgbClr val="F4F3FA"/>
                    </a:solidFill>
                  </a:tcPr>
                </a:tc>
                <a:tc>
                  <a:txBody>
                    <a:bodyPr/>
                    <a:lstStyle/>
                    <a:p>
                      <a:pPr marL="0" indent="0">
                        <a:buNone/>
                      </a:pPr>
                      <a:r>
                        <a:rPr lang="en-US" sz="1350" dirty="0">
                          <a:solidFill>
                            <a:srgbClr val="1B1B3A"/>
                          </a:solidFill>
                          <a:latin typeface="Calibri" pitchFamily="34" charset="0"/>
                          <a:ea typeface="Calibri" pitchFamily="34" charset="-122"/>
                          <a:cs typeface="Calibri" pitchFamily="34" charset="-120"/>
                        </a:rPr>
                        <a:t>0.5B – 72B</a:t>
                      </a:r>
                      <a:endParaRPr lang="en-US" sz="1350" dirty="0">
                        <a:latin typeface="Calibri" charset="0"/>
                        <a:ea typeface="Calibri" charset="0"/>
                        <a:cs typeface="Calibri" charset="0"/>
                      </a:endParaRPr>
                    </a:p>
                  </a:txBody>
                  <a:tcPr marL="73152" marR="73152" marT="73152" marB="73152" anchor="ctr">
                    <a:lnL w="9525" cap="flat" cmpd="sng" algn="ctr">
                      <a:solidFill>
                        <a:srgbClr val="E3E1F1"/>
                      </a:solidFill>
                      <a:prstDash val="solid"/>
                      <a:round/>
                      <a:headEnd type="none" w="med" len="med"/>
                      <a:tailEnd type="none" w="med" len="med"/>
                    </a:lnL>
                    <a:lnR w="9525" cap="flat" cmpd="sng" algn="ctr">
                      <a:solidFill>
                        <a:srgbClr val="E3E1F1"/>
                      </a:solidFill>
                      <a:prstDash val="solid"/>
                      <a:round/>
                      <a:headEnd type="none" w="med" len="med"/>
                      <a:tailEnd type="none" w="med" len="med"/>
                    </a:lnR>
                    <a:lnT w="9525" cap="flat" cmpd="sng" algn="ctr">
                      <a:solidFill>
                        <a:srgbClr val="E3E1F1"/>
                      </a:solidFill>
                      <a:prstDash val="solid"/>
                      <a:round/>
                      <a:headEnd type="none" w="med" len="med"/>
                      <a:tailEnd type="none" w="med" len="med"/>
                    </a:lnT>
                    <a:lnB w="9525" cap="flat" cmpd="sng" algn="ctr">
                      <a:solidFill>
                        <a:srgbClr val="E3E1F1"/>
                      </a:solidFill>
                      <a:prstDash val="solid"/>
                      <a:round/>
                      <a:headEnd type="none" w="med" len="med"/>
                      <a:tailEnd type="none" w="med" len="med"/>
                    </a:lnB>
                    <a:solidFill>
                      <a:srgbClr val="F4F3FA"/>
                    </a:solidFill>
                  </a:tcPr>
                </a:tc>
                <a:tc>
                  <a:txBody>
                    <a:bodyPr/>
                    <a:lstStyle/>
                    <a:p>
                      <a:pPr marL="0" indent="0">
                        <a:buNone/>
                      </a:pPr>
                      <a:r>
                        <a:rPr lang="en-US" sz="1350" dirty="0">
                          <a:solidFill>
                            <a:srgbClr val="1B1B3A"/>
                          </a:solidFill>
                          <a:latin typeface="Calibri" pitchFamily="34" charset="0"/>
                          <a:ea typeface="Calibri" pitchFamily="34" charset="-122"/>
                          <a:cs typeface="Calibri" pitchFamily="34" charset="-120"/>
                        </a:rPr>
                        <a:t>Multilingual strength, strong at coding</a:t>
                      </a:r>
                      <a:endParaRPr lang="en-US" sz="1350" dirty="0">
                        <a:latin typeface="Calibri" charset="0"/>
                        <a:ea typeface="Calibri" charset="0"/>
                        <a:cs typeface="Calibri" charset="0"/>
                      </a:endParaRPr>
                    </a:p>
                  </a:txBody>
                  <a:tcPr marL="73152" marR="73152" marT="73152" marB="73152" anchor="ctr">
                    <a:lnL w="9525" cap="flat" cmpd="sng" algn="ctr">
                      <a:solidFill>
                        <a:srgbClr val="E3E1F1"/>
                      </a:solidFill>
                      <a:prstDash val="solid"/>
                      <a:round/>
                      <a:headEnd type="none" w="med" len="med"/>
                      <a:tailEnd type="none" w="med" len="med"/>
                    </a:lnL>
                    <a:lnR w="9525" cap="flat" cmpd="sng" algn="ctr">
                      <a:solidFill>
                        <a:srgbClr val="E3E1F1"/>
                      </a:solidFill>
                      <a:prstDash val="solid"/>
                      <a:round/>
                      <a:headEnd type="none" w="med" len="med"/>
                      <a:tailEnd type="none" w="med" len="med"/>
                    </a:lnR>
                    <a:lnT w="9525" cap="flat" cmpd="sng" algn="ctr">
                      <a:solidFill>
                        <a:srgbClr val="E3E1F1"/>
                      </a:solidFill>
                      <a:prstDash val="solid"/>
                      <a:round/>
                      <a:headEnd type="none" w="med" len="med"/>
                      <a:tailEnd type="none" w="med" len="med"/>
                    </a:lnT>
                    <a:lnB w="9525" cap="flat" cmpd="sng" algn="ctr">
                      <a:solidFill>
                        <a:srgbClr val="E3E1F1"/>
                      </a:solidFill>
                      <a:prstDash val="solid"/>
                      <a:round/>
                      <a:headEnd type="none" w="med" len="med"/>
                      <a:tailEnd type="none" w="med" len="med"/>
                    </a:lnB>
                    <a:solidFill>
                      <a:srgbClr val="F4F3FA"/>
                    </a:solidFill>
                  </a:tcPr>
                </a:tc>
                <a:extLst>
                  <a:ext uri="{0D108BD9-81ED-4DB2-BD59-A6C34878D82A}">
                    <a16:rowId xmlns:a16="http://schemas.microsoft.com/office/drawing/2014/main" val="10003"/>
                  </a:ext>
                </a:extLst>
              </a:tr>
              <a:tr h="548640">
                <a:tc>
                  <a:txBody>
                    <a:bodyPr/>
                    <a:lstStyle/>
                    <a:p>
                      <a:pPr marL="0" indent="0">
                        <a:buNone/>
                      </a:pPr>
                      <a:r>
                        <a:rPr lang="en-US" sz="1350" dirty="0">
                          <a:solidFill>
                            <a:srgbClr val="1B1B3A"/>
                          </a:solidFill>
                          <a:latin typeface="Calibri" pitchFamily="34" charset="0"/>
                          <a:ea typeface="Calibri" pitchFamily="34" charset="-122"/>
                          <a:cs typeface="Calibri" pitchFamily="34" charset="-120"/>
                        </a:rPr>
                        <a:t>Gemma 2</a:t>
                      </a:r>
                      <a:endParaRPr lang="en-US" sz="1350" dirty="0">
                        <a:latin typeface="Calibri" charset="0"/>
                        <a:ea typeface="Calibri" charset="0"/>
                        <a:cs typeface="Calibri" charset="0"/>
                      </a:endParaRPr>
                    </a:p>
                  </a:txBody>
                  <a:tcPr marL="73152" marR="73152" marT="73152" marB="73152" anchor="ctr">
                    <a:lnL w="9525" cap="flat" cmpd="sng" algn="ctr">
                      <a:solidFill>
                        <a:srgbClr val="E3E1F1"/>
                      </a:solidFill>
                      <a:prstDash val="solid"/>
                      <a:round/>
                      <a:headEnd type="none" w="med" len="med"/>
                      <a:tailEnd type="none" w="med" len="med"/>
                    </a:lnL>
                    <a:lnR w="9525" cap="flat" cmpd="sng" algn="ctr">
                      <a:solidFill>
                        <a:srgbClr val="E3E1F1"/>
                      </a:solidFill>
                      <a:prstDash val="solid"/>
                      <a:round/>
                      <a:headEnd type="none" w="med" len="med"/>
                      <a:tailEnd type="none" w="med" len="med"/>
                    </a:lnR>
                    <a:lnT w="9525" cap="flat" cmpd="sng" algn="ctr">
                      <a:solidFill>
                        <a:srgbClr val="E3E1F1"/>
                      </a:solidFill>
                      <a:prstDash val="solid"/>
                      <a:round/>
                      <a:headEnd type="none" w="med" len="med"/>
                      <a:tailEnd type="none" w="med" len="med"/>
                    </a:lnT>
                    <a:lnB w="9525" cap="flat" cmpd="sng" algn="ctr">
                      <a:solidFill>
                        <a:srgbClr val="E3E1F1"/>
                      </a:solidFill>
                      <a:prstDash val="solid"/>
                      <a:round/>
                      <a:headEnd type="none" w="med" len="med"/>
                      <a:tailEnd type="none" w="med" len="med"/>
                    </a:lnB>
                    <a:solidFill>
                      <a:srgbClr val="FFFFFF"/>
                    </a:solidFill>
                  </a:tcPr>
                </a:tc>
                <a:tc>
                  <a:txBody>
                    <a:bodyPr/>
                    <a:lstStyle/>
                    <a:p>
                      <a:pPr marL="0" indent="0">
                        <a:buNone/>
                      </a:pPr>
                      <a:r>
                        <a:rPr lang="en-US" sz="1350" dirty="0">
                          <a:solidFill>
                            <a:srgbClr val="1B1B3A"/>
                          </a:solidFill>
                          <a:latin typeface="Calibri" pitchFamily="34" charset="0"/>
                          <a:ea typeface="Calibri" pitchFamily="34" charset="-122"/>
                          <a:cs typeface="Calibri" pitchFamily="34" charset="-120"/>
                        </a:rPr>
                        <a:t>2B – 27B</a:t>
                      </a:r>
                      <a:endParaRPr lang="en-US" sz="1350" dirty="0">
                        <a:latin typeface="Calibri" charset="0"/>
                        <a:ea typeface="Calibri" charset="0"/>
                        <a:cs typeface="Calibri" charset="0"/>
                      </a:endParaRPr>
                    </a:p>
                  </a:txBody>
                  <a:tcPr marL="73152" marR="73152" marT="73152" marB="73152" anchor="ctr">
                    <a:lnL w="9525" cap="flat" cmpd="sng" algn="ctr">
                      <a:solidFill>
                        <a:srgbClr val="E3E1F1"/>
                      </a:solidFill>
                      <a:prstDash val="solid"/>
                      <a:round/>
                      <a:headEnd type="none" w="med" len="med"/>
                      <a:tailEnd type="none" w="med" len="med"/>
                    </a:lnL>
                    <a:lnR w="9525" cap="flat" cmpd="sng" algn="ctr">
                      <a:solidFill>
                        <a:srgbClr val="E3E1F1"/>
                      </a:solidFill>
                      <a:prstDash val="solid"/>
                      <a:round/>
                      <a:headEnd type="none" w="med" len="med"/>
                      <a:tailEnd type="none" w="med" len="med"/>
                    </a:lnR>
                    <a:lnT w="9525" cap="flat" cmpd="sng" algn="ctr">
                      <a:solidFill>
                        <a:srgbClr val="E3E1F1"/>
                      </a:solidFill>
                      <a:prstDash val="solid"/>
                      <a:round/>
                      <a:headEnd type="none" w="med" len="med"/>
                      <a:tailEnd type="none" w="med" len="med"/>
                    </a:lnT>
                    <a:lnB w="9525" cap="flat" cmpd="sng" algn="ctr">
                      <a:solidFill>
                        <a:srgbClr val="E3E1F1"/>
                      </a:solidFill>
                      <a:prstDash val="solid"/>
                      <a:round/>
                      <a:headEnd type="none" w="med" len="med"/>
                      <a:tailEnd type="none" w="med" len="med"/>
                    </a:lnB>
                    <a:solidFill>
                      <a:srgbClr val="FFFFFF"/>
                    </a:solidFill>
                  </a:tcPr>
                </a:tc>
                <a:tc>
                  <a:txBody>
                    <a:bodyPr/>
                    <a:lstStyle/>
                    <a:p>
                      <a:pPr marL="0" indent="0">
                        <a:buNone/>
                      </a:pPr>
                      <a:r>
                        <a:rPr lang="en-US" sz="1350" dirty="0">
                          <a:solidFill>
                            <a:srgbClr val="1B1B3A"/>
                          </a:solidFill>
                          <a:latin typeface="Calibri" pitchFamily="34" charset="0"/>
                          <a:ea typeface="Calibri" pitchFamily="34" charset="-122"/>
                          <a:cs typeface="Calibri" pitchFamily="34" charset="-120"/>
                        </a:rPr>
                        <a:t>Lightweight, on-device friendly</a:t>
                      </a:r>
                      <a:endParaRPr lang="en-US" sz="1350" dirty="0">
                        <a:latin typeface="Calibri" charset="0"/>
                        <a:ea typeface="Calibri" charset="0"/>
                        <a:cs typeface="Calibri" charset="0"/>
                      </a:endParaRPr>
                    </a:p>
                  </a:txBody>
                  <a:tcPr marL="73152" marR="73152" marT="73152" marB="73152" anchor="ctr">
                    <a:lnL w="9525" cap="flat" cmpd="sng" algn="ctr">
                      <a:solidFill>
                        <a:srgbClr val="E3E1F1"/>
                      </a:solidFill>
                      <a:prstDash val="solid"/>
                      <a:round/>
                      <a:headEnd type="none" w="med" len="med"/>
                      <a:tailEnd type="none" w="med" len="med"/>
                    </a:lnL>
                    <a:lnR w="9525" cap="flat" cmpd="sng" algn="ctr">
                      <a:solidFill>
                        <a:srgbClr val="E3E1F1"/>
                      </a:solidFill>
                      <a:prstDash val="solid"/>
                      <a:round/>
                      <a:headEnd type="none" w="med" len="med"/>
                      <a:tailEnd type="none" w="med" len="med"/>
                    </a:lnR>
                    <a:lnT w="9525" cap="flat" cmpd="sng" algn="ctr">
                      <a:solidFill>
                        <a:srgbClr val="E3E1F1"/>
                      </a:solidFill>
                      <a:prstDash val="solid"/>
                      <a:round/>
                      <a:headEnd type="none" w="med" len="med"/>
                      <a:tailEnd type="none" w="med" len="med"/>
                    </a:lnT>
                    <a:lnB w="9525" cap="flat" cmpd="sng" algn="ctr">
                      <a:solidFill>
                        <a:srgbClr val="E3E1F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48640">
                <a:tc>
                  <a:txBody>
                    <a:bodyPr/>
                    <a:lstStyle/>
                    <a:p>
                      <a:pPr marL="0" indent="0">
                        <a:buNone/>
                      </a:pPr>
                      <a:r>
                        <a:rPr lang="en-US" sz="1350" dirty="0">
                          <a:solidFill>
                            <a:srgbClr val="1B1B3A"/>
                          </a:solidFill>
                          <a:latin typeface="Calibri" pitchFamily="34" charset="0"/>
                          <a:ea typeface="Calibri" pitchFamily="34" charset="-122"/>
                          <a:cs typeface="Calibri" pitchFamily="34" charset="-120"/>
                        </a:rPr>
                        <a:t>Phi-3.5</a:t>
                      </a:r>
                      <a:endParaRPr lang="en-US" sz="1350" dirty="0">
                        <a:latin typeface="Calibri" charset="0"/>
                        <a:ea typeface="Calibri" charset="0"/>
                        <a:cs typeface="Calibri" charset="0"/>
                      </a:endParaRPr>
                    </a:p>
                  </a:txBody>
                  <a:tcPr marL="73152" marR="73152" marT="73152" marB="73152" anchor="ctr">
                    <a:lnL w="9525" cap="flat" cmpd="sng" algn="ctr">
                      <a:solidFill>
                        <a:srgbClr val="E3E1F1"/>
                      </a:solidFill>
                      <a:prstDash val="solid"/>
                      <a:round/>
                      <a:headEnd type="none" w="med" len="med"/>
                      <a:tailEnd type="none" w="med" len="med"/>
                    </a:lnL>
                    <a:lnR w="9525" cap="flat" cmpd="sng" algn="ctr">
                      <a:solidFill>
                        <a:srgbClr val="E3E1F1"/>
                      </a:solidFill>
                      <a:prstDash val="solid"/>
                      <a:round/>
                      <a:headEnd type="none" w="med" len="med"/>
                      <a:tailEnd type="none" w="med" len="med"/>
                    </a:lnR>
                    <a:lnT w="9525" cap="flat" cmpd="sng" algn="ctr">
                      <a:solidFill>
                        <a:srgbClr val="E3E1F1"/>
                      </a:solidFill>
                      <a:prstDash val="solid"/>
                      <a:round/>
                      <a:headEnd type="none" w="med" len="med"/>
                      <a:tailEnd type="none" w="med" len="med"/>
                    </a:lnT>
                    <a:lnB w="9525" cap="flat" cmpd="sng" algn="ctr">
                      <a:solidFill>
                        <a:srgbClr val="E3E1F1"/>
                      </a:solidFill>
                      <a:prstDash val="solid"/>
                      <a:round/>
                      <a:headEnd type="none" w="med" len="med"/>
                      <a:tailEnd type="none" w="med" len="med"/>
                    </a:lnB>
                    <a:solidFill>
                      <a:srgbClr val="F4F3FA"/>
                    </a:solidFill>
                  </a:tcPr>
                </a:tc>
                <a:tc>
                  <a:txBody>
                    <a:bodyPr/>
                    <a:lstStyle/>
                    <a:p>
                      <a:pPr marL="0" indent="0">
                        <a:buNone/>
                      </a:pPr>
                      <a:r>
                        <a:rPr lang="en-US" sz="1350" dirty="0">
                          <a:solidFill>
                            <a:srgbClr val="1B1B3A"/>
                          </a:solidFill>
                          <a:latin typeface="Calibri" pitchFamily="34" charset="0"/>
                          <a:ea typeface="Calibri" pitchFamily="34" charset="-122"/>
                          <a:cs typeface="Calibri" pitchFamily="34" charset="-120"/>
                        </a:rPr>
                        <a:t>3.8B – 14B</a:t>
                      </a:r>
                      <a:endParaRPr lang="en-US" sz="1350" dirty="0">
                        <a:latin typeface="Calibri" charset="0"/>
                        <a:ea typeface="Calibri" charset="0"/>
                        <a:cs typeface="Calibri" charset="0"/>
                      </a:endParaRPr>
                    </a:p>
                  </a:txBody>
                  <a:tcPr marL="73152" marR="73152" marT="73152" marB="73152" anchor="ctr">
                    <a:lnL w="9525" cap="flat" cmpd="sng" algn="ctr">
                      <a:solidFill>
                        <a:srgbClr val="E3E1F1"/>
                      </a:solidFill>
                      <a:prstDash val="solid"/>
                      <a:round/>
                      <a:headEnd type="none" w="med" len="med"/>
                      <a:tailEnd type="none" w="med" len="med"/>
                    </a:lnL>
                    <a:lnR w="9525" cap="flat" cmpd="sng" algn="ctr">
                      <a:solidFill>
                        <a:srgbClr val="E3E1F1"/>
                      </a:solidFill>
                      <a:prstDash val="solid"/>
                      <a:round/>
                      <a:headEnd type="none" w="med" len="med"/>
                      <a:tailEnd type="none" w="med" len="med"/>
                    </a:lnR>
                    <a:lnT w="9525" cap="flat" cmpd="sng" algn="ctr">
                      <a:solidFill>
                        <a:srgbClr val="E3E1F1"/>
                      </a:solidFill>
                      <a:prstDash val="solid"/>
                      <a:round/>
                      <a:headEnd type="none" w="med" len="med"/>
                      <a:tailEnd type="none" w="med" len="med"/>
                    </a:lnT>
                    <a:lnB w="9525" cap="flat" cmpd="sng" algn="ctr">
                      <a:solidFill>
                        <a:srgbClr val="E3E1F1"/>
                      </a:solidFill>
                      <a:prstDash val="solid"/>
                      <a:round/>
                      <a:headEnd type="none" w="med" len="med"/>
                      <a:tailEnd type="none" w="med" len="med"/>
                    </a:lnB>
                    <a:solidFill>
                      <a:srgbClr val="F4F3FA"/>
                    </a:solidFill>
                  </a:tcPr>
                </a:tc>
                <a:tc>
                  <a:txBody>
                    <a:bodyPr/>
                    <a:lstStyle/>
                    <a:p>
                      <a:pPr marL="0" indent="0">
                        <a:buNone/>
                      </a:pPr>
                      <a:r>
                        <a:rPr lang="en-US" sz="1350" dirty="0">
                          <a:solidFill>
                            <a:srgbClr val="1B1B3A"/>
                          </a:solidFill>
                          <a:latin typeface="Calibri" pitchFamily="34" charset="0"/>
                          <a:ea typeface="Calibri" pitchFamily="34" charset="-122"/>
                          <a:cs typeface="Calibri" pitchFamily="34" charset="-120"/>
                        </a:rPr>
                        <a:t>Small but capable, low VRAM footprint</a:t>
                      </a:r>
                      <a:endParaRPr lang="en-US" sz="1350" dirty="0">
                        <a:latin typeface="Calibri" charset="0"/>
                        <a:ea typeface="Calibri" charset="0"/>
                        <a:cs typeface="Calibri" charset="0"/>
                      </a:endParaRPr>
                    </a:p>
                  </a:txBody>
                  <a:tcPr marL="73152" marR="73152" marT="73152" marB="73152" anchor="ctr">
                    <a:lnL w="9525" cap="flat" cmpd="sng" algn="ctr">
                      <a:solidFill>
                        <a:srgbClr val="E3E1F1"/>
                      </a:solidFill>
                      <a:prstDash val="solid"/>
                      <a:round/>
                      <a:headEnd type="none" w="med" len="med"/>
                      <a:tailEnd type="none" w="med" len="med"/>
                    </a:lnL>
                    <a:lnR w="9525" cap="flat" cmpd="sng" algn="ctr">
                      <a:solidFill>
                        <a:srgbClr val="E3E1F1"/>
                      </a:solidFill>
                      <a:prstDash val="solid"/>
                      <a:round/>
                      <a:headEnd type="none" w="med" len="med"/>
                      <a:tailEnd type="none" w="med" len="med"/>
                    </a:lnR>
                    <a:lnT w="9525" cap="flat" cmpd="sng" algn="ctr">
                      <a:solidFill>
                        <a:srgbClr val="E3E1F1"/>
                      </a:solidFill>
                      <a:prstDash val="solid"/>
                      <a:round/>
                      <a:headEnd type="none" w="med" len="med"/>
                      <a:tailEnd type="none" w="med" len="med"/>
                    </a:lnT>
                    <a:lnB w="9525" cap="flat" cmpd="sng" algn="ctr">
                      <a:solidFill>
                        <a:srgbClr val="E3E1F1"/>
                      </a:solidFill>
                      <a:prstDash val="solid"/>
                      <a:round/>
                      <a:headEnd type="none" w="med" len="med"/>
                      <a:tailEnd type="none" w="med" len="med"/>
                    </a:lnB>
                    <a:solidFill>
                      <a:srgbClr val="F4F3FA"/>
                    </a:solidFill>
                  </a:tcPr>
                </a:tc>
                <a:extLst>
                  <a:ext uri="{0D108BD9-81ED-4DB2-BD59-A6C34878D82A}">
                    <a16:rowId xmlns:a16="http://schemas.microsoft.com/office/drawing/2014/main" val="10005"/>
                  </a:ext>
                </a:extLst>
              </a:tr>
            </a:tbl>
          </a:graphicData>
        </a:graphic>
      </p:graphicFrame>
      <p:sp>
        <p:nvSpPr>
          <p:cNvPr id="7" name="Text 3"/>
          <p:cNvSpPr/>
          <p:nvPr/>
        </p:nvSpPr>
        <p:spPr>
          <a:xfrm>
            <a:off x="640080" y="5257800"/>
            <a:ext cx="10908792" cy="365760"/>
          </a:xfrm>
          <a:prstGeom prst="rect">
            <a:avLst/>
          </a:prstGeom>
          <a:noFill/>
          <a:ln/>
        </p:spPr>
        <p:txBody>
          <a:bodyPr wrap="square" rtlCol="0" anchor="ctr"/>
          <a:lstStyle/>
          <a:p>
            <a:pPr marL="0" indent="0" algn="ctr">
              <a:buNone/>
            </a:pPr>
            <a:r>
              <a:rPr lang="en-US" sz="1250" i="1" dirty="0">
                <a:solidFill>
                  <a:srgbClr val="6B6B85"/>
                </a:solidFill>
                <a:latin typeface="Calibri" pitchFamily="34" charset="0"/>
                <a:ea typeface="Calibri" pitchFamily="34" charset="-122"/>
                <a:cs typeface="Calibri" pitchFamily="34" charset="-120"/>
              </a:rPr>
              <a:t>New models ship monthly — check current leaderboards before committing.</a:t>
            </a:r>
            <a:endParaRPr lang="en-US" sz="1250" dirty="0"/>
          </a:p>
        </p:txBody>
      </p:sp>
      <p:sp>
        <p:nvSpPr>
          <p:cNvPr id="8" name="Shape 4"/>
          <p:cNvSpPr/>
          <p:nvPr/>
        </p:nvSpPr>
        <p:spPr>
          <a:xfrm>
            <a:off x="640080" y="5715000"/>
            <a:ext cx="10908792" cy="594360"/>
          </a:xfrm>
          <a:prstGeom prst="roundRect">
            <a:avLst>
              <a:gd name="adj" fmla="val 12308"/>
            </a:avLst>
          </a:prstGeom>
          <a:solidFill>
            <a:srgbClr val="ECE4FD"/>
          </a:solidFill>
          <a:ln/>
        </p:spPr>
        <p:txBody>
          <a:bodyPr/>
          <a:lstStyle/>
          <a:p>
            <a:endParaRPr lang="en-US"/>
          </a:p>
        </p:txBody>
      </p:sp>
      <p:sp>
        <p:nvSpPr>
          <p:cNvPr id="9" name="Text 5"/>
          <p:cNvSpPr/>
          <p:nvPr/>
        </p:nvSpPr>
        <p:spPr>
          <a:xfrm>
            <a:off x="914400" y="5715000"/>
            <a:ext cx="10360152" cy="594360"/>
          </a:xfrm>
          <a:prstGeom prst="rect">
            <a:avLst/>
          </a:prstGeom>
          <a:noFill/>
          <a:ln/>
        </p:spPr>
        <p:txBody>
          <a:bodyPr wrap="square" rtlCol="0" anchor="ctr"/>
          <a:lstStyle/>
          <a:p>
            <a:pPr marL="0" indent="0">
              <a:buNone/>
            </a:pPr>
            <a:r>
              <a:rPr lang="en-US" sz="1300" b="1" dirty="0">
                <a:solidFill>
                  <a:srgbClr val="7C3AED"/>
                </a:solidFill>
                <a:latin typeface="Calibri" pitchFamily="34" charset="0"/>
                <a:ea typeface="Calibri" pitchFamily="34" charset="-122"/>
                <a:cs typeface="Calibri" pitchFamily="34" charset="-120"/>
              </a:rPr>
              <a:t>Rule of thumb: start with the smallest model that could plausibly do the task — upgrade only if it falls short.</a:t>
            </a:r>
            <a:endParaRPr lang="en-US" sz="1300" dirty="0"/>
          </a:p>
        </p:txBody>
      </p:sp>
      <p:sp>
        <p:nvSpPr>
          <p:cNvPr id="10" name="Text 6"/>
          <p:cNvSpPr/>
          <p:nvPr/>
        </p:nvSpPr>
        <p:spPr>
          <a:xfrm>
            <a:off x="11292840" y="6473952"/>
            <a:ext cx="502920" cy="274320"/>
          </a:xfrm>
          <a:prstGeom prst="rect">
            <a:avLst/>
          </a:prstGeom>
          <a:noFill/>
          <a:ln/>
        </p:spPr>
        <p:txBody>
          <a:bodyPr wrap="square" rtlCol="0" anchor="ctr"/>
          <a:lstStyle/>
          <a:p>
            <a:pPr marL="0" indent="0" algn="r">
              <a:buNone/>
            </a:pPr>
            <a:r>
              <a:rPr lang="en-US" sz="1000" dirty="0">
                <a:solidFill>
                  <a:srgbClr val="6B6B85"/>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8686800" cy="274320"/>
          </a:xfrm>
          <a:prstGeom prst="rect">
            <a:avLst/>
          </a:prstGeom>
          <a:noFill/>
          <a:ln/>
        </p:spPr>
        <p:txBody>
          <a:bodyPr wrap="square" rtlCol="0" anchor="ctr"/>
          <a:lstStyle/>
          <a:p>
            <a:pPr marL="0" indent="0">
              <a:buNone/>
            </a:pPr>
            <a:r>
              <a:rPr lang="en-US" sz="1150" b="1" kern="0" spc="200" dirty="0">
                <a:solidFill>
                  <a:srgbClr val="7C3AED"/>
                </a:solidFill>
                <a:latin typeface="Calibri" pitchFamily="34" charset="0"/>
                <a:ea typeface="Calibri" pitchFamily="34" charset="-122"/>
                <a:cs typeface="Calibri" pitchFamily="34" charset="-120"/>
              </a:rPr>
              <a:t>THE PIPELINE · STEP 4 OF 7</a:t>
            </a:r>
            <a:endParaRPr lang="en-US" sz="1150" dirty="0"/>
          </a:p>
        </p:txBody>
      </p:sp>
      <p:sp>
        <p:nvSpPr>
          <p:cNvPr id="3" name="Text 1"/>
          <p:cNvSpPr/>
          <p:nvPr/>
        </p:nvSpPr>
        <p:spPr>
          <a:xfrm>
            <a:off x="640080" y="621792"/>
            <a:ext cx="9692640" cy="685800"/>
          </a:xfrm>
          <a:prstGeom prst="rect">
            <a:avLst/>
          </a:prstGeom>
          <a:noFill/>
          <a:ln/>
        </p:spPr>
        <p:txBody>
          <a:bodyPr wrap="square" rtlCol="0" anchor="t"/>
          <a:lstStyle/>
          <a:p>
            <a:pPr marL="0" indent="0">
              <a:buNone/>
            </a:pPr>
            <a:r>
              <a:rPr lang="en-US" sz="3200" b="1" dirty="0">
                <a:solidFill>
                  <a:srgbClr val="1B1B3A"/>
                </a:solidFill>
                <a:latin typeface="Arial" pitchFamily="34" charset="0"/>
                <a:ea typeface="Arial" pitchFamily="34" charset="-122"/>
                <a:cs typeface="Arial" pitchFamily="34" charset="-120"/>
              </a:rPr>
              <a:t>Compute &amp; Hardware</a:t>
            </a:r>
            <a:endParaRPr lang="en-US" sz="3200" dirty="0"/>
          </a:p>
        </p:txBody>
      </p:sp>
      <p:sp>
        <p:nvSpPr>
          <p:cNvPr id="4" name="Shape 2"/>
          <p:cNvSpPr/>
          <p:nvPr/>
        </p:nvSpPr>
        <p:spPr>
          <a:xfrm>
            <a:off x="10721340" y="434340"/>
            <a:ext cx="777240" cy="777240"/>
          </a:xfrm>
          <a:prstGeom prst="ellipse">
            <a:avLst/>
          </a:prstGeom>
          <a:solidFill>
            <a:srgbClr val="7C3AED"/>
          </a:solidFill>
          <a:ln/>
        </p:spPr>
        <p:txBody>
          <a:bodyPr/>
          <a:lstStyle/>
          <a:p>
            <a:endParaRPr lang="en-US"/>
          </a:p>
        </p:txBody>
      </p:sp>
      <p:pic>
        <p:nvPicPr>
          <p:cNvPr id="5" name="Image 0" descr="/home/claude/llm_finetune_deck/icons/server.png"/>
          <p:cNvPicPr>
            <a:picLocks noChangeAspect="1"/>
          </p:cNvPicPr>
          <p:nvPr/>
        </p:nvPicPr>
        <p:blipFill>
          <a:blip r:embed="rId3"/>
          <a:stretch>
            <a:fillRect/>
          </a:stretch>
        </p:blipFill>
        <p:spPr>
          <a:xfrm>
            <a:off x="10907878" y="620878"/>
            <a:ext cx="404165" cy="404165"/>
          </a:xfrm>
          <a:prstGeom prst="rect">
            <a:avLst/>
          </a:prstGeom>
        </p:spPr>
      </p:pic>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08792" cy="2194560"/>
        </p:xfrm>
        <a:graphic>
          <a:graphicData uri="http://schemas.openxmlformats.org/drawingml/2006/table">
            <a:tbl>
              <a:tblPr/>
              <a:tblGrid>
                <a:gridCol w="292608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4782312">
                  <a:extLst>
                    <a:ext uri="{9D8B030D-6E8A-4147-A177-3AD203B41FA5}">
                      <a16:colId xmlns:a16="http://schemas.microsoft.com/office/drawing/2014/main" val="20002"/>
                    </a:ext>
                  </a:extLst>
                </a:gridCol>
              </a:tblGrid>
              <a:tr h="54864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Method</a:t>
                      </a:r>
                      <a:endParaRPr lang="en-US" sz="1400" dirty="0">
                        <a:latin typeface="Calibri" charset="0"/>
                        <a:ea typeface="Calibri" charset="0"/>
                        <a:cs typeface="Calibri" charset="0"/>
                      </a:endParaRPr>
                    </a:p>
                  </a:txBody>
                  <a:tcPr marL="73152" marR="73152" marT="73152" marB="73152" anchor="ctr">
                    <a:lnL w="9525" cap="flat" cmpd="sng" algn="ctr">
                      <a:solidFill>
                        <a:srgbClr val="E3E1F1"/>
                      </a:solidFill>
                      <a:prstDash val="solid"/>
                      <a:round/>
                      <a:headEnd type="none" w="med" len="med"/>
                      <a:tailEnd type="none" w="med" len="med"/>
                    </a:lnL>
                    <a:lnR w="9525" cap="flat" cmpd="sng" algn="ctr">
                      <a:solidFill>
                        <a:srgbClr val="E3E1F1"/>
                      </a:solidFill>
                      <a:prstDash val="solid"/>
                      <a:round/>
                      <a:headEnd type="none" w="med" len="med"/>
                      <a:tailEnd type="none" w="med" len="med"/>
                    </a:lnR>
                    <a:lnT w="9525" cap="flat" cmpd="sng" algn="ctr">
                      <a:solidFill>
                        <a:srgbClr val="E3E1F1"/>
                      </a:solidFill>
                      <a:prstDash val="solid"/>
                      <a:round/>
                      <a:headEnd type="none" w="med" len="med"/>
                      <a:tailEnd type="none" w="med" len="med"/>
                    </a:lnT>
                    <a:lnB w="9525" cap="flat" cmpd="sng" algn="ctr">
                      <a:solidFill>
                        <a:srgbClr val="E3E1F1"/>
                      </a:solidFill>
                      <a:prstDash val="solid"/>
                      <a:round/>
                      <a:headEnd type="none" w="med" len="med"/>
                      <a:tailEnd type="none" w="med" len="med"/>
                    </a:lnB>
                    <a:solidFill>
                      <a:srgbClr val="1B1B3A"/>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Approx. VRAM (7B model)</a:t>
                      </a:r>
                      <a:endParaRPr lang="en-US" sz="1400" dirty="0">
                        <a:latin typeface="Calibri" charset="0"/>
                        <a:ea typeface="Calibri" charset="0"/>
                        <a:cs typeface="Calibri" charset="0"/>
                      </a:endParaRPr>
                    </a:p>
                  </a:txBody>
                  <a:tcPr marL="73152" marR="73152" marT="73152" marB="73152" anchor="ctr">
                    <a:lnL w="9525" cap="flat" cmpd="sng" algn="ctr">
                      <a:solidFill>
                        <a:srgbClr val="E3E1F1"/>
                      </a:solidFill>
                      <a:prstDash val="solid"/>
                      <a:round/>
                      <a:headEnd type="none" w="med" len="med"/>
                      <a:tailEnd type="none" w="med" len="med"/>
                    </a:lnL>
                    <a:lnR w="9525" cap="flat" cmpd="sng" algn="ctr">
                      <a:solidFill>
                        <a:srgbClr val="E3E1F1"/>
                      </a:solidFill>
                      <a:prstDash val="solid"/>
                      <a:round/>
                      <a:headEnd type="none" w="med" len="med"/>
                      <a:tailEnd type="none" w="med" len="med"/>
                    </a:lnR>
                    <a:lnT w="9525" cap="flat" cmpd="sng" algn="ctr">
                      <a:solidFill>
                        <a:srgbClr val="E3E1F1"/>
                      </a:solidFill>
                      <a:prstDash val="solid"/>
                      <a:round/>
                      <a:headEnd type="none" w="med" len="med"/>
                      <a:tailEnd type="none" w="med" len="med"/>
                    </a:lnT>
                    <a:lnB w="9525" cap="flat" cmpd="sng" algn="ctr">
                      <a:solidFill>
                        <a:srgbClr val="E3E1F1"/>
                      </a:solidFill>
                      <a:prstDash val="solid"/>
                      <a:round/>
                      <a:headEnd type="none" w="med" len="med"/>
                      <a:tailEnd type="none" w="med" len="med"/>
                    </a:lnB>
                    <a:solidFill>
                      <a:srgbClr val="1B1B3A"/>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Typical Setup</a:t>
                      </a:r>
                      <a:endParaRPr lang="en-US" sz="1400" dirty="0">
                        <a:latin typeface="Calibri" charset="0"/>
                        <a:ea typeface="Calibri" charset="0"/>
                        <a:cs typeface="Calibri" charset="0"/>
                      </a:endParaRPr>
                    </a:p>
                  </a:txBody>
                  <a:tcPr marL="73152" marR="73152" marT="73152" marB="73152" anchor="ctr">
                    <a:lnL w="9525" cap="flat" cmpd="sng" algn="ctr">
                      <a:solidFill>
                        <a:srgbClr val="E3E1F1"/>
                      </a:solidFill>
                      <a:prstDash val="solid"/>
                      <a:round/>
                      <a:headEnd type="none" w="med" len="med"/>
                      <a:tailEnd type="none" w="med" len="med"/>
                    </a:lnL>
                    <a:lnR w="9525" cap="flat" cmpd="sng" algn="ctr">
                      <a:solidFill>
                        <a:srgbClr val="E3E1F1"/>
                      </a:solidFill>
                      <a:prstDash val="solid"/>
                      <a:round/>
                      <a:headEnd type="none" w="med" len="med"/>
                      <a:tailEnd type="none" w="med" len="med"/>
                    </a:lnR>
                    <a:lnT w="9525" cap="flat" cmpd="sng" algn="ctr">
                      <a:solidFill>
                        <a:srgbClr val="E3E1F1"/>
                      </a:solidFill>
                      <a:prstDash val="solid"/>
                      <a:round/>
                      <a:headEnd type="none" w="med" len="med"/>
                      <a:tailEnd type="none" w="med" len="med"/>
                    </a:lnT>
                    <a:lnB w="9525" cap="flat" cmpd="sng" algn="ctr">
                      <a:solidFill>
                        <a:srgbClr val="E3E1F1"/>
                      </a:solidFill>
                      <a:prstDash val="solid"/>
                      <a:round/>
                      <a:headEnd type="none" w="med" len="med"/>
                      <a:tailEnd type="none" w="med" len="med"/>
                    </a:lnB>
                    <a:solidFill>
                      <a:srgbClr val="1B1B3A"/>
                    </a:solidFill>
                  </a:tcPr>
                </a:tc>
                <a:extLst>
                  <a:ext uri="{0D108BD9-81ED-4DB2-BD59-A6C34878D82A}">
                    <a16:rowId xmlns:a16="http://schemas.microsoft.com/office/drawing/2014/main" val="10000"/>
                  </a:ext>
                </a:extLst>
              </a:tr>
              <a:tr h="548640">
                <a:tc>
                  <a:txBody>
                    <a:bodyPr/>
                    <a:lstStyle/>
                    <a:p>
                      <a:pPr marL="0" indent="0">
                        <a:buNone/>
                      </a:pPr>
                      <a:r>
                        <a:rPr lang="en-US" sz="1400" dirty="0">
                          <a:solidFill>
                            <a:srgbClr val="1B1B3A"/>
                          </a:solidFill>
                          <a:latin typeface="Calibri" pitchFamily="34" charset="0"/>
                          <a:ea typeface="Calibri" pitchFamily="34" charset="-122"/>
                          <a:cs typeface="Calibri" pitchFamily="34" charset="-120"/>
                        </a:rPr>
                        <a:t>Full Finetuning</a:t>
                      </a:r>
                      <a:endParaRPr lang="en-US" sz="1400" dirty="0">
                        <a:latin typeface="Calibri" charset="0"/>
                        <a:ea typeface="Calibri" charset="0"/>
                        <a:cs typeface="Calibri" charset="0"/>
                      </a:endParaRPr>
                    </a:p>
                  </a:txBody>
                  <a:tcPr marL="73152" marR="73152" marT="73152" marB="73152" anchor="ctr">
                    <a:lnL w="9525" cap="flat" cmpd="sng" algn="ctr">
                      <a:solidFill>
                        <a:srgbClr val="E3E1F1"/>
                      </a:solidFill>
                      <a:prstDash val="solid"/>
                      <a:round/>
                      <a:headEnd type="none" w="med" len="med"/>
                      <a:tailEnd type="none" w="med" len="med"/>
                    </a:lnL>
                    <a:lnR w="9525" cap="flat" cmpd="sng" algn="ctr">
                      <a:solidFill>
                        <a:srgbClr val="E3E1F1"/>
                      </a:solidFill>
                      <a:prstDash val="solid"/>
                      <a:round/>
                      <a:headEnd type="none" w="med" len="med"/>
                      <a:tailEnd type="none" w="med" len="med"/>
                    </a:lnR>
                    <a:lnT w="9525" cap="flat" cmpd="sng" algn="ctr">
                      <a:solidFill>
                        <a:srgbClr val="E3E1F1"/>
                      </a:solidFill>
                      <a:prstDash val="solid"/>
                      <a:round/>
                      <a:headEnd type="none" w="med" len="med"/>
                      <a:tailEnd type="none" w="med" len="med"/>
                    </a:lnT>
                    <a:lnB w="9525" cap="flat" cmpd="sng" algn="ctr">
                      <a:solidFill>
                        <a:srgbClr val="E3E1F1"/>
                      </a:solidFill>
                      <a:prstDash val="solid"/>
                      <a:round/>
                      <a:headEnd type="none" w="med" len="med"/>
                      <a:tailEnd type="none" w="med" len="med"/>
                    </a:lnB>
                    <a:solidFill>
                      <a:srgbClr val="FFFFFF"/>
                    </a:solidFill>
                  </a:tcPr>
                </a:tc>
                <a:tc>
                  <a:txBody>
                    <a:bodyPr/>
                    <a:lstStyle/>
                    <a:p>
                      <a:pPr marL="0" indent="0">
                        <a:buNone/>
                      </a:pPr>
                      <a:r>
                        <a:rPr lang="en-US" sz="1400" dirty="0">
                          <a:solidFill>
                            <a:srgbClr val="1B1B3A"/>
                          </a:solidFill>
                          <a:latin typeface="Calibri" pitchFamily="34" charset="0"/>
                          <a:ea typeface="Calibri" pitchFamily="34" charset="-122"/>
                          <a:cs typeface="Calibri" pitchFamily="34" charset="-120"/>
                        </a:rPr>
                        <a:t>~100GB+</a:t>
                      </a:r>
                      <a:endParaRPr lang="en-US" sz="1400" dirty="0">
                        <a:latin typeface="Calibri" charset="0"/>
                        <a:ea typeface="Calibri" charset="0"/>
                        <a:cs typeface="Calibri" charset="0"/>
                      </a:endParaRPr>
                    </a:p>
                  </a:txBody>
                  <a:tcPr marL="73152" marR="73152" marT="73152" marB="73152" anchor="ctr">
                    <a:lnL w="9525" cap="flat" cmpd="sng" algn="ctr">
                      <a:solidFill>
                        <a:srgbClr val="E3E1F1"/>
                      </a:solidFill>
                      <a:prstDash val="solid"/>
                      <a:round/>
                      <a:headEnd type="none" w="med" len="med"/>
                      <a:tailEnd type="none" w="med" len="med"/>
                    </a:lnL>
                    <a:lnR w="9525" cap="flat" cmpd="sng" algn="ctr">
                      <a:solidFill>
                        <a:srgbClr val="E3E1F1"/>
                      </a:solidFill>
                      <a:prstDash val="solid"/>
                      <a:round/>
                      <a:headEnd type="none" w="med" len="med"/>
                      <a:tailEnd type="none" w="med" len="med"/>
                    </a:lnR>
                    <a:lnT w="9525" cap="flat" cmpd="sng" algn="ctr">
                      <a:solidFill>
                        <a:srgbClr val="E3E1F1"/>
                      </a:solidFill>
                      <a:prstDash val="solid"/>
                      <a:round/>
                      <a:headEnd type="none" w="med" len="med"/>
                      <a:tailEnd type="none" w="med" len="med"/>
                    </a:lnT>
                    <a:lnB w="9525" cap="flat" cmpd="sng" algn="ctr">
                      <a:solidFill>
                        <a:srgbClr val="E3E1F1"/>
                      </a:solidFill>
                      <a:prstDash val="solid"/>
                      <a:round/>
                      <a:headEnd type="none" w="med" len="med"/>
                      <a:tailEnd type="none" w="med" len="med"/>
                    </a:lnB>
                    <a:solidFill>
                      <a:srgbClr val="FFFFFF"/>
                    </a:solidFill>
                  </a:tcPr>
                </a:tc>
                <a:tc>
                  <a:txBody>
                    <a:bodyPr/>
                    <a:lstStyle/>
                    <a:p>
                      <a:pPr marL="0" indent="0">
                        <a:buNone/>
                      </a:pPr>
                      <a:r>
                        <a:rPr lang="en-US" sz="1400" dirty="0">
                          <a:solidFill>
                            <a:srgbClr val="1B1B3A"/>
                          </a:solidFill>
                          <a:latin typeface="Calibri" pitchFamily="34" charset="0"/>
                          <a:ea typeface="Calibri" pitchFamily="34" charset="-122"/>
                          <a:cs typeface="Calibri" pitchFamily="34" charset="-120"/>
                        </a:rPr>
                        <a:t>Multi-GPU server / cloud cluster</a:t>
                      </a:r>
                      <a:endParaRPr lang="en-US" sz="1400" dirty="0">
                        <a:latin typeface="Calibri" charset="0"/>
                        <a:ea typeface="Calibri" charset="0"/>
                        <a:cs typeface="Calibri" charset="0"/>
                      </a:endParaRPr>
                    </a:p>
                  </a:txBody>
                  <a:tcPr marL="73152" marR="73152" marT="73152" marB="73152" anchor="ctr">
                    <a:lnL w="9525" cap="flat" cmpd="sng" algn="ctr">
                      <a:solidFill>
                        <a:srgbClr val="E3E1F1"/>
                      </a:solidFill>
                      <a:prstDash val="solid"/>
                      <a:round/>
                      <a:headEnd type="none" w="med" len="med"/>
                      <a:tailEnd type="none" w="med" len="med"/>
                    </a:lnL>
                    <a:lnR w="9525" cap="flat" cmpd="sng" algn="ctr">
                      <a:solidFill>
                        <a:srgbClr val="E3E1F1"/>
                      </a:solidFill>
                      <a:prstDash val="solid"/>
                      <a:round/>
                      <a:headEnd type="none" w="med" len="med"/>
                      <a:tailEnd type="none" w="med" len="med"/>
                    </a:lnR>
                    <a:lnT w="9525" cap="flat" cmpd="sng" algn="ctr">
                      <a:solidFill>
                        <a:srgbClr val="E3E1F1"/>
                      </a:solidFill>
                      <a:prstDash val="solid"/>
                      <a:round/>
                      <a:headEnd type="none" w="med" len="med"/>
                      <a:tailEnd type="none" w="med" len="med"/>
                    </a:lnT>
                    <a:lnB w="9525" cap="flat" cmpd="sng" algn="ctr">
                      <a:solidFill>
                        <a:srgbClr val="E3E1F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400" dirty="0">
                          <a:solidFill>
                            <a:srgbClr val="1B1B3A"/>
                          </a:solidFill>
                          <a:latin typeface="Calibri" pitchFamily="34" charset="0"/>
                          <a:ea typeface="Calibri" pitchFamily="34" charset="-122"/>
                          <a:cs typeface="Calibri" pitchFamily="34" charset="-120"/>
                        </a:rPr>
                        <a:t>LoRA</a:t>
                      </a:r>
                      <a:endParaRPr lang="en-US" sz="1400" dirty="0">
                        <a:latin typeface="Calibri" charset="0"/>
                        <a:ea typeface="Calibri" charset="0"/>
                        <a:cs typeface="Calibri" charset="0"/>
                      </a:endParaRPr>
                    </a:p>
                  </a:txBody>
                  <a:tcPr marL="73152" marR="73152" marT="73152" marB="73152" anchor="ctr">
                    <a:lnL w="9525" cap="flat" cmpd="sng" algn="ctr">
                      <a:solidFill>
                        <a:srgbClr val="E3E1F1"/>
                      </a:solidFill>
                      <a:prstDash val="solid"/>
                      <a:round/>
                      <a:headEnd type="none" w="med" len="med"/>
                      <a:tailEnd type="none" w="med" len="med"/>
                    </a:lnL>
                    <a:lnR w="9525" cap="flat" cmpd="sng" algn="ctr">
                      <a:solidFill>
                        <a:srgbClr val="E3E1F1"/>
                      </a:solidFill>
                      <a:prstDash val="solid"/>
                      <a:round/>
                      <a:headEnd type="none" w="med" len="med"/>
                      <a:tailEnd type="none" w="med" len="med"/>
                    </a:lnR>
                    <a:lnT w="9525" cap="flat" cmpd="sng" algn="ctr">
                      <a:solidFill>
                        <a:srgbClr val="E3E1F1"/>
                      </a:solidFill>
                      <a:prstDash val="solid"/>
                      <a:round/>
                      <a:headEnd type="none" w="med" len="med"/>
                      <a:tailEnd type="none" w="med" len="med"/>
                    </a:lnT>
                    <a:lnB w="9525" cap="flat" cmpd="sng" algn="ctr">
                      <a:solidFill>
                        <a:srgbClr val="E3E1F1"/>
                      </a:solidFill>
                      <a:prstDash val="solid"/>
                      <a:round/>
                      <a:headEnd type="none" w="med" len="med"/>
                      <a:tailEnd type="none" w="med" len="med"/>
                    </a:lnB>
                    <a:solidFill>
                      <a:srgbClr val="F4F3FA"/>
                    </a:solidFill>
                  </a:tcPr>
                </a:tc>
                <a:tc>
                  <a:txBody>
                    <a:bodyPr/>
                    <a:lstStyle/>
                    <a:p>
                      <a:pPr marL="0" indent="0">
                        <a:buNone/>
                      </a:pPr>
                      <a:r>
                        <a:rPr lang="en-US" sz="1400" dirty="0">
                          <a:solidFill>
                            <a:srgbClr val="1B1B3A"/>
                          </a:solidFill>
                          <a:latin typeface="Calibri" pitchFamily="34" charset="0"/>
                          <a:ea typeface="Calibri" pitchFamily="34" charset="-122"/>
                          <a:cs typeface="Calibri" pitchFamily="34" charset="-120"/>
                        </a:rPr>
                        <a:t>~16GB</a:t>
                      </a:r>
                      <a:endParaRPr lang="en-US" sz="1400" dirty="0">
                        <a:latin typeface="Calibri" charset="0"/>
                        <a:ea typeface="Calibri" charset="0"/>
                        <a:cs typeface="Calibri" charset="0"/>
                      </a:endParaRPr>
                    </a:p>
                  </a:txBody>
                  <a:tcPr marL="73152" marR="73152" marT="73152" marB="73152" anchor="ctr">
                    <a:lnL w="9525" cap="flat" cmpd="sng" algn="ctr">
                      <a:solidFill>
                        <a:srgbClr val="E3E1F1"/>
                      </a:solidFill>
                      <a:prstDash val="solid"/>
                      <a:round/>
                      <a:headEnd type="none" w="med" len="med"/>
                      <a:tailEnd type="none" w="med" len="med"/>
                    </a:lnL>
                    <a:lnR w="9525" cap="flat" cmpd="sng" algn="ctr">
                      <a:solidFill>
                        <a:srgbClr val="E3E1F1"/>
                      </a:solidFill>
                      <a:prstDash val="solid"/>
                      <a:round/>
                      <a:headEnd type="none" w="med" len="med"/>
                      <a:tailEnd type="none" w="med" len="med"/>
                    </a:lnR>
                    <a:lnT w="9525" cap="flat" cmpd="sng" algn="ctr">
                      <a:solidFill>
                        <a:srgbClr val="E3E1F1"/>
                      </a:solidFill>
                      <a:prstDash val="solid"/>
                      <a:round/>
                      <a:headEnd type="none" w="med" len="med"/>
                      <a:tailEnd type="none" w="med" len="med"/>
                    </a:lnT>
                    <a:lnB w="9525" cap="flat" cmpd="sng" algn="ctr">
                      <a:solidFill>
                        <a:srgbClr val="E3E1F1"/>
                      </a:solidFill>
                      <a:prstDash val="solid"/>
                      <a:round/>
                      <a:headEnd type="none" w="med" len="med"/>
                      <a:tailEnd type="none" w="med" len="med"/>
                    </a:lnB>
                    <a:solidFill>
                      <a:srgbClr val="F4F3FA"/>
                    </a:solidFill>
                  </a:tcPr>
                </a:tc>
                <a:tc>
                  <a:txBody>
                    <a:bodyPr/>
                    <a:lstStyle/>
                    <a:p>
                      <a:pPr marL="0" indent="0">
                        <a:buNone/>
                      </a:pPr>
                      <a:r>
                        <a:rPr lang="en-US" sz="1400" dirty="0">
                          <a:solidFill>
                            <a:srgbClr val="1B1B3A"/>
                          </a:solidFill>
                          <a:latin typeface="Calibri" pitchFamily="34" charset="0"/>
                          <a:ea typeface="Calibri" pitchFamily="34" charset="-122"/>
                          <a:cs typeface="Calibri" pitchFamily="34" charset="-120"/>
                        </a:rPr>
                        <a:t>Single RTX 3090 / 4090, or Colab Pro</a:t>
                      </a:r>
                      <a:endParaRPr lang="en-US" sz="1400" dirty="0">
                        <a:latin typeface="Calibri" charset="0"/>
                        <a:ea typeface="Calibri" charset="0"/>
                        <a:cs typeface="Calibri" charset="0"/>
                      </a:endParaRPr>
                    </a:p>
                  </a:txBody>
                  <a:tcPr marL="73152" marR="73152" marT="73152" marB="73152" anchor="ctr">
                    <a:lnL w="9525" cap="flat" cmpd="sng" algn="ctr">
                      <a:solidFill>
                        <a:srgbClr val="E3E1F1"/>
                      </a:solidFill>
                      <a:prstDash val="solid"/>
                      <a:round/>
                      <a:headEnd type="none" w="med" len="med"/>
                      <a:tailEnd type="none" w="med" len="med"/>
                    </a:lnL>
                    <a:lnR w="9525" cap="flat" cmpd="sng" algn="ctr">
                      <a:solidFill>
                        <a:srgbClr val="E3E1F1"/>
                      </a:solidFill>
                      <a:prstDash val="solid"/>
                      <a:round/>
                      <a:headEnd type="none" w="med" len="med"/>
                      <a:tailEnd type="none" w="med" len="med"/>
                    </a:lnR>
                    <a:lnT w="9525" cap="flat" cmpd="sng" algn="ctr">
                      <a:solidFill>
                        <a:srgbClr val="E3E1F1"/>
                      </a:solidFill>
                      <a:prstDash val="solid"/>
                      <a:round/>
                      <a:headEnd type="none" w="med" len="med"/>
                      <a:tailEnd type="none" w="med" len="med"/>
                    </a:lnT>
                    <a:lnB w="9525" cap="flat" cmpd="sng" algn="ctr">
                      <a:solidFill>
                        <a:srgbClr val="E3E1F1"/>
                      </a:solidFill>
                      <a:prstDash val="solid"/>
                      <a:round/>
                      <a:headEnd type="none" w="med" len="med"/>
                      <a:tailEnd type="none" w="med" len="med"/>
                    </a:lnB>
                    <a:solidFill>
                      <a:srgbClr val="F4F3FA"/>
                    </a:solidFill>
                  </a:tcPr>
                </a:tc>
                <a:extLst>
                  <a:ext uri="{0D108BD9-81ED-4DB2-BD59-A6C34878D82A}">
                    <a16:rowId xmlns:a16="http://schemas.microsoft.com/office/drawing/2014/main" val="10002"/>
                  </a:ext>
                </a:extLst>
              </a:tr>
              <a:tr h="548640">
                <a:tc>
                  <a:txBody>
                    <a:bodyPr/>
                    <a:lstStyle/>
                    <a:p>
                      <a:pPr marL="0" indent="0">
                        <a:buNone/>
                      </a:pPr>
                      <a:r>
                        <a:rPr lang="en-US" sz="1400" b="1" dirty="0">
                          <a:solidFill>
                            <a:srgbClr val="1B1B3A"/>
                          </a:solidFill>
                          <a:latin typeface="Calibri" pitchFamily="34" charset="0"/>
                          <a:ea typeface="Calibri" pitchFamily="34" charset="-122"/>
                          <a:cs typeface="Calibri" pitchFamily="34" charset="-120"/>
                        </a:rPr>
                        <a:t>QLoRA</a:t>
                      </a:r>
                      <a:endParaRPr lang="en-US" sz="1400" dirty="0">
                        <a:latin typeface="Calibri" charset="0"/>
                        <a:ea typeface="Calibri" charset="0"/>
                        <a:cs typeface="Calibri" charset="0"/>
                      </a:endParaRPr>
                    </a:p>
                  </a:txBody>
                  <a:tcPr marL="73152" marR="73152" marT="73152" marB="73152" anchor="ctr">
                    <a:lnL w="9525" cap="flat" cmpd="sng" algn="ctr">
                      <a:solidFill>
                        <a:srgbClr val="E3E1F1"/>
                      </a:solidFill>
                      <a:prstDash val="solid"/>
                      <a:round/>
                      <a:headEnd type="none" w="med" len="med"/>
                      <a:tailEnd type="none" w="med" len="med"/>
                    </a:lnL>
                    <a:lnR w="9525" cap="flat" cmpd="sng" algn="ctr">
                      <a:solidFill>
                        <a:srgbClr val="E3E1F1"/>
                      </a:solidFill>
                      <a:prstDash val="solid"/>
                      <a:round/>
                      <a:headEnd type="none" w="med" len="med"/>
                      <a:tailEnd type="none" w="med" len="med"/>
                    </a:lnR>
                    <a:lnT w="9525" cap="flat" cmpd="sng" algn="ctr">
                      <a:solidFill>
                        <a:srgbClr val="E3E1F1"/>
                      </a:solidFill>
                      <a:prstDash val="solid"/>
                      <a:round/>
                      <a:headEnd type="none" w="med" len="med"/>
                      <a:tailEnd type="none" w="med" len="med"/>
                    </a:lnT>
                    <a:lnB w="9525" cap="flat" cmpd="sng" algn="ctr">
                      <a:solidFill>
                        <a:srgbClr val="E3E1F1"/>
                      </a:solidFill>
                      <a:prstDash val="solid"/>
                      <a:round/>
                      <a:headEnd type="none" w="med" len="med"/>
                      <a:tailEnd type="none" w="med" len="med"/>
                    </a:lnB>
                    <a:solidFill>
                      <a:srgbClr val="FFFFFF"/>
                    </a:solidFill>
                  </a:tcPr>
                </a:tc>
                <a:tc>
                  <a:txBody>
                    <a:bodyPr/>
                    <a:lstStyle/>
                    <a:p>
                      <a:pPr marL="0" indent="0">
                        <a:buNone/>
                      </a:pPr>
                      <a:r>
                        <a:rPr lang="en-US" sz="1400" b="1" dirty="0">
                          <a:solidFill>
                            <a:srgbClr val="7C3AED"/>
                          </a:solidFill>
                          <a:latin typeface="Calibri" pitchFamily="34" charset="0"/>
                          <a:ea typeface="Calibri" pitchFamily="34" charset="-122"/>
                          <a:cs typeface="Calibri" pitchFamily="34" charset="-120"/>
                        </a:rPr>
                        <a:t>~6–8GB</a:t>
                      </a:r>
                      <a:endParaRPr lang="en-US" sz="1400" dirty="0">
                        <a:latin typeface="Calibri" charset="0"/>
                        <a:ea typeface="Calibri" charset="0"/>
                        <a:cs typeface="Calibri" charset="0"/>
                      </a:endParaRPr>
                    </a:p>
                  </a:txBody>
                  <a:tcPr marL="73152" marR="73152" marT="73152" marB="73152" anchor="ctr">
                    <a:lnL w="9525" cap="flat" cmpd="sng" algn="ctr">
                      <a:solidFill>
                        <a:srgbClr val="E3E1F1"/>
                      </a:solidFill>
                      <a:prstDash val="solid"/>
                      <a:round/>
                      <a:headEnd type="none" w="med" len="med"/>
                      <a:tailEnd type="none" w="med" len="med"/>
                    </a:lnL>
                    <a:lnR w="9525" cap="flat" cmpd="sng" algn="ctr">
                      <a:solidFill>
                        <a:srgbClr val="E3E1F1"/>
                      </a:solidFill>
                      <a:prstDash val="solid"/>
                      <a:round/>
                      <a:headEnd type="none" w="med" len="med"/>
                      <a:tailEnd type="none" w="med" len="med"/>
                    </a:lnR>
                    <a:lnT w="9525" cap="flat" cmpd="sng" algn="ctr">
                      <a:solidFill>
                        <a:srgbClr val="E3E1F1"/>
                      </a:solidFill>
                      <a:prstDash val="solid"/>
                      <a:round/>
                      <a:headEnd type="none" w="med" len="med"/>
                      <a:tailEnd type="none" w="med" len="med"/>
                    </a:lnT>
                    <a:lnB w="9525" cap="flat" cmpd="sng" algn="ctr">
                      <a:solidFill>
                        <a:srgbClr val="E3E1F1"/>
                      </a:solidFill>
                      <a:prstDash val="solid"/>
                      <a:round/>
                      <a:headEnd type="none" w="med" len="med"/>
                      <a:tailEnd type="none" w="med" len="med"/>
                    </a:lnB>
                    <a:solidFill>
                      <a:srgbClr val="FFFFFF"/>
                    </a:solidFill>
                  </a:tcPr>
                </a:tc>
                <a:tc>
                  <a:txBody>
                    <a:bodyPr/>
                    <a:lstStyle/>
                    <a:p>
                      <a:pPr marL="0" indent="0">
                        <a:buNone/>
                      </a:pPr>
                      <a:r>
                        <a:rPr lang="en-US" sz="1400" b="1" dirty="0">
                          <a:solidFill>
                            <a:srgbClr val="1B1B3A"/>
                          </a:solidFill>
                          <a:latin typeface="Calibri" pitchFamily="34" charset="0"/>
                          <a:ea typeface="Calibri" pitchFamily="34" charset="-122"/>
                          <a:cs typeface="Calibri" pitchFamily="34" charset="-120"/>
                        </a:rPr>
                        <a:t>Free-tier Colab or Kaggle GPU</a:t>
                      </a:r>
                      <a:endParaRPr lang="en-US" sz="1400" dirty="0">
                        <a:latin typeface="Calibri" charset="0"/>
                        <a:ea typeface="Calibri" charset="0"/>
                        <a:cs typeface="Calibri" charset="0"/>
                      </a:endParaRPr>
                    </a:p>
                  </a:txBody>
                  <a:tcPr marL="73152" marR="73152" marT="73152" marB="73152" anchor="ctr">
                    <a:lnL w="9525" cap="flat" cmpd="sng" algn="ctr">
                      <a:solidFill>
                        <a:srgbClr val="E3E1F1"/>
                      </a:solidFill>
                      <a:prstDash val="solid"/>
                      <a:round/>
                      <a:headEnd type="none" w="med" len="med"/>
                      <a:tailEnd type="none" w="med" len="med"/>
                    </a:lnL>
                    <a:lnR w="9525" cap="flat" cmpd="sng" algn="ctr">
                      <a:solidFill>
                        <a:srgbClr val="E3E1F1"/>
                      </a:solidFill>
                      <a:prstDash val="solid"/>
                      <a:round/>
                      <a:headEnd type="none" w="med" len="med"/>
                      <a:tailEnd type="none" w="med" len="med"/>
                    </a:lnR>
                    <a:lnT w="9525" cap="flat" cmpd="sng" algn="ctr">
                      <a:solidFill>
                        <a:srgbClr val="E3E1F1"/>
                      </a:solidFill>
                      <a:prstDash val="solid"/>
                      <a:round/>
                      <a:headEnd type="none" w="med" len="med"/>
                      <a:tailEnd type="none" w="med" len="med"/>
                    </a:lnT>
                    <a:lnB w="9525" cap="flat" cmpd="sng" algn="ctr">
                      <a:solidFill>
                        <a:srgbClr val="E3E1F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Text 3"/>
          <p:cNvSpPr/>
          <p:nvPr/>
        </p:nvSpPr>
        <p:spPr>
          <a:xfrm>
            <a:off x="640080" y="4160520"/>
            <a:ext cx="10908792" cy="365760"/>
          </a:xfrm>
          <a:prstGeom prst="rect">
            <a:avLst/>
          </a:prstGeom>
          <a:noFill/>
          <a:ln/>
        </p:spPr>
        <p:txBody>
          <a:bodyPr wrap="square" rtlCol="0" anchor="ctr"/>
          <a:lstStyle/>
          <a:p>
            <a:pPr marL="0" indent="0">
              <a:buNone/>
            </a:pPr>
            <a:r>
              <a:rPr lang="en-US" sz="1200" i="1" dirty="0">
                <a:solidFill>
                  <a:srgbClr val="6B6B85"/>
                </a:solidFill>
                <a:latin typeface="Calibri" pitchFamily="34" charset="0"/>
                <a:ea typeface="Calibri" pitchFamily="34" charset="-122"/>
                <a:cs typeface="Calibri" pitchFamily="34" charset="-120"/>
              </a:rPr>
              <a:t>Ballpark figures — actual usage varies with sequence length, batch size, and optimizer choice.</a:t>
            </a:r>
            <a:endParaRPr lang="en-US" sz="1200" dirty="0"/>
          </a:p>
        </p:txBody>
      </p:sp>
      <p:sp>
        <p:nvSpPr>
          <p:cNvPr id="8" name="Shape 4"/>
          <p:cNvSpPr/>
          <p:nvPr/>
        </p:nvSpPr>
        <p:spPr>
          <a:xfrm>
            <a:off x="640080" y="4709160"/>
            <a:ext cx="2606040" cy="1371600"/>
          </a:xfrm>
          <a:prstGeom prst="roundRect">
            <a:avLst>
              <a:gd name="adj" fmla="val 5333"/>
            </a:avLst>
          </a:prstGeom>
          <a:solidFill>
            <a:srgbClr val="F4F3FA"/>
          </a:solidFill>
          <a:ln/>
        </p:spPr>
        <p:txBody>
          <a:bodyPr/>
          <a:lstStyle/>
          <a:p>
            <a:endParaRPr lang="en-US"/>
          </a:p>
        </p:txBody>
      </p:sp>
      <p:sp>
        <p:nvSpPr>
          <p:cNvPr id="9" name="Text 5"/>
          <p:cNvSpPr/>
          <p:nvPr/>
        </p:nvSpPr>
        <p:spPr>
          <a:xfrm>
            <a:off x="822960" y="4873752"/>
            <a:ext cx="2240280" cy="365760"/>
          </a:xfrm>
          <a:prstGeom prst="rect">
            <a:avLst/>
          </a:prstGeom>
          <a:noFill/>
          <a:ln/>
        </p:spPr>
        <p:txBody>
          <a:bodyPr wrap="square" rtlCol="0" anchor="ctr"/>
          <a:lstStyle/>
          <a:p>
            <a:pPr marL="0" indent="0">
              <a:buNone/>
            </a:pPr>
            <a:r>
              <a:rPr lang="en-US" sz="1350" b="1" dirty="0">
                <a:solidFill>
                  <a:srgbClr val="7C3AED"/>
                </a:solidFill>
                <a:latin typeface="Arial" pitchFamily="34" charset="0"/>
                <a:ea typeface="Arial" pitchFamily="34" charset="-122"/>
                <a:cs typeface="Arial" pitchFamily="34" charset="-120"/>
              </a:rPr>
              <a:t>Google Colab</a:t>
            </a:r>
            <a:endParaRPr lang="en-US" sz="1350" dirty="0"/>
          </a:p>
        </p:txBody>
      </p:sp>
      <p:sp>
        <p:nvSpPr>
          <p:cNvPr id="10" name="Text 6"/>
          <p:cNvSpPr/>
          <p:nvPr/>
        </p:nvSpPr>
        <p:spPr>
          <a:xfrm>
            <a:off x="822960" y="5276088"/>
            <a:ext cx="2240280" cy="731520"/>
          </a:xfrm>
          <a:prstGeom prst="rect">
            <a:avLst/>
          </a:prstGeom>
          <a:noFill/>
          <a:ln/>
        </p:spPr>
        <p:txBody>
          <a:bodyPr wrap="square" rtlCol="0" anchor="t"/>
          <a:lstStyle/>
          <a:p>
            <a:pPr marL="0" indent="0">
              <a:buNone/>
            </a:pPr>
            <a:r>
              <a:rPr lang="en-US" sz="1100" dirty="0">
                <a:solidFill>
                  <a:srgbClr val="6B6B85"/>
                </a:solidFill>
                <a:latin typeface="Calibri" pitchFamily="34" charset="0"/>
                <a:ea typeface="Calibri" pitchFamily="34" charset="-122"/>
                <a:cs typeface="Calibri" pitchFamily="34" charset="-120"/>
              </a:rPr>
              <a:t>Free T4; Colab Pro adds A100 access</a:t>
            </a:r>
            <a:endParaRPr lang="en-US" sz="1100" dirty="0"/>
          </a:p>
        </p:txBody>
      </p:sp>
      <p:sp>
        <p:nvSpPr>
          <p:cNvPr id="11" name="Shape 7"/>
          <p:cNvSpPr/>
          <p:nvPr/>
        </p:nvSpPr>
        <p:spPr>
          <a:xfrm>
            <a:off x="3383280" y="4709160"/>
            <a:ext cx="2606040" cy="1371600"/>
          </a:xfrm>
          <a:prstGeom prst="roundRect">
            <a:avLst>
              <a:gd name="adj" fmla="val 5333"/>
            </a:avLst>
          </a:prstGeom>
          <a:solidFill>
            <a:srgbClr val="F4F3FA"/>
          </a:solidFill>
          <a:ln/>
        </p:spPr>
        <p:txBody>
          <a:bodyPr/>
          <a:lstStyle/>
          <a:p>
            <a:endParaRPr lang="en-US"/>
          </a:p>
        </p:txBody>
      </p:sp>
      <p:sp>
        <p:nvSpPr>
          <p:cNvPr id="12" name="Text 8"/>
          <p:cNvSpPr/>
          <p:nvPr/>
        </p:nvSpPr>
        <p:spPr>
          <a:xfrm>
            <a:off x="3566160" y="4873752"/>
            <a:ext cx="2240280" cy="365760"/>
          </a:xfrm>
          <a:prstGeom prst="rect">
            <a:avLst/>
          </a:prstGeom>
          <a:noFill/>
          <a:ln/>
        </p:spPr>
        <p:txBody>
          <a:bodyPr wrap="square" rtlCol="0" anchor="ctr"/>
          <a:lstStyle/>
          <a:p>
            <a:pPr marL="0" indent="0">
              <a:buNone/>
            </a:pPr>
            <a:r>
              <a:rPr lang="en-US" sz="1350" b="1" dirty="0">
                <a:solidFill>
                  <a:srgbClr val="7C3AED"/>
                </a:solidFill>
                <a:latin typeface="Arial" pitchFamily="34" charset="0"/>
                <a:ea typeface="Arial" pitchFamily="34" charset="-122"/>
                <a:cs typeface="Arial" pitchFamily="34" charset="-120"/>
              </a:rPr>
              <a:t>Kaggle</a:t>
            </a:r>
            <a:endParaRPr lang="en-US" sz="1350" dirty="0"/>
          </a:p>
        </p:txBody>
      </p:sp>
      <p:sp>
        <p:nvSpPr>
          <p:cNvPr id="13" name="Text 9"/>
          <p:cNvSpPr/>
          <p:nvPr/>
        </p:nvSpPr>
        <p:spPr>
          <a:xfrm>
            <a:off x="3566160" y="5276088"/>
            <a:ext cx="2240280" cy="731520"/>
          </a:xfrm>
          <a:prstGeom prst="rect">
            <a:avLst/>
          </a:prstGeom>
          <a:noFill/>
          <a:ln/>
        </p:spPr>
        <p:txBody>
          <a:bodyPr wrap="square" rtlCol="0" anchor="t"/>
          <a:lstStyle/>
          <a:p>
            <a:pPr marL="0" indent="0">
              <a:buNone/>
            </a:pPr>
            <a:r>
              <a:rPr lang="en-US" sz="1100" dirty="0">
                <a:solidFill>
                  <a:srgbClr val="6B6B85"/>
                </a:solidFill>
                <a:latin typeface="Calibri" pitchFamily="34" charset="0"/>
                <a:ea typeface="Calibri" pitchFamily="34" charset="-122"/>
                <a:cs typeface="Calibri" pitchFamily="34" charset="-120"/>
              </a:rPr>
              <a:t>~30 free GPU-hours/week (T4 x2 / P100)</a:t>
            </a:r>
            <a:endParaRPr lang="en-US" sz="1100" dirty="0"/>
          </a:p>
        </p:txBody>
      </p:sp>
      <p:sp>
        <p:nvSpPr>
          <p:cNvPr id="6" name="Shape 10"/>
          <p:cNvSpPr/>
          <p:nvPr/>
        </p:nvSpPr>
        <p:spPr>
          <a:xfrm>
            <a:off x="6126480" y="4709160"/>
            <a:ext cx="2606040" cy="1371600"/>
          </a:xfrm>
          <a:prstGeom prst="roundRect">
            <a:avLst>
              <a:gd name="adj" fmla="val 5333"/>
            </a:avLst>
          </a:prstGeom>
          <a:solidFill>
            <a:srgbClr val="F4F3FA"/>
          </a:solidFill>
          <a:ln/>
        </p:spPr>
        <p:txBody>
          <a:bodyPr/>
          <a:lstStyle/>
          <a:p>
            <a:endParaRPr lang="en-US"/>
          </a:p>
        </p:txBody>
      </p:sp>
      <p:sp>
        <p:nvSpPr>
          <p:cNvPr id="15" name="Text 11"/>
          <p:cNvSpPr/>
          <p:nvPr/>
        </p:nvSpPr>
        <p:spPr>
          <a:xfrm>
            <a:off x="6309360" y="4873752"/>
            <a:ext cx="2240280" cy="365760"/>
          </a:xfrm>
          <a:prstGeom prst="rect">
            <a:avLst/>
          </a:prstGeom>
          <a:noFill/>
          <a:ln/>
        </p:spPr>
        <p:txBody>
          <a:bodyPr wrap="square" rtlCol="0" anchor="ctr"/>
          <a:lstStyle/>
          <a:p>
            <a:pPr marL="0" indent="0">
              <a:buNone/>
            </a:pPr>
            <a:r>
              <a:rPr lang="en-US" sz="1350" b="1" dirty="0">
                <a:solidFill>
                  <a:srgbClr val="7C3AED"/>
                </a:solidFill>
                <a:latin typeface="Arial" pitchFamily="34" charset="0"/>
                <a:ea typeface="Arial" pitchFamily="34" charset="-122"/>
                <a:cs typeface="Arial" pitchFamily="34" charset="-120"/>
              </a:rPr>
              <a:t>RunPod / Vast.ai</a:t>
            </a:r>
            <a:endParaRPr lang="en-US" sz="1350" dirty="0"/>
          </a:p>
        </p:txBody>
      </p:sp>
      <p:sp>
        <p:nvSpPr>
          <p:cNvPr id="16" name="Text 12"/>
          <p:cNvSpPr/>
          <p:nvPr/>
        </p:nvSpPr>
        <p:spPr>
          <a:xfrm>
            <a:off x="6309360" y="5276088"/>
            <a:ext cx="2240280" cy="731520"/>
          </a:xfrm>
          <a:prstGeom prst="rect">
            <a:avLst/>
          </a:prstGeom>
          <a:noFill/>
          <a:ln/>
        </p:spPr>
        <p:txBody>
          <a:bodyPr wrap="square" rtlCol="0" anchor="t"/>
          <a:lstStyle/>
          <a:p>
            <a:pPr marL="0" indent="0">
              <a:buNone/>
            </a:pPr>
            <a:r>
              <a:rPr lang="en-US" sz="1100" dirty="0">
                <a:solidFill>
                  <a:srgbClr val="6B6B85"/>
                </a:solidFill>
                <a:latin typeface="Calibri" pitchFamily="34" charset="0"/>
                <a:ea typeface="Calibri" pitchFamily="34" charset="-122"/>
                <a:cs typeface="Calibri" pitchFamily="34" charset="-120"/>
              </a:rPr>
              <a:t>Rent GPUs by the hour, pay as you go</a:t>
            </a:r>
            <a:endParaRPr lang="en-US" sz="1100" dirty="0"/>
          </a:p>
        </p:txBody>
      </p:sp>
      <p:sp>
        <p:nvSpPr>
          <p:cNvPr id="17" name="Shape 13"/>
          <p:cNvSpPr/>
          <p:nvPr/>
        </p:nvSpPr>
        <p:spPr>
          <a:xfrm>
            <a:off x="8869680" y="4709160"/>
            <a:ext cx="2606040" cy="1371600"/>
          </a:xfrm>
          <a:prstGeom prst="roundRect">
            <a:avLst>
              <a:gd name="adj" fmla="val 5333"/>
            </a:avLst>
          </a:prstGeom>
          <a:solidFill>
            <a:srgbClr val="F4F3FA"/>
          </a:solidFill>
          <a:ln/>
        </p:spPr>
        <p:txBody>
          <a:bodyPr/>
          <a:lstStyle/>
          <a:p>
            <a:endParaRPr lang="en-US"/>
          </a:p>
        </p:txBody>
      </p:sp>
      <p:sp>
        <p:nvSpPr>
          <p:cNvPr id="18" name="Text 14"/>
          <p:cNvSpPr/>
          <p:nvPr/>
        </p:nvSpPr>
        <p:spPr>
          <a:xfrm>
            <a:off x="9052560" y="4873752"/>
            <a:ext cx="2240280" cy="365760"/>
          </a:xfrm>
          <a:prstGeom prst="rect">
            <a:avLst/>
          </a:prstGeom>
          <a:noFill/>
          <a:ln/>
        </p:spPr>
        <p:txBody>
          <a:bodyPr wrap="square" rtlCol="0" anchor="ctr"/>
          <a:lstStyle/>
          <a:p>
            <a:pPr marL="0" indent="0">
              <a:buNone/>
            </a:pPr>
            <a:r>
              <a:rPr lang="en-US" sz="1350" b="1" dirty="0">
                <a:solidFill>
                  <a:srgbClr val="7C3AED"/>
                </a:solidFill>
                <a:latin typeface="Arial" pitchFamily="34" charset="0"/>
                <a:ea typeface="Arial" pitchFamily="34" charset="-122"/>
                <a:cs typeface="Arial" pitchFamily="34" charset="-120"/>
              </a:rPr>
              <a:t>Lambda Labs / AWS</a:t>
            </a:r>
            <a:endParaRPr lang="en-US" sz="1350" dirty="0"/>
          </a:p>
        </p:txBody>
      </p:sp>
      <p:sp>
        <p:nvSpPr>
          <p:cNvPr id="19" name="Text 15"/>
          <p:cNvSpPr/>
          <p:nvPr/>
        </p:nvSpPr>
        <p:spPr>
          <a:xfrm>
            <a:off x="9052560" y="5276088"/>
            <a:ext cx="2240280" cy="731520"/>
          </a:xfrm>
          <a:prstGeom prst="rect">
            <a:avLst/>
          </a:prstGeom>
          <a:noFill/>
          <a:ln/>
        </p:spPr>
        <p:txBody>
          <a:bodyPr wrap="square" rtlCol="0" anchor="t"/>
          <a:lstStyle/>
          <a:p>
            <a:pPr marL="0" indent="0">
              <a:buNone/>
            </a:pPr>
            <a:r>
              <a:rPr lang="en-US" sz="1100" dirty="0">
                <a:solidFill>
                  <a:srgbClr val="6B6B85"/>
                </a:solidFill>
                <a:latin typeface="Calibri" pitchFamily="34" charset="0"/>
                <a:ea typeface="Calibri" pitchFamily="34" charset="-122"/>
                <a:cs typeface="Calibri" pitchFamily="34" charset="-120"/>
              </a:rPr>
              <a:t>On-demand or reserved cloud GPUs</a:t>
            </a:r>
            <a:endParaRPr lang="en-US" sz="1100" dirty="0"/>
          </a:p>
        </p:txBody>
      </p:sp>
      <p:sp>
        <p:nvSpPr>
          <p:cNvPr id="20" name="Text 16"/>
          <p:cNvSpPr/>
          <p:nvPr/>
        </p:nvSpPr>
        <p:spPr>
          <a:xfrm>
            <a:off x="11292840" y="6473952"/>
            <a:ext cx="502920" cy="274320"/>
          </a:xfrm>
          <a:prstGeom prst="rect">
            <a:avLst/>
          </a:prstGeom>
          <a:noFill/>
          <a:ln/>
        </p:spPr>
        <p:txBody>
          <a:bodyPr wrap="square" rtlCol="0" anchor="ctr"/>
          <a:lstStyle/>
          <a:p>
            <a:pPr marL="0" indent="0" algn="r">
              <a:buNone/>
            </a:pPr>
            <a:r>
              <a:rPr lang="en-US" sz="1000" dirty="0">
                <a:solidFill>
                  <a:srgbClr val="6B6B85"/>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8686800" cy="274320"/>
          </a:xfrm>
          <a:prstGeom prst="rect">
            <a:avLst/>
          </a:prstGeom>
          <a:noFill/>
          <a:ln/>
        </p:spPr>
        <p:txBody>
          <a:bodyPr wrap="square" rtlCol="0" anchor="ctr"/>
          <a:lstStyle/>
          <a:p>
            <a:pPr marL="0" indent="0">
              <a:buNone/>
            </a:pPr>
            <a:r>
              <a:rPr lang="en-US" sz="1150" b="1" kern="0" spc="200" dirty="0">
                <a:solidFill>
                  <a:srgbClr val="7C3AED"/>
                </a:solidFill>
                <a:latin typeface="Calibri" pitchFamily="34" charset="0"/>
                <a:ea typeface="Calibri" pitchFamily="34" charset="-122"/>
                <a:cs typeface="Calibri" pitchFamily="34" charset="-120"/>
              </a:rPr>
              <a:t>THE PIPELINE · STEP 5 OF 7</a:t>
            </a:r>
            <a:endParaRPr lang="en-US" sz="1150" dirty="0"/>
          </a:p>
        </p:txBody>
      </p:sp>
      <p:sp>
        <p:nvSpPr>
          <p:cNvPr id="3" name="Text 1"/>
          <p:cNvSpPr/>
          <p:nvPr/>
        </p:nvSpPr>
        <p:spPr>
          <a:xfrm>
            <a:off x="640080" y="621792"/>
            <a:ext cx="9692640" cy="685800"/>
          </a:xfrm>
          <a:prstGeom prst="rect">
            <a:avLst/>
          </a:prstGeom>
          <a:noFill/>
          <a:ln/>
        </p:spPr>
        <p:txBody>
          <a:bodyPr wrap="square" rtlCol="0" anchor="t"/>
          <a:lstStyle/>
          <a:p>
            <a:pPr marL="0" indent="0">
              <a:buNone/>
            </a:pPr>
            <a:r>
              <a:rPr lang="en-US" sz="3200" b="1" dirty="0">
                <a:solidFill>
                  <a:srgbClr val="1B1B3A"/>
                </a:solidFill>
                <a:latin typeface="Arial" pitchFamily="34" charset="0"/>
                <a:ea typeface="Arial" pitchFamily="34" charset="-122"/>
                <a:cs typeface="Arial" pitchFamily="34" charset="-120"/>
              </a:rPr>
              <a:t>Configure &amp; Train</a:t>
            </a:r>
            <a:endParaRPr lang="en-US" sz="3200" dirty="0"/>
          </a:p>
        </p:txBody>
      </p:sp>
      <p:sp>
        <p:nvSpPr>
          <p:cNvPr id="4" name="Shape 2"/>
          <p:cNvSpPr/>
          <p:nvPr/>
        </p:nvSpPr>
        <p:spPr>
          <a:xfrm>
            <a:off x="10721340" y="434340"/>
            <a:ext cx="777240" cy="777240"/>
          </a:xfrm>
          <a:prstGeom prst="ellipse">
            <a:avLst/>
          </a:prstGeom>
          <a:solidFill>
            <a:srgbClr val="7C3AED"/>
          </a:solidFill>
          <a:ln/>
        </p:spPr>
        <p:txBody>
          <a:bodyPr/>
          <a:lstStyle/>
          <a:p>
            <a:endParaRPr lang="en-US"/>
          </a:p>
        </p:txBody>
      </p:sp>
      <p:pic>
        <p:nvPicPr>
          <p:cNvPr id="5" name="Image 0" descr="/home/claude/llm_finetune_deck/icons/sliders.png"/>
          <p:cNvPicPr>
            <a:picLocks noChangeAspect="1"/>
          </p:cNvPicPr>
          <p:nvPr/>
        </p:nvPicPr>
        <p:blipFill>
          <a:blip r:embed="rId3"/>
          <a:stretch>
            <a:fillRect/>
          </a:stretch>
        </p:blipFill>
        <p:spPr>
          <a:xfrm>
            <a:off x="10907878" y="620878"/>
            <a:ext cx="404165" cy="404165"/>
          </a:xfrm>
          <a:prstGeom prst="rect">
            <a:avLst/>
          </a:prstGeom>
        </p:spPr>
      </p:pic>
      <p:sp>
        <p:nvSpPr>
          <p:cNvPr id="6" name="Shape 3"/>
          <p:cNvSpPr/>
          <p:nvPr/>
        </p:nvSpPr>
        <p:spPr>
          <a:xfrm>
            <a:off x="640080" y="1783080"/>
            <a:ext cx="4114800" cy="4343400"/>
          </a:xfrm>
          <a:prstGeom prst="roundRect">
            <a:avLst>
              <a:gd name="adj" fmla="val 1778"/>
            </a:avLst>
          </a:prstGeom>
          <a:solidFill>
            <a:srgbClr val="F4F3FA"/>
          </a:solidFill>
          <a:ln/>
          <a:effectLst>
            <a:outerShdw blurRad="88900" dist="25400" dir="5400000" algn="bl" rotWithShape="0">
              <a:srgbClr val="2B2650">
                <a:alpha val="16000"/>
              </a:srgbClr>
            </a:outerShdw>
          </a:effectLst>
        </p:spPr>
        <p:txBody>
          <a:bodyPr/>
          <a:lstStyle/>
          <a:p>
            <a:endParaRPr lang="en-US"/>
          </a:p>
        </p:txBody>
      </p:sp>
      <p:sp>
        <p:nvSpPr>
          <p:cNvPr id="7" name="Text 4"/>
          <p:cNvSpPr/>
          <p:nvPr/>
        </p:nvSpPr>
        <p:spPr>
          <a:xfrm>
            <a:off x="914400" y="1965960"/>
            <a:ext cx="3566160" cy="411480"/>
          </a:xfrm>
          <a:prstGeom prst="rect">
            <a:avLst/>
          </a:prstGeom>
          <a:noFill/>
          <a:ln/>
        </p:spPr>
        <p:txBody>
          <a:bodyPr wrap="square" rtlCol="0" anchor="ctr"/>
          <a:lstStyle/>
          <a:p>
            <a:pPr marL="0" indent="0">
              <a:buNone/>
            </a:pPr>
            <a:r>
              <a:rPr lang="en-US" sz="1500" b="1" dirty="0">
                <a:solidFill>
                  <a:srgbClr val="1B1B3A"/>
                </a:solidFill>
                <a:latin typeface="Arial" pitchFamily="34" charset="0"/>
                <a:ea typeface="Arial" pitchFamily="34" charset="-122"/>
                <a:cs typeface="Arial" pitchFamily="34" charset="-120"/>
              </a:rPr>
              <a:t>Key Hyperparameters</a:t>
            </a:r>
            <a:endParaRPr lang="en-US" sz="1500" dirty="0"/>
          </a:p>
        </p:txBody>
      </p:sp>
      <p:sp>
        <p:nvSpPr>
          <p:cNvPr id="8" name="Text 5"/>
          <p:cNvSpPr/>
          <p:nvPr/>
        </p:nvSpPr>
        <p:spPr>
          <a:xfrm>
            <a:off x="914400" y="2514600"/>
            <a:ext cx="3566160" cy="320040"/>
          </a:xfrm>
          <a:prstGeom prst="rect">
            <a:avLst/>
          </a:prstGeom>
          <a:noFill/>
          <a:ln/>
        </p:spPr>
        <p:txBody>
          <a:bodyPr wrap="square" rtlCol="0" anchor="ctr"/>
          <a:lstStyle/>
          <a:p>
            <a:pPr marL="0" indent="0">
              <a:buNone/>
            </a:pPr>
            <a:r>
              <a:rPr lang="en-US" sz="1300" b="1" dirty="0">
                <a:solidFill>
                  <a:srgbClr val="7C3AED"/>
                </a:solidFill>
                <a:latin typeface="Calibri" pitchFamily="34" charset="0"/>
                <a:ea typeface="Calibri" pitchFamily="34" charset="-122"/>
                <a:cs typeface="Calibri" pitchFamily="34" charset="-120"/>
              </a:rPr>
              <a:t>Learning rate</a:t>
            </a:r>
            <a:endParaRPr lang="en-US" sz="1300" dirty="0"/>
          </a:p>
        </p:txBody>
      </p:sp>
      <p:sp>
        <p:nvSpPr>
          <p:cNvPr id="9" name="Text 6"/>
          <p:cNvSpPr/>
          <p:nvPr/>
        </p:nvSpPr>
        <p:spPr>
          <a:xfrm>
            <a:off x="914400" y="2825496"/>
            <a:ext cx="3566160" cy="411480"/>
          </a:xfrm>
          <a:prstGeom prst="rect">
            <a:avLst/>
          </a:prstGeom>
          <a:noFill/>
          <a:ln/>
        </p:spPr>
        <p:txBody>
          <a:bodyPr wrap="square" rtlCol="0" anchor="ctr"/>
          <a:lstStyle/>
          <a:p>
            <a:pPr marL="0" indent="0">
              <a:buNone/>
            </a:pPr>
            <a:r>
              <a:rPr lang="en-US" sz="1250" dirty="0">
                <a:solidFill>
                  <a:srgbClr val="6B6B85"/>
                </a:solidFill>
                <a:latin typeface="Calibri" pitchFamily="34" charset="0"/>
                <a:ea typeface="Calibri" pitchFamily="34" charset="-122"/>
                <a:cs typeface="Calibri" pitchFamily="34" charset="-120"/>
              </a:rPr>
              <a:t>~1e-4 to 2e-4 (LoRA)</a:t>
            </a:r>
            <a:endParaRPr lang="en-US" sz="1250" dirty="0"/>
          </a:p>
        </p:txBody>
      </p:sp>
      <p:sp>
        <p:nvSpPr>
          <p:cNvPr id="10" name="Text 7"/>
          <p:cNvSpPr/>
          <p:nvPr/>
        </p:nvSpPr>
        <p:spPr>
          <a:xfrm>
            <a:off x="914400" y="3383280"/>
            <a:ext cx="3566160" cy="320040"/>
          </a:xfrm>
          <a:prstGeom prst="rect">
            <a:avLst/>
          </a:prstGeom>
          <a:noFill/>
          <a:ln/>
        </p:spPr>
        <p:txBody>
          <a:bodyPr wrap="square" rtlCol="0" anchor="ctr"/>
          <a:lstStyle/>
          <a:p>
            <a:pPr marL="0" indent="0">
              <a:buNone/>
            </a:pPr>
            <a:r>
              <a:rPr lang="en-US" sz="1300" b="1" dirty="0">
                <a:solidFill>
                  <a:srgbClr val="7C3AED"/>
                </a:solidFill>
                <a:latin typeface="Calibri" pitchFamily="34" charset="0"/>
                <a:ea typeface="Calibri" pitchFamily="34" charset="-122"/>
                <a:cs typeface="Calibri" pitchFamily="34" charset="-120"/>
              </a:rPr>
              <a:t>LoRA rank (r)</a:t>
            </a:r>
            <a:endParaRPr lang="en-US" sz="1300" dirty="0"/>
          </a:p>
        </p:txBody>
      </p:sp>
      <p:sp>
        <p:nvSpPr>
          <p:cNvPr id="11" name="Text 8"/>
          <p:cNvSpPr/>
          <p:nvPr/>
        </p:nvSpPr>
        <p:spPr>
          <a:xfrm>
            <a:off x="914400" y="3694176"/>
            <a:ext cx="3566160" cy="411480"/>
          </a:xfrm>
          <a:prstGeom prst="rect">
            <a:avLst/>
          </a:prstGeom>
          <a:noFill/>
          <a:ln/>
        </p:spPr>
        <p:txBody>
          <a:bodyPr wrap="square" rtlCol="0" anchor="ctr"/>
          <a:lstStyle/>
          <a:p>
            <a:pPr marL="0" indent="0">
              <a:buNone/>
            </a:pPr>
            <a:r>
              <a:rPr lang="en-US" sz="1250" dirty="0">
                <a:solidFill>
                  <a:srgbClr val="6B6B85"/>
                </a:solidFill>
                <a:latin typeface="Calibri" pitchFamily="34" charset="0"/>
                <a:ea typeface="Calibri" pitchFamily="34" charset="-122"/>
                <a:cs typeface="Calibri" pitchFamily="34" charset="-120"/>
              </a:rPr>
              <a:t>8 – 64</a:t>
            </a:r>
            <a:endParaRPr lang="en-US" sz="1250" dirty="0"/>
          </a:p>
        </p:txBody>
      </p:sp>
      <p:sp>
        <p:nvSpPr>
          <p:cNvPr id="12" name="Text 9"/>
          <p:cNvSpPr/>
          <p:nvPr/>
        </p:nvSpPr>
        <p:spPr>
          <a:xfrm>
            <a:off x="914400" y="4251960"/>
            <a:ext cx="3566160" cy="320040"/>
          </a:xfrm>
          <a:prstGeom prst="rect">
            <a:avLst/>
          </a:prstGeom>
          <a:noFill/>
          <a:ln/>
        </p:spPr>
        <p:txBody>
          <a:bodyPr wrap="square" rtlCol="0" anchor="ctr"/>
          <a:lstStyle/>
          <a:p>
            <a:pPr marL="0" indent="0">
              <a:buNone/>
            </a:pPr>
            <a:r>
              <a:rPr lang="en-US" sz="1300" b="1" dirty="0">
                <a:solidFill>
                  <a:srgbClr val="7C3AED"/>
                </a:solidFill>
                <a:latin typeface="Calibri" pitchFamily="34" charset="0"/>
                <a:ea typeface="Calibri" pitchFamily="34" charset="-122"/>
                <a:cs typeface="Calibri" pitchFamily="34" charset="-120"/>
              </a:rPr>
              <a:t>Epochs</a:t>
            </a:r>
            <a:endParaRPr lang="en-US" sz="1300" dirty="0"/>
          </a:p>
        </p:txBody>
      </p:sp>
      <p:sp>
        <p:nvSpPr>
          <p:cNvPr id="13" name="Text 10"/>
          <p:cNvSpPr/>
          <p:nvPr/>
        </p:nvSpPr>
        <p:spPr>
          <a:xfrm>
            <a:off x="914400" y="4562856"/>
            <a:ext cx="3566160" cy="411480"/>
          </a:xfrm>
          <a:prstGeom prst="rect">
            <a:avLst/>
          </a:prstGeom>
          <a:noFill/>
          <a:ln/>
        </p:spPr>
        <p:txBody>
          <a:bodyPr wrap="square" rtlCol="0" anchor="ctr"/>
          <a:lstStyle/>
          <a:p>
            <a:pPr marL="0" indent="0">
              <a:buNone/>
            </a:pPr>
            <a:r>
              <a:rPr lang="en-US" sz="1250" dirty="0">
                <a:solidFill>
                  <a:srgbClr val="6B6B85"/>
                </a:solidFill>
                <a:latin typeface="Calibri" pitchFamily="34" charset="0"/>
                <a:ea typeface="Calibri" pitchFamily="34" charset="-122"/>
                <a:cs typeface="Calibri" pitchFamily="34" charset="-120"/>
              </a:rPr>
              <a:t>1 – 3 (small data overfits fast)</a:t>
            </a:r>
            <a:endParaRPr lang="en-US" sz="1250" dirty="0"/>
          </a:p>
        </p:txBody>
      </p:sp>
      <p:sp>
        <p:nvSpPr>
          <p:cNvPr id="14" name="Text 11"/>
          <p:cNvSpPr/>
          <p:nvPr/>
        </p:nvSpPr>
        <p:spPr>
          <a:xfrm>
            <a:off x="914400" y="5120640"/>
            <a:ext cx="3566160" cy="320040"/>
          </a:xfrm>
          <a:prstGeom prst="rect">
            <a:avLst/>
          </a:prstGeom>
          <a:noFill/>
          <a:ln/>
        </p:spPr>
        <p:txBody>
          <a:bodyPr wrap="square" rtlCol="0" anchor="ctr"/>
          <a:lstStyle/>
          <a:p>
            <a:pPr marL="0" indent="0">
              <a:buNone/>
            </a:pPr>
            <a:r>
              <a:rPr lang="en-US" sz="1300" b="1" dirty="0">
                <a:solidFill>
                  <a:srgbClr val="7C3AED"/>
                </a:solidFill>
                <a:latin typeface="Calibri" pitchFamily="34" charset="0"/>
                <a:ea typeface="Calibri" pitchFamily="34" charset="-122"/>
                <a:cs typeface="Calibri" pitchFamily="34" charset="-120"/>
              </a:rPr>
              <a:t>Batch size</a:t>
            </a:r>
            <a:endParaRPr lang="en-US" sz="1300" dirty="0"/>
          </a:p>
        </p:txBody>
      </p:sp>
      <p:sp>
        <p:nvSpPr>
          <p:cNvPr id="15" name="Text 12"/>
          <p:cNvSpPr/>
          <p:nvPr/>
        </p:nvSpPr>
        <p:spPr>
          <a:xfrm>
            <a:off x="914400" y="5431536"/>
            <a:ext cx="3566160" cy="411480"/>
          </a:xfrm>
          <a:prstGeom prst="rect">
            <a:avLst/>
          </a:prstGeom>
          <a:noFill/>
          <a:ln/>
        </p:spPr>
        <p:txBody>
          <a:bodyPr wrap="square" rtlCol="0" anchor="ctr"/>
          <a:lstStyle/>
          <a:p>
            <a:pPr marL="0" indent="0">
              <a:buNone/>
            </a:pPr>
            <a:r>
              <a:rPr lang="en-US" sz="1250" dirty="0">
                <a:solidFill>
                  <a:srgbClr val="6B6B85"/>
                </a:solidFill>
                <a:latin typeface="Calibri" pitchFamily="34" charset="0"/>
                <a:ea typeface="Calibri" pitchFamily="34" charset="-122"/>
                <a:cs typeface="Calibri" pitchFamily="34" charset="-120"/>
              </a:rPr>
              <a:t>Max VRAM allows + grad. accumulation</a:t>
            </a:r>
            <a:endParaRPr lang="en-US" sz="1250" dirty="0"/>
          </a:p>
        </p:txBody>
      </p:sp>
      <p:sp>
        <p:nvSpPr>
          <p:cNvPr id="16" name="Shape 13"/>
          <p:cNvSpPr/>
          <p:nvPr/>
        </p:nvSpPr>
        <p:spPr>
          <a:xfrm>
            <a:off x="5120640" y="1783080"/>
            <a:ext cx="6428232" cy="4343400"/>
          </a:xfrm>
          <a:prstGeom prst="roundRect">
            <a:avLst>
              <a:gd name="adj" fmla="val 1684"/>
            </a:avLst>
          </a:prstGeom>
          <a:solidFill>
            <a:srgbClr val="141330"/>
          </a:solidFill>
          <a:ln/>
        </p:spPr>
        <p:txBody>
          <a:bodyPr/>
          <a:lstStyle/>
          <a:p>
            <a:endParaRPr lang="en-US"/>
          </a:p>
        </p:txBody>
      </p:sp>
      <p:sp>
        <p:nvSpPr>
          <p:cNvPr id="17" name="Text 14"/>
          <p:cNvSpPr/>
          <p:nvPr/>
        </p:nvSpPr>
        <p:spPr>
          <a:xfrm>
            <a:off x="5394960" y="1965960"/>
            <a:ext cx="5879592" cy="4023360"/>
          </a:xfrm>
          <a:prstGeom prst="rect">
            <a:avLst/>
          </a:prstGeom>
          <a:noFill/>
          <a:ln/>
        </p:spPr>
        <p:txBody>
          <a:bodyPr wrap="square" rtlCol="0" anchor="t"/>
          <a:lstStyle/>
          <a:p>
            <a:pPr marL="0" indent="0">
              <a:lnSpc>
                <a:spcPct val="115000"/>
              </a:lnSpc>
              <a:buNone/>
            </a:pPr>
            <a:r>
              <a:rPr lang="en-US" sz="1150" dirty="0">
                <a:solidFill>
                  <a:srgbClr val="D6D3EC"/>
                </a:solidFill>
                <a:latin typeface="Courier New" pitchFamily="34" charset="0"/>
                <a:ea typeface="Courier New" pitchFamily="34" charset="-122"/>
                <a:cs typeface="Courier New" pitchFamily="34" charset="-120"/>
              </a:rPr>
              <a:t>from unsloth import FastLanguageModel
from trl import SFTTrainer
model, tokenizer = FastLanguageModel
</a:t>
            </a:r>
            <a:r>
              <a:rPr lang="en-US" sz="1150" dirty="0">
                <a:solidFill>
                  <a:srgbClr val="9FE6C8"/>
                </a:solidFill>
                <a:latin typeface="Courier New" pitchFamily="34" charset="0"/>
                <a:ea typeface="Courier New" pitchFamily="34" charset="-122"/>
                <a:cs typeface="Courier New" pitchFamily="34" charset="-120"/>
              </a:rPr>
              <a:t>    .from_pretrained("unsloth/llama-3-8b-bnb-4bit")
</a:t>
            </a:r>
            <a:r>
              <a:rPr lang="en-US" sz="1150" dirty="0">
                <a:solidFill>
                  <a:srgbClr val="D6D3EC"/>
                </a:solidFill>
                <a:latin typeface="Courier New" pitchFamily="34" charset="0"/>
                <a:ea typeface="Courier New" pitchFamily="34" charset="-122"/>
                <a:cs typeface="Courier New" pitchFamily="34" charset="-120"/>
              </a:rPr>
              <a:t>
</a:t>
            </a:r>
            <a:r>
              <a:rPr lang="en-US" sz="1150" dirty="0">
                <a:solidFill>
                  <a:srgbClr val="B79CFF"/>
                </a:solidFill>
                <a:latin typeface="Courier New" pitchFamily="34" charset="0"/>
                <a:ea typeface="Courier New" pitchFamily="34" charset="-122"/>
                <a:cs typeface="Courier New" pitchFamily="34" charset="-120"/>
              </a:rPr>
              <a:t>model = FastLanguageModel.get_peft_model(
</a:t>
            </a:r>
            <a:r>
              <a:rPr lang="en-US" sz="1150" dirty="0">
                <a:solidFill>
                  <a:srgbClr val="D6D3EC"/>
                </a:solidFill>
                <a:latin typeface="Courier New" pitchFamily="34" charset="0"/>
                <a:ea typeface="Courier New" pitchFamily="34" charset="-122"/>
                <a:cs typeface="Courier New" pitchFamily="34" charset="-120"/>
              </a:rPr>
              <a:t>    model, r=16, lora_alpha=16,
    target_modules=["q_proj", "v_proj"])
</a:t>
            </a:r>
            <a:r>
              <a:rPr lang="en-US" sz="1150" dirty="0">
                <a:solidFill>
                  <a:srgbClr val="B79CFF"/>
                </a:solidFill>
                <a:latin typeface="Courier New" pitchFamily="34" charset="0"/>
                <a:ea typeface="Courier New" pitchFamily="34" charset="-122"/>
                <a:cs typeface="Courier New" pitchFamily="34" charset="-120"/>
              </a:rPr>
              <a:t>trainer = SFTTrainer(model=model,
</a:t>
            </a:r>
            <a:r>
              <a:rPr lang="en-US" sz="1150" dirty="0">
                <a:solidFill>
                  <a:srgbClr val="D6D3EC"/>
                </a:solidFill>
                <a:latin typeface="Courier New" pitchFamily="34" charset="0"/>
                <a:ea typeface="Courier New" pitchFamily="34" charset="-122"/>
                <a:cs typeface="Courier New" pitchFamily="34" charset="-120"/>
              </a:rPr>
              <a:t>    train_dataset=dataset,
    args=TrainingArguments(
        num_train_epochs=3,
        learning_rate=2e-4))
</a:t>
            </a:r>
            <a:r>
              <a:rPr lang="en-US" sz="1150" b="1" dirty="0">
                <a:solidFill>
                  <a:srgbClr val="B79CFF"/>
                </a:solidFill>
                <a:latin typeface="Courier New" pitchFamily="34" charset="0"/>
                <a:ea typeface="Courier New" pitchFamily="34" charset="-122"/>
                <a:cs typeface="Courier New" pitchFamily="34" charset="-120"/>
              </a:rPr>
              <a:t>trainer.train()</a:t>
            </a:r>
            <a:endParaRPr lang="en-US" sz="1150" dirty="0"/>
          </a:p>
        </p:txBody>
      </p:sp>
      <p:sp>
        <p:nvSpPr>
          <p:cNvPr id="18" name="Text 15"/>
          <p:cNvSpPr/>
          <p:nvPr/>
        </p:nvSpPr>
        <p:spPr>
          <a:xfrm>
            <a:off x="11292840" y="6473952"/>
            <a:ext cx="502920" cy="274320"/>
          </a:xfrm>
          <a:prstGeom prst="rect">
            <a:avLst/>
          </a:prstGeom>
          <a:noFill/>
          <a:ln/>
        </p:spPr>
        <p:txBody>
          <a:bodyPr wrap="square" rtlCol="0" anchor="ctr"/>
          <a:lstStyle/>
          <a:p>
            <a:pPr marL="0" indent="0" algn="r">
              <a:buNone/>
            </a:pPr>
            <a:r>
              <a:rPr lang="en-US" sz="1000" dirty="0">
                <a:solidFill>
                  <a:srgbClr val="6B6B85"/>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8686800" cy="274320"/>
          </a:xfrm>
          <a:prstGeom prst="rect">
            <a:avLst/>
          </a:prstGeom>
          <a:noFill/>
          <a:ln/>
        </p:spPr>
        <p:txBody>
          <a:bodyPr wrap="square" rtlCol="0" anchor="ctr"/>
          <a:lstStyle/>
          <a:p>
            <a:pPr marL="0" indent="0">
              <a:buNone/>
            </a:pPr>
            <a:r>
              <a:rPr lang="en-US" sz="1150" b="1" kern="0" spc="200" dirty="0">
                <a:solidFill>
                  <a:srgbClr val="7C3AED"/>
                </a:solidFill>
                <a:latin typeface="Calibri" pitchFamily="34" charset="0"/>
                <a:ea typeface="Calibri" pitchFamily="34" charset="-122"/>
                <a:cs typeface="Calibri" pitchFamily="34" charset="-120"/>
              </a:rPr>
              <a:t>THE PIPELINE · STEP 6 OF 7</a:t>
            </a:r>
            <a:endParaRPr lang="en-US" sz="1150" dirty="0"/>
          </a:p>
        </p:txBody>
      </p:sp>
      <p:sp>
        <p:nvSpPr>
          <p:cNvPr id="3" name="Text 1"/>
          <p:cNvSpPr/>
          <p:nvPr/>
        </p:nvSpPr>
        <p:spPr>
          <a:xfrm>
            <a:off x="640080" y="621792"/>
            <a:ext cx="9692640" cy="685800"/>
          </a:xfrm>
          <a:prstGeom prst="rect">
            <a:avLst/>
          </a:prstGeom>
          <a:noFill/>
          <a:ln/>
        </p:spPr>
        <p:txBody>
          <a:bodyPr wrap="square" rtlCol="0" anchor="t"/>
          <a:lstStyle/>
          <a:p>
            <a:pPr marL="0" indent="0">
              <a:buNone/>
            </a:pPr>
            <a:r>
              <a:rPr lang="en-US" sz="3200" b="1" dirty="0">
                <a:solidFill>
                  <a:srgbClr val="1B1B3A"/>
                </a:solidFill>
                <a:latin typeface="Arial" pitchFamily="34" charset="0"/>
                <a:ea typeface="Arial" pitchFamily="34" charset="-122"/>
                <a:cs typeface="Arial" pitchFamily="34" charset="-120"/>
              </a:rPr>
              <a:t>Evaluate</a:t>
            </a:r>
            <a:endParaRPr lang="en-US" sz="3200" dirty="0"/>
          </a:p>
        </p:txBody>
      </p:sp>
      <p:sp>
        <p:nvSpPr>
          <p:cNvPr id="4" name="Shape 2"/>
          <p:cNvSpPr/>
          <p:nvPr/>
        </p:nvSpPr>
        <p:spPr>
          <a:xfrm>
            <a:off x="10721340" y="434340"/>
            <a:ext cx="777240" cy="777240"/>
          </a:xfrm>
          <a:prstGeom prst="ellipse">
            <a:avLst/>
          </a:prstGeom>
          <a:solidFill>
            <a:srgbClr val="7C3AED"/>
          </a:solidFill>
          <a:ln/>
        </p:spPr>
        <p:txBody>
          <a:bodyPr/>
          <a:lstStyle/>
          <a:p>
            <a:endParaRPr lang="en-US"/>
          </a:p>
        </p:txBody>
      </p:sp>
      <p:pic>
        <p:nvPicPr>
          <p:cNvPr id="5" name="Image 0" descr="/home/claude/llm_finetune_deck/icons/checkCircle.png"/>
          <p:cNvPicPr>
            <a:picLocks noChangeAspect="1"/>
          </p:cNvPicPr>
          <p:nvPr/>
        </p:nvPicPr>
        <p:blipFill>
          <a:blip r:embed="rId3"/>
          <a:stretch>
            <a:fillRect/>
          </a:stretch>
        </p:blipFill>
        <p:spPr>
          <a:xfrm>
            <a:off x="10907878" y="620878"/>
            <a:ext cx="404165" cy="404165"/>
          </a:xfrm>
          <a:prstGeom prst="rect">
            <a:avLst/>
          </a:prstGeom>
        </p:spPr>
      </p:pic>
      <p:sp>
        <p:nvSpPr>
          <p:cNvPr id="6" name="Shape 3"/>
          <p:cNvSpPr/>
          <p:nvPr/>
        </p:nvSpPr>
        <p:spPr>
          <a:xfrm>
            <a:off x="640080" y="1737360"/>
            <a:ext cx="5257800" cy="1417320"/>
          </a:xfrm>
          <a:prstGeom prst="roundRect">
            <a:avLst>
              <a:gd name="adj" fmla="val 5161"/>
            </a:avLst>
          </a:prstGeom>
          <a:solidFill>
            <a:srgbClr val="F4F3FA"/>
          </a:solidFill>
          <a:ln/>
          <a:effectLst>
            <a:outerShdw blurRad="88900" dist="25400" dir="5400000" algn="bl" rotWithShape="0">
              <a:srgbClr val="2B2650">
                <a:alpha val="16000"/>
              </a:srgbClr>
            </a:outerShdw>
          </a:effectLst>
        </p:spPr>
        <p:txBody>
          <a:bodyPr/>
          <a:lstStyle/>
          <a:p>
            <a:endParaRPr lang="en-US"/>
          </a:p>
        </p:txBody>
      </p:sp>
      <p:sp>
        <p:nvSpPr>
          <p:cNvPr id="7" name="Shape 4"/>
          <p:cNvSpPr/>
          <p:nvPr/>
        </p:nvSpPr>
        <p:spPr>
          <a:xfrm>
            <a:off x="941832" y="2125980"/>
            <a:ext cx="640080" cy="640080"/>
          </a:xfrm>
          <a:prstGeom prst="ellipse">
            <a:avLst/>
          </a:prstGeom>
          <a:solidFill>
            <a:srgbClr val="7C3AED"/>
          </a:solidFill>
          <a:ln/>
        </p:spPr>
        <p:txBody>
          <a:bodyPr/>
          <a:lstStyle/>
          <a:p>
            <a:endParaRPr lang="en-US"/>
          </a:p>
        </p:txBody>
      </p:sp>
      <p:pic>
        <p:nvPicPr>
          <p:cNvPr id="8" name="Image 1" descr="/home/claude/llm_finetune_deck/icons/trendingUp.png"/>
          <p:cNvPicPr>
            <a:picLocks noChangeAspect="1"/>
          </p:cNvPicPr>
          <p:nvPr/>
        </p:nvPicPr>
        <p:blipFill>
          <a:blip r:embed="rId4"/>
          <a:stretch>
            <a:fillRect/>
          </a:stretch>
        </p:blipFill>
        <p:spPr>
          <a:xfrm>
            <a:off x="1095451" y="2279599"/>
            <a:ext cx="332842" cy="332842"/>
          </a:xfrm>
          <a:prstGeom prst="rect">
            <a:avLst/>
          </a:prstGeom>
        </p:spPr>
      </p:pic>
      <p:sp>
        <p:nvSpPr>
          <p:cNvPr id="9" name="Text 5"/>
          <p:cNvSpPr/>
          <p:nvPr/>
        </p:nvSpPr>
        <p:spPr>
          <a:xfrm>
            <a:off x="1783080" y="1938528"/>
            <a:ext cx="3886200" cy="411480"/>
          </a:xfrm>
          <a:prstGeom prst="rect">
            <a:avLst/>
          </a:prstGeom>
          <a:noFill/>
          <a:ln/>
        </p:spPr>
        <p:txBody>
          <a:bodyPr wrap="square" rtlCol="0" anchor="ctr"/>
          <a:lstStyle/>
          <a:p>
            <a:pPr marL="0" indent="0">
              <a:buNone/>
            </a:pPr>
            <a:r>
              <a:rPr lang="en-US" sz="1550" b="1" dirty="0">
                <a:solidFill>
                  <a:srgbClr val="1B1B3A"/>
                </a:solidFill>
                <a:latin typeface="Arial" pitchFamily="34" charset="0"/>
                <a:ea typeface="Arial" pitchFamily="34" charset="-122"/>
                <a:cs typeface="Arial" pitchFamily="34" charset="-120"/>
              </a:rPr>
              <a:t>Loss curves</a:t>
            </a:r>
            <a:endParaRPr lang="en-US" sz="1550" dirty="0"/>
          </a:p>
        </p:txBody>
      </p:sp>
      <p:sp>
        <p:nvSpPr>
          <p:cNvPr id="10" name="Text 6"/>
          <p:cNvSpPr/>
          <p:nvPr/>
        </p:nvSpPr>
        <p:spPr>
          <a:xfrm>
            <a:off x="1783080" y="2395728"/>
            <a:ext cx="3886200" cy="685800"/>
          </a:xfrm>
          <a:prstGeom prst="rect">
            <a:avLst/>
          </a:prstGeom>
          <a:noFill/>
          <a:ln/>
        </p:spPr>
        <p:txBody>
          <a:bodyPr wrap="square" rtlCol="0" anchor="t"/>
          <a:lstStyle/>
          <a:p>
            <a:pPr marL="0" indent="0">
              <a:buNone/>
            </a:pPr>
            <a:r>
              <a:rPr lang="en-US" sz="1250" dirty="0">
                <a:solidFill>
                  <a:srgbClr val="6B6B85"/>
                </a:solidFill>
                <a:latin typeface="Calibri" pitchFamily="34" charset="0"/>
                <a:ea typeface="Calibri" pitchFamily="34" charset="-122"/>
                <a:cs typeface="Calibri" pitchFamily="34" charset="-120"/>
              </a:rPr>
              <a:t>Should decrease and plateau — not diverge</a:t>
            </a:r>
            <a:endParaRPr lang="en-US" sz="1250" dirty="0"/>
          </a:p>
        </p:txBody>
      </p:sp>
      <p:sp>
        <p:nvSpPr>
          <p:cNvPr id="11" name="Shape 7"/>
          <p:cNvSpPr/>
          <p:nvPr/>
        </p:nvSpPr>
        <p:spPr>
          <a:xfrm>
            <a:off x="6263640" y="1737360"/>
            <a:ext cx="5257800" cy="1417320"/>
          </a:xfrm>
          <a:prstGeom prst="roundRect">
            <a:avLst>
              <a:gd name="adj" fmla="val 5161"/>
            </a:avLst>
          </a:prstGeom>
          <a:solidFill>
            <a:srgbClr val="F4F3FA"/>
          </a:solidFill>
          <a:ln/>
          <a:effectLst>
            <a:outerShdw blurRad="88900" dist="25400" dir="5400000" algn="bl" rotWithShape="0">
              <a:srgbClr val="2B2650">
                <a:alpha val="16000"/>
              </a:srgbClr>
            </a:outerShdw>
          </a:effectLst>
        </p:spPr>
        <p:txBody>
          <a:bodyPr/>
          <a:lstStyle/>
          <a:p>
            <a:endParaRPr lang="en-US"/>
          </a:p>
        </p:txBody>
      </p:sp>
      <p:sp>
        <p:nvSpPr>
          <p:cNvPr id="12" name="Shape 8"/>
          <p:cNvSpPr/>
          <p:nvPr/>
        </p:nvSpPr>
        <p:spPr>
          <a:xfrm>
            <a:off x="6565392" y="2125980"/>
            <a:ext cx="640080" cy="640080"/>
          </a:xfrm>
          <a:prstGeom prst="ellipse">
            <a:avLst/>
          </a:prstGeom>
          <a:solidFill>
            <a:srgbClr val="7C3AED"/>
          </a:solidFill>
          <a:ln/>
        </p:spPr>
        <p:txBody>
          <a:bodyPr/>
          <a:lstStyle/>
          <a:p>
            <a:endParaRPr lang="en-US"/>
          </a:p>
        </p:txBody>
      </p:sp>
      <p:pic>
        <p:nvPicPr>
          <p:cNvPr id="13" name="Image 2" descr="/home/claude/llm_finetune_deck/icons/target.png"/>
          <p:cNvPicPr>
            <a:picLocks noChangeAspect="1"/>
          </p:cNvPicPr>
          <p:nvPr/>
        </p:nvPicPr>
        <p:blipFill>
          <a:blip r:embed="rId5"/>
          <a:stretch>
            <a:fillRect/>
          </a:stretch>
        </p:blipFill>
        <p:spPr>
          <a:xfrm>
            <a:off x="6719011" y="2279599"/>
            <a:ext cx="332842" cy="332842"/>
          </a:xfrm>
          <a:prstGeom prst="rect">
            <a:avLst/>
          </a:prstGeom>
        </p:spPr>
      </p:pic>
      <p:sp>
        <p:nvSpPr>
          <p:cNvPr id="14" name="Text 9"/>
          <p:cNvSpPr/>
          <p:nvPr/>
        </p:nvSpPr>
        <p:spPr>
          <a:xfrm>
            <a:off x="7406640" y="1938528"/>
            <a:ext cx="3886200" cy="411480"/>
          </a:xfrm>
          <a:prstGeom prst="rect">
            <a:avLst/>
          </a:prstGeom>
          <a:noFill/>
          <a:ln/>
        </p:spPr>
        <p:txBody>
          <a:bodyPr wrap="square" rtlCol="0" anchor="ctr"/>
          <a:lstStyle/>
          <a:p>
            <a:pPr marL="0" indent="0">
              <a:buNone/>
            </a:pPr>
            <a:r>
              <a:rPr lang="en-US" sz="1550" b="1" dirty="0">
                <a:solidFill>
                  <a:srgbClr val="1B1B3A"/>
                </a:solidFill>
                <a:latin typeface="Arial" pitchFamily="34" charset="0"/>
                <a:ea typeface="Arial" pitchFamily="34" charset="-122"/>
                <a:cs typeface="Arial" pitchFamily="34" charset="-120"/>
              </a:rPr>
              <a:t>Task benchmarks</a:t>
            </a:r>
            <a:endParaRPr lang="en-US" sz="1550" dirty="0"/>
          </a:p>
        </p:txBody>
      </p:sp>
      <p:sp>
        <p:nvSpPr>
          <p:cNvPr id="15" name="Text 10"/>
          <p:cNvSpPr/>
          <p:nvPr/>
        </p:nvSpPr>
        <p:spPr>
          <a:xfrm>
            <a:off x="7406640" y="2395728"/>
            <a:ext cx="3886200" cy="685800"/>
          </a:xfrm>
          <a:prstGeom prst="rect">
            <a:avLst/>
          </a:prstGeom>
          <a:noFill/>
          <a:ln/>
        </p:spPr>
        <p:txBody>
          <a:bodyPr wrap="square" rtlCol="0" anchor="t"/>
          <a:lstStyle/>
          <a:p>
            <a:pPr marL="0" indent="0">
              <a:buNone/>
            </a:pPr>
            <a:r>
              <a:rPr lang="en-US" sz="1250" dirty="0">
                <a:solidFill>
                  <a:srgbClr val="6B6B85"/>
                </a:solidFill>
                <a:latin typeface="Calibri" pitchFamily="34" charset="0"/>
                <a:ea typeface="Calibri" pitchFamily="34" charset="-122"/>
                <a:cs typeface="Calibri" pitchFamily="34" charset="-120"/>
              </a:rPr>
              <a:t>Accuracy / F1 / BLEU-ROUGE, depending on the task</a:t>
            </a:r>
            <a:endParaRPr lang="en-US" sz="1250" dirty="0"/>
          </a:p>
        </p:txBody>
      </p:sp>
      <p:sp>
        <p:nvSpPr>
          <p:cNvPr id="16" name="Shape 11"/>
          <p:cNvSpPr/>
          <p:nvPr/>
        </p:nvSpPr>
        <p:spPr>
          <a:xfrm>
            <a:off x="640080" y="3337560"/>
            <a:ext cx="5257800" cy="1417320"/>
          </a:xfrm>
          <a:prstGeom prst="roundRect">
            <a:avLst>
              <a:gd name="adj" fmla="val 5161"/>
            </a:avLst>
          </a:prstGeom>
          <a:solidFill>
            <a:srgbClr val="F4F3FA"/>
          </a:solidFill>
          <a:ln/>
          <a:effectLst>
            <a:outerShdw blurRad="88900" dist="25400" dir="5400000" algn="bl" rotWithShape="0">
              <a:srgbClr val="2B2650">
                <a:alpha val="16000"/>
              </a:srgbClr>
            </a:outerShdw>
          </a:effectLst>
        </p:spPr>
        <p:txBody>
          <a:bodyPr/>
          <a:lstStyle/>
          <a:p>
            <a:endParaRPr lang="en-US"/>
          </a:p>
        </p:txBody>
      </p:sp>
      <p:sp>
        <p:nvSpPr>
          <p:cNvPr id="17" name="Shape 12"/>
          <p:cNvSpPr/>
          <p:nvPr/>
        </p:nvSpPr>
        <p:spPr>
          <a:xfrm>
            <a:off x="941832" y="3726180"/>
            <a:ext cx="640080" cy="640080"/>
          </a:xfrm>
          <a:prstGeom prst="ellipse">
            <a:avLst/>
          </a:prstGeom>
          <a:solidFill>
            <a:srgbClr val="7C3AED"/>
          </a:solidFill>
          <a:ln/>
        </p:spPr>
        <p:txBody>
          <a:bodyPr/>
          <a:lstStyle/>
          <a:p>
            <a:endParaRPr lang="en-US"/>
          </a:p>
        </p:txBody>
      </p:sp>
      <p:pic>
        <p:nvPicPr>
          <p:cNvPr id="18" name="Image 3" descr="/home/claude/llm_finetune_deck/icons/users.png"/>
          <p:cNvPicPr>
            <a:picLocks noChangeAspect="1"/>
          </p:cNvPicPr>
          <p:nvPr/>
        </p:nvPicPr>
        <p:blipFill>
          <a:blip r:embed="rId6"/>
          <a:stretch>
            <a:fillRect/>
          </a:stretch>
        </p:blipFill>
        <p:spPr>
          <a:xfrm>
            <a:off x="1095451" y="3879799"/>
            <a:ext cx="332842" cy="332842"/>
          </a:xfrm>
          <a:prstGeom prst="rect">
            <a:avLst/>
          </a:prstGeom>
        </p:spPr>
      </p:pic>
      <p:sp>
        <p:nvSpPr>
          <p:cNvPr id="19" name="Text 13"/>
          <p:cNvSpPr/>
          <p:nvPr/>
        </p:nvSpPr>
        <p:spPr>
          <a:xfrm>
            <a:off x="1783080" y="3538728"/>
            <a:ext cx="3886200" cy="411480"/>
          </a:xfrm>
          <a:prstGeom prst="rect">
            <a:avLst/>
          </a:prstGeom>
          <a:noFill/>
          <a:ln/>
        </p:spPr>
        <p:txBody>
          <a:bodyPr wrap="square" rtlCol="0" anchor="ctr"/>
          <a:lstStyle/>
          <a:p>
            <a:pPr marL="0" indent="0">
              <a:buNone/>
            </a:pPr>
            <a:r>
              <a:rPr lang="en-US" sz="1550" b="1" dirty="0">
                <a:solidFill>
                  <a:srgbClr val="1B1B3A"/>
                </a:solidFill>
                <a:latin typeface="Arial" pitchFamily="34" charset="0"/>
                <a:ea typeface="Arial" pitchFamily="34" charset="-122"/>
                <a:cs typeface="Arial" pitchFamily="34" charset="-120"/>
              </a:rPr>
              <a:t>LLM-as-judge</a:t>
            </a:r>
            <a:endParaRPr lang="en-US" sz="1550" dirty="0"/>
          </a:p>
        </p:txBody>
      </p:sp>
      <p:sp>
        <p:nvSpPr>
          <p:cNvPr id="20" name="Text 14"/>
          <p:cNvSpPr/>
          <p:nvPr/>
        </p:nvSpPr>
        <p:spPr>
          <a:xfrm>
            <a:off x="1783080" y="3995928"/>
            <a:ext cx="3886200" cy="685800"/>
          </a:xfrm>
          <a:prstGeom prst="rect">
            <a:avLst/>
          </a:prstGeom>
          <a:noFill/>
          <a:ln/>
        </p:spPr>
        <p:txBody>
          <a:bodyPr wrap="square" rtlCol="0" anchor="t"/>
          <a:lstStyle/>
          <a:p>
            <a:pPr marL="0" indent="0">
              <a:buNone/>
            </a:pPr>
            <a:r>
              <a:rPr lang="en-US" sz="1250" dirty="0">
                <a:solidFill>
                  <a:srgbClr val="6B6B85"/>
                </a:solidFill>
                <a:latin typeface="Calibri" pitchFamily="34" charset="0"/>
                <a:ea typeface="Calibri" pitchFamily="34" charset="-122"/>
                <a:cs typeface="Calibri" pitchFamily="34" charset="-120"/>
              </a:rPr>
              <a:t>A stronger model scores outputs against a rubric</a:t>
            </a:r>
            <a:endParaRPr lang="en-US" sz="1250" dirty="0"/>
          </a:p>
        </p:txBody>
      </p:sp>
      <p:sp>
        <p:nvSpPr>
          <p:cNvPr id="21" name="Shape 15"/>
          <p:cNvSpPr/>
          <p:nvPr/>
        </p:nvSpPr>
        <p:spPr>
          <a:xfrm>
            <a:off x="6263640" y="3337560"/>
            <a:ext cx="5257800" cy="1417320"/>
          </a:xfrm>
          <a:prstGeom prst="roundRect">
            <a:avLst>
              <a:gd name="adj" fmla="val 5161"/>
            </a:avLst>
          </a:prstGeom>
          <a:solidFill>
            <a:srgbClr val="F4F3FA"/>
          </a:solidFill>
          <a:ln/>
          <a:effectLst>
            <a:outerShdw blurRad="88900" dist="25400" dir="5400000" algn="bl" rotWithShape="0">
              <a:srgbClr val="2B2650">
                <a:alpha val="16000"/>
              </a:srgbClr>
            </a:outerShdw>
          </a:effectLst>
        </p:spPr>
        <p:txBody>
          <a:bodyPr/>
          <a:lstStyle/>
          <a:p>
            <a:endParaRPr lang="en-US"/>
          </a:p>
        </p:txBody>
      </p:sp>
      <p:sp>
        <p:nvSpPr>
          <p:cNvPr id="22" name="Shape 16"/>
          <p:cNvSpPr/>
          <p:nvPr/>
        </p:nvSpPr>
        <p:spPr>
          <a:xfrm>
            <a:off x="6565392" y="3726180"/>
            <a:ext cx="640080" cy="640080"/>
          </a:xfrm>
          <a:prstGeom prst="ellipse">
            <a:avLst/>
          </a:prstGeom>
          <a:solidFill>
            <a:srgbClr val="7C3AED"/>
          </a:solidFill>
          <a:ln/>
        </p:spPr>
        <p:txBody>
          <a:bodyPr/>
          <a:lstStyle/>
          <a:p>
            <a:endParaRPr lang="en-US"/>
          </a:p>
        </p:txBody>
      </p:sp>
      <p:pic>
        <p:nvPicPr>
          <p:cNvPr id="23" name="Image 4" descr="/home/claude/llm_finetune_deck/icons/checkCircle.png"/>
          <p:cNvPicPr>
            <a:picLocks noChangeAspect="1"/>
          </p:cNvPicPr>
          <p:nvPr/>
        </p:nvPicPr>
        <p:blipFill>
          <a:blip r:embed="rId3"/>
          <a:stretch>
            <a:fillRect/>
          </a:stretch>
        </p:blipFill>
        <p:spPr>
          <a:xfrm>
            <a:off x="6719011" y="3879799"/>
            <a:ext cx="332842" cy="332842"/>
          </a:xfrm>
          <a:prstGeom prst="rect">
            <a:avLst/>
          </a:prstGeom>
        </p:spPr>
      </p:pic>
      <p:sp>
        <p:nvSpPr>
          <p:cNvPr id="24" name="Text 17"/>
          <p:cNvSpPr/>
          <p:nvPr/>
        </p:nvSpPr>
        <p:spPr>
          <a:xfrm>
            <a:off x="7406640" y="3538728"/>
            <a:ext cx="3886200" cy="411480"/>
          </a:xfrm>
          <a:prstGeom prst="rect">
            <a:avLst/>
          </a:prstGeom>
          <a:noFill/>
          <a:ln/>
        </p:spPr>
        <p:txBody>
          <a:bodyPr wrap="square" rtlCol="0" anchor="ctr"/>
          <a:lstStyle/>
          <a:p>
            <a:pPr marL="0" indent="0">
              <a:buNone/>
            </a:pPr>
            <a:r>
              <a:rPr lang="en-US" sz="1550" b="1" dirty="0">
                <a:solidFill>
                  <a:srgbClr val="1B1B3A"/>
                </a:solidFill>
                <a:latin typeface="Arial" pitchFamily="34" charset="0"/>
                <a:ea typeface="Arial" pitchFamily="34" charset="-122"/>
                <a:cs typeface="Arial" pitchFamily="34" charset="-120"/>
              </a:rPr>
              <a:t>Human eval</a:t>
            </a:r>
            <a:endParaRPr lang="en-US" sz="1550" dirty="0"/>
          </a:p>
        </p:txBody>
      </p:sp>
      <p:sp>
        <p:nvSpPr>
          <p:cNvPr id="25" name="Text 18"/>
          <p:cNvSpPr/>
          <p:nvPr/>
        </p:nvSpPr>
        <p:spPr>
          <a:xfrm>
            <a:off x="7406640" y="3995928"/>
            <a:ext cx="3886200" cy="685800"/>
          </a:xfrm>
          <a:prstGeom prst="rect">
            <a:avLst/>
          </a:prstGeom>
          <a:noFill/>
          <a:ln/>
        </p:spPr>
        <p:txBody>
          <a:bodyPr wrap="square" rtlCol="0" anchor="t"/>
          <a:lstStyle/>
          <a:p>
            <a:pPr marL="0" indent="0">
              <a:buNone/>
            </a:pPr>
            <a:r>
              <a:rPr lang="en-US" sz="1250" dirty="0">
                <a:solidFill>
                  <a:srgbClr val="6B6B85"/>
                </a:solidFill>
                <a:latin typeface="Calibri" pitchFamily="34" charset="0"/>
                <a:ea typeface="Calibri" pitchFamily="34" charset="-122"/>
                <a:cs typeface="Calibri" pitchFamily="34" charset="-120"/>
              </a:rPr>
              <a:t>Small real-user sample — the biggest reality check</a:t>
            </a:r>
            <a:endParaRPr lang="en-US" sz="1250" dirty="0"/>
          </a:p>
        </p:txBody>
      </p:sp>
      <p:sp>
        <p:nvSpPr>
          <p:cNvPr id="26" name="Shape 19"/>
          <p:cNvSpPr/>
          <p:nvPr/>
        </p:nvSpPr>
        <p:spPr>
          <a:xfrm>
            <a:off x="640080" y="5166360"/>
            <a:ext cx="10908792" cy="777240"/>
          </a:xfrm>
          <a:prstGeom prst="roundRect">
            <a:avLst>
              <a:gd name="adj" fmla="val 9412"/>
            </a:avLst>
          </a:prstGeom>
          <a:solidFill>
            <a:srgbClr val="ECE4FD"/>
          </a:solidFill>
          <a:ln/>
        </p:spPr>
        <p:txBody>
          <a:bodyPr/>
          <a:lstStyle/>
          <a:p>
            <a:endParaRPr lang="en-US"/>
          </a:p>
        </p:txBody>
      </p:sp>
      <p:sp>
        <p:nvSpPr>
          <p:cNvPr id="27" name="Text 20"/>
          <p:cNvSpPr/>
          <p:nvPr/>
        </p:nvSpPr>
        <p:spPr>
          <a:xfrm>
            <a:off x="914400" y="5166360"/>
            <a:ext cx="10360152" cy="777240"/>
          </a:xfrm>
          <a:prstGeom prst="rect">
            <a:avLst/>
          </a:prstGeom>
          <a:noFill/>
          <a:ln/>
        </p:spPr>
        <p:txBody>
          <a:bodyPr wrap="square" rtlCol="0" anchor="ctr"/>
          <a:lstStyle/>
          <a:p>
            <a:pPr marL="0" indent="0">
              <a:buNone/>
            </a:pPr>
            <a:r>
              <a:rPr lang="en-US" sz="1400" b="1" dirty="0">
                <a:solidFill>
                  <a:srgbClr val="7C3AED"/>
                </a:solidFill>
                <a:latin typeface="Calibri" pitchFamily="34" charset="0"/>
                <a:ea typeface="Calibri" pitchFamily="34" charset="-122"/>
                <a:cs typeface="Calibri" pitchFamily="34" charset="-120"/>
              </a:rPr>
              <a:t>Watch for: </a:t>
            </a:r>
            <a:r>
              <a:rPr lang="en-US" sz="1400" dirty="0">
                <a:solidFill>
                  <a:srgbClr val="1B1B3A"/>
                </a:solidFill>
                <a:latin typeface="Calibri" pitchFamily="34" charset="0"/>
                <a:ea typeface="Calibri" pitchFamily="34" charset="-122"/>
                <a:cs typeface="Calibri" pitchFamily="34" charset="-120"/>
              </a:rPr>
              <a:t>overfitting (memorized, not generalized) and catastrophic forgetting (lost general skills).</a:t>
            </a:r>
            <a:endParaRPr lang="en-US" sz="1400" dirty="0"/>
          </a:p>
        </p:txBody>
      </p:sp>
      <p:sp>
        <p:nvSpPr>
          <p:cNvPr id="28" name="Text 21"/>
          <p:cNvSpPr/>
          <p:nvPr/>
        </p:nvSpPr>
        <p:spPr>
          <a:xfrm>
            <a:off x="11292840" y="6473952"/>
            <a:ext cx="502920" cy="274320"/>
          </a:xfrm>
          <a:prstGeom prst="rect">
            <a:avLst/>
          </a:prstGeom>
          <a:noFill/>
          <a:ln/>
        </p:spPr>
        <p:txBody>
          <a:bodyPr wrap="square" rtlCol="0" anchor="ctr"/>
          <a:lstStyle/>
          <a:p>
            <a:pPr marL="0" indent="0" algn="r">
              <a:buNone/>
            </a:pPr>
            <a:r>
              <a:rPr lang="en-US" sz="1000" dirty="0">
                <a:solidFill>
                  <a:srgbClr val="6B6B85"/>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8686800" cy="274320"/>
          </a:xfrm>
          <a:prstGeom prst="rect">
            <a:avLst/>
          </a:prstGeom>
          <a:noFill/>
          <a:ln/>
        </p:spPr>
        <p:txBody>
          <a:bodyPr wrap="square" rtlCol="0" anchor="ctr"/>
          <a:lstStyle/>
          <a:p>
            <a:pPr marL="0" indent="0">
              <a:buNone/>
            </a:pPr>
            <a:r>
              <a:rPr lang="en-US" sz="1150" b="1" kern="0" spc="200" dirty="0">
                <a:solidFill>
                  <a:srgbClr val="7C3AED"/>
                </a:solidFill>
                <a:latin typeface="Calibri" pitchFamily="34" charset="0"/>
                <a:ea typeface="Calibri" pitchFamily="34" charset="-122"/>
                <a:cs typeface="Calibri" pitchFamily="34" charset="-120"/>
              </a:rPr>
              <a:t>THE PIPELINE · STEP 7 OF 7</a:t>
            </a:r>
            <a:endParaRPr lang="en-US" sz="1150" dirty="0"/>
          </a:p>
        </p:txBody>
      </p:sp>
      <p:sp>
        <p:nvSpPr>
          <p:cNvPr id="3" name="Text 1"/>
          <p:cNvSpPr/>
          <p:nvPr/>
        </p:nvSpPr>
        <p:spPr>
          <a:xfrm>
            <a:off x="640080" y="621792"/>
            <a:ext cx="9692640" cy="685800"/>
          </a:xfrm>
          <a:prstGeom prst="rect">
            <a:avLst/>
          </a:prstGeom>
          <a:noFill/>
          <a:ln/>
        </p:spPr>
        <p:txBody>
          <a:bodyPr wrap="square" rtlCol="0" anchor="t"/>
          <a:lstStyle/>
          <a:p>
            <a:pPr marL="0" indent="0">
              <a:buNone/>
            </a:pPr>
            <a:r>
              <a:rPr lang="en-US" sz="3200" b="1" dirty="0">
                <a:solidFill>
                  <a:srgbClr val="1B1B3A"/>
                </a:solidFill>
                <a:latin typeface="Arial" pitchFamily="34" charset="0"/>
                <a:ea typeface="Arial" pitchFamily="34" charset="-122"/>
                <a:cs typeface="Arial" pitchFamily="34" charset="-120"/>
              </a:rPr>
              <a:t>Deploy &amp; Serve</a:t>
            </a:r>
            <a:endParaRPr lang="en-US" sz="3200" dirty="0"/>
          </a:p>
        </p:txBody>
      </p:sp>
      <p:sp>
        <p:nvSpPr>
          <p:cNvPr id="4" name="Shape 2"/>
          <p:cNvSpPr/>
          <p:nvPr/>
        </p:nvSpPr>
        <p:spPr>
          <a:xfrm>
            <a:off x="10721340" y="434340"/>
            <a:ext cx="777240" cy="777240"/>
          </a:xfrm>
          <a:prstGeom prst="ellipse">
            <a:avLst/>
          </a:prstGeom>
          <a:solidFill>
            <a:srgbClr val="7C3AED"/>
          </a:solidFill>
          <a:ln/>
        </p:spPr>
        <p:txBody>
          <a:bodyPr/>
          <a:lstStyle/>
          <a:p>
            <a:endParaRPr lang="en-US"/>
          </a:p>
        </p:txBody>
      </p:sp>
      <p:pic>
        <p:nvPicPr>
          <p:cNvPr id="5" name="Image 0" descr="/home/claude/llm_finetune_deck/icons/uploadCloud.png"/>
          <p:cNvPicPr>
            <a:picLocks noChangeAspect="1"/>
          </p:cNvPicPr>
          <p:nvPr/>
        </p:nvPicPr>
        <p:blipFill>
          <a:blip r:embed="rId3"/>
          <a:stretch>
            <a:fillRect/>
          </a:stretch>
        </p:blipFill>
        <p:spPr>
          <a:xfrm>
            <a:off x="10907878" y="620878"/>
            <a:ext cx="404165" cy="404165"/>
          </a:xfrm>
          <a:prstGeom prst="rect">
            <a:avLst/>
          </a:prstGeom>
        </p:spPr>
      </p:pic>
      <p:sp>
        <p:nvSpPr>
          <p:cNvPr id="6" name="Shape 3"/>
          <p:cNvSpPr/>
          <p:nvPr/>
        </p:nvSpPr>
        <p:spPr>
          <a:xfrm>
            <a:off x="640080" y="1783080"/>
            <a:ext cx="10908792" cy="960120"/>
          </a:xfrm>
          <a:prstGeom prst="roundRect">
            <a:avLst>
              <a:gd name="adj" fmla="val 7619"/>
            </a:avLst>
          </a:prstGeom>
          <a:solidFill>
            <a:srgbClr val="F4F3FA"/>
          </a:solidFill>
          <a:ln/>
          <a:effectLst>
            <a:outerShdw blurRad="88900" dist="25400" dir="5400000" algn="bl" rotWithShape="0">
              <a:srgbClr val="2B2650">
                <a:alpha val="16000"/>
              </a:srgbClr>
            </a:outerShdw>
          </a:effectLst>
        </p:spPr>
        <p:txBody>
          <a:bodyPr/>
          <a:lstStyle/>
          <a:p>
            <a:endParaRPr lang="en-US"/>
          </a:p>
        </p:txBody>
      </p:sp>
      <p:sp>
        <p:nvSpPr>
          <p:cNvPr id="7" name="Shape 4"/>
          <p:cNvSpPr/>
          <p:nvPr/>
        </p:nvSpPr>
        <p:spPr>
          <a:xfrm>
            <a:off x="937260" y="1965960"/>
            <a:ext cx="594360" cy="594360"/>
          </a:xfrm>
          <a:prstGeom prst="ellipse">
            <a:avLst/>
          </a:prstGeom>
          <a:solidFill>
            <a:srgbClr val="7C3AED"/>
          </a:solidFill>
          <a:ln/>
        </p:spPr>
        <p:txBody>
          <a:bodyPr/>
          <a:lstStyle/>
          <a:p>
            <a:endParaRPr lang="en-US"/>
          </a:p>
        </p:txBody>
      </p:sp>
      <p:pic>
        <p:nvPicPr>
          <p:cNvPr id="8" name="Image 1" descr="/home/claude/llm_finetune_deck/icons/gitBranch.png"/>
          <p:cNvPicPr>
            <a:picLocks noChangeAspect="1"/>
          </p:cNvPicPr>
          <p:nvPr/>
        </p:nvPicPr>
        <p:blipFill>
          <a:blip r:embed="rId4"/>
          <a:stretch>
            <a:fillRect/>
          </a:stretch>
        </p:blipFill>
        <p:spPr>
          <a:xfrm>
            <a:off x="1079906" y="2108606"/>
            <a:ext cx="309067" cy="309067"/>
          </a:xfrm>
          <a:prstGeom prst="rect">
            <a:avLst/>
          </a:prstGeom>
        </p:spPr>
      </p:pic>
      <p:sp>
        <p:nvSpPr>
          <p:cNvPr id="9" name="Text 5"/>
          <p:cNvSpPr/>
          <p:nvPr/>
        </p:nvSpPr>
        <p:spPr>
          <a:xfrm>
            <a:off x="1737360" y="1911096"/>
            <a:ext cx="2743200" cy="704088"/>
          </a:xfrm>
          <a:prstGeom prst="rect">
            <a:avLst/>
          </a:prstGeom>
          <a:noFill/>
          <a:ln/>
        </p:spPr>
        <p:txBody>
          <a:bodyPr wrap="square" rtlCol="0" anchor="ctr"/>
          <a:lstStyle/>
          <a:p>
            <a:pPr marL="0" indent="0">
              <a:buNone/>
            </a:pPr>
            <a:r>
              <a:rPr lang="en-US" sz="1450" b="1" dirty="0">
                <a:solidFill>
                  <a:srgbClr val="1B1B3A"/>
                </a:solidFill>
                <a:latin typeface="Arial" pitchFamily="34" charset="0"/>
                <a:ea typeface="Arial" pitchFamily="34" charset="-122"/>
                <a:cs typeface="Arial" pitchFamily="34" charset="-120"/>
              </a:rPr>
              <a:t>Merge or keep separate</a:t>
            </a:r>
            <a:endParaRPr lang="en-US" sz="1450" dirty="0"/>
          </a:p>
        </p:txBody>
      </p:sp>
      <p:sp>
        <p:nvSpPr>
          <p:cNvPr id="10" name="Text 6"/>
          <p:cNvSpPr/>
          <p:nvPr/>
        </p:nvSpPr>
        <p:spPr>
          <a:xfrm>
            <a:off x="4572000" y="1911096"/>
            <a:ext cx="6702552" cy="704088"/>
          </a:xfrm>
          <a:prstGeom prst="rect">
            <a:avLst/>
          </a:prstGeom>
          <a:noFill/>
          <a:ln/>
        </p:spPr>
        <p:txBody>
          <a:bodyPr wrap="square" rtlCol="0" anchor="ctr"/>
          <a:lstStyle/>
          <a:p>
            <a:pPr marL="0" indent="0">
              <a:buNone/>
            </a:pPr>
            <a:r>
              <a:rPr lang="en-US" sz="1250" dirty="0">
                <a:solidFill>
                  <a:srgbClr val="6B6B85"/>
                </a:solidFill>
                <a:latin typeface="Calibri" pitchFamily="34" charset="0"/>
                <a:ea typeface="Calibri" pitchFamily="34" charset="-122"/>
                <a:cs typeface="Calibri" pitchFamily="34" charset="-120"/>
              </a:rPr>
              <a:t>Merge the LoRA adapter into base weights, or keep it separate to hot-swap adapters</a:t>
            </a:r>
            <a:endParaRPr lang="en-US" sz="1250" dirty="0"/>
          </a:p>
        </p:txBody>
      </p:sp>
      <p:sp>
        <p:nvSpPr>
          <p:cNvPr id="11" name="Shape 7"/>
          <p:cNvSpPr/>
          <p:nvPr/>
        </p:nvSpPr>
        <p:spPr>
          <a:xfrm>
            <a:off x="640080" y="2880360"/>
            <a:ext cx="10908792" cy="960120"/>
          </a:xfrm>
          <a:prstGeom prst="roundRect">
            <a:avLst>
              <a:gd name="adj" fmla="val 7619"/>
            </a:avLst>
          </a:prstGeom>
          <a:solidFill>
            <a:srgbClr val="F4F3FA"/>
          </a:solidFill>
          <a:ln/>
          <a:effectLst>
            <a:outerShdw blurRad="88900" dist="25400" dir="5400000" algn="bl" rotWithShape="0">
              <a:srgbClr val="2B2650">
                <a:alpha val="16000"/>
              </a:srgbClr>
            </a:outerShdw>
          </a:effectLst>
        </p:spPr>
        <p:txBody>
          <a:bodyPr/>
          <a:lstStyle/>
          <a:p>
            <a:endParaRPr lang="en-US"/>
          </a:p>
        </p:txBody>
      </p:sp>
      <p:sp>
        <p:nvSpPr>
          <p:cNvPr id="12" name="Shape 8"/>
          <p:cNvSpPr/>
          <p:nvPr/>
        </p:nvSpPr>
        <p:spPr>
          <a:xfrm>
            <a:off x="937260" y="3063240"/>
            <a:ext cx="594360" cy="594360"/>
          </a:xfrm>
          <a:prstGeom prst="ellipse">
            <a:avLst/>
          </a:prstGeom>
          <a:solidFill>
            <a:srgbClr val="7C3AED"/>
          </a:solidFill>
          <a:ln/>
        </p:spPr>
        <p:txBody>
          <a:bodyPr/>
          <a:lstStyle/>
          <a:p>
            <a:endParaRPr lang="en-US"/>
          </a:p>
        </p:txBody>
      </p:sp>
      <p:pic>
        <p:nvPicPr>
          <p:cNvPr id="13" name="Image 2" descr="/home/claude/llm_finetune_deck/icons/grid.png"/>
          <p:cNvPicPr>
            <a:picLocks noChangeAspect="1"/>
          </p:cNvPicPr>
          <p:nvPr/>
        </p:nvPicPr>
        <p:blipFill>
          <a:blip r:embed="rId5"/>
          <a:stretch>
            <a:fillRect/>
          </a:stretch>
        </p:blipFill>
        <p:spPr>
          <a:xfrm>
            <a:off x="1079906" y="3205886"/>
            <a:ext cx="309067" cy="309067"/>
          </a:xfrm>
          <a:prstGeom prst="rect">
            <a:avLst/>
          </a:prstGeom>
        </p:spPr>
      </p:pic>
      <p:sp>
        <p:nvSpPr>
          <p:cNvPr id="14" name="Text 9"/>
          <p:cNvSpPr/>
          <p:nvPr/>
        </p:nvSpPr>
        <p:spPr>
          <a:xfrm>
            <a:off x="1737360" y="3008376"/>
            <a:ext cx="2743200" cy="704088"/>
          </a:xfrm>
          <a:prstGeom prst="rect">
            <a:avLst/>
          </a:prstGeom>
          <a:noFill/>
          <a:ln/>
        </p:spPr>
        <p:txBody>
          <a:bodyPr wrap="square" rtlCol="0" anchor="ctr"/>
          <a:lstStyle/>
          <a:p>
            <a:pPr marL="0" indent="0">
              <a:buNone/>
            </a:pPr>
            <a:r>
              <a:rPr lang="en-US" sz="1450" b="1" dirty="0">
                <a:solidFill>
                  <a:srgbClr val="1B1B3A"/>
                </a:solidFill>
                <a:latin typeface="Arial" pitchFamily="34" charset="0"/>
                <a:ea typeface="Arial" pitchFamily="34" charset="-122"/>
                <a:cs typeface="Arial" pitchFamily="34" charset="-120"/>
              </a:rPr>
              <a:t>Quantize for inference</a:t>
            </a:r>
            <a:endParaRPr lang="en-US" sz="1450" dirty="0"/>
          </a:p>
        </p:txBody>
      </p:sp>
      <p:sp>
        <p:nvSpPr>
          <p:cNvPr id="15" name="Text 10"/>
          <p:cNvSpPr/>
          <p:nvPr/>
        </p:nvSpPr>
        <p:spPr>
          <a:xfrm>
            <a:off x="4572000" y="3008376"/>
            <a:ext cx="6702552" cy="704088"/>
          </a:xfrm>
          <a:prstGeom prst="rect">
            <a:avLst/>
          </a:prstGeom>
          <a:noFill/>
          <a:ln/>
        </p:spPr>
        <p:txBody>
          <a:bodyPr wrap="square" rtlCol="0" anchor="ctr"/>
          <a:lstStyle/>
          <a:p>
            <a:pPr marL="0" indent="0">
              <a:buNone/>
            </a:pPr>
            <a:r>
              <a:rPr lang="en-US" sz="1250" dirty="0">
                <a:solidFill>
                  <a:srgbClr val="6B6B85"/>
                </a:solidFill>
                <a:latin typeface="Calibri" pitchFamily="34" charset="0"/>
                <a:ea typeface="Calibri" pitchFamily="34" charset="-122"/>
                <a:cs typeface="Calibri" pitchFamily="34" charset="-120"/>
              </a:rPr>
              <a:t>GGUF (llama.cpp), AWQ, or GPTQ — shrink for faster, cheaper serving</a:t>
            </a:r>
            <a:endParaRPr lang="en-US" sz="1250" dirty="0"/>
          </a:p>
        </p:txBody>
      </p:sp>
      <p:sp>
        <p:nvSpPr>
          <p:cNvPr id="16" name="Shape 11"/>
          <p:cNvSpPr/>
          <p:nvPr/>
        </p:nvSpPr>
        <p:spPr>
          <a:xfrm>
            <a:off x="640080" y="3977640"/>
            <a:ext cx="10908792" cy="960120"/>
          </a:xfrm>
          <a:prstGeom prst="roundRect">
            <a:avLst>
              <a:gd name="adj" fmla="val 7619"/>
            </a:avLst>
          </a:prstGeom>
          <a:solidFill>
            <a:srgbClr val="F4F3FA"/>
          </a:solidFill>
          <a:ln/>
          <a:effectLst>
            <a:outerShdw blurRad="88900" dist="25400" dir="5400000" algn="bl" rotWithShape="0">
              <a:srgbClr val="2B2650">
                <a:alpha val="16000"/>
              </a:srgbClr>
            </a:outerShdw>
          </a:effectLst>
        </p:spPr>
        <p:txBody>
          <a:bodyPr/>
          <a:lstStyle/>
          <a:p>
            <a:endParaRPr lang="en-US"/>
          </a:p>
        </p:txBody>
      </p:sp>
      <p:sp>
        <p:nvSpPr>
          <p:cNvPr id="17" name="Shape 12"/>
          <p:cNvSpPr/>
          <p:nvPr/>
        </p:nvSpPr>
        <p:spPr>
          <a:xfrm>
            <a:off x="937260" y="4160520"/>
            <a:ext cx="594360" cy="594360"/>
          </a:xfrm>
          <a:prstGeom prst="ellipse">
            <a:avLst/>
          </a:prstGeom>
          <a:solidFill>
            <a:srgbClr val="7C3AED"/>
          </a:solidFill>
          <a:ln/>
        </p:spPr>
        <p:txBody>
          <a:bodyPr/>
          <a:lstStyle/>
          <a:p>
            <a:endParaRPr lang="en-US"/>
          </a:p>
        </p:txBody>
      </p:sp>
      <p:pic>
        <p:nvPicPr>
          <p:cNvPr id="18" name="Image 3" descr="/home/claude/llm_finetune_deck/icons/server.png"/>
          <p:cNvPicPr>
            <a:picLocks noChangeAspect="1"/>
          </p:cNvPicPr>
          <p:nvPr/>
        </p:nvPicPr>
        <p:blipFill>
          <a:blip r:embed="rId6"/>
          <a:stretch>
            <a:fillRect/>
          </a:stretch>
        </p:blipFill>
        <p:spPr>
          <a:xfrm>
            <a:off x="1079906" y="4303166"/>
            <a:ext cx="309067" cy="309067"/>
          </a:xfrm>
          <a:prstGeom prst="rect">
            <a:avLst/>
          </a:prstGeom>
        </p:spPr>
      </p:pic>
      <p:sp>
        <p:nvSpPr>
          <p:cNvPr id="19" name="Text 13"/>
          <p:cNvSpPr/>
          <p:nvPr/>
        </p:nvSpPr>
        <p:spPr>
          <a:xfrm>
            <a:off x="1737360" y="4105656"/>
            <a:ext cx="2743200" cy="704088"/>
          </a:xfrm>
          <a:prstGeom prst="rect">
            <a:avLst/>
          </a:prstGeom>
          <a:noFill/>
          <a:ln/>
        </p:spPr>
        <p:txBody>
          <a:bodyPr wrap="square" rtlCol="0" anchor="ctr"/>
          <a:lstStyle/>
          <a:p>
            <a:pPr marL="0" indent="0">
              <a:buNone/>
            </a:pPr>
            <a:r>
              <a:rPr lang="en-US" sz="1450" b="1" dirty="0">
                <a:solidFill>
                  <a:srgbClr val="1B1B3A"/>
                </a:solidFill>
                <a:latin typeface="Arial" pitchFamily="34" charset="0"/>
                <a:ea typeface="Arial" pitchFamily="34" charset="-122"/>
                <a:cs typeface="Arial" pitchFamily="34" charset="-120"/>
              </a:rPr>
              <a:t>Serve it</a:t>
            </a:r>
            <a:endParaRPr lang="en-US" sz="1450" dirty="0"/>
          </a:p>
        </p:txBody>
      </p:sp>
      <p:sp>
        <p:nvSpPr>
          <p:cNvPr id="20" name="Text 14"/>
          <p:cNvSpPr/>
          <p:nvPr/>
        </p:nvSpPr>
        <p:spPr>
          <a:xfrm>
            <a:off x="4572000" y="4105656"/>
            <a:ext cx="6702552" cy="704088"/>
          </a:xfrm>
          <a:prstGeom prst="rect">
            <a:avLst/>
          </a:prstGeom>
          <a:noFill/>
          <a:ln/>
        </p:spPr>
        <p:txBody>
          <a:bodyPr wrap="square" rtlCol="0" anchor="ctr"/>
          <a:lstStyle/>
          <a:p>
            <a:pPr marL="0" indent="0">
              <a:buNone/>
            </a:pPr>
            <a:r>
              <a:rPr lang="en-US" sz="1250" dirty="0">
                <a:solidFill>
                  <a:srgbClr val="6B6B85"/>
                </a:solidFill>
                <a:latin typeface="Calibri" pitchFamily="34" charset="0"/>
                <a:ea typeface="Calibri" pitchFamily="34" charset="-122"/>
                <a:cs typeface="Calibri" pitchFamily="34" charset="-120"/>
              </a:rPr>
              <a:t>vLLM (throughput) · Ollama (local/easy) · TGI · llama.cpp (edge/CPU)</a:t>
            </a:r>
            <a:endParaRPr lang="en-US" sz="1250" dirty="0"/>
          </a:p>
        </p:txBody>
      </p:sp>
      <p:sp>
        <p:nvSpPr>
          <p:cNvPr id="21" name="Shape 15"/>
          <p:cNvSpPr/>
          <p:nvPr/>
        </p:nvSpPr>
        <p:spPr>
          <a:xfrm>
            <a:off x="640080" y="5074920"/>
            <a:ext cx="10908792" cy="960120"/>
          </a:xfrm>
          <a:prstGeom prst="roundRect">
            <a:avLst>
              <a:gd name="adj" fmla="val 7619"/>
            </a:avLst>
          </a:prstGeom>
          <a:solidFill>
            <a:srgbClr val="F4F3FA"/>
          </a:solidFill>
          <a:ln/>
          <a:effectLst>
            <a:outerShdw blurRad="88900" dist="25400" dir="5400000" algn="bl" rotWithShape="0">
              <a:srgbClr val="2B2650">
                <a:alpha val="16000"/>
              </a:srgbClr>
            </a:outerShdw>
          </a:effectLst>
        </p:spPr>
        <p:txBody>
          <a:bodyPr/>
          <a:lstStyle/>
          <a:p>
            <a:endParaRPr lang="en-US"/>
          </a:p>
        </p:txBody>
      </p:sp>
      <p:sp>
        <p:nvSpPr>
          <p:cNvPr id="22" name="Shape 16"/>
          <p:cNvSpPr/>
          <p:nvPr/>
        </p:nvSpPr>
        <p:spPr>
          <a:xfrm>
            <a:off x="937260" y="5257800"/>
            <a:ext cx="594360" cy="594360"/>
          </a:xfrm>
          <a:prstGeom prst="ellipse">
            <a:avLst/>
          </a:prstGeom>
          <a:solidFill>
            <a:srgbClr val="7C3AED"/>
          </a:solidFill>
          <a:ln/>
        </p:spPr>
        <p:txBody>
          <a:bodyPr/>
          <a:lstStyle/>
          <a:p>
            <a:endParaRPr lang="en-US"/>
          </a:p>
        </p:txBody>
      </p:sp>
      <p:pic>
        <p:nvPicPr>
          <p:cNvPr id="23" name="Image 4" descr="/home/claude/llm_finetune_deck/icons/uploadCloud.png"/>
          <p:cNvPicPr>
            <a:picLocks noChangeAspect="1"/>
          </p:cNvPicPr>
          <p:nvPr/>
        </p:nvPicPr>
        <p:blipFill>
          <a:blip r:embed="rId3"/>
          <a:stretch>
            <a:fillRect/>
          </a:stretch>
        </p:blipFill>
        <p:spPr>
          <a:xfrm>
            <a:off x="1079906" y="5400446"/>
            <a:ext cx="309067" cy="309067"/>
          </a:xfrm>
          <a:prstGeom prst="rect">
            <a:avLst/>
          </a:prstGeom>
        </p:spPr>
      </p:pic>
      <p:sp>
        <p:nvSpPr>
          <p:cNvPr id="24" name="Text 17"/>
          <p:cNvSpPr/>
          <p:nvPr/>
        </p:nvSpPr>
        <p:spPr>
          <a:xfrm>
            <a:off x="1737360" y="5202936"/>
            <a:ext cx="2743200" cy="704088"/>
          </a:xfrm>
          <a:prstGeom prst="rect">
            <a:avLst/>
          </a:prstGeom>
          <a:noFill/>
          <a:ln/>
        </p:spPr>
        <p:txBody>
          <a:bodyPr wrap="square" rtlCol="0" anchor="ctr"/>
          <a:lstStyle/>
          <a:p>
            <a:pPr marL="0" indent="0">
              <a:buNone/>
            </a:pPr>
            <a:r>
              <a:rPr lang="en-US" sz="1450" b="1" dirty="0">
                <a:solidFill>
                  <a:srgbClr val="1B1B3A"/>
                </a:solidFill>
                <a:latin typeface="Arial" pitchFamily="34" charset="0"/>
                <a:ea typeface="Arial" pitchFamily="34" charset="-122"/>
                <a:cs typeface="Arial" pitchFamily="34" charset="-120"/>
              </a:rPr>
              <a:t>Version it</a:t>
            </a:r>
            <a:endParaRPr lang="en-US" sz="1450" dirty="0"/>
          </a:p>
        </p:txBody>
      </p:sp>
      <p:sp>
        <p:nvSpPr>
          <p:cNvPr id="25" name="Text 18"/>
          <p:cNvSpPr/>
          <p:nvPr/>
        </p:nvSpPr>
        <p:spPr>
          <a:xfrm>
            <a:off x="4572000" y="5202936"/>
            <a:ext cx="6702552" cy="704088"/>
          </a:xfrm>
          <a:prstGeom prst="rect">
            <a:avLst/>
          </a:prstGeom>
          <a:noFill/>
          <a:ln/>
        </p:spPr>
        <p:txBody>
          <a:bodyPr wrap="square" rtlCol="0" anchor="ctr"/>
          <a:lstStyle/>
          <a:p>
            <a:pPr marL="0" indent="0">
              <a:buNone/>
            </a:pPr>
            <a:r>
              <a:rPr lang="en-US" sz="1250" dirty="0">
                <a:solidFill>
                  <a:srgbClr val="6B6B85"/>
                </a:solidFill>
                <a:latin typeface="Calibri" pitchFamily="34" charset="0"/>
                <a:ea typeface="Calibri" pitchFamily="34" charset="-122"/>
                <a:cs typeface="Calibri" pitchFamily="34" charset="-120"/>
              </a:rPr>
              <a:t>Push to the Hugging Face Hub for versioning, sharing, and rollback</a:t>
            </a:r>
            <a:endParaRPr lang="en-US" sz="1250" dirty="0"/>
          </a:p>
        </p:txBody>
      </p:sp>
      <p:sp>
        <p:nvSpPr>
          <p:cNvPr id="26" name="Text 19"/>
          <p:cNvSpPr/>
          <p:nvPr/>
        </p:nvSpPr>
        <p:spPr>
          <a:xfrm>
            <a:off x="11292840" y="6473952"/>
            <a:ext cx="502920" cy="274320"/>
          </a:xfrm>
          <a:prstGeom prst="rect">
            <a:avLst/>
          </a:prstGeom>
          <a:noFill/>
          <a:ln/>
        </p:spPr>
        <p:txBody>
          <a:bodyPr wrap="square" rtlCol="0" anchor="ctr"/>
          <a:lstStyle/>
          <a:p>
            <a:pPr marL="0" indent="0" algn="r">
              <a:buNone/>
            </a:pPr>
            <a:r>
              <a:rPr lang="en-US" sz="1000" dirty="0">
                <a:solidFill>
                  <a:srgbClr val="6B6B85"/>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8686800" cy="274320"/>
          </a:xfrm>
          <a:prstGeom prst="rect">
            <a:avLst/>
          </a:prstGeom>
          <a:noFill/>
          <a:ln/>
        </p:spPr>
        <p:txBody>
          <a:bodyPr wrap="square" rtlCol="0" anchor="ctr"/>
          <a:lstStyle/>
          <a:p>
            <a:pPr marL="0" indent="0">
              <a:buNone/>
            </a:pPr>
            <a:r>
              <a:rPr lang="en-US" sz="1150" b="1" kern="0" spc="200" dirty="0">
                <a:solidFill>
                  <a:srgbClr val="7C3AED"/>
                </a:solidFill>
                <a:latin typeface="Calibri" pitchFamily="34" charset="0"/>
                <a:ea typeface="Calibri" pitchFamily="34" charset="-122"/>
                <a:cs typeface="Calibri" pitchFamily="34" charset="-120"/>
              </a:rPr>
              <a:t>TOOLS</a:t>
            </a:r>
            <a:endParaRPr lang="en-US" sz="1150" dirty="0"/>
          </a:p>
        </p:txBody>
      </p:sp>
      <p:sp>
        <p:nvSpPr>
          <p:cNvPr id="3" name="Text 1"/>
          <p:cNvSpPr/>
          <p:nvPr/>
        </p:nvSpPr>
        <p:spPr>
          <a:xfrm>
            <a:off x="640080" y="621792"/>
            <a:ext cx="9692640" cy="685800"/>
          </a:xfrm>
          <a:prstGeom prst="rect">
            <a:avLst/>
          </a:prstGeom>
          <a:noFill/>
          <a:ln/>
        </p:spPr>
        <p:txBody>
          <a:bodyPr wrap="square" rtlCol="0" anchor="t"/>
          <a:lstStyle/>
          <a:p>
            <a:pPr marL="0" indent="0">
              <a:buNone/>
            </a:pPr>
            <a:r>
              <a:rPr lang="en-US" sz="3200" b="1" dirty="0">
                <a:solidFill>
                  <a:srgbClr val="1B1B3A"/>
                </a:solidFill>
                <a:latin typeface="Arial" pitchFamily="34" charset="0"/>
                <a:ea typeface="Arial" pitchFamily="34" charset="-122"/>
                <a:cs typeface="Arial" pitchFamily="34" charset="-120"/>
              </a:rPr>
              <a:t>The Tool Ecosystem, End to End</a:t>
            </a:r>
            <a:endParaRPr lang="en-US" sz="3200" dirty="0"/>
          </a:p>
        </p:txBody>
      </p:sp>
      <p:sp>
        <p:nvSpPr>
          <p:cNvPr id="4" name="Shape 2"/>
          <p:cNvSpPr/>
          <p:nvPr/>
        </p:nvSpPr>
        <p:spPr>
          <a:xfrm>
            <a:off x="10721340" y="434340"/>
            <a:ext cx="777240" cy="777240"/>
          </a:xfrm>
          <a:prstGeom prst="ellipse">
            <a:avLst/>
          </a:prstGeom>
          <a:solidFill>
            <a:srgbClr val="7C3AED"/>
          </a:solidFill>
          <a:ln/>
        </p:spPr>
        <p:txBody>
          <a:bodyPr/>
          <a:lstStyle/>
          <a:p>
            <a:endParaRPr lang="en-US"/>
          </a:p>
        </p:txBody>
      </p:sp>
      <p:pic>
        <p:nvPicPr>
          <p:cNvPr id="5" name="Image 0" descr="/home/claude/llm_finetune_deck/icons/tool.png"/>
          <p:cNvPicPr>
            <a:picLocks noChangeAspect="1"/>
          </p:cNvPicPr>
          <p:nvPr/>
        </p:nvPicPr>
        <p:blipFill>
          <a:blip r:embed="rId3"/>
          <a:stretch>
            <a:fillRect/>
          </a:stretch>
        </p:blipFill>
        <p:spPr>
          <a:xfrm>
            <a:off x="10907878" y="620878"/>
            <a:ext cx="404165" cy="404165"/>
          </a:xfrm>
          <a:prstGeom prst="rect">
            <a:avLst/>
          </a:prstGeom>
        </p:spPr>
      </p:pic>
      <p:sp>
        <p:nvSpPr>
          <p:cNvPr id="6" name="Shape 3"/>
          <p:cNvSpPr/>
          <p:nvPr/>
        </p:nvSpPr>
        <p:spPr>
          <a:xfrm>
            <a:off x="640080" y="1737360"/>
            <a:ext cx="3456432" cy="1874520"/>
          </a:xfrm>
          <a:prstGeom prst="roundRect">
            <a:avLst>
              <a:gd name="adj" fmla="val 3902"/>
            </a:avLst>
          </a:prstGeom>
          <a:solidFill>
            <a:srgbClr val="F4F3FA"/>
          </a:solidFill>
          <a:ln/>
          <a:effectLst>
            <a:outerShdw blurRad="88900" dist="25400" dir="5400000" algn="bl" rotWithShape="0">
              <a:srgbClr val="2B2650">
                <a:alpha val="16000"/>
              </a:srgbClr>
            </a:outerShdw>
          </a:effectLst>
        </p:spPr>
        <p:txBody>
          <a:bodyPr/>
          <a:lstStyle/>
          <a:p>
            <a:endParaRPr lang="en-US"/>
          </a:p>
        </p:txBody>
      </p:sp>
      <p:sp>
        <p:nvSpPr>
          <p:cNvPr id="7" name="Shape 4"/>
          <p:cNvSpPr/>
          <p:nvPr/>
        </p:nvSpPr>
        <p:spPr>
          <a:xfrm>
            <a:off x="2048256" y="1920240"/>
            <a:ext cx="640080" cy="640080"/>
          </a:xfrm>
          <a:prstGeom prst="ellipse">
            <a:avLst/>
          </a:prstGeom>
          <a:solidFill>
            <a:srgbClr val="7C3AED"/>
          </a:solidFill>
          <a:ln/>
        </p:spPr>
        <p:txBody>
          <a:bodyPr/>
          <a:lstStyle/>
          <a:p>
            <a:endParaRPr lang="en-US"/>
          </a:p>
        </p:txBody>
      </p:sp>
      <p:pic>
        <p:nvPicPr>
          <p:cNvPr id="8" name="Image 1" descr="/home/claude/llm_finetune_deck/icons/database.png"/>
          <p:cNvPicPr>
            <a:picLocks noChangeAspect="1"/>
          </p:cNvPicPr>
          <p:nvPr/>
        </p:nvPicPr>
        <p:blipFill>
          <a:blip r:embed="rId4"/>
          <a:stretch>
            <a:fillRect/>
          </a:stretch>
        </p:blipFill>
        <p:spPr>
          <a:xfrm>
            <a:off x="2201875" y="2073859"/>
            <a:ext cx="332842" cy="332842"/>
          </a:xfrm>
          <a:prstGeom prst="rect">
            <a:avLst/>
          </a:prstGeom>
        </p:spPr>
      </p:pic>
      <p:sp>
        <p:nvSpPr>
          <p:cNvPr id="9" name="Text 5"/>
          <p:cNvSpPr/>
          <p:nvPr/>
        </p:nvSpPr>
        <p:spPr>
          <a:xfrm>
            <a:off x="822960" y="2651760"/>
            <a:ext cx="3090672" cy="365760"/>
          </a:xfrm>
          <a:prstGeom prst="rect">
            <a:avLst/>
          </a:prstGeom>
          <a:noFill/>
          <a:ln/>
        </p:spPr>
        <p:txBody>
          <a:bodyPr wrap="square" rtlCol="0" anchor="ctr"/>
          <a:lstStyle/>
          <a:p>
            <a:pPr marL="0" indent="0" algn="ctr">
              <a:buNone/>
            </a:pPr>
            <a:r>
              <a:rPr lang="en-US" sz="1500" b="1" dirty="0">
                <a:solidFill>
                  <a:srgbClr val="1B1B3A"/>
                </a:solidFill>
                <a:latin typeface="Arial" pitchFamily="34" charset="0"/>
                <a:ea typeface="Arial" pitchFamily="34" charset="-122"/>
                <a:cs typeface="Arial" pitchFamily="34" charset="-120"/>
              </a:rPr>
              <a:t>Data</a:t>
            </a:r>
            <a:endParaRPr lang="en-US" sz="1500" dirty="0"/>
          </a:p>
        </p:txBody>
      </p:sp>
      <p:sp>
        <p:nvSpPr>
          <p:cNvPr id="10" name="Text 6"/>
          <p:cNvSpPr/>
          <p:nvPr/>
        </p:nvSpPr>
        <p:spPr>
          <a:xfrm>
            <a:off x="822960" y="3017520"/>
            <a:ext cx="3090672" cy="548640"/>
          </a:xfrm>
          <a:prstGeom prst="rect">
            <a:avLst/>
          </a:prstGeom>
          <a:noFill/>
          <a:ln/>
        </p:spPr>
        <p:txBody>
          <a:bodyPr wrap="square" rtlCol="0" anchor="t"/>
          <a:lstStyle/>
          <a:p>
            <a:pPr marL="0" indent="0" algn="ctr">
              <a:buNone/>
            </a:pPr>
            <a:r>
              <a:rPr lang="en-US" sz="1100" dirty="0">
                <a:solidFill>
                  <a:srgbClr val="6B6B85"/>
                </a:solidFill>
                <a:latin typeface="Calibri" pitchFamily="34" charset="0"/>
                <a:ea typeface="Calibri" pitchFamily="34" charset="-122"/>
                <a:cs typeface="Calibri" pitchFamily="34" charset="-120"/>
              </a:rPr>
              <a:t>Hugging Face Datasets · Argilla</a:t>
            </a:r>
            <a:endParaRPr lang="en-US" sz="1100" dirty="0"/>
          </a:p>
        </p:txBody>
      </p:sp>
      <p:sp>
        <p:nvSpPr>
          <p:cNvPr id="11" name="Shape 7"/>
          <p:cNvSpPr/>
          <p:nvPr/>
        </p:nvSpPr>
        <p:spPr>
          <a:xfrm>
            <a:off x="4361688" y="1737360"/>
            <a:ext cx="3456432" cy="1874520"/>
          </a:xfrm>
          <a:prstGeom prst="roundRect">
            <a:avLst>
              <a:gd name="adj" fmla="val 3902"/>
            </a:avLst>
          </a:prstGeom>
          <a:solidFill>
            <a:srgbClr val="F4F3FA"/>
          </a:solidFill>
          <a:ln/>
          <a:effectLst>
            <a:outerShdw blurRad="88900" dist="25400" dir="5400000" algn="bl" rotWithShape="0">
              <a:srgbClr val="2B2650">
                <a:alpha val="16000"/>
              </a:srgbClr>
            </a:outerShdw>
          </a:effectLst>
        </p:spPr>
        <p:txBody>
          <a:bodyPr/>
          <a:lstStyle/>
          <a:p>
            <a:endParaRPr lang="en-US"/>
          </a:p>
        </p:txBody>
      </p:sp>
      <p:sp>
        <p:nvSpPr>
          <p:cNvPr id="12" name="Shape 8"/>
          <p:cNvSpPr/>
          <p:nvPr/>
        </p:nvSpPr>
        <p:spPr>
          <a:xfrm>
            <a:off x="5769864" y="1920240"/>
            <a:ext cx="640080" cy="640080"/>
          </a:xfrm>
          <a:prstGeom prst="ellipse">
            <a:avLst/>
          </a:prstGeom>
          <a:solidFill>
            <a:srgbClr val="7C3AED"/>
          </a:solidFill>
          <a:ln/>
        </p:spPr>
        <p:txBody>
          <a:bodyPr/>
          <a:lstStyle/>
          <a:p>
            <a:endParaRPr lang="en-US"/>
          </a:p>
        </p:txBody>
      </p:sp>
      <p:pic>
        <p:nvPicPr>
          <p:cNvPr id="13" name="Image 2" descr="/home/claude/llm_finetune_deck/icons/layers.png"/>
          <p:cNvPicPr>
            <a:picLocks noChangeAspect="1"/>
          </p:cNvPicPr>
          <p:nvPr/>
        </p:nvPicPr>
        <p:blipFill>
          <a:blip r:embed="rId5"/>
          <a:stretch>
            <a:fillRect/>
          </a:stretch>
        </p:blipFill>
        <p:spPr>
          <a:xfrm>
            <a:off x="5923483" y="2073859"/>
            <a:ext cx="332842" cy="332842"/>
          </a:xfrm>
          <a:prstGeom prst="rect">
            <a:avLst/>
          </a:prstGeom>
        </p:spPr>
      </p:pic>
      <p:sp>
        <p:nvSpPr>
          <p:cNvPr id="14" name="Text 9"/>
          <p:cNvSpPr/>
          <p:nvPr/>
        </p:nvSpPr>
        <p:spPr>
          <a:xfrm>
            <a:off x="4544568" y="2651760"/>
            <a:ext cx="3090672" cy="365760"/>
          </a:xfrm>
          <a:prstGeom prst="rect">
            <a:avLst/>
          </a:prstGeom>
          <a:noFill/>
          <a:ln/>
        </p:spPr>
        <p:txBody>
          <a:bodyPr wrap="square" rtlCol="0" anchor="ctr"/>
          <a:lstStyle/>
          <a:p>
            <a:pPr marL="0" indent="0" algn="ctr">
              <a:buNone/>
            </a:pPr>
            <a:r>
              <a:rPr lang="en-US" sz="1500" b="1" dirty="0">
                <a:solidFill>
                  <a:srgbClr val="1B1B3A"/>
                </a:solidFill>
                <a:latin typeface="Arial" pitchFamily="34" charset="0"/>
                <a:ea typeface="Arial" pitchFamily="34" charset="-122"/>
                <a:cs typeface="Arial" pitchFamily="34" charset="-120"/>
              </a:rPr>
              <a:t>Training</a:t>
            </a:r>
            <a:endParaRPr lang="en-US" sz="1500" dirty="0"/>
          </a:p>
        </p:txBody>
      </p:sp>
      <p:sp>
        <p:nvSpPr>
          <p:cNvPr id="15" name="Text 10"/>
          <p:cNvSpPr/>
          <p:nvPr/>
        </p:nvSpPr>
        <p:spPr>
          <a:xfrm>
            <a:off x="4544568" y="3017520"/>
            <a:ext cx="3090672" cy="548640"/>
          </a:xfrm>
          <a:prstGeom prst="rect">
            <a:avLst/>
          </a:prstGeom>
          <a:noFill/>
          <a:ln/>
        </p:spPr>
        <p:txBody>
          <a:bodyPr wrap="square" rtlCol="0" anchor="t"/>
          <a:lstStyle/>
          <a:p>
            <a:pPr marL="0" indent="0" algn="ctr">
              <a:buNone/>
            </a:pPr>
            <a:r>
              <a:rPr lang="en-US" sz="1100" dirty="0">
                <a:solidFill>
                  <a:srgbClr val="6B6B85"/>
                </a:solidFill>
                <a:latin typeface="Calibri" pitchFamily="34" charset="0"/>
                <a:ea typeface="Calibri" pitchFamily="34" charset="-122"/>
                <a:cs typeface="Calibri" pitchFamily="34" charset="-120"/>
              </a:rPr>
              <a:t>Transformers · PEFT · TRL · Unsloth · Axolotl · LLaMA-Factory</a:t>
            </a:r>
            <a:endParaRPr lang="en-US" sz="1100" dirty="0"/>
          </a:p>
        </p:txBody>
      </p:sp>
      <p:sp>
        <p:nvSpPr>
          <p:cNvPr id="16" name="Shape 11"/>
          <p:cNvSpPr/>
          <p:nvPr/>
        </p:nvSpPr>
        <p:spPr>
          <a:xfrm>
            <a:off x="8083296" y="1737360"/>
            <a:ext cx="3456432" cy="1874520"/>
          </a:xfrm>
          <a:prstGeom prst="roundRect">
            <a:avLst>
              <a:gd name="adj" fmla="val 3902"/>
            </a:avLst>
          </a:prstGeom>
          <a:solidFill>
            <a:srgbClr val="F4F3FA"/>
          </a:solidFill>
          <a:ln/>
          <a:effectLst>
            <a:outerShdw blurRad="88900" dist="25400" dir="5400000" algn="bl" rotWithShape="0">
              <a:srgbClr val="2B2650">
                <a:alpha val="16000"/>
              </a:srgbClr>
            </a:outerShdw>
          </a:effectLst>
        </p:spPr>
        <p:txBody>
          <a:bodyPr/>
          <a:lstStyle/>
          <a:p>
            <a:endParaRPr lang="en-US"/>
          </a:p>
        </p:txBody>
      </p:sp>
      <p:sp>
        <p:nvSpPr>
          <p:cNvPr id="17" name="Shape 12"/>
          <p:cNvSpPr/>
          <p:nvPr/>
        </p:nvSpPr>
        <p:spPr>
          <a:xfrm>
            <a:off x="9491472" y="1920240"/>
            <a:ext cx="640080" cy="640080"/>
          </a:xfrm>
          <a:prstGeom prst="ellipse">
            <a:avLst/>
          </a:prstGeom>
          <a:solidFill>
            <a:srgbClr val="7C3AED"/>
          </a:solidFill>
          <a:ln/>
        </p:spPr>
        <p:txBody>
          <a:bodyPr/>
          <a:lstStyle/>
          <a:p>
            <a:endParaRPr lang="en-US"/>
          </a:p>
        </p:txBody>
      </p:sp>
      <p:pic>
        <p:nvPicPr>
          <p:cNvPr id="18" name="Image 3" descr="/home/claude/llm_finetune_deck/icons/server.png"/>
          <p:cNvPicPr>
            <a:picLocks noChangeAspect="1"/>
          </p:cNvPicPr>
          <p:nvPr/>
        </p:nvPicPr>
        <p:blipFill>
          <a:blip r:embed="rId6"/>
          <a:stretch>
            <a:fillRect/>
          </a:stretch>
        </p:blipFill>
        <p:spPr>
          <a:xfrm>
            <a:off x="9645091" y="2073859"/>
            <a:ext cx="332842" cy="332842"/>
          </a:xfrm>
          <a:prstGeom prst="rect">
            <a:avLst/>
          </a:prstGeom>
        </p:spPr>
      </p:pic>
      <p:sp>
        <p:nvSpPr>
          <p:cNvPr id="19" name="Text 13"/>
          <p:cNvSpPr/>
          <p:nvPr/>
        </p:nvSpPr>
        <p:spPr>
          <a:xfrm>
            <a:off x="8266176" y="2651760"/>
            <a:ext cx="3090672" cy="365760"/>
          </a:xfrm>
          <a:prstGeom prst="rect">
            <a:avLst/>
          </a:prstGeom>
          <a:noFill/>
          <a:ln/>
        </p:spPr>
        <p:txBody>
          <a:bodyPr wrap="square" rtlCol="0" anchor="ctr"/>
          <a:lstStyle/>
          <a:p>
            <a:pPr marL="0" indent="0" algn="ctr">
              <a:buNone/>
            </a:pPr>
            <a:r>
              <a:rPr lang="en-US" sz="1500" b="1" dirty="0">
                <a:solidFill>
                  <a:srgbClr val="1B1B3A"/>
                </a:solidFill>
                <a:latin typeface="Arial" pitchFamily="34" charset="0"/>
                <a:ea typeface="Arial" pitchFamily="34" charset="-122"/>
                <a:cs typeface="Arial" pitchFamily="34" charset="-120"/>
              </a:rPr>
              <a:t>Scaling</a:t>
            </a:r>
            <a:endParaRPr lang="en-US" sz="1500" dirty="0"/>
          </a:p>
        </p:txBody>
      </p:sp>
      <p:sp>
        <p:nvSpPr>
          <p:cNvPr id="20" name="Text 14"/>
          <p:cNvSpPr/>
          <p:nvPr/>
        </p:nvSpPr>
        <p:spPr>
          <a:xfrm>
            <a:off x="8266176" y="3017520"/>
            <a:ext cx="3090672" cy="548640"/>
          </a:xfrm>
          <a:prstGeom prst="rect">
            <a:avLst/>
          </a:prstGeom>
          <a:noFill/>
          <a:ln/>
        </p:spPr>
        <p:txBody>
          <a:bodyPr wrap="square" rtlCol="0" anchor="t"/>
          <a:lstStyle/>
          <a:p>
            <a:pPr marL="0" indent="0" algn="ctr">
              <a:buNone/>
            </a:pPr>
            <a:r>
              <a:rPr lang="en-US" sz="1100" dirty="0">
                <a:solidFill>
                  <a:srgbClr val="6B6B85"/>
                </a:solidFill>
                <a:latin typeface="Calibri" pitchFamily="34" charset="0"/>
                <a:ea typeface="Calibri" pitchFamily="34" charset="-122"/>
                <a:cs typeface="Calibri" pitchFamily="34" charset="-120"/>
              </a:rPr>
              <a:t>Accelerate · DeepSpeed · FSDP</a:t>
            </a:r>
            <a:endParaRPr lang="en-US" sz="1100" dirty="0"/>
          </a:p>
        </p:txBody>
      </p:sp>
      <p:sp>
        <p:nvSpPr>
          <p:cNvPr id="21" name="Shape 15"/>
          <p:cNvSpPr/>
          <p:nvPr/>
        </p:nvSpPr>
        <p:spPr>
          <a:xfrm>
            <a:off x="640080" y="3840480"/>
            <a:ext cx="3456432" cy="1874520"/>
          </a:xfrm>
          <a:prstGeom prst="roundRect">
            <a:avLst>
              <a:gd name="adj" fmla="val 3902"/>
            </a:avLst>
          </a:prstGeom>
          <a:solidFill>
            <a:srgbClr val="F4F3FA"/>
          </a:solidFill>
          <a:ln/>
          <a:effectLst>
            <a:outerShdw blurRad="88900" dist="25400" dir="5400000" algn="bl" rotWithShape="0">
              <a:srgbClr val="2B2650">
                <a:alpha val="16000"/>
              </a:srgbClr>
            </a:outerShdw>
          </a:effectLst>
        </p:spPr>
        <p:txBody>
          <a:bodyPr/>
          <a:lstStyle/>
          <a:p>
            <a:endParaRPr lang="en-US"/>
          </a:p>
        </p:txBody>
      </p:sp>
      <p:sp>
        <p:nvSpPr>
          <p:cNvPr id="22" name="Shape 16"/>
          <p:cNvSpPr/>
          <p:nvPr/>
        </p:nvSpPr>
        <p:spPr>
          <a:xfrm>
            <a:off x="2048256" y="4023360"/>
            <a:ext cx="640080" cy="640080"/>
          </a:xfrm>
          <a:prstGeom prst="ellipse">
            <a:avLst/>
          </a:prstGeom>
          <a:solidFill>
            <a:srgbClr val="7C3AED"/>
          </a:solidFill>
          <a:ln/>
        </p:spPr>
        <p:txBody>
          <a:bodyPr/>
          <a:lstStyle/>
          <a:p>
            <a:endParaRPr lang="en-US"/>
          </a:p>
        </p:txBody>
      </p:sp>
      <p:pic>
        <p:nvPicPr>
          <p:cNvPr id="23" name="Image 4" descr="/home/claude/llm_finetune_deck/icons/trendingUp.png"/>
          <p:cNvPicPr>
            <a:picLocks noChangeAspect="1"/>
          </p:cNvPicPr>
          <p:nvPr/>
        </p:nvPicPr>
        <p:blipFill>
          <a:blip r:embed="rId7"/>
          <a:stretch>
            <a:fillRect/>
          </a:stretch>
        </p:blipFill>
        <p:spPr>
          <a:xfrm>
            <a:off x="2201875" y="4176979"/>
            <a:ext cx="332842" cy="332842"/>
          </a:xfrm>
          <a:prstGeom prst="rect">
            <a:avLst/>
          </a:prstGeom>
        </p:spPr>
      </p:pic>
      <p:sp>
        <p:nvSpPr>
          <p:cNvPr id="24" name="Text 17"/>
          <p:cNvSpPr/>
          <p:nvPr/>
        </p:nvSpPr>
        <p:spPr>
          <a:xfrm>
            <a:off x="822960" y="4754880"/>
            <a:ext cx="3090672" cy="365760"/>
          </a:xfrm>
          <a:prstGeom prst="rect">
            <a:avLst/>
          </a:prstGeom>
          <a:noFill/>
          <a:ln/>
        </p:spPr>
        <p:txBody>
          <a:bodyPr wrap="square" rtlCol="0" anchor="ctr"/>
          <a:lstStyle/>
          <a:p>
            <a:pPr marL="0" indent="0" algn="ctr">
              <a:buNone/>
            </a:pPr>
            <a:r>
              <a:rPr lang="en-US" sz="1500" b="1" dirty="0">
                <a:solidFill>
                  <a:srgbClr val="1B1B3A"/>
                </a:solidFill>
                <a:latin typeface="Arial" pitchFamily="34" charset="0"/>
                <a:ea typeface="Arial" pitchFamily="34" charset="-122"/>
                <a:cs typeface="Arial" pitchFamily="34" charset="-120"/>
              </a:rPr>
              <a:t>Tracking</a:t>
            </a:r>
            <a:endParaRPr lang="en-US" sz="1500" dirty="0"/>
          </a:p>
        </p:txBody>
      </p:sp>
      <p:sp>
        <p:nvSpPr>
          <p:cNvPr id="25" name="Text 18"/>
          <p:cNvSpPr/>
          <p:nvPr/>
        </p:nvSpPr>
        <p:spPr>
          <a:xfrm>
            <a:off x="822960" y="5120640"/>
            <a:ext cx="3090672" cy="548640"/>
          </a:xfrm>
          <a:prstGeom prst="rect">
            <a:avLst/>
          </a:prstGeom>
          <a:noFill/>
          <a:ln/>
        </p:spPr>
        <p:txBody>
          <a:bodyPr wrap="square" rtlCol="0" anchor="t"/>
          <a:lstStyle/>
          <a:p>
            <a:pPr marL="0" indent="0" algn="ctr">
              <a:buNone/>
            </a:pPr>
            <a:r>
              <a:rPr lang="en-US" sz="1100" dirty="0">
                <a:solidFill>
                  <a:srgbClr val="6B6B85"/>
                </a:solidFill>
                <a:latin typeface="Calibri" pitchFamily="34" charset="0"/>
                <a:ea typeface="Calibri" pitchFamily="34" charset="-122"/>
                <a:cs typeface="Calibri" pitchFamily="34" charset="-120"/>
              </a:rPr>
              <a:t>Weights &amp; Biases · MLflow · TensorBoard</a:t>
            </a:r>
            <a:endParaRPr lang="en-US" sz="1100" dirty="0"/>
          </a:p>
        </p:txBody>
      </p:sp>
      <p:sp>
        <p:nvSpPr>
          <p:cNvPr id="26" name="Shape 19"/>
          <p:cNvSpPr/>
          <p:nvPr/>
        </p:nvSpPr>
        <p:spPr>
          <a:xfrm>
            <a:off x="4361688" y="3840480"/>
            <a:ext cx="3456432" cy="1874520"/>
          </a:xfrm>
          <a:prstGeom prst="roundRect">
            <a:avLst>
              <a:gd name="adj" fmla="val 3902"/>
            </a:avLst>
          </a:prstGeom>
          <a:solidFill>
            <a:srgbClr val="F4F3FA"/>
          </a:solidFill>
          <a:ln/>
          <a:effectLst>
            <a:outerShdw blurRad="88900" dist="25400" dir="5400000" algn="bl" rotWithShape="0">
              <a:srgbClr val="2B2650">
                <a:alpha val="16000"/>
              </a:srgbClr>
            </a:outerShdw>
          </a:effectLst>
        </p:spPr>
        <p:txBody>
          <a:bodyPr/>
          <a:lstStyle/>
          <a:p>
            <a:endParaRPr lang="en-US"/>
          </a:p>
        </p:txBody>
      </p:sp>
      <p:sp>
        <p:nvSpPr>
          <p:cNvPr id="27" name="Shape 20"/>
          <p:cNvSpPr/>
          <p:nvPr/>
        </p:nvSpPr>
        <p:spPr>
          <a:xfrm>
            <a:off x="5769864" y="4023360"/>
            <a:ext cx="640080" cy="640080"/>
          </a:xfrm>
          <a:prstGeom prst="ellipse">
            <a:avLst/>
          </a:prstGeom>
          <a:solidFill>
            <a:srgbClr val="7C3AED"/>
          </a:solidFill>
          <a:ln/>
        </p:spPr>
        <p:txBody>
          <a:bodyPr/>
          <a:lstStyle/>
          <a:p>
            <a:endParaRPr lang="en-US"/>
          </a:p>
        </p:txBody>
      </p:sp>
      <p:pic>
        <p:nvPicPr>
          <p:cNvPr id="28" name="Image 5" descr="/home/claude/llm_finetune_deck/icons/uploadCloud.png"/>
          <p:cNvPicPr>
            <a:picLocks noChangeAspect="1"/>
          </p:cNvPicPr>
          <p:nvPr/>
        </p:nvPicPr>
        <p:blipFill>
          <a:blip r:embed="rId8"/>
          <a:stretch>
            <a:fillRect/>
          </a:stretch>
        </p:blipFill>
        <p:spPr>
          <a:xfrm>
            <a:off x="5923483" y="4176979"/>
            <a:ext cx="332842" cy="332842"/>
          </a:xfrm>
          <a:prstGeom prst="rect">
            <a:avLst/>
          </a:prstGeom>
        </p:spPr>
      </p:pic>
      <p:sp>
        <p:nvSpPr>
          <p:cNvPr id="29" name="Text 21"/>
          <p:cNvSpPr/>
          <p:nvPr/>
        </p:nvSpPr>
        <p:spPr>
          <a:xfrm>
            <a:off x="4544568" y="4754880"/>
            <a:ext cx="3090672" cy="365760"/>
          </a:xfrm>
          <a:prstGeom prst="rect">
            <a:avLst/>
          </a:prstGeom>
          <a:noFill/>
          <a:ln/>
        </p:spPr>
        <p:txBody>
          <a:bodyPr wrap="square" rtlCol="0" anchor="ctr"/>
          <a:lstStyle/>
          <a:p>
            <a:pPr marL="0" indent="0" algn="ctr">
              <a:buNone/>
            </a:pPr>
            <a:r>
              <a:rPr lang="en-US" sz="1500" b="1" dirty="0">
                <a:solidFill>
                  <a:srgbClr val="1B1B3A"/>
                </a:solidFill>
                <a:latin typeface="Arial" pitchFamily="34" charset="0"/>
                <a:ea typeface="Arial" pitchFamily="34" charset="-122"/>
                <a:cs typeface="Arial" pitchFamily="34" charset="-120"/>
              </a:rPr>
              <a:t>Serving</a:t>
            </a:r>
            <a:endParaRPr lang="en-US" sz="1500" dirty="0"/>
          </a:p>
        </p:txBody>
      </p:sp>
      <p:sp>
        <p:nvSpPr>
          <p:cNvPr id="30" name="Text 22"/>
          <p:cNvSpPr/>
          <p:nvPr/>
        </p:nvSpPr>
        <p:spPr>
          <a:xfrm>
            <a:off x="4544568" y="5120640"/>
            <a:ext cx="3090672" cy="548640"/>
          </a:xfrm>
          <a:prstGeom prst="rect">
            <a:avLst/>
          </a:prstGeom>
          <a:noFill/>
          <a:ln/>
        </p:spPr>
        <p:txBody>
          <a:bodyPr wrap="square" rtlCol="0" anchor="t"/>
          <a:lstStyle/>
          <a:p>
            <a:pPr marL="0" indent="0" algn="ctr">
              <a:buNone/>
            </a:pPr>
            <a:r>
              <a:rPr lang="en-US" sz="1100" dirty="0">
                <a:solidFill>
                  <a:srgbClr val="6B6B85"/>
                </a:solidFill>
                <a:latin typeface="Calibri" pitchFamily="34" charset="0"/>
                <a:ea typeface="Calibri" pitchFamily="34" charset="-122"/>
                <a:cs typeface="Calibri" pitchFamily="34" charset="-120"/>
              </a:rPr>
              <a:t>vLLM · Ollama · TGI · llama.cpp</a:t>
            </a:r>
            <a:endParaRPr lang="en-US" sz="1100" dirty="0"/>
          </a:p>
        </p:txBody>
      </p:sp>
      <p:sp>
        <p:nvSpPr>
          <p:cNvPr id="31" name="Shape 23"/>
          <p:cNvSpPr/>
          <p:nvPr/>
        </p:nvSpPr>
        <p:spPr>
          <a:xfrm>
            <a:off x="8083296" y="3840480"/>
            <a:ext cx="3456432" cy="1874520"/>
          </a:xfrm>
          <a:prstGeom prst="roundRect">
            <a:avLst>
              <a:gd name="adj" fmla="val 3902"/>
            </a:avLst>
          </a:prstGeom>
          <a:solidFill>
            <a:srgbClr val="F4F3FA"/>
          </a:solidFill>
          <a:ln/>
          <a:effectLst>
            <a:outerShdw blurRad="88900" dist="25400" dir="5400000" algn="bl" rotWithShape="0">
              <a:srgbClr val="2B2650">
                <a:alpha val="16000"/>
              </a:srgbClr>
            </a:outerShdw>
          </a:effectLst>
        </p:spPr>
        <p:txBody>
          <a:bodyPr/>
          <a:lstStyle/>
          <a:p>
            <a:endParaRPr lang="en-US"/>
          </a:p>
        </p:txBody>
      </p:sp>
      <p:sp>
        <p:nvSpPr>
          <p:cNvPr id="32" name="Shape 24"/>
          <p:cNvSpPr/>
          <p:nvPr/>
        </p:nvSpPr>
        <p:spPr>
          <a:xfrm>
            <a:off x="9491472" y="4023360"/>
            <a:ext cx="640080" cy="640080"/>
          </a:xfrm>
          <a:prstGeom prst="ellipse">
            <a:avLst/>
          </a:prstGeom>
          <a:solidFill>
            <a:srgbClr val="7C3AED"/>
          </a:solidFill>
          <a:ln/>
        </p:spPr>
        <p:txBody>
          <a:bodyPr/>
          <a:lstStyle/>
          <a:p>
            <a:endParaRPr lang="en-US"/>
          </a:p>
        </p:txBody>
      </p:sp>
      <p:pic>
        <p:nvPicPr>
          <p:cNvPr id="33" name="Image 6" descr="/home/claude/llm_finetune_deck/icons/zap.png"/>
          <p:cNvPicPr>
            <a:picLocks noChangeAspect="1"/>
          </p:cNvPicPr>
          <p:nvPr/>
        </p:nvPicPr>
        <p:blipFill>
          <a:blip r:embed="rId9"/>
          <a:stretch>
            <a:fillRect/>
          </a:stretch>
        </p:blipFill>
        <p:spPr>
          <a:xfrm>
            <a:off x="9645091" y="4176979"/>
            <a:ext cx="332842" cy="332842"/>
          </a:xfrm>
          <a:prstGeom prst="rect">
            <a:avLst/>
          </a:prstGeom>
        </p:spPr>
      </p:pic>
      <p:sp>
        <p:nvSpPr>
          <p:cNvPr id="34" name="Text 25"/>
          <p:cNvSpPr/>
          <p:nvPr/>
        </p:nvSpPr>
        <p:spPr>
          <a:xfrm>
            <a:off x="8266176" y="4754880"/>
            <a:ext cx="3090672" cy="365760"/>
          </a:xfrm>
          <a:prstGeom prst="rect">
            <a:avLst/>
          </a:prstGeom>
          <a:noFill/>
          <a:ln/>
        </p:spPr>
        <p:txBody>
          <a:bodyPr wrap="square" rtlCol="0" anchor="ctr"/>
          <a:lstStyle/>
          <a:p>
            <a:pPr marL="0" indent="0" algn="ctr">
              <a:buNone/>
            </a:pPr>
            <a:r>
              <a:rPr lang="en-US" sz="1500" b="1" dirty="0">
                <a:solidFill>
                  <a:srgbClr val="1B1B3A"/>
                </a:solidFill>
                <a:latin typeface="Arial" pitchFamily="34" charset="0"/>
                <a:ea typeface="Arial" pitchFamily="34" charset="-122"/>
                <a:cs typeface="Arial" pitchFamily="34" charset="-120"/>
              </a:rPr>
              <a:t>Compute</a:t>
            </a:r>
            <a:endParaRPr lang="en-US" sz="1500" dirty="0"/>
          </a:p>
        </p:txBody>
      </p:sp>
      <p:sp>
        <p:nvSpPr>
          <p:cNvPr id="35" name="Text 26"/>
          <p:cNvSpPr/>
          <p:nvPr/>
        </p:nvSpPr>
        <p:spPr>
          <a:xfrm>
            <a:off x="8266176" y="5120640"/>
            <a:ext cx="3090672" cy="548640"/>
          </a:xfrm>
          <a:prstGeom prst="rect">
            <a:avLst/>
          </a:prstGeom>
          <a:noFill/>
          <a:ln/>
        </p:spPr>
        <p:txBody>
          <a:bodyPr wrap="square" rtlCol="0" anchor="t"/>
          <a:lstStyle/>
          <a:p>
            <a:pPr marL="0" indent="0" algn="ctr">
              <a:buNone/>
            </a:pPr>
            <a:r>
              <a:rPr lang="en-US" sz="1100" dirty="0">
                <a:solidFill>
                  <a:srgbClr val="6B6B85"/>
                </a:solidFill>
                <a:latin typeface="Calibri" pitchFamily="34" charset="0"/>
                <a:ea typeface="Calibri" pitchFamily="34" charset="-122"/>
                <a:cs typeface="Calibri" pitchFamily="34" charset="-120"/>
              </a:rPr>
              <a:t>Colab · Kaggle · RunPod · Lambda Labs · SageMaker</a:t>
            </a:r>
            <a:endParaRPr lang="en-US" sz="1100" dirty="0"/>
          </a:p>
        </p:txBody>
      </p:sp>
      <p:sp>
        <p:nvSpPr>
          <p:cNvPr id="36" name="Text 27"/>
          <p:cNvSpPr/>
          <p:nvPr/>
        </p:nvSpPr>
        <p:spPr>
          <a:xfrm>
            <a:off x="11292840" y="6473952"/>
            <a:ext cx="502920" cy="274320"/>
          </a:xfrm>
          <a:prstGeom prst="rect">
            <a:avLst/>
          </a:prstGeom>
          <a:noFill/>
          <a:ln/>
        </p:spPr>
        <p:txBody>
          <a:bodyPr wrap="square" rtlCol="0" anchor="ctr"/>
          <a:lstStyle/>
          <a:p>
            <a:pPr marL="0" indent="0" algn="r">
              <a:buNone/>
            </a:pPr>
            <a:r>
              <a:rPr lang="en-US" sz="1000" dirty="0">
                <a:solidFill>
                  <a:srgbClr val="6B6B85"/>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8686800" cy="274320"/>
          </a:xfrm>
          <a:prstGeom prst="rect">
            <a:avLst/>
          </a:prstGeom>
          <a:noFill/>
          <a:ln/>
        </p:spPr>
        <p:txBody>
          <a:bodyPr wrap="square" rtlCol="0" anchor="ctr"/>
          <a:lstStyle/>
          <a:p>
            <a:pPr marL="0" indent="0">
              <a:buNone/>
            </a:pPr>
            <a:r>
              <a:rPr lang="en-US" sz="1150" b="1" kern="0" spc="200" dirty="0">
                <a:solidFill>
                  <a:srgbClr val="7C3AED"/>
                </a:solidFill>
                <a:latin typeface="Calibri" pitchFamily="34" charset="0"/>
                <a:ea typeface="Calibri" pitchFamily="34" charset="-122"/>
                <a:cs typeface="Calibri" pitchFamily="34" charset="-120"/>
              </a:rPr>
              <a:t>PITFALLS</a:t>
            </a:r>
            <a:endParaRPr lang="en-US" sz="1150" dirty="0"/>
          </a:p>
        </p:txBody>
      </p:sp>
      <p:sp>
        <p:nvSpPr>
          <p:cNvPr id="3" name="Text 1"/>
          <p:cNvSpPr/>
          <p:nvPr/>
        </p:nvSpPr>
        <p:spPr>
          <a:xfrm>
            <a:off x="640080" y="621792"/>
            <a:ext cx="9692640" cy="685800"/>
          </a:xfrm>
          <a:prstGeom prst="rect">
            <a:avLst/>
          </a:prstGeom>
          <a:noFill/>
          <a:ln/>
        </p:spPr>
        <p:txBody>
          <a:bodyPr wrap="square" rtlCol="0" anchor="t"/>
          <a:lstStyle/>
          <a:p>
            <a:pPr marL="0" indent="0">
              <a:buNone/>
            </a:pPr>
            <a:r>
              <a:rPr lang="en-US" sz="3200" b="1" dirty="0">
                <a:solidFill>
                  <a:srgbClr val="1B1B3A"/>
                </a:solidFill>
                <a:latin typeface="Arial" pitchFamily="34" charset="0"/>
                <a:ea typeface="Arial" pitchFamily="34" charset="-122"/>
                <a:cs typeface="Arial" pitchFamily="34" charset="-120"/>
              </a:rPr>
              <a:t>Common Pitfalls (Save Yourself the Debugging)</a:t>
            </a:r>
            <a:endParaRPr lang="en-US" sz="3200" dirty="0"/>
          </a:p>
        </p:txBody>
      </p:sp>
      <p:sp>
        <p:nvSpPr>
          <p:cNvPr id="4" name="Shape 2"/>
          <p:cNvSpPr/>
          <p:nvPr/>
        </p:nvSpPr>
        <p:spPr>
          <a:xfrm>
            <a:off x="10721340" y="434340"/>
            <a:ext cx="777240" cy="777240"/>
          </a:xfrm>
          <a:prstGeom prst="ellipse">
            <a:avLst/>
          </a:prstGeom>
          <a:solidFill>
            <a:srgbClr val="7C3AED"/>
          </a:solidFill>
          <a:ln/>
        </p:spPr>
        <p:txBody>
          <a:bodyPr/>
          <a:lstStyle/>
          <a:p>
            <a:endParaRPr lang="en-US"/>
          </a:p>
        </p:txBody>
      </p:sp>
      <p:pic>
        <p:nvPicPr>
          <p:cNvPr id="5" name="Image 0" descr="/home/claude/llm_finetune_deck/icons/alertTriangle.png"/>
          <p:cNvPicPr>
            <a:picLocks noChangeAspect="1"/>
          </p:cNvPicPr>
          <p:nvPr/>
        </p:nvPicPr>
        <p:blipFill>
          <a:blip r:embed="rId3"/>
          <a:stretch>
            <a:fillRect/>
          </a:stretch>
        </p:blipFill>
        <p:spPr>
          <a:xfrm>
            <a:off x="10907878" y="620878"/>
            <a:ext cx="404165" cy="404165"/>
          </a:xfrm>
          <a:prstGeom prst="rect">
            <a:avLst/>
          </a:prstGeom>
        </p:spPr>
      </p:pic>
      <p:sp>
        <p:nvSpPr>
          <p:cNvPr id="6" name="Shape 3"/>
          <p:cNvSpPr/>
          <p:nvPr/>
        </p:nvSpPr>
        <p:spPr>
          <a:xfrm>
            <a:off x="640080" y="1691640"/>
            <a:ext cx="10908792" cy="658368"/>
          </a:xfrm>
          <a:prstGeom prst="roundRect">
            <a:avLst>
              <a:gd name="adj" fmla="val 11111"/>
            </a:avLst>
          </a:prstGeom>
          <a:solidFill>
            <a:srgbClr val="F4F3FA"/>
          </a:solidFill>
          <a:ln/>
        </p:spPr>
        <p:txBody>
          <a:bodyPr/>
          <a:lstStyle/>
          <a:p>
            <a:endParaRPr lang="en-US"/>
          </a:p>
        </p:txBody>
      </p:sp>
      <p:sp>
        <p:nvSpPr>
          <p:cNvPr id="7" name="Shape 4"/>
          <p:cNvSpPr/>
          <p:nvPr/>
        </p:nvSpPr>
        <p:spPr>
          <a:xfrm>
            <a:off x="886968" y="1810512"/>
            <a:ext cx="420624" cy="420624"/>
          </a:xfrm>
          <a:prstGeom prst="ellipse">
            <a:avLst/>
          </a:prstGeom>
          <a:solidFill>
            <a:srgbClr val="7C3AED"/>
          </a:solidFill>
          <a:ln/>
        </p:spPr>
        <p:txBody>
          <a:bodyPr/>
          <a:lstStyle/>
          <a:p>
            <a:endParaRPr lang="en-US"/>
          </a:p>
        </p:txBody>
      </p:sp>
      <p:pic>
        <p:nvPicPr>
          <p:cNvPr id="8" name="Image 1" descr="/home/claude/llm_finetune_deck/icons/alertTriangle.png"/>
          <p:cNvPicPr>
            <a:picLocks noChangeAspect="1"/>
          </p:cNvPicPr>
          <p:nvPr/>
        </p:nvPicPr>
        <p:blipFill>
          <a:blip r:embed="rId3"/>
          <a:stretch>
            <a:fillRect/>
          </a:stretch>
        </p:blipFill>
        <p:spPr>
          <a:xfrm>
            <a:off x="981608" y="1905152"/>
            <a:ext cx="231343" cy="231343"/>
          </a:xfrm>
          <a:prstGeom prst="rect">
            <a:avLst/>
          </a:prstGeom>
        </p:spPr>
      </p:pic>
      <p:sp>
        <p:nvSpPr>
          <p:cNvPr id="9" name="Text 5"/>
          <p:cNvSpPr/>
          <p:nvPr/>
        </p:nvSpPr>
        <p:spPr>
          <a:xfrm>
            <a:off x="1508760" y="1691640"/>
            <a:ext cx="4114800" cy="658368"/>
          </a:xfrm>
          <a:prstGeom prst="rect">
            <a:avLst/>
          </a:prstGeom>
          <a:noFill/>
          <a:ln/>
        </p:spPr>
        <p:txBody>
          <a:bodyPr wrap="square" rtlCol="0" anchor="ctr"/>
          <a:lstStyle/>
          <a:p>
            <a:pPr marL="0" indent="0">
              <a:buNone/>
            </a:pPr>
            <a:r>
              <a:rPr lang="en-US" sz="1300" b="1" dirty="0">
                <a:solidFill>
                  <a:srgbClr val="1B1B3A"/>
                </a:solidFill>
                <a:latin typeface="Arial" pitchFamily="34" charset="0"/>
                <a:ea typeface="Arial" pitchFamily="34" charset="-122"/>
                <a:cs typeface="Arial" pitchFamily="34" charset="-120"/>
              </a:rPr>
              <a:t>Expecting finetuning to “add facts”</a:t>
            </a:r>
            <a:endParaRPr lang="en-US" sz="1300" dirty="0"/>
          </a:p>
        </p:txBody>
      </p:sp>
      <p:sp>
        <p:nvSpPr>
          <p:cNvPr id="10" name="Text 6"/>
          <p:cNvSpPr/>
          <p:nvPr/>
        </p:nvSpPr>
        <p:spPr>
          <a:xfrm>
            <a:off x="5760720" y="1691640"/>
            <a:ext cx="5513832" cy="658368"/>
          </a:xfrm>
          <a:prstGeom prst="rect">
            <a:avLst/>
          </a:prstGeom>
          <a:noFill/>
          <a:ln/>
        </p:spPr>
        <p:txBody>
          <a:bodyPr wrap="square" rtlCol="0" anchor="ctr"/>
          <a:lstStyle/>
          <a:p>
            <a:pPr marL="0" indent="0">
              <a:buNone/>
            </a:pPr>
            <a:r>
              <a:rPr lang="en-US" sz="1200" dirty="0">
                <a:solidFill>
                  <a:srgbClr val="6B6B85"/>
                </a:solidFill>
                <a:latin typeface="Calibri" pitchFamily="34" charset="0"/>
                <a:ea typeface="Calibri" pitchFamily="34" charset="-122"/>
                <a:cs typeface="Calibri" pitchFamily="34" charset="-120"/>
              </a:rPr>
              <a:t>It mostly adapts behavior/style, not knowledge — use RAG for facts</a:t>
            </a:r>
            <a:endParaRPr lang="en-US" sz="1200" dirty="0"/>
          </a:p>
        </p:txBody>
      </p:sp>
      <p:sp>
        <p:nvSpPr>
          <p:cNvPr id="11" name="Shape 7"/>
          <p:cNvSpPr/>
          <p:nvPr/>
        </p:nvSpPr>
        <p:spPr>
          <a:xfrm>
            <a:off x="640080" y="2423160"/>
            <a:ext cx="10908792" cy="658368"/>
          </a:xfrm>
          <a:prstGeom prst="roundRect">
            <a:avLst>
              <a:gd name="adj" fmla="val 11111"/>
            </a:avLst>
          </a:prstGeom>
          <a:solidFill>
            <a:srgbClr val="FFFFFF"/>
          </a:solidFill>
          <a:ln/>
        </p:spPr>
        <p:txBody>
          <a:bodyPr/>
          <a:lstStyle/>
          <a:p>
            <a:endParaRPr lang="en-US"/>
          </a:p>
        </p:txBody>
      </p:sp>
      <p:sp>
        <p:nvSpPr>
          <p:cNvPr id="12" name="Shape 8"/>
          <p:cNvSpPr/>
          <p:nvPr/>
        </p:nvSpPr>
        <p:spPr>
          <a:xfrm>
            <a:off x="886968" y="2542032"/>
            <a:ext cx="420624" cy="420624"/>
          </a:xfrm>
          <a:prstGeom prst="ellipse">
            <a:avLst/>
          </a:prstGeom>
          <a:solidFill>
            <a:srgbClr val="7C3AED"/>
          </a:solidFill>
          <a:ln/>
        </p:spPr>
        <p:txBody>
          <a:bodyPr/>
          <a:lstStyle/>
          <a:p>
            <a:endParaRPr lang="en-US"/>
          </a:p>
        </p:txBody>
      </p:sp>
      <p:pic>
        <p:nvPicPr>
          <p:cNvPr id="13" name="Image 2" descr="/home/claude/llm_finetune_deck/icons/alertTriangle.png"/>
          <p:cNvPicPr>
            <a:picLocks noChangeAspect="1"/>
          </p:cNvPicPr>
          <p:nvPr/>
        </p:nvPicPr>
        <p:blipFill>
          <a:blip r:embed="rId3"/>
          <a:stretch>
            <a:fillRect/>
          </a:stretch>
        </p:blipFill>
        <p:spPr>
          <a:xfrm>
            <a:off x="981608" y="2636672"/>
            <a:ext cx="231343" cy="231343"/>
          </a:xfrm>
          <a:prstGeom prst="rect">
            <a:avLst/>
          </a:prstGeom>
        </p:spPr>
      </p:pic>
      <p:sp>
        <p:nvSpPr>
          <p:cNvPr id="14" name="Text 9"/>
          <p:cNvSpPr/>
          <p:nvPr/>
        </p:nvSpPr>
        <p:spPr>
          <a:xfrm>
            <a:off x="1508760" y="2423160"/>
            <a:ext cx="4114800" cy="658368"/>
          </a:xfrm>
          <a:prstGeom prst="rect">
            <a:avLst/>
          </a:prstGeom>
          <a:noFill/>
          <a:ln/>
        </p:spPr>
        <p:txBody>
          <a:bodyPr wrap="square" rtlCol="0" anchor="ctr"/>
          <a:lstStyle/>
          <a:p>
            <a:pPr marL="0" indent="0">
              <a:buNone/>
            </a:pPr>
            <a:r>
              <a:rPr lang="en-US" sz="1300" b="1" dirty="0">
                <a:solidFill>
                  <a:srgbClr val="1B1B3A"/>
                </a:solidFill>
                <a:latin typeface="Arial" pitchFamily="34" charset="0"/>
                <a:ea typeface="Arial" pitchFamily="34" charset="-122"/>
                <a:cs typeface="Arial" pitchFamily="34" charset="-120"/>
              </a:rPr>
              <a:t>Too little or too noisy data</a:t>
            </a:r>
            <a:endParaRPr lang="en-US" sz="1300" dirty="0"/>
          </a:p>
        </p:txBody>
      </p:sp>
      <p:sp>
        <p:nvSpPr>
          <p:cNvPr id="15" name="Text 10"/>
          <p:cNvSpPr/>
          <p:nvPr/>
        </p:nvSpPr>
        <p:spPr>
          <a:xfrm>
            <a:off x="5760720" y="2423160"/>
            <a:ext cx="5513832" cy="658368"/>
          </a:xfrm>
          <a:prstGeom prst="rect">
            <a:avLst/>
          </a:prstGeom>
          <a:noFill/>
          <a:ln/>
        </p:spPr>
        <p:txBody>
          <a:bodyPr wrap="square" rtlCol="0" anchor="ctr"/>
          <a:lstStyle/>
          <a:p>
            <a:pPr marL="0" indent="0">
              <a:buNone/>
            </a:pPr>
            <a:r>
              <a:rPr lang="en-US" sz="1200" dirty="0">
                <a:solidFill>
                  <a:srgbClr val="6B6B85"/>
                </a:solidFill>
                <a:latin typeface="Calibri" pitchFamily="34" charset="0"/>
                <a:ea typeface="Calibri" pitchFamily="34" charset="-122"/>
                <a:cs typeface="Calibri" pitchFamily="34" charset="-120"/>
              </a:rPr>
              <a:t>Garbage in, garbage out — no method fixes bad data</a:t>
            </a:r>
            <a:endParaRPr lang="en-US" sz="1200" dirty="0"/>
          </a:p>
        </p:txBody>
      </p:sp>
      <p:sp>
        <p:nvSpPr>
          <p:cNvPr id="16" name="Shape 11"/>
          <p:cNvSpPr/>
          <p:nvPr/>
        </p:nvSpPr>
        <p:spPr>
          <a:xfrm>
            <a:off x="640080" y="3154680"/>
            <a:ext cx="10908792" cy="658368"/>
          </a:xfrm>
          <a:prstGeom prst="roundRect">
            <a:avLst>
              <a:gd name="adj" fmla="val 11111"/>
            </a:avLst>
          </a:prstGeom>
          <a:solidFill>
            <a:srgbClr val="F4F3FA"/>
          </a:solidFill>
          <a:ln/>
        </p:spPr>
        <p:txBody>
          <a:bodyPr/>
          <a:lstStyle/>
          <a:p>
            <a:endParaRPr lang="en-US"/>
          </a:p>
        </p:txBody>
      </p:sp>
      <p:sp>
        <p:nvSpPr>
          <p:cNvPr id="17" name="Shape 12"/>
          <p:cNvSpPr/>
          <p:nvPr/>
        </p:nvSpPr>
        <p:spPr>
          <a:xfrm>
            <a:off x="886968" y="3273552"/>
            <a:ext cx="420624" cy="420624"/>
          </a:xfrm>
          <a:prstGeom prst="ellipse">
            <a:avLst/>
          </a:prstGeom>
          <a:solidFill>
            <a:srgbClr val="7C3AED"/>
          </a:solidFill>
          <a:ln/>
        </p:spPr>
        <p:txBody>
          <a:bodyPr/>
          <a:lstStyle/>
          <a:p>
            <a:endParaRPr lang="en-US"/>
          </a:p>
        </p:txBody>
      </p:sp>
      <p:pic>
        <p:nvPicPr>
          <p:cNvPr id="18" name="Image 3" descr="/home/claude/llm_finetune_deck/icons/alertTriangle.png"/>
          <p:cNvPicPr>
            <a:picLocks noChangeAspect="1"/>
          </p:cNvPicPr>
          <p:nvPr/>
        </p:nvPicPr>
        <p:blipFill>
          <a:blip r:embed="rId3"/>
          <a:stretch>
            <a:fillRect/>
          </a:stretch>
        </p:blipFill>
        <p:spPr>
          <a:xfrm>
            <a:off x="981608" y="3368192"/>
            <a:ext cx="231343" cy="231343"/>
          </a:xfrm>
          <a:prstGeom prst="rect">
            <a:avLst/>
          </a:prstGeom>
        </p:spPr>
      </p:pic>
      <p:sp>
        <p:nvSpPr>
          <p:cNvPr id="19" name="Text 13"/>
          <p:cNvSpPr/>
          <p:nvPr/>
        </p:nvSpPr>
        <p:spPr>
          <a:xfrm>
            <a:off x="1508760" y="3154680"/>
            <a:ext cx="4114800" cy="658368"/>
          </a:xfrm>
          <a:prstGeom prst="rect">
            <a:avLst/>
          </a:prstGeom>
          <a:noFill/>
          <a:ln/>
        </p:spPr>
        <p:txBody>
          <a:bodyPr wrap="square" rtlCol="0" anchor="ctr"/>
          <a:lstStyle/>
          <a:p>
            <a:pPr marL="0" indent="0">
              <a:buNone/>
            </a:pPr>
            <a:r>
              <a:rPr lang="en-US" sz="1300" b="1" dirty="0">
                <a:solidFill>
                  <a:srgbClr val="1B1B3A"/>
                </a:solidFill>
                <a:latin typeface="Arial" pitchFamily="34" charset="0"/>
                <a:ea typeface="Arial" pitchFamily="34" charset="-122"/>
                <a:cs typeface="Arial" pitchFamily="34" charset="-120"/>
              </a:rPr>
              <a:t>Skipping evaluation</a:t>
            </a:r>
            <a:endParaRPr lang="en-US" sz="1300" dirty="0"/>
          </a:p>
        </p:txBody>
      </p:sp>
      <p:sp>
        <p:nvSpPr>
          <p:cNvPr id="20" name="Text 14"/>
          <p:cNvSpPr/>
          <p:nvPr/>
        </p:nvSpPr>
        <p:spPr>
          <a:xfrm>
            <a:off x="5760720" y="3154680"/>
            <a:ext cx="5513832" cy="658368"/>
          </a:xfrm>
          <a:prstGeom prst="rect">
            <a:avLst/>
          </a:prstGeom>
          <a:noFill/>
          <a:ln/>
        </p:spPr>
        <p:txBody>
          <a:bodyPr wrap="square" rtlCol="0" anchor="ctr"/>
          <a:lstStyle/>
          <a:p>
            <a:pPr marL="0" indent="0">
              <a:buNone/>
            </a:pPr>
            <a:r>
              <a:rPr lang="en-US" sz="1200" dirty="0">
                <a:solidFill>
                  <a:srgbClr val="6B6B85"/>
                </a:solidFill>
                <a:latin typeface="Calibri" pitchFamily="34" charset="0"/>
                <a:ea typeface="Calibri" pitchFamily="34" charset="-122"/>
                <a:cs typeface="Calibri" pitchFamily="34" charset="-120"/>
              </a:rPr>
              <a:t>You ship a silent regression instead of an improvement</a:t>
            </a:r>
            <a:endParaRPr lang="en-US" sz="1200" dirty="0"/>
          </a:p>
        </p:txBody>
      </p:sp>
      <p:sp>
        <p:nvSpPr>
          <p:cNvPr id="21" name="Shape 15"/>
          <p:cNvSpPr/>
          <p:nvPr/>
        </p:nvSpPr>
        <p:spPr>
          <a:xfrm>
            <a:off x="640080" y="3886200"/>
            <a:ext cx="10908792" cy="658368"/>
          </a:xfrm>
          <a:prstGeom prst="roundRect">
            <a:avLst>
              <a:gd name="adj" fmla="val 11111"/>
            </a:avLst>
          </a:prstGeom>
          <a:solidFill>
            <a:srgbClr val="FFFFFF"/>
          </a:solidFill>
          <a:ln/>
        </p:spPr>
        <p:txBody>
          <a:bodyPr/>
          <a:lstStyle/>
          <a:p>
            <a:endParaRPr lang="en-US"/>
          </a:p>
        </p:txBody>
      </p:sp>
      <p:sp>
        <p:nvSpPr>
          <p:cNvPr id="22" name="Shape 16"/>
          <p:cNvSpPr/>
          <p:nvPr/>
        </p:nvSpPr>
        <p:spPr>
          <a:xfrm>
            <a:off x="886968" y="4005072"/>
            <a:ext cx="420624" cy="420624"/>
          </a:xfrm>
          <a:prstGeom prst="ellipse">
            <a:avLst/>
          </a:prstGeom>
          <a:solidFill>
            <a:srgbClr val="7C3AED"/>
          </a:solidFill>
          <a:ln/>
        </p:spPr>
        <p:txBody>
          <a:bodyPr/>
          <a:lstStyle/>
          <a:p>
            <a:endParaRPr lang="en-US"/>
          </a:p>
        </p:txBody>
      </p:sp>
      <p:pic>
        <p:nvPicPr>
          <p:cNvPr id="23" name="Image 4" descr="/home/claude/llm_finetune_deck/icons/alertTriangle.png"/>
          <p:cNvPicPr>
            <a:picLocks noChangeAspect="1"/>
          </p:cNvPicPr>
          <p:nvPr/>
        </p:nvPicPr>
        <p:blipFill>
          <a:blip r:embed="rId3"/>
          <a:stretch>
            <a:fillRect/>
          </a:stretch>
        </p:blipFill>
        <p:spPr>
          <a:xfrm>
            <a:off x="981608" y="4099712"/>
            <a:ext cx="231343" cy="231343"/>
          </a:xfrm>
          <a:prstGeom prst="rect">
            <a:avLst/>
          </a:prstGeom>
        </p:spPr>
      </p:pic>
      <p:sp>
        <p:nvSpPr>
          <p:cNvPr id="24" name="Text 17"/>
          <p:cNvSpPr/>
          <p:nvPr/>
        </p:nvSpPr>
        <p:spPr>
          <a:xfrm>
            <a:off x="1508760" y="3886200"/>
            <a:ext cx="4114800" cy="658368"/>
          </a:xfrm>
          <a:prstGeom prst="rect">
            <a:avLst/>
          </a:prstGeom>
          <a:noFill/>
          <a:ln/>
        </p:spPr>
        <p:txBody>
          <a:bodyPr wrap="square" rtlCol="0" anchor="ctr"/>
          <a:lstStyle/>
          <a:p>
            <a:pPr marL="0" indent="0">
              <a:buNone/>
            </a:pPr>
            <a:r>
              <a:rPr lang="en-US" sz="1300" b="1" dirty="0">
                <a:solidFill>
                  <a:srgbClr val="1B1B3A"/>
                </a:solidFill>
                <a:latin typeface="Arial" pitchFamily="34" charset="0"/>
                <a:ea typeface="Arial" pitchFamily="34" charset="-122"/>
                <a:cs typeface="Arial" pitchFamily="34" charset="-120"/>
              </a:rPr>
              <a:t>Wrong chat template / tokenizer mismatch</a:t>
            </a:r>
            <a:endParaRPr lang="en-US" sz="1300" dirty="0"/>
          </a:p>
        </p:txBody>
      </p:sp>
      <p:sp>
        <p:nvSpPr>
          <p:cNvPr id="25" name="Text 18"/>
          <p:cNvSpPr/>
          <p:nvPr/>
        </p:nvSpPr>
        <p:spPr>
          <a:xfrm>
            <a:off x="5760720" y="3886200"/>
            <a:ext cx="5513832" cy="658368"/>
          </a:xfrm>
          <a:prstGeom prst="rect">
            <a:avLst/>
          </a:prstGeom>
          <a:noFill/>
          <a:ln/>
        </p:spPr>
        <p:txBody>
          <a:bodyPr wrap="square" rtlCol="0" anchor="ctr"/>
          <a:lstStyle/>
          <a:p>
            <a:pPr marL="0" indent="0">
              <a:buNone/>
            </a:pPr>
            <a:r>
              <a:rPr lang="en-US" sz="1200" dirty="0">
                <a:solidFill>
                  <a:srgbClr val="6B6B85"/>
                </a:solidFill>
                <a:latin typeface="Calibri" pitchFamily="34" charset="0"/>
                <a:ea typeface="Calibri" pitchFamily="34" charset="-122"/>
                <a:cs typeface="Calibri" pitchFamily="34" charset="-120"/>
              </a:rPr>
              <a:t>Produces broken or gibberish output at inference time</a:t>
            </a:r>
            <a:endParaRPr lang="en-US" sz="1200" dirty="0"/>
          </a:p>
        </p:txBody>
      </p:sp>
      <p:sp>
        <p:nvSpPr>
          <p:cNvPr id="26" name="Shape 19"/>
          <p:cNvSpPr/>
          <p:nvPr/>
        </p:nvSpPr>
        <p:spPr>
          <a:xfrm>
            <a:off x="640080" y="4617720"/>
            <a:ext cx="10908792" cy="658368"/>
          </a:xfrm>
          <a:prstGeom prst="roundRect">
            <a:avLst>
              <a:gd name="adj" fmla="val 11111"/>
            </a:avLst>
          </a:prstGeom>
          <a:solidFill>
            <a:srgbClr val="F4F3FA"/>
          </a:solidFill>
          <a:ln/>
        </p:spPr>
        <p:txBody>
          <a:bodyPr/>
          <a:lstStyle/>
          <a:p>
            <a:endParaRPr lang="en-US"/>
          </a:p>
        </p:txBody>
      </p:sp>
      <p:sp>
        <p:nvSpPr>
          <p:cNvPr id="27" name="Shape 20"/>
          <p:cNvSpPr/>
          <p:nvPr/>
        </p:nvSpPr>
        <p:spPr>
          <a:xfrm>
            <a:off x="886968" y="4736592"/>
            <a:ext cx="420624" cy="420624"/>
          </a:xfrm>
          <a:prstGeom prst="ellipse">
            <a:avLst/>
          </a:prstGeom>
          <a:solidFill>
            <a:srgbClr val="7C3AED"/>
          </a:solidFill>
          <a:ln/>
        </p:spPr>
        <p:txBody>
          <a:bodyPr/>
          <a:lstStyle/>
          <a:p>
            <a:endParaRPr lang="en-US"/>
          </a:p>
        </p:txBody>
      </p:sp>
      <p:pic>
        <p:nvPicPr>
          <p:cNvPr id="28" name="Image 5" descr="/home/claude/llm_finetune_deck/icons/alertTriangle.png"/>
          <p:cNvPicPr>
            <a:picLocks noChangeAspect="1"/>
          </p:cNvPicPr>
          <p:nvPr/>
        </p:nvPicPr>
        <p:blipFill>
          <a:blip r:embed="rId3"/>
          <a:stretch>
            <a:fillRect/>
          </a:stretch>
        </p:blipFill>
        <p:spPr>
          <a:xfrm>
            <a:off x="981608" y="4831232"/>
            <a:ext cx="231343" cy="231343"/>
          </a:xfrm>
          <a:prstGeom prst="rect">
            <a:avLst/>
          </a:prstGeom>
        </p:spPr>
      </p:pic>
      <p:sp>
        <p:nvSpPr>
          <p:cNvPr id="29" name="Text 21"/>
          <p:cNvSpPr/>
          <p:nvPr/>
        </p:nvSpPr>
        <p:spPr>
          <a:xfrm>
            <a:off x="1508760" y="4617720"/>
            <a:ext cx="4114800" cy="658368"/>
          </a:xfrm>
          <a:prstGeom prst="rect">
            <a:avLst/>
          </a:prstGeom>
          <a:noFill/>
          <a:ln/>
        </p:spPr>
        <p:txBody>
          <a:bodyPr wrap="square" rtlCol="0" anchor="ctr"/>
          <a:lstStyle/>
          <a:p>
            <a:pPr marL="0" indent="0">
              <a:buNone/>
            </a:pPr>
            <a:r>
              <a:rPr lang="en-US" sz="1300" b="1" dirty="0">
                <a:solidFill>
                  <a:srgbClr val="1B1B3A"/>
                </a:solidFill>
                <a:latin typeface="Arial" pitchFamily="34" charset="0"/>
                <a:ea typeface="Arial" pitchFamily="34" charset="-122"/>
                <a:cs typeface="Arial" pitchFamily="34" charset="-120"/>
              </a:rPr>
              <a:t>Overfitting on 1 epoch of tiny data</a:t>
            </a:r>
            <a:endParaRPr lang="en-US" sz="1300" dirty="0"/>
          </a:p>
        </p:txBody>
      </p:sp>
      <p:sp>
        <p:nvSpPr>
          <p:cNvPr id="30" name="Text 22"/>
          <p:cNvSpPr/>
          <p:nvPr/>
        </p:nvSpPr>
        <p:spPr>
          <a:xfrm>
            <a:off x="5760720" y="4617720"/>
            <a:ext cx="5513832" cy="658368"/>
          </a:xfrm>
          <a:prstGeom prst="rect">
            <a:avLst/>
          </a:prstGeom>
          <a:noFill/>
          <a:ln/>
        </p:spPr>
        <p:txBody>
          <a:bodyPr wrap="square" rtlCol="0" anchor="ctr"/>
          <a:lstStyle/>
          <a:p>
            <a:pPr marL="0" indent="0">
              <a:buNone/>
            </a:pPr>
            <a:r>
              <a:rPr lang="en-US" sz="1200" dirty="0">
                <a:solidFill>
                  <a:srgbClr val="6B6B85"/>
                </a:solidFill>
                <a:latin typeface="Calibri" pitchFamily="34" charset="0"/>
                <a:ea typeface="Calibri" pitchFamily="34" charset="-122"/>
                <a:cs typeface="Calibri" pitchFamily="34" charset="-120"/>
              </a:rPr>
              <a:t>The model memorizes; it doesn’t generalize</a:t>
            </a:r>
            <a:endParaRPr lang="en-US" sz="1200" dirty="0"/>
          </a:p>
        </p:txBody>
      </p:sp>
      <p:sp>
        <p:nvSpPr>
          <p:cNvPr id="31" name="Shape 23"/>
          <p:cNvSpPr/>
          <p:nvPr/>
        </p:nvSpPr>
        <p:spPr>
          <a:xfrm>
            <a:off x="640080" y="5349240"/>
            <a:ext cx="10908792" cy="658368"/>
          </a:xfrm>
          <a:prstGeom prst="roundRect">
            <a:avLst>
              <a:gd name="adj" fmla="val 11111"/>
            </a:avLst>
          </a:prstGeom>
          <a:solidFill>
            <a:srgbClr val="FFFFFF"/>
          </a:solidFill>
          <a:ln/>
        </p:spPr>
        <p:txBody>
          <a:bodyPr/>
          <a:lstStyle/>
          <a:p>
            <a:endParaRPr lang="en-US"/>
          </a:p>
        </p:txBody>
      </p:sp>
      <p:sp>
        <p:nvSpPr>
          <p:cNvPr id="32" name="Shape 24"/>
          <p:cNvSpPr/>
          <p:nvPr/>
        </p:nvSpPr>
        <p:spPr>
          <a:xfrm>
            <a:off x="886968" y="5468112"/>
            <a:ext cx="420624" cy="420624"/>
          </a:xfrm>
          <a:prstGeom prst="ellipse">
            <a:avLst/>
          </a:prstGeom>
          <a:solidFill>
            <a:srgbClr val="7C3AED"/>
          </a:solidFill>
          <a:ln/>
        </p:spPr>
        <p:txBody>
          <a:bodyPr/>
          <a:lstStyle/>
          <a:p>
            <a:endParaRPr lang="en-US"/>
          </a:p>
        </p:txBody>
      </p:sp>
      <p:pic>
        <p:nvPicPr>
          <p:cNvPr id="33" name="Image 6" descr="/home/claude/llm_finetune_deck/icons/alertTriangle.png"/>
          <p:cNvPicPr>
            <a:picLocks noChangeAspect="1"/>
          </p:cNvPicPr>
          <p:nvPr/>
        </p:nvPicPr>
        <p:blipFill>
          <a:blip r:embed="rId3"/>
          <a:stretch>
            <a:fillRect/>
          </a:stretch>
        </p:blipFill>
        <p:spPr>
          <a:xfrm>
            <a:off x="981608" y="5562752"/>
            <a:ext cx="231343" cy="231343"/>
          </a:xfrm>
          <a:prstGeom prst="rect">
            <a:avLst/>
          </a:prstGeom>
        </p:spPr>
      </p:pic>
      <p:sp>
        <p:nvSpPr>
          <p:cNvPr id="34" name="Text 25"/>
          <p:cNvSpPr/>
          <p:nvPr/>
        </p:nvSpPr>
        <p:spPr>
          <a:xfrm>
            <a:off x="1508760" y="5349240"/>
            <a:ext cx="4114800" cy="658368"/>
          </a:xfrm>
          <a:prstGeom prst="rect">
            <a:avLst/>
          </a:prstGeom>
          <a:noFill/>
          <a:ln/>
        </p:spPr>
        <p:txBody>
          <a:bodyPr wrap="square" rtlCol="0" anchor="ctr"/>
          <a:lstStyle/>
          <a:p>
            <a:pPr marL="0" indent="0">
              <a:buNone/>
            </a:pPr>
            <a:r>
              <a:rPr lang="en-US" sz="1300" b="1" dirty="0">
                <a:solidFill>
                  <a:srgbClr val="1B1B3A"/>
                </a:solidFill>
                <a:latin typeface="Arial" pitchFamily="34" charset="0"/>
                <a:ea typeface="Arial" pitchFamily="34" charset="-122"/>
                <a:cs typeface="Arial" pitchFamily="34" charset="-120"/>
              </a:rPr>
              <a:t>Ignoring licenses</a:t>
            </a:r>
            <a:endParaRPr lang="en-US" sz="1300" dirty="0"/>
          </a:p>
        </p:txBody>
      </p:sp>
      <p:sp>
        <p:nvSpPr>
          <p:cNvPr id="35" name="Text 26"/>
          <p:cNvSpPr/>
          <p:nvPr/>
        </p:nvSpPr>
        <p:spPr>
          <a:xfrm>
            <a:off x="5760720" y="5349240"/>
            <a:ext cx="5513832" cy="658368"/>
          </a:xfrm>
          <a:prstGeom prst="rect">
            <a:avLst/>
          </a:prstGeom>
          <a:noFill/>
          <a:ln/>
        </p:spPr>
        <p:txBody>
          <a:bodyPr wrap="square" rtlCol="0" anchor="ctr"/>
          <a:lstStyle/>
          <a:p>
            <a:pPr marL="0" indent="0">
              <a:buNone/>
            </a:pPr>
            <a:r>
              <a:rPr lang="en-US" sz="1200" dirty="0">
                <a:solidFill>
                  <a:srgbClr val="6B6B85"/>
                </a:solidFill>
                <a:latin typeface="Calibri" pitchFamily="34" charset="0"/>
                <a:ea typeface="Calibri" pitchFamily="34" charset="-122"/>
                <a:cs typeface="Calibri" pitchFamily="34" charset="-120"/>
              </a:rPr>
              <a:t>Base model and dataset licensing matters once you ship</a:t>
            </a:r>
            <a:endParaRPr lang="en-US" sz="1200" dirty="0"/>
          </a:p>
        </p:txBody>
      </p:sp>
      <p:sp>
        <p:nvSpPr>
          <p:cNvPr id="36" name="Text 27"/>
          <p:cNvSpPr/>
          <p:nvPr/>
        </p:nvSpPr>
        <p:spPr>
          <a:xfrm>
            <a:off x="11292840" y="6473952"/>
            <a:ext cx="502920" cy="274320"/>
          </a:xfrm>
          <a:prstGeom prst="rect">
            <a:avLst/>
          </a:prstGeom>
          <a:noFill/>
          <a:ln/>
        </p:spPr>
        <p:txBody>
          <a:bodyPr wrap="square" rtlCol="0" anchor="ctr"/>
          <a:lstStyle/>
          <a:p>
            <a:pPr marL="0" indent="0" algn="r">
              <a:buNone/>
            </a:pPr>
            <a:r>
              <a:rPr lang="en-US" sz="1000" dirty="0">
                <a:solidFill>
                  <a:srgbClr val="6B6B85"/>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1B3A"/>
        </a:solidFill>
        <a:effectLst/>
      </p:bgPr>
    </p:bg>
    <p:spTree>
      <p:nvGrpSpPr>
        <p:cNvPr id="1" name=""/>
        <p:cNvGrpSpPr/>
        <p:nvPr/>
      </p:nvGrpSpPr>
      <p:grpSpPr>
        <a:xfrm>
          <a:off x="0" y="0"/>
          <a:ext cx="0" cy="0"/>
          <a:chOff x="0" y="0"/>
          <a:chExt cx="0" cy="0"/>
        </a:xfrm>
      </p:grpSpPr>
      <p:sp>
        <p:nvSpPr>
          <p:cNvPr id="2" name="Text 0"/>
          <p:cNvSpPr/>
          <p:nvPr/>
        </p:nvSpPr>
        <p:spPr>
          <a:xfrm>
            <a:off x="640080" y="384048"/>
            <a:ext cx="8686800" cy="274320"/>
          </a:xfrm>
          <a:prstGeom prst="rect">
            <a:avLst/>
          </a:prstGeom>
          <a:noFill/>
          <a:ln/>
        </p:spPr>
        <p:txBody>
          <a:bodyPr wrap="square" rtlCol="0" anchor="ctr"/>
          <a:lstStyle/>
          <a:p>
            <a:pPr marL="0" indent="0">
              <a:buNone/>
            </a:pPr>
            <a:r>
              <a:rPr lang="en-US" sz="1150" b="1" kern="0" spc="200" dirty="0">
                <a:solidFill>
                  <a:srgbClr val="06B6D4"/>
                </a:solidFill>
                <a:latin typeface="Calibri" pitchFamily="34" charset="0"/>
                <a:ea typeface="Calibri" pitchFamily="34" charset="-122"/>
                <a:cs typeface="Calibri" pitchFamily="34" charset="-120"/>
              </a:rPr>
              <a:t>WRAP-UP</a:t>
            </a:r>
            <a:endParaRPr lang="en-US" sz="1150" dirty="0"/>
          </a:p>
        </p:txBody>
      </p:sp>
      <p:sp>
        <p:nvSpPr>
          <p:cNvPr id="3" name="Text 1"/>
          <p:cNvSpPr/>
          <p:nvPr/>
        </p:nvSpPr>
        <p:spPr>
          <a:xfrm>
            <a:off x="640080" y="621792"/>
            <a:ext cx="9692640" cy="685800"/>
          </a:xfrm>
          <a:prstGeom prst="rect">
            <a:avLst/>
          </a:prstGeom>
          <a:noFill/>
          <a:ln/>
        </p:spPr>
        <p:txBody>
          <a:bodyPr wrap="square" rtlCol="0" anchor="t"/>
          <a:lstStyle/>
          <a:p>
            <a:pPr marL="0" indent="0">
              <a:buNone/>
            </a:pPr>
            <a:r>
              <a:rPr lang="en-US" sz="3200" b="1" dirty="0">
                <a:solidFill>
                  <a:srgbClr val="FFFFFF"/>
                </a:solidFill>
                <a:latin typeface="Arial" pitchFamily="34" charset="0"/>
                <a:ea typeface="Arial" pitchFamily="34" charset="-122"/>
                <a:cs typeface="Arial" pitchFamily="34" charset="-120"/>
              </a:rPr>
              <a:t>Key Takeaways</a:t>
            </a:r>
            <a:endParaRPr lang="en-US" sz="3200" dirty="0"/>
          </a:p>
        </p:txBody>
      </p:sp>
      <p:sp>
        <p:nvSpPr>
          <p:cNvPr id="4" name="Shape 2"/>
          <p:cNvSpPr/>
          <p:nvPr/>
        </p:nvSpPr>
        <p:spPr>
          <a:xfrm>
            <a:off x="10721340" y="434340"/>
            <a:ext cx="777240" cy="777240"/>
          </a:xfrm>
          <a:prstGeom prst="ellipse">
            <a:avLst/>
          </a:prstGeom>
          <a:solidFill>
            <a:srgbClr val="7C3AED"/>
          </a:solidFill>
          <a:ln/>
        </p:spPr>
        <p:txBody>
          <a:bodyPr/>
          <a:lstStyle/>
          <a:p>
            <a:endParaRPr lang="en-US"/>
          </a:p>
        </p:txBody>
      </p:sp>
      <p:pic>
        <p:nvPicPr>
          <p:cNvPr id="5" name="Image 0" descr="/home/claude/llm_finetune_deck/icons/zap.png"/>
          <p:cNvPicPr>
            <a:picLocks noChangeAspect="1"/>
          </p:cNvPicPr>
          <p:nvPr/>
        </p:nvPicPr>
        <p:blipFill>
          <a:blip r:embed="rId3"/>
          <a:stretch>
            <a:fillRect/>
          </a:stretch>
        </p:blipFill>
        <p:spPr>
          <a:xfrm>
            <a:off x="10907878" y="620878"/>
            <a:ext cx="404165" cy="404165"/>
          </a:xfrm>
          <a:prstGeom prst="rect">
            <a:avLst/>
          </a:prstGeom>
        </p:spPr>
      </p:pic>
      <p:sp>
        <p:nvSpPr>
          <p:cNvPr id="6" name="Shape 3"/>
          <p:cNvSpPr/>
          <p:nvPr/>
        </p:nvSpPr>
        <p:spPr>
          <a:xfrm>
            <a:off x="708660" y="1988820"/>
            <a:ext cx="502920" cy="502920"/>
          </a:xfrm>
          <a:prstGeom prst="ellipse">
            <a:avLst/>
          </a:prstGeom>
          <a:solidFill>
            <a:srgbClr val="06B6D4"/>
          </a:solidFill>
          <a:ln/>
        </p:spPr>
        <p:txBody>
          <a:bodyPr/>
          <a:lstStyle/>
          <a:p>
            <a:endParaRPr lang="en-US"/>
          </a:p>
        </p:txBody>
      </p:sp>
      <p:pic>
        <p:nvPicPr>
          <p:cNvPr id="7" name="Image 1" descr="/home/claude/llm_finetune_deck/icons/checkCircle.png"/>
          <p:cNvPicPr>
            <a:picLocks noChangeAspect="1"/>
          </p:cNvPicPr>
          <p:nvPr/>
        </p:nvPicPr>
        <p:blipFill>
          <a:blip r:embed="rId4"/>
          <a:stretch>
            <a:fillRect/>
          </a:stretch>
        </p:blipFill>
        <p:spPr>
          <a:xfrm>
            <a:off x="821817" y="2101977"/>
            <a:ext cx="276606" cy="276606"/>
          </a:xfrm>
          <a:prstGeom prst="rect">
            <a:avLst/>
          </a:prstGeom>
        </p:spPr>
      </p:pic>
      <p:sp>
        <p:nvSpPr>
          <p:cNvPr id="8" name="Text 4"/>
          <p:cNvSpPr/>
          <p:nvPr/>
        </p:nvSpPr>
        <p:spPr>
          <a:xfrm>
            <a:off x="1417320" y="1920240"/>
            <a:ext cx="9784080" cy="841248"/>
          </a:xfrm>
          <a:prstGeom prst="rect">
            <a:avLst/>
          </a:prstGeom>
          <a:noFill/>
          <a:ln/>
        </p:spPr>
        <p:txBody>
          <a:bodyPr wrap="square" rtlCol="0" anchor="ctr"/>
          <a:lstStyle/>
          <a:p>
            <a:pPr marL="0" indent="0">
              <a:buNone/>
            </a:pPr>
            <a:r>
              <a:rPr lang="en-US" sz="1650" b="1" dirty="0">
                <a:solidFill>
                  <a:srgbClr val="FFFFFF"/>
                </a:solidFill>
                <a:latin typeface="Arial" pitchFamily="34" charset="0"/>
                <a:ea typeface="Arial" pitchFamily="34" charset="-122"/>
                <a:cs typeface="Arial" pitchFamily="34" charset="-120"/>
              </a:rPr>
              <a:t>Finetuning ≠ magic — it’s targeted adaptation of an already-capable model</a:t>
            </a:r>
            <a:endParaRPr lang="en-US" sz="1650" dirty="0"/>
          </a:p>
        </p:txBody>
      </p:sp>
      <p:sp>
        <p:nvSpPr>
          <p:cNvPr id="9" name="Shape 5"/>
          <p:cNvSpPr/>
          <p:nvPr/>
        </p:nvSpPr>
        <p:spPr>
          <a:xfrm>
            <a:off x="708660" y="2830068"/>
            <a:ext cx="502920" cy="502920"/>
          </a:xfrm>
          <a:prstGeom prst="ellipse">
            <a:avLst/>
          </a:prstGeom>
          <a:solidFill>
            <a:srgbClr val="06B6D4"/>
          </a:solidFill>
          <a:ln/>
        </p:spPr>
        <p:txBody>
          <a:bodyPr/>
          <a:lstStyle/>
          <a:p>
            <a:endParaRPr lang="en-US"/>
          </a:p>
        </p:txBody>
      </p:sp>
      <p:pic>
        <p:nvPicPr>
          <p:cNvPr id="10" name="Image 2" descr="/home/claude/llm_finetune_deck/icons/checkCircle.png"/>
          <p:cNvPicPr>
            <a:picLocks noChangeAspect="1"/>
          </p:cNvPicPr>
          <p:nvPr/>
        </p:nvPicPr>
        <p:blipFill>
          <a:blip r:embed="rId4"/>
          <a:stretch>
            <a:fillRect/>
          </a:stretch>
        </p:blipFill>
        <p:spPr>
          <a:xfrm>
            <a:off x="821817" y="2943225"/>
            <a:ext cx="276606" cy="276606"/>
          </a:xfrm>
          <a:prstGeom prst="rect">
            <a:avLst/>
          </a:prstGeom>
        </p:spPr>
      </p:pic>
      <p:sp>
        <p:nvSpPr>
          <p:cNvPr id="11" name="Text 6"/>
          <p:cNvSpPr/>
          <p:nvPr/>
        </p:nvSpPr>
        <p:spPr>
          <a:xfrm>
            <a:off x="1417320" y="2761488"/>
            <a:ext cx="9784080" cy="841248"/>
          </a:xfrm>
          <a:prstGeom prst="rect">
            <a:avLst/>
          </a:prstGeom>
          <a:noFill/>
          <a:ln/>
        </p:spPr>
        <p:txBody>
          <a:bodyPr wrap="square" rtlCol="0" anchor="ctr"/>
          <a:lstStyle/>
          <a:p>
            <a:pPr marL="0" indent="0">
              <a:buNone/>
            </a:pPr>
            <a:r>
              <a:rPr lang="en-US" sz="1650" b="1" dirty="0">
                <a:solidFill>
                  <a:srgbClr val="FFFFFF"/>
                </a:solidFill>
                <a:latin typeface="Arial" pitchFamily="34" charset="0"/>
                <a:ea typeface="Arial" pitchFamily="34" charset="-122"/>
                <a:cs typeface="Arial" pitchFamily="34" charset="-120"/>
              </a:rPr>
              <a:t>Start with PEFT (LoRA / QLoRA) — full finetuning is rarely the first move</a:t>
            </a:r>
            <a:endParaRPr lang="en-US" sz="1650" dirty="0"/>
          </a:p>
        </p:txBody>
      </p:sp>
      <p:sp>
        <p:nvSpPr>
          <p:cNvPr id="12" name="Shape 7"/>
          <p:cNvSpPr/>
          <p:nvPr/>
        </p:nvSpPr>
        <p:spPr>
          <a:xfrm>
            <a:off x="708660" y="3671316"/>
            <a:ext cx="502920" cy="502920"/>
          </a:xfrm>
          <a:prstGeom prst="ellipse">
            <a:avLst/>
          </a:prstGeom>
          <a:solidFill>
            <a:srgbClr val="06B6D4"/>
          </a:solidFill>
          <a:ln/>
        </p:spPr>
        <p:txBody>
          <a:bodyPr/>
          <a:lstStyle/>
          <a:p>
            <a:endParaRPr lang="en-US"/>
          </a:p>
        </p:txBody>
      </p:sp>
      <p:pic>
        <p:nvPicPr>
          <p:cNvPr id="13" name="Image 3" descr="/home/claude/llm_finetune_deck/icons/checkCircle.png"/>
          <p:cNvPicPr>
            <a:picLocks noChangeAspect="1"/>
          </p:cNvPicPr>
          <p:nvPr/>
        </p:nvPicPr>
        <p:blipFill>
          <a:blip r:embed="rId4"/>
          <a:stretch>
            <a:fillRect/>
          </a:stretch>
        </p:blipFill>
        <p:spPr>
          <a:xfrm>
            <a:off x="821817" y="3784473"/>
            <a:ext cx="276606" cy="276606"/>
          </a:xfrm>
          <a:prstGeom prst="rect">
            <a:avLst/>
          </a:prstGeom>
        </p:spPr>
      </p:pic>
      <p:sp>
        <p:nvSpPr>
          <p:cNvPr id="14" name="Text 8"/>
          <p:cNvSpPr/>
          <p:nvPr/>
        </p:nvSpPr>
        <p:spPr>
          <a:xfrm>
            <a:off x="1417320" y="3602736"/>
            <a:ext cx="9784080" cy="841248"/>
          </a:xfrm>
          <a:prstGeom prst="rect">
            <a:avLst/>
          </a:prstGeom>
          <a:noFill/>
          <a:ln/>
        </p:spPr>
        <p:txBody>
          <a:bodyPr wrap="square" rtlCol="0" anchor="ctr"/>
          <a:lstStyle/>
          <a:p>
            <a:pPr marL="0" indent="0">
              <a:buNone/>
            </a:pPr>
            <a:r>
              <a:rPr lang="en-US" sz="1650" b="1" dirty="0">
                <a:solidFill>
                  <a:srgbClr val="FFFFFF"/>
                </a:solidFill>
                <a:latin typeface="Arial" pitchFamily="34" charset="0"/>
                <a:ea typeface="Arial" pitchFamily="34" charset="-122"/>
                <a:cs typeface="Arial" pitchFamily="34" charset="-120"/>
              </a:rPr>
              <a:t>Data quality is the single biggest lever you control</a:t>
            </a:r>
            <a:endParaRPr lang="en-US" sz="1650" dirty="0"/>
          </a:p>
        </p:txBody>
      </p:sp>
      <p:sp>
        <p:nvSpPr>
          <p:cNvPr id="15" name="Shape 9"/>
          <p:cNvSpPr/>
          <p:nvPr/>
        </p:nvSpPr>
        <p:spPr>
          <a:xfrm>
            <a:off x="708660" y="4512564"/>
            <a:ext cx="502920" cy="502920"/>
          </a:xfrm>
          <a:prstGeom prst="ellipse">
            <a:avLst/>
          </a:prstGeom>
          <a:solidFill>
            <a:srgbClr val="06B6D4"/>
          </a:solidFill>
          <a:ln/>
        </p:spPr>
        <p:txBody>
          <a:bodyPr/>
          <a:lstStyle/>
          <a:p>
            <a:endParaRPr lang="en-US"/>
          </a:p>
        </p:txBody>
      </p:sp>
      <p:pic>
        <p:nvPicPr>
          <p:cNvPr id="16" name="Image 4" descr="/home/claude/llm_finetune_deck/icons/checkCircle.png"/>
          <p:cNvPicPr>
            <a:picLocks noChangeAspect="1"/>
          </p:cNvPicPr>
          <p:nvPr/>
        </p:nvPicPr>
        <p:blipFill>
          <a:blip r:embed="rId4"/>
          <a:stretch>
            <a:fillRect/>
          </a:stretch>
        </p:blipFill>
        <p:spPr>
          <a:xfrm>
            <a:off x="821817" y="4625721"/>
            <a:ext cx="276606" cy="276606"/>
          </a:xfrm>
          <a:prstGeom prst="rect">
            <a:avLst/>
          </a:prstGeom>
        </p:spPr>
      </p:pic>
      <p:sp>
        <p:nvSpPr>
          <p:cNvPr id="17" name="Text 10"/>
          <p:cNvSpPr/>
          <p:nvPr/>
        </p:nvSpPr>
        <p:spPr>
          <a:xfrm>
            <a:off x="1417320" y="4443984"/>
            <a:ext cx="9784080" cy="841248"/>
          </a:xfrm>
          <a:prstGeom prst="rect">
            <a:avLst/>
          </a:prstGeom>
          <a:noFill/>
          <a:ln/>
        </p:spPr>
        <p:txBody>
          <a:bodyPr wrap="square" rtlCol="0" anchor="ctr"/>
          <a:lstStyle/>
          <a:p>
            <a:pPr marL="0" indent="0">
              <a:buNone/>
            </a:pPr>
            <a:r>
              <a:rPr lang="en-US" sz="1650" b="1" dirty="0">
                <a:solidFill>
                  <a:srgbClr val="FFFFFF"/>
                </a:solidFill>
                <a:latin typeface="Arial" pitchFamily="34" charset="0"/>
                <a:ea typeface="Arial" pitchFamily="34" charset="-122"/>
                <a:cs typeface="Arial" pitchFamily="34" charset="-120"/>
              </a:rPr>
              <a:t>Always evaluate before AND after</a:t>
            </a:r>
            <a:endParaRPr lang="en-US" sz="1650" dirty="0"/>
          </a:p>
        </p:txBody>
      </p:sp>
      <p:sp>
        <p:nvSpPr>
          <p:cNvPr id="18" name="Shape 11"/>
          <p:cNvSpPr/>
          <p:nvPr/>
        </p:nvSpPr>
        <p:spPr>
          <a:xfrm>
            <a:off x="708660" y="5353812"/>
            <a:ext cx="502920" cy="502920"/>
          </a:xfrm>
          <a:prstGeom prst="ellipse">
            <a:avLst/>
          </a:prstGeom>
          <a:solidFill>
            <a:srgbClr val="06B6D4"/>
          </a:solidFill>
          <a:ln/>
        </p:spPr>
        <p:txBody>
          <a:bodyPr/>
          <a:lstStyle/>
          <a:p>
            <a:endParaRPr lang="en-US"/>
          </a:p>
        </p:txBody>
      </p:sp>
      <p:pic>
        <p:nvPicPr>
          <p:cNvPr id="19" name="Image 5" descr="/home/claude/llm_finetune_deck/icons/checkCircle.png"/>
          <p:cNvPicPr>
            <a:picLocks noChangeAspect="1"/>
          </p:cNvPicPr>
          <p:nvPr/>
        </p:nvPicPr>
        <p:blipFill>
          <a:blip r:embed="rId4"/>
          <a:stretch>
            <a:fillRect/>
          </a:stretch>
        </p:blipFill>
        <p:spPr>
          <a:xfrm>
            <a:off x="821817" y="5466969"/>
            <a:ext cx="276606" cy="276606"/>
          </a:xfrm>
          <a:prstGeom prst="rect">
            <a:avLst/>
          </a:prstGeom>
        </p:spPr>
      </p:pic>
      <p:sp>
        <p:nvSpPr>
          <p:cNvPr id="20" name="Text 12"/>
          <p:cNvSpPr/>
          <p:nvPr/>
        </p:nvSpPr>
        <p:spPr>
          <a:xfrm>
            <a:off x="1417320" y="5285232"/>
            <a:ext cx="9784080" cy="841248"/>
          </a:xfrm>
          <a:prstGeom prst="rect">
            <a:avLst/>
          </a:prstGeom>
          <a:noFill/>
          <a:ln/>
        </p:spPr>
        <p:txBody>
          <a:bodyPr wrap="square" rtlCol="0" anchor="ctr"/>
          <a:lstStyle/>
          <a:p>
            <a:pPr marL="0" indent="0">
              <a:buNone/>
            </a:pPr>
            <a:r>
              <a:rPr lang="en-US" sz="1650" b="1" dirty="0">
                <a:solidFill>
                  <a:srgbClr val="FFFFFF"/>
                </a:solidFill>
                <a:latin typeface="Arial" pitchFamily="34" charset="0"/>
                <a:ea typeface="Arial" pitchFamily="34" charset="-122"/>
                <a:cs typeface="Arial" pitchFamily="34" charset="-120"/>
              </a:rPr>
              <a:t>HF + PEFT + TRL + Unsloth can take you from zero to a trained model in an afternoon</a:t>
            </a:r>
            <a:endParaRPr lang="en-US" sz="1650" dirty="0"/>
          </a:p>
        </p:txBody>
      </p:sp>
      <p:sp>
        <p:nvSpPr>
          <p:cNvPr id="21" name="Text 13"/>
          <p:cNvSpPr/>
          <p:nvPr/>
        </p:nvSpPr>
        <p:spPr>
          <a:xfrm>
            <a:off x="11292840" y="6473952"/>
            <a:ext cx="502920" cy="274320"/>
          </a:xfrm>
          <a:prstGeom prst="rect">
            <a:avLst/>
          </a:prstGeom>
          <a:noFill/>
          <a:ln/>
        </p:spPr>
        <p:txBody>
          <a:bodyPr wrap="square" rtlCol="0" anchor="ctr"/>
          <a:lstStyle/>
          <a:p>
            <a:pPr marL="0" indent="0" algn="r">
              <a:buNone/>
            </a:pPr>
            <a:r>
              <a:rPr lang="en-US" sz="1000" dirty="0">
                <a:solidFill>
                  <a:srgbClr val="6B6B85"/>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8686800" cy="274320"/>
          </a:xfrm>
          <a:prstGeom prst="rect">
            <a:avLst/>
          </a:prstGeom>
          <a:noFill/>
          <a:ln/>
        </p:spPr>
        <p:txBody>
          <a:bodyPr wrap="square" rtlCol="0" anchor="ctr"/>
          <a:lstStyle/>
          <a:p>
            <a:pPr marL="0" indent="0">
              <a:buNone/>
            </a:pPr>
            <a:r>
              <a:rPr lang="en-US" sz="1150" b="1" kern="0" spc="200" dirty="0">
                <a:solidFill>
                  <a:srgbClr val="7C3AED"/>
                </a:solidFill>
                <a:latin typeface="Calibri" pitchFamily="34" charset="0"/>
                <a:ea typeface="Calibri" pitchFamily="34" charset="-122"/>
                <a:cs typeface="Calibri" pitchFamily="34" charset="-120"/>
              </a:rPr>
              <a:t>WRAP-UP</a:t>
            </a:r>
            <a:endParaRPr lang="en-US" sz="1150" dirty="0"/>
          </a:p>
        </p:txBody>
      </p:sp>
      <p:sp>
        <p:nvSpPr>
          <p:cNvPr id="3" name="Text 1"/>
          <p:cNvSpPr/>
          <p:nvPr/>
        </p:nvSpPr>
        <p:spPr>
          <a:xfrm>
            <a:off x="640080" y="621792"/>
            <a:ext cx="9692640" cy="685800"/>
          </a:xfrm>
          <a:prstGeom prst="rect">
            <a:avLst/>
          </a:prstGeom>
          <a:noFill/>
          <a:ln/>
        </p:spPr>
        <p:txBody>
          <a:bodyPr wrap="square" rtlCol="0" anchor="t"/>
          <a:lstStyle/>
          <a:p>
            <a:pPr marL="0" indent="0">
              <a:buNone/>
            </a:pPr>
            <a:r>
              <a:rPr lang="en-US" sz="3200" b="1" dirty="0">
                <a:solidFill>
                  <a:srgbClr val="1B1B3A"/>
                </a:solidFill>
                <a:latin typeface="Arial" pitchFamily="34" charset="0"/>
                <a:ea typeface="Arial" pitchFamily="34" charset="-122"/>
                <a:cs typeface="Arial" pitchFamily="34" charset="-120"/>
              </a:rPr>
              <a:t>Resources to Go Further</a:t>
            </a:r>
            <a:endParaRPr lang="en-US" sz="3200" dirty="0"/>
          </a:p>
        </p:txBody>
      </p:sp>
      <p:sp>
        <p:nvSpPr>
          <p:cNvPr id="4" name="Shape 2"/>
          <p:cNvSpPr/>
          <p:nvPr/>
        </p:nvSpPr>
        <p:spPr>
          <a:xfrm>
            <a:off x="10721340" y="434340"/>
            <a:ext cx="777240" cy="777240"/>
          </a:xfrm>
          <a:prstGeom prst="ellipse">
            <a:avLst/>
          </a:prstGeom>
          <a:solidFill>
            <a:srgbClr val="7C3AED"/>
          </a:solidFill>
          <a:ln/>
        </p:spPr>
        <p:txBody>
          <a:bodyPr/>
          <a:lstStyle/>
          <a:p>
            <a:endParaRPr lang="en-US"/>
          </a:p>
        </p:txBody>
      </p:sp>
      <p:pic>
        <p:nvPicPr>
          <p:cNvPr id="5" name="Image 0" descr="/home/claude/llm_finetune_deck/icons/bookOpen.png"/>
          <p:cNvPicPr>
            <a:picLocks noChangeAspect="1"/>
          </p:cNvPicPr>
          <p:nvPr/>
        </p:nvPicPr>
        <p:blipFill>
          <a:blip r:embed="rId3"/>
          <a:stretch>
            <a:fillRect/>
          </a:stretch>
        </p:blipFill>
        <p:spPr>
          <a:xfrm>
            <a:off x="10907878" y="620878"/>
            <a:ext cx="404165" cy="404165"/>
          </a:xfrm>
          <a:prstGeom prst="rect">
            <a:avLst/>
          </a:prstGeom>
        </p:spPr>
      </p:pic>
      <p:sp>
        <p:nvSpPr>
          <p:cNvPr id="6" name="Shape 3"/>
          <p:cNvSpPr/>
          <p:nvPr/>
        </p:nvSpPr>
        <p:spPr>
          <a:xfrm>
            <a:off x="640080" y="1783080"/>
            <a:ext cx="3456432" cy="3931920"/>
          </a:xfrm>
          <a:prstGeom prst="roundRect">
            <a:avLst>
              <a:gd name="adj" fmla="val 2116"/>
            </a:avLst>
          </a:prstGeom>
          <a:solidFill>
            <a:srgbClr val="F4F3FA"/>
          </a:solidFill>
          <a:ln/>
          <a:effectLst>
            <a:outerShdw blurRad="88900" dist="25400" dir="5400000" algn="bl" rotWithShape="0">
              <a:srgbClr val="2B2650">
                <a:alpha val="16000"/>
              </a:srgbClr>
            </a:outerShdw>
          </a:effectLst>
        </p:spPr>
        <p:txBody>
          <a:bodyPr/>
          <a:lstStyle/>
          <a:p>
            <a:endParaRPr lang="en-US"/>
          </a:p>
        </p:txBody>
      </p:sp>
      <p:sp>
        <p:nvSpPr>
          <p:cNvPr id="7" name="Shape 4"/>
          <p:cNvSpPr/>
          <p:nvPr/>
        </p:nvSpPr>
        <p:spPr>
          <a:xfrm>
            <a:off x="877824" y="1975104"/>
            <a:ext cx="621792" cy="621792"/>
          </a:xfrm>
          <a:prstGeom prst="ellipse">
            <a:avLst/>
          </a:prstGeom>
          <a:solidFill>
            <a:srgbClr val="7C3AED"/>
          </a:solidFill>
          <a:ln/>
        </p:spPr>
        <p:txBody>
          <a:bodyPr/>
          <a:lstStyle/>
          <a:p>
            <a:endParaRPr lang="en-US"/>
          </a:p>
        </p:txBody>
      </p:sp>
      <p:pic>
        <p:nvPicPr>
          <p:cNvPr id="8" name="Image 1" descr="/home/claude/llm_finetune_deck/icons/tool.png"/>
          <p:cNvPicPr>
            <a:picLocks noChangeAspect="1"/>
          </p:cNvPicPr>
          <p:nvPr/>
        </p:nvPicPr>
        <p:blipFill>
          <a:blip r:embed="rId4"/>
          <a:stretch>
            <a:fillRect/>
          </a:stretch>
        </p:blipFill>
        <p:spPr>
          <a:xfrm>
            <a:off x="1027054" y="2124334"/>
            <a:ext cx="323332" cy="323332"/>
          </a:xfrm>
          <a:prstGeom prst="rect">
            <a:avLst/>
          </a:prstGeom>
        </p:spPr>
      </p:pic>
      <p:sp>
        <p:nvSpPr>
          <p:cNvPr id="9" name="Text 5"/>
          <p:cNvSpPr/>
          <p:nvPr/>
        </p:nvSpPr>
        <p:spPr>
          <a:xfrm>
            <a:off x="868680" y="2743200"/>
            <a:ext cx="2999232" cy="457200"/>
          </a:xfrm>
          <a:prstGeom prst="rect">
            <a:avLst/>
          </a:prstGeom>
          <a:noFill/>
          <a:ln/>
        </p:spPr>
        <p:txBody>
          <a:bodyPr wrap="square" rtlCol="0" anchor="ctr"/>
          <a:lstStyle/>
          <a:p>
            <a:pPr marL="0" indent="0">
              <a:buNone/>
            </a:pPr>
            <a:r>
              <a:rPr lang="en-US" sz="1500" b="1" dirty="0">
                <a:solidFill>
                  <a:srgbClr val="1B1B3A"/>
                </a:solidFill>
                <a:latin typeface="Arial" pitchFamily="34" charset="0"/>
                <a:ea typeface="Arial" pitchFamily="34" charset="-122"/>
                <a:cs typeface="Arial" pitchFamily="34" charset="-120"/>
              </a:rPr>
              <a:t>Docs &amp; Notebooks</a:t>
            </a:r>
            <a:endParaRPr lang="en-US" sz="1500" dirty="0"/>
          </a:p>
        </p:txBody>
      </p:sp>
      <p:sp>
        <p:nvSpPr>
          <p:cNvPr id="10" name="Text 6"/>
          <p:cNvSpPr/>
          <p:nvPr/>
        </p:nvSpPr>
        <p:spPr>
          <a:xfrm>
            <a:off x="868680" y="3291840"/>
            <a:ext cx="2999232" cy="2194560"/>
          </a:xfrm>
          <a:prstGeom prst="rect">
            <a:avLst/>
          </a:prstGeom>
          <a:noFill/>
          <a:ln/>
        </p:spPr>
        <p:txBody>
          <a:bodyPr wrap="square" rtlCol="0" anchor="t"/>
          <a:lstStyle/>
          <a:p>
            <a:pPr marL="342900" indent="-342900">
              <a:spcAft>
                <a:spcPts val="1000"/>
              </a:spcAft>
              <a:buSzPct val="100000"/>
              <a:buChar char="•"/>
            </a:pPr>
            <a:r>
              <a:rPr lang="en-US" sz="1250" dirty="0">
                <a:solidFill>
                  <a:srgbClr val="1B1B3A"/>
                </a:solidFill>
                <a:latin typeface="Calibri" pitchFamily="34" charset="0"/>
                <a:ea typeface="Calibri" pitchFamily="34" charset="-122"/>
                <a:cs typeface="Calibri" pitchFamily="34" charset="-120"/>
              </a:rPr>
              <a:t>Hugging Face PEFT documentation</a:t>
            </a:r>
            <a:endParaRPr lang="en-US" sz="1250" dirty="0"/>
          </a:p>
          <a:p>
            <a:pPr marL="342900" indent="-342900">
              <a:spcAft>
                <a:spcPts val="1000"/>
              </a:spcAft>
              <a:buSzPct val="100000"/>
              <a:buChar char="•"/>
            </a:pPr>
            <a:r>
              <a:rPr lang="en-US" sz="1250" dirty="0">
                <a:solidFill>
                  <a:srgbClr val="1B1B3A"/>
                </a:solidFill>
                <a:latin typeface="Calibri" pitchFamily="34" charset="0"/>
                <a:ea typeface="Calibri" pitchFamily="34" charset="-122"/>
                <a:cs typeface="Calibri" pitchFamily="34" charset="-120"/>
              </a:rPr>
              <a:t>Hugging Face TRL documentation</a:t>
            </a:r>
            <a:endParaRPr lang="en-US" sz="1250" dirty="0"/>
          </a:p>
          <a:p>
            <a:pPr marL="342900" indent="-342900">
              <a:spcAft>
                <a:spcPts val="1000"/>
              </a:spcAft>
              <a:buSzPct val="100000"/>
              <a:buChar char="•"/>
            </a:pPr>
            <a:r>
              <a:rPr lang="en-US" sz="1250" dirty="0">
                <a:solidFill>
                  <a:srgbClr val="1B1B3A"/>
                </a:solidFill>
                <a:latin typeface="Calibri" pitchFamily="34" charset="0"/>
                <a:ea typeface="Calibri" pitchFamily="34" charset="-122"/>
                <a:cs typeface="Calibri" pitchFamily="34" charset="-120"/>
              </a:rPr>
              <a:t>Unsloth notebooks (free Colab templates)</a:t>
            </a:r>
            <a:endParaRPr lang="en-US" sz="1250" dirty="0"/>
          </a:p>
        </p:txBody>
      </p:sp>
      <p:sp>
        <p:nvSpPr>
          <p:cNvPr id="11" name="Shape 7"/>
          <p:cNvSpPr/>
          <p:nvPr/>
        </p:nvSpPr>
        <p:spPr>
          <a:xfrm>
            <a:off x="4361688" y="1783080"/>
            <a:ext cx="3456432" cy="3931920"/>
          </a:xfrm>
          <a:prstGeom prst="roundRect">
            <a:avLst>
              <a:gd name="adj" fmla="val 2116"/>
            </a:avLst>
          </a:prstGeom>
          <a:solidFill>
            <a:srgbClr val="F4F3FA"/>
          </a:solidFill>
          <a:ln/>
          <a:effectLst>
            <a:outerShdw blurRad="88900" dist="25400" dir="5400000" algn="bl" rotWithShape="0">
              <a:srgbClr val="2B2650">
                <a:alpha val="16000"/>
              </a:srgbClr>
            </a:outerShdw>
          </a:effectLst>
        </p:spPr>
        <p:txBody>
          <a:bodyPr/>
          <a:lstStyle/>
          <a:p>
            <a:endParaRPr lang="en-US"/>
          </a:p>
        </p:txBody>
      </p:sp>
      <p:sp>
        <p:nvSpPr>
          <p:cNvPr id="12" name="Shape 8"/>
          <p:cNvSpPr/>
          <p:nvPr/>
        </p:nvSpPr>
        <p:spPr>
          <a:xfrm>
            <a:off x="4599432" y="1975104"/>
            <a:ext cx="621792" cy="621792"/>
          </a:xfrm>
          <a:prstGeom prst="ellipse">
            <a:avLst/>
          </a:prstGeom>
          <a:solidFill>
            <a:srgbClr val="7C3AED"/>
          </a:solidFill>
          <a:ln/>
        </p:spPr>
        <p:txBody>
          <a:bodyPr/>
          <a:lstStyle/>
          <a:p>
            <a:endParaRPr lang="en-US"/>
          </a:p>
        </p:txBody>
      </p:sp>
      <p:pic>
        <p:nvPicPr>
          <p:cNvPr id="13" name="Image 2" descr="/home/claude/llm_finetune_deck/icons/bookOpen.png"/>
          <p:cNvPicPr>
            <a:picLocks noChangeAspect="1"/>
          </p:cNvPicPr>
          <p:nvPr/>
        </p:nvPicPr>
        <p:blipFill>
          <a:blip r:embed="rId3"/>
          <a:stretch>
            <a:fillRect/>
          </a:stretch>
        </p:blipFill>
        <p:spPr>
          <a:xfrm>
            <a:off x="4748662" y="2124334"/>
            <a:ext cx="323332" cy="323332"/>
          </a:xfrm>
          <a:prstGeom prst="rect">
            <a:avLst/>
          </a:prstGeom>
        </p:spPr>
      </p:pic>
      <p:sp>
        <p:nvSpPr>
          <p:cNvPr id="14" name="Text 9"/>
          <p:cNvSpPr/>
          <p:nvPr/>
        </p:nvSpPr>
        <p:spPr>
          <a:xfrm>
            <a:off x="4590288" y="2743200"/>
            <a:ext cx="2999232" cy="457200"/>
          </a:xfrm>
          <a:prstGeom prst="rect">
            <a:avLst/>
          </a:prstGeom>
          <a:noFill/>
          <a:ln/>
        </p:spPr>
        <p:txBody>
          <a:bodyPr wrap="square" rtlCol="0" anchor="ctr"/>
          <a:lstStyle/>
          <a:p>
            <a:pPr marL="0" indent="0">
              <a:buNone/>
            </a:pPr>
            <a:r>
              <a:rPr lang="en-US" sz="1500" b="1" dirty="0">
                <a:solidFill>
                  <a:srgbClr val="1B1B3A"/>
                </a:solidFill>
                <a:latin typeface="Arial" pitchFamily="34" charset="0"/>
                <a:ea typeface="Arial" pitchFamily="34" charset="-122"/>
                <a:cs typeface="Arial" pitchFamily="34" charset="-120"/>
              </a:rPr>
              <a:t>Foundational Papers</a:t>
            </a:r>
            <a:endParaRPr lang="en-US" sz="1500" dirty="0"/>
          </a:p>
        </p:txBody>
      </p:sp>
      <p:sp>
        <p:nvSpPr>
          <p:cNvPr id="15" name="Text 10"/>
          <p:cNvSpPr/>
          <p:nvPr/>
        </p:nvSpPr>
        <p:spPr>
          <a:xfrm>
            <a:off x="4590288" y="3291840"/>
            <a:ext cx="2999232" cy="2194560"/>
          </a:xfrm>
          <a:prstGeom prst="rect">
            <a:avLst/>
          </a:prstGeom>
          <a:noFill/>
          <a:ln/>
        </p:spPr>
        <p:txBody>
          <a:bodyPr wrap="square" rtlCol="0" anchor="t"/>
          <a:lstStyle/>
          <a:p>
            <a:pPr marL="342900" indent="-342900">
              <a:spcAft>
                <a:spcPts val="1000"/>
              </a:spcAft>
              <a:buSzPct val="100000"/>
              <a:buChar char="•"/>
            </a:pPr>
            <a:r>
              <a:rPr lang="en-US" sz="1250" dirty="0">
                <a:solidFill>
                  <a:srgbClr val="1B1B3A"/>
                </a:solidFill>
                <a:latin typeface="Calibri" pitchFamily="34" charset="0"/>
                <a:ea typeface="Calibri" pitchFamily="34" charset="-122"/>
                <a:cs typeface="Calibri" pitchFamily="34" charset="-120"/>
              </a:rPr>
              <a:t>LoRA — Hu et al., 2021</a:t>
            </a:r>
            <a:endParaRPr lang="en-US" sz="1250" dirty="0"/>
          </a:p>
          <a:p>
            <a:pPr marL="342900" indent="-342900">
              <a:spcAft>
                <a:spcPts val="1000"/>
              </a:spcAft>
              <a:buSzPct val="100000"/>
              <a:buChar char="•"/>
            </a:pPr>
            <a:r>
              <a:rPr lang="en-US" sz="1250" dirty="0">
                <a:solidFill>
                  <a:srgbClr val="1B1B3A"/>
                </a:solidFill>
                <a:latin typeface="Calibri" pitchFamily="34" charset="0"/>
                <a:ea typeface="Calibri" pitchFamily="34" charset="-122"/>
                <a:cs typeface="Calibri" pitchFamily="34" charset="-120"/>
              </a:rPr>
              <a:t>QLoRA — Dettmers et al., 2023</a:t>
            </a:r>
            <a:endParaRPr lang="en-US" sz="1250" dirty="0"/>
          </a:p>
          <a:p>
            <a:pPr marL="342900" indent="-342900">
              <a:spcAft>
                <a:spcPts val="1000"/>
              </a:spcAft>
              <a:buSzPct val="100000"/>
              <a:buChar char="•"/>
            </a:pPr>
            <a:r>
              <a:rPr lang="en-US" sz="1250" dirty="0">
                <a:solidFill>
                  <a:srgbClr val="1B1B3A"/>
                </a:solidFill>
                <a:latin typeface="Calibri" pitchFamily="34" charset="0"/>
                <a:ea typeface="Calibri" pitchFamily="34" charset="-122"/>
                <a:cs typeface="Calibri" pitchFamily="34" charset="-120"/>
              </a:rPr>
              <a:t>InstructGPT — Ouyang et al., 2022</a:t>
            </a:r>
            <a:endParaRPr lang="en-US" sz="1250" dirty="0"/>
          </a:p>
        </p:txBody>
      </p:sp>
      <p:sp>
        <p:nvSpPr>
          <p:cNvPr id="16" name="Shape 11"/>
          <p:cNvSpPr/>
          <p:nvPr/>
        </p:nvSpPr>
        <p:spPr>
          <a:xfrm>
            <a:off x="8083296" y="1783080"/>
            <a:ext cx="3456432" cy="3931920"/>
          </a:xfrm>
          <a:prstGeom prst="roundRect">
            <a:avLst>
              <a:gd name="adj" fmla="val 2116"/>
            </a:avLst>
          </a:prstGeom>
          <a:solidFill>
            <a:srgbClr val="F4F3FA"/>
          </a:solidFill>
          <a:ln/>
          <a:effectLst>
            <a:outerShdw blurRad="88900" dist="25400" dir="5400000" algn="bl" rotWithShape="0">
              <a:srgbClr val="2B2650">
                <a:alpha val="16000"/>
              </a:srgbClr>
            </a:outerShdw>
          </a:effectLst>
        </p:spPr>
        <p:txBody>
          <a:bodyPr/>
          <a:lstStyle/>
          <a:p>
            <a:endParaRPr lang="en-US"/>
          </a:p>
        </p:txBody>
      </p:sp>
      <p:sp>
        <p:nvSpPr>
          <p:cNvPr id="17" name="Shape 12"/>
          <p:cNvSpPr/>
          <p:nvPr/>
        </p:nvSpPr>
        <p:spPr>
          <a:xfrm>
            <a:off x="8321040" y="1975104"/>
            <a:ext cx="621792" cy="621792"/>
          </a:xfrm>
          <a:prstGeom prst="ellipse">
            <a:avLst/>
          </a:prstGeom>
          <a:solidFill>
            <a:srgbClr val="7C3AED"/>
          </a:solidFill>
          <a:ln/>
        </p:spPr>
        <p:txBody>
          <a:bodyPr/>
          <a:lstStyle/>
          <a:p>
            <a:endParaRPr lang="en-US"/>
          </a:p>
        </p:txBody>
      </p:sp>
      <p:pic>
        <p:nvPicPr>
          <p:cNvPr id="18" name="Image 3" descr="/home/claude/llm_finetune_deck/icons/trendingUp.png"/>
          <p:cNvPicPr>
            <a:picLocks noChangeAspect="1"/>
          </p:cNvPicPr>
          <p:nvPr/>
        </p:nvPicPr>
        <p:blipFill>
          <a:blip r:embed="rId5"/>
          <a:stretch>
            <a:fillRect/>
          </a:stretch>
        </p:blipFill>
        <p:spPr>
          <a:xfrm>
            <a:off x="8470270" y="2124334"/>
            <a:ext cx="323332" cy="323332"/>
          </a:xfrm>
          <a:prstGeom prst="rect">
            <a:avLst/>
          </a:prstGeom>
        </p:spPr>
      </p:pic>
      <p:sp>
        <p:nvSpPr>
          <p:cNvPr id="19" name="Text 13"/>
          <p:cNvSpPr/>
          <p:nvPr/>
        </p:nvSpPr>
        <p:spPr>
          <a:xfrm>
            <a:off x="8311896" y="2743200"/>
            <a:ext cx="2999232" cy="457200"/>
          </a:xfrm>
          <a:prstGeom prst="rect">
            <a:avLst/>
          </a:prstGeom>
          <a:noFill/>
          <a:ln/>
        </p:spPr>
        <p:txBody>
          <a:bodyPr wrap="square" rtlCol="0" anchor="ctr"/>
          <a:lstStyle/>
          <a:p>
            <a:pPr marL="0" indent="0">
              <a:buNone/>
            </a:pPr>
            <a:r>
              <a:rPr lang="en-US" sz="1500" b="1" dirty="0">
                <a:solidFill>
                  <a:srgbClr val="1B1B3A"/>
                </a:solidFill>
                <a:latin typeface="Arial" pitchFamily="34" charset="0"/>
                <a:ea typeface="Arial" pitchFamily="34" charset="-122"/>
                <a:cs typeface="Arial" pitchFamily="34" charset="-120"/>
              </a:rPr>
              <a:t>Compare Models</a:t>
            </a:r>
            <a:endParaRPr lang="en-US" sz="1500" dirty="0"/>
          </a:p>
        </p:txBody>
      </p:sp>
      <p:sp>
        <p:nvSpPr>
          <p:cNvPr id="20" name="Text 14"/>
          <p:cNvSpPr/>
          <p:nvPr/>
        </p:nvSpPr>
        <p:spPr>
          <a:xfrm>
            <a:off x="8311896" y="3291840"/>
            <a:ext cx="2999232" cy="2194560"/>
          </a:xfrm>
          <a:prstGeom prst="rect">
            <a:avLst/>
          </a:prstGeom>
          <a:noFill/>
          <a:ln/>
        </p:spPr>
        <p:txBody>
          <a:bodyPr wrap="square" rtlCol="0" anchor="t"/>
          <a:lstStyle/>
          <a:p>
            <a:pPr marL="342900" indent="-342900">
              <a:spcAft>
                <a:spcPts val="1000"/>
              </a:spcAft>
              <a:buSzPct val="100000"/>
              <a:buChar char="•"/>
            </a:pPr>
            <a:r>
              <a:rPr lang="en-US" sz="1250" dirty="0">
                <a:solidFill>
                  <a:srgbClr val="1B1B3A"/>
                </a:solidFill>
                <a:latin typeface="Calibri" pitchFamily="34" charset="0"/>
                <a:ea typeface="Calibri" pitchFamily="34" charset="-122"/>
                <a:cs typeface="Calibri" pitchFamily="34" charset="-120"/>
              </a:rPr>
              <a:t>Hugging Face Open LLM Leaderboard</a:t>
            </a:r>
            <a:endParaRPr lang="en-US" sz="1250" dirty="0"/>
          </a:p>
          <a:p>
            <a:pPr marL="342900" indent="-342900">
              <a:spcAft>
                <a:spcPts val="1000"/>
              </a:spcAft>
              <a:buSzPct val="100000"/>
              <a:buChar char="•"/>
            </a:pPr>
            <a:r>
              <a:rPr lang="en-US" sz="1250" dirty="0">
                <a:solidFill>
                  <a:srgbClr val="1B1B3A"/>
                </a:solidFill>
                <a:latin typeface="Calibri" pitchFamily="34" charset="0"/>
                <a:ea typeface="Calibri" pitchFamily="34" charset="-122"/>
                <a:cs typeface="Calibri" pitchFamily="34" charset="-120"/>
              </a:rPr>
              <a:t>Track new releases before committing</a:t>
            </a:r>
            <a:endParaRPr lang="en-US" sz="1250" dirty="0"/>
          </a:p>
        </p:txBody>
      </p:sp>
      <p:sp>
        <p:nvSpPr>
          <p:cNvPr id="21" name="Text 15"/>
          <p:cNvSpPr/>
          <p:nvPr/>
        </p:nvSpPr>
        <p:spPr>
          <a:xfrm>
            <a:off x="11292840" y="6473952"/>
            <a:ext cx="502920" cy="274320"/>
          </a:xfrm>
          <a:prstGeom prst="rect">
            <a:avLst/>
          </a:prstGeom>
          <a:noFill/>
          <a:ln/>
        </p:spPr>
        <p:txBody>
          <a:bodyPr wrap="square" rtlCol="0" anchor="ctr"/>
          <a:lstStyle/>
          <a:p>
            <a:pPr marL="0" indent="0" algn="r">
              <a:buNone/>
            </a:pPr>
            <a:r>
              <a:rPr lang="en-US" sz="1000" dirty="0">
                <a:solidFill>
                  <a:srgbClr val="6B6B85"/>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B1B3A"/>
        </a:solidFill>
        <a:effectLst/>
      </p:bgPr>
    </p:bg>
    <p:spTree>
      <p:nvGrpSpPr>
        <p:cNvPr id="1" name=""/>
        <p:cNvGrpSpPr/>
        <p:nvPr/>
      </p:nvGrpSpPr>
      <p:grpSpPr>
        <a:xfrm>
          <a:off x="0" y="0"/>
          <a:ext cx="0" cy="0"/>
          <a:chOff x="0" y="0"/>
          <a:chExt cx="0" cy="0"/>
        </a:xfrm>
      </p:grpSpPr>
      <p:sp>
        <p:nvSpPr>
          <p:cNvPr id="2" name="Shape 0"/>
          <p:cNvSpPr/>
          <p:nvPr/>
        </p:nvSpPr>
        <p:spPr>
          <a:xfrm>
            <a:off x="-1645920" y="3840480"/>
            <a:ext cx="4754880" cy="4754880"/>
          </a:xfrm>
          <a:prstGeom prst="ellipse">
            <a:avLst/>
          </a:prstGeom>
          <a:solidFill>
            <a:srgbClr val="241F52"/>
          </a:solidFill>
          <a:ln/>
        </p:spPr>
        <p:txBody>
          <a:bodyPr/>
          <a:lstStyle/>
          <a:p>
            <a:endParaRPr lang="en-US"/>
          </a:p>
        </p:txBody>
      </p:sp>
      <p:sp>
        <p:nvSpPr>
          <p:cNvPr id="3" name="Shape 1"/>
          <p:cNvSpPr/>
          <p:nvPr/>
        </p:nvSpPr>
        <p:spPr>
          <a:xfrm>
            <a:off x="5410048" y="1691640"/>
            <a:ext cx="1371600" cy="1371600"/>
          </a:xfrm>
          <a:prstGeom prst="ellipse">
            <a:avLst/>
          </a:prstGeom>
          <a:solidFill>
            <a:srgbClr val="7C3AED"/>
          </a:solidFill>
          <a:ln/>
        </p:spPr>
        <p:txBody>
          <a:bodyPr/>
          <a:lstStyle/>
          <a:p>
            <a:endParaRPr lang="en-US"/>
          </a:p>
        </p:txBody>
      </p:sp>
      <p:pic>
        <p:nvPicPr>
          <p:cNvPr id="4" name="Image 0" descr="/home/claude/llm_finetune_deck/icons/helpCircle.png"/>
          <p:cNvPicPr>
            <a:picLocks noChangeAspect="1"/>
          </p:cNvPicPr>
          <p:nvPr/>
        </p:nvPicPr>
        <p:blipFill>
          <a:blip r:embed="rId3"/>
          <a:stretch>
            <a:fillRect/>
          </a:stretch>
        </p:blipFill>
        <p:spPr>
          <a:xfrm>
            <a:off x="5739232" y="2020824"/>
            <a:ext cx="713232" cy="713232"/>
          </a:xfrm>
          <a:prstGeom prst="rect">
            <a:avLst/>
          </a:prstGeom>
        </p:spPr>
      </p:pic>
      <p:sp>
        <p:nvSpPr>
          <p:cNvPr id="5" name="Text 2"/>
          <p:cNvSpPr/>
          <p:nvPr/>
        </p:nvSpPr>
        <p:spPr>
          <a:xfrm>
            <a:off x="0" y="3383280"/>
            <a:ext cx="12191695" cy="822960"/>
          </a:xfrm>
          <a:prstGeom prst="rect">
            <a:avLst/>
          </a:prstGeom>
          <a:noFill/>
          <a:ln/>
        </p:spPr>
        <p:txBody>
          <a:bodyPr wrap="square" rtlCol="0" anchor="ctr"/>
          <a:lstStyle/>
          <a:p>
            <a:pPr marL="0" indent="0" algn="ctr">
              <a:buNone/>
            </a:pPr>
            <a:r>
              <a:rPr lang="en-US" sz="4000" b="1" dirty="0">
                <a:solidFill>
                  <a:srgbClr val="FFFFFF"/>
                </a:solidFill>
                <a:latin typeface="Arial" pitchFamily="34" charset="0"/>
                <a:ea typeface="Arial" pitchFamily="34" charset="-122"/>
                <a:cs typeface="Arial" pitchFamily="34" charset="-120"/>
              </a:rPr>
              <a:t>Questions?</a:t>
            </a:r>
            <a:endParaRPr lang="en-US" sz="4000" dirty="0"/>
          </a:p>
        </p:txBody>
      </p:sp>
      <p:sp>
        <p:nvSpPr>
          <p:cNvPr id="6" name="Text 3"/>
          <p:cNvSpPr/>
          <p:nvPr/>
        </p:nvSpPr>
        <p:spPr>
          <a:xfrm>
            <a:off x="0" y="4160520"/>
            <a:ext cx="12191695" cy="457200"/>
          </a:xfrm>
          <a:prstGeom prst="rect">
            <a:avLst/>
          </a:prstGeom>
          <a:noFill/>
          <a:ln/>
        </p:spPr>
        <p:txBody>
          <a:bodyPr wrap="square" rtlCol="0" anchor="ctr"/>
          <a:lstStyle/>
          <a:p>
            <a:pPr marL="0" indent="0" algn="ctr">
              <a:buNone/>
            </a:pPr>
            <a:r>
              <a:rPr lang="en-US" sz="1600" i="1" dirty="0">
                <a:solidFill>
                  <a:srgbClr val="C6C2E8"/>
                </a:solidFill>
                <a:latin typeface="Calibri" pitchFamily="34" charset="0"/>
                <a:ea typeface="Calibri" pitchFamily="34" charset="-122"/>
                <a:cs typeface="Calibri" pitchFamily="34" charset="-120"/>
              </a:rPr>
              <a:t>Thank you — now go finetune something.</a:t>
            </a:r>
            <a:endParaRPr lang="en-US" sz="1600" dirty="0"/>
          </a:p>
        </p:txBody>
      </p:sp>
      <p:sp>
        <p:nvSpPr>
          <p:cNvPr id="7" name="Text 4"/>
          <p:cNvSpPr/>
          <p:nvPr/>
        </p:nvSpPr>
        <p:spPr>
          <a:xfrm>
            <a:off x="11292840" y="6473952"/>
            <a:ext cx="502920" cy="274320"/>
          </a:xfrm>
          <a:prstGeom prst="rect">
            <a:avLst/>
          </a:prstGeom>
          <a:noFill/>
          <a:ln/>
        </p:spPr>
        <p:txBody>
          <a:bodyPr wrap="square" rtlCol="0" anchor="ctr"/>
          <a:lstStyle/>
          <a:p>
            <a:pPr marL="0" indent="0" algn="r">
              <a:buNone/>
            </a:pPr>
            <a:r>
              <a:rPr lang="en-US" sz="1000" dirty="0">
                <a:solidFill>
                  <a:srgbClr val="6B6B85"/>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2321</Words>
  <Application>Microsoft Macintosh PowerPoint</Application>
  <PresentationFormat>Widescreen</PresentationFormat>
  <Paragraphs>335</Paragraphs>
  <Slides>21</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Arial Black</vt:lpstr>
      <vt:lpstr>Calibri</vt:lpstr>
      <vt:lpstr>Consolas</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LLM Finetuning — Zero to Deployed</dc:title>
  <dc:subject>PptxGenJS Presentation</dc:subject>
  <dc:creator>PptxGenJS</dc:creator>
  <cp:lastModifiedBy>Tharun Gopinath</cp:lastModifiedBy>
  <cp:revision>2</cp:revision>
  <dcterms:created xsi:type="dcterms:W3CDTF">2026-07-29T14:38:40Z</dcterms:created>
  <dcterms:modified xsi:type="dcterms:W3CDTF">2026-07-29T15:47:35Z</dcterms:modified>
</cp:coreProperties>
</file>