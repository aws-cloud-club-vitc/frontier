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3" r:id="rId8"/>
    <p:sldId id="264" r:id="rId9"/>
    <p:sldId id="265" r:id="rId10"/>
    <p:sldId id="266" r:id="rId11"/>
    <p:sldId id="267" r:id="rId12"/>
    <p:sldId id="262"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3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4456072367920512E-2"/>
          <c:y val="5.4773082942097026E-2"/>
          <c:w val="0.92554392763207949"/>
          <c:h val="0.91392801251956179"/>
        </c:manualLayout>
      </c:layout>
      <c:barChart>
        <c:barDir val="bar"/>
        <c:grouping val="clustered"/>
        <c:varyColors val="0"/>
        <c:ser>
          <c:idx val="0"/>
          <c:order val="0"/>
          <c:tx>
            <c:strRef>
              <c:f>Sheet1!$B$1</c:f>
              <c:strCache>
                <c:ptCount val="1"/>
                <c:pt idx="0">
                  <c:v>Share of the week</c:v>
                </c:pt>
              </c:strCache>
            </c:strRef>
          </c:tx>
          <c:spPr>
            <a:solidFill>
              <a:srgbClr val="E11D48"/>
            </a:solidFill>
            <a:effectLst/>
          </c:spPr>
          <c:invertIfNegative val="0"/>
          <c:dPt>
            <c:idx val="0"/>
            <c:invertIfNegative val="0"/>
            <c:bubble3D val="0"/>
            <c:extLst>
              <c:ext xmlns:c16="http://schemas.microsoft.com/office/drawing/2014/chart" uri="{C3380CC4-5D6E-409C-BE32-E72D297353CC}">
                <c16:uniqueId val="{00000000-E5FD-4E19-9455-ACEEDBFB8986}"/>
              </c:ext>
            </c:extLst>
          </c:dPt>
          <c:dPt>
            <c:idx val="1"/>
            <c:invertIfNegative val="0"/>
            <c:bubble3D val="0"/>
            <c:spPr>
              <a:solidFill>
                <a:srgbClr val="D97706"/>
              </a:solidFill>
              <a:effectLst/>
            </c:spPr>
            <c:extLst>
              <c:ext xmlns:c16="http://schemas.microsoft.com/office/drawing/2014/chart" uri="{C3380CC4-5D6E-409C-BE32-E72D297353CC}">
                <c16:uniqueId val="{00000002-E5FD-4E19-9455-ACEEDBFB8986}"/>
              </c:ext>
            </c:extLst>
          </c:dPt>
          <c:dPt>
            <c:idx val="2"/>
            <c:invertIfNegative val="0"/>
            <c:bubble3D val="0"/>
            <c:spPr>
              <a:solidFill>
                <a:srgbClr val="4F46E5"/>
              </a:solidFill>
              <a:effectLst/>
            </c:spPr>
            <c:extLst>
              <c:ext xmlns:c16="http://schemas.microsoft.com/office/drawing/2014/chart" uri="{C3380CC4-5D6E-409C-BE32-E72D297353CC}">
                <c16:uniqueId val="{00000004-E5FD-4E19-9455-ACEEDBFB8986}"/>
              </c:ext>
            </c:extLst>
          </c:dPt>
          <c:dPt>
            <c:idx val="3"/>
            <c:invertIfNegative val="0"/>
            <c:bubble3D val="0"/>
            <c:spPr>
              <a:solidFill>
                <a:srgbClr val="7C3AED"/>
              </a:solidFill>
              <a:effectLst/>
            </c:spPr>
            <c:extLst>
              <c:ext xmlns:c16="http://schemas.microsoft.com/office/drawing/2014/chart" uri="{C3380CC4-5D6E-409C-BE32-E72D297353CC}">
                <c16:uniqueId val="{00000006-E5FD-4E19-9455-ACEEDBFB8986}"/>
              </c:ext>
            </c:extLst>
          </c:dPt>
          <c:dPt>
            <c:idx val="4"/>
            <c:invertIfNegative val="0"/>
            <c:bubble3D val="0"/>
            <c:spPr>
              <a:solidFill>
                <a:srgbClr val="0284C7"/>
              </a:solidFill>
              <a:effectLst/>
            </c:spPr>
            <c:extLst>
              <c:ext xmlns:c16="http://schemas.microsoft.com/office/drawing/2014/chart" uri="{C3380CC4-5D6E-409C-BE32-E72D297353CC}">
                <c16:uniqueId val="{00000008-E5FD-4E19-9455-ACEEDBFB8986}"/>
              </c:ext>
            </c:extLst>
          </c:dPt>
          <c:dPt>
            <c:idx val="5"/>
            <c:invertIfNegative val="0"/>
            <c:bubble3D val="0"/>
            <c:spPr>
              <a:solidFill>
                <a:srgbClr val="94A3B8"/>
              </a:solidFill>
              <a:effectLst/>
            </c:spPr>
            <c:extLst>
              <c:ext xmlns:c16="http://schemas.microsoft.com/office/drawing/2014/chart" uri="{C3380CC4-5D6E-409C-BE32-E72D297353CC}">
                <c16:uniqueId val="{0000000A-E5FD-4E19-9455-ACEEDBFB8986}"/>
              </c:ext>
            </c:extLst>
          </c:dPt>
          <c:dPt>
            <c:idx val="6"/>
            <c:invertIfNegative val="0"/>
            <c:bubble3D val="0"/>
            <c:spPr>
              <a:solidFill>
                <a:srgbClr val="0D9488"/>
              </a:solidFill>
              <a:effectLst/>
            </c:spPr>
            <c:extLst>
              <c:ext xmlns:c16="http://schemas.microsoft.com/office/drawing/2014/chart" uri="{C3380CC4-5D6E-409C-BE32-E72D297353CC}">
                <c16:uniqueId val="{0000000C-E5FD-4E19-9455-ACEEDBFB8986}"/>
              </c:ext>
            </c:extLst>
          </c:dPt>
          <c:dLbls>
            <c:dLbl>
              <c:idx val="0"/>
              <c:numFmt formatCode="0%" sourceLinked="0"/>
              <c:spPr>
                <a:noFill/>
                <a:ln>
                  <a:noFill/>
                </a:ln>
                <a:effectLst/>
              </c:spPr>
              <c:txPr>
                <a:bodyPr vertOverflow="overflow" horzOverflow="overflow" lIns="90000" rIns="90000">
                  <a:spAutoFit/>
                </a:bodyPr>
                <a:lstStyle/>
                <a:p>
                  <a:pPr>
                    <a:defRPr sz="1000" b="0" i="0" u="none" strike="noStrike">
                      <a:solidFill>
                        <a:srgbClr val="7030A0"/>
                      </a:solidFill>
                      <a:latin typeface="Calibri"/>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E5FD-4E19-9455-ACEEDBFB8986}"/>
                </c:ext>
              </c:extLst>
            </c:dLbl>
            <c:numFmt formatCode="0%" sourceLinked="0"/>
            <c:spPr>
              <a:noFill/>
              <a:ln>
                <a:noFill/>
              </a:ln>
              <a:effectLst/>
            </c:spPr>
            <c:txPr>
              <a:bodyPr/>
              <a:lstStyle/>
              <a:p>
                <a:pPr>
                  <a:defRPr sz="1000" b="0" i="0" u="none" strike="noStrike">
                    <a:solidFill>
                      <a:srgbClr val="7030A0"/>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Debugging</c:v>
                </c:pt>
                <c:pt idx="1">
                  <c:v>Searching for solutions</c:v>
                </c:pt>
                <c:pt idx="2">
                  <c:v>Writing code</c:v>
                </c:pt>
                <c:pt idx="3">
                  <c:v>Code reviews</c:v>
                </c:pt>
                <c:pt idx="4">
                  <c:v>Documentation</c:v>
                </c:pt>
                <c:pt idx="5">
                  <c:v>Meetings</c:v>
                </c:pt>
                <c:pt idx="6">
                  <c:v>Environment setup</c:v>
                </c:pt>
              </c:strCache>
            </c:strRef>
          </c:cat>
          <c:val>
            <c:numRef>
              <c:f>Sheet1!$B$2:$B$8</c:f>
              <c:numCache>
                <c:formatCode>General</c:formatCode>
                <c:ptCount val="7"/>
                <c:pt idx="0">
                  <c:v>3</c:v>
                </c:pt>
                <c:pt idx="1">
                  <c:v>2</c:v>
                </c:pt>
                <c:pt idx="2">
                  <c:v>1.5</c:v>
                </c:pt>
                <c:pt idx="3">
                  <c:v>1.2</c:v>
                </c:pt>
                <c:pt idx="4">
                  <c:v>1</c:v>
                </c:pt>
                <c:pt idx="5">
                  <c:v>0.8</c:v>
                </c:pt>
                <c:pt idx="6">
                  <c:v>0.5</c:v>
                </c:pt>
              </c:numCache>
            </c:numRef>
          </c:val>
          <c:extLst>
            <c:ext xmlns:c16="http://schemas.microsoft.com/office/drawing/2014/chart" uri="{C3380CC4-5D6E-409C-BE32-E72D297353CC}">
              <c16:uniqueId val="{0000000D-E5FD-4E19-9455-ACEEDBFB8986}"/>
            </c:ext>
          </c:extLst>
        </c:ser>
        <c:dLbls>
          <c:dLblPos val="outEnd"/>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7030A0"/>
                </a:solidFill>
                <a:latin typeface="Calibri"/>
              </a:defRPr>
            </a:pPr>
            <a:endParaRPr lang="en-US"/>
          </a:p>
        </c:txPr>
        <c:crossAx val="2094734552"/>
        <c:crosses val="autoZero"/>
        <c:auto val="1"/>
        <c:lblAlgn val="ctr"/>
        <c:lblOffset val="100"/>
        <c:noMultiLvlLbl val="1"/>
      </c:catAx>
      <c:valAx>
        <c:axId val="2094734552"/>
        <c:scaling>
          <c:orientation val="minMax"/>
          <c:max val="13"/>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7448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Fill in the project title, team name, one-line pitch, your track, and every member's name and registration number. Delete the four tracks you are not competing on so only your track is left. Do not change the layout, colours or logos.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of your pitch. One clear paragraph. The four prompts below the box are what a judge will look for inside your answer — you do not need to answer them separately.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of your pitch. Be concrete. Avoid phrases like "AI-powered platform" — say what it does and for whom.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of your pitch. The diagram carries this slide — draw it even if it is rough. Name real services and models, not categories.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of your pitch. Judges reward honesty. Name the limitation before they find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of your pitch. Replace 00% with your headline figure and say how you measured it. An estimate is fine if you show the working.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of your pitch. Uncredited work is disqualifying. List everything you leaned on and be clear about what you wrote yourselves.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docs.aws.amazon.com/amazonq/latest/qdeveloper-ug/what-is.html" TargetMode="External"/><Relationship Id="rId7" Type="http://schemas.openxmlformats.org/officeDocument/2006/relationships/hyperlink" Target="https://docs.aws.amazon.com/codebuild/latest/userguide/welcome.html"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docs.aws.amazon.com/lambda/latest/dg/welcome.html" TargetMode="External"/><Relationship Id="rId5" Type="http://schemas.openxmlformats.org/officeDocument/2006/relationships/hyperlink" Target="https://docs.aws.amazon.com/codepipeline/latest/userguide/welcome.html" TargetMode="External"/><Relationship Id="rId4" Type="http://schemas.openxmlformats.org/officeDocument/2006/relationships/hyperlink" Target="https://docs.aws.amazon.com/bedrock/"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1B"/>
        </a:solidFill>
        <a:effectLst/>
      </p:bgPr>
    </p:bg>
    <p:spTree>
      <p:nvGrpSpPr>
        <p:cNvPr id="1" name=""/>
        <p:cNvGrpSpPr/>
        <p:nvPr/>
      </p:nvGrpSpPr>
      <p:grpSpPr>
        <a:xfrm>
          <a:off x="0" y="0"/>
          <a:ext cx="0" cy="0"/>
          <a:chOff x="0" y="0"/>
          <a:chExt cx="0" cy="0"/>
        </a:xfrm>
      </p:grpSpPr>
      <p:sp>
        <p:nvSpPr>
          <p:cNvPr id="2" name="Shape 0"/>
          <p:cNvSpPr/>
          <p:nvPr/>
        </p:nvSpPr>
        <p:spPr>
          <a:xfrm>
            <a:off x="468173" y="7591"/>
            <a:ext cx="0" cy="6858000"/>
          </a:xfrm>
          <a:prstGeom prst="line">
            <a:avLst/>
          </a:prstGeom>
          <a:noFill/>
          <a:ln w="6350">
            <a:solidFill>
              <a:srgbClr val="1A2331"/>
            </a:solidFill>
            <a:prstDash val="solid"/>
          </a:ln>
        </p:spPr>
        <p:txBody>
          <a:bodyPr/>
          <a:lstStyle/>
          <a:p>
            <a:endParaRPr lang="en-IN"/>
          </a:p>
        </p:txBody>
      </p:sp>
      <p:sp>
        <p:nvSpPr>
          <p:cNvPr id="3" name="Shape 1"/>
          <p:cNvSpPr/>
          <p:nvPr/>
        </p:nvSpPr>
        <p:spPr>
          <a:xfrm>
            <a:off x="971093" y="7591"/>
            <a:ext cx="0" cy="6858000"/>
          </a:xfrm>
          <a:prstGeom prst="line">
            <a:avLst/>
          </a:prstGeom>
          <a:noFill/>
          <a:ln w="6350">
            <a:solidFill>
              <a:srgbClr val="1A2331"/>
            </a:solidFill>
            <a:prstDash val="solid"/>
          </a:ln>
        </p:spPr>
        <p:txBody>
          <a:bodyPr/>
          <a:lstStyle/>
          <a:p>
            <a:endParaRPr lang="en-IN"/>
          </a:p>
        </p:txBody>
      </p:sp>
      <p:sp>
        <p:nvSpPr>
          <p:cNvPr id="4" name="Shape 2"/>
          <p:cNvSpPr/>
          <p:nvPr/>
        </p:nvSpPr>
        <p:spPr>
          <a:xfrm>
            <a:off x="1474013" y="7591"/>
            <a:ext cx="0" cy="6858000"/>
          </a:xfrm>
          <a:prstGeom prst="line">
            <a:avLst/>
          </a:prstGeom>
          <a:noFill/>
          <a:ln w="6350">
            <a:solidFill>
              <a:srgbClr val="1A2331"/>
            </a:solidFill>
            <a:prstDash val="solid"/>
          </a:ln>
        </p:spPr>
        <p:txBody>
          <a:bodyPr/>
          <a:lstStyle/>
          <a:p>
            <a:endParaRPr lang="en-IN"/>
          </a:p>
        </p:txBody>
      </p:sp>
      <p:sp>
        <p:nvSpPr>
          <p:cNvPr id="5" name="Shape 3"/>
          <p:cNvSpPr/>
          <p:nvPr/>
        </p:nvSpPr>
        <p:spPr>
          <a:xfrm>
            <a:off x="1976933" y="7591"/>
            <a:ext cx="0" cy="6858000"/>
          </a:xfrm>
          <a:prstGeom prst="line">
            <a:avLst/>
          </a:prstGeom>
          <a:noFill/>
          <a:ln w="6350">
            <a:solidFill>
              <a:srgbClr val="1A2331"/>
            </a:solidFill>
            <a:prstDash val="solid"/>
          </a:ln>
        </p:spPr>
        <p:txBody>
          <a:bodyPr/>
          <a:lstStyle/>
          <a:p>
            <a:endParaRPr lang="en-IN"/>
          </a:p>
        </p:txBody>
      </p:sp>
      <p:sp>
        <p:nvSpPr>
          <p:cNvPr id="6" name="Shape 4"/>
          <p:cNvSpPr/>
          <p:nvPr/>
        </p:nvSpPr>
        <p:spPr>
          <a:xfrm>
            <a:off x="2479853" y="7591"/>
            <a:ext cx="0" cy="6858000"/>
          </a:xfrm>
          <a:prstGeom prst="line">
            <a:avLst/>
          </a:prstGeom>
          <a:noFill/>
          <a:ln w="6350">
            <a:solidFill>
              <a:srgbClr val="1A2331"/>
            </a:solidFill>
            <a:prstDash val="solid"/>
          </a:ln>
        </p:spPr>
        <p:txBody>
          <a:bodyPr/>
          <a:lstStyle/>
          <a:p>
            <a:endParaRPr lang="en-IN"/>
          </a:p>
        </p:txBody>
      </p:sp>
      <p:sp>
        <p:nvSpPr>
          <p:cNvPr id="7" name="Shape 5"/>
          <p:cNvSpPr/>
          <p:nvPr/>
        </p:nvSpPr>
        <p:spPr>
          <a:xfrm>
            <a:off x="2982773" y="7591"/>
            <a:ext cx="0" cy="6858000"/>
          </a:xfrm>
          <a:prstGeom prst="line">
            <a:avLst/>
          </a:prstGeom>
          <a:noFill/>
          <a:ln w="6350">
            <a:solidFill>
              <a:srgbClr val="1A2331"/>
            </a:solidFill>
            <a:prstDash val="solid"/>
          </a:ln>
        </p:spPr>
        <p:txBody>
          <a:bodyPr/>
          <a:lstStyle/>
          <a:p>
            <a:endParaRPr lang="en-IN"/>
          </a:p>
        </p:txBody>
      </p:sp>
      <p:sp>
        <p:nvSpPr>
          <p:cNvPr id="8" name="Shape 6"/>
          <p:cNvSpPr/>
          <p:nvPr/>
        </p:nvSpPr>
        <p:spPr>
          <a:xfrm>
            <a:off x="3485693" y="7591"/>
            <a:ext cx="0" cy="6858000"/>
          </a:xfrm>
          <a:prstGeom prst="line">
            <a:avLst/>
          </a:prstGeom>
          <a:noFill/>
          <a:ln w="6350">
            <a:solidFill>
              <a:srgbClr val="1A2331"/>
            </a:solidFill>
            <a:prstDash val="solid"/>
          </a:ln>
        </p:spPr>
        <p:txBody>
          <a:bodyPr/>
          <a:lstStyle/>
          <a:p>
            <a:endParaRPr lang="en-IN"/>
          </a:p>
        </p:txBody>
      </p:sp>
      <p:sp>
        <p:nvSpPr>
          <p:cNvPr id="9" name="Shape 7"/>
          <p:cNvSpPr/>
          <p:nvPr/>
        </p:nvSpPr>
        <p:spPr>
          <a:xfrm>
            <a:off x="3988613" y="7591"/>
            <a:ext cx="0" cy="6858000"/>
          </a:xfrm>
          <a:prstGeom prst="line">
            <a:avLst/>
          </a:prstGeom>
          <a:noFill/>
          <a:ln w="6350">
            <a:solidFill>
              <a:srgbClr val="1A2331"/>
            </a:solidFill>
            <a:prstDash val="solid"/>
          </a:ln>
        </p:spPr>
        <p:txBody>
          <a:bodyPr/>
          <a:lstStyle/>
          <a:p>
            <a:endParaRPr lang="en-IN"/>
          </a:p>
        </p:txBody>
      </p:sp>
      <p:sp>
        <p:nvSpPr>
          <p:cNvPr id="10" name="Shape 8"/>
          <p:cNvSpPr/>
          <p:nvPr/>
        </p:nvSpPr>
        <p:spPr>
          <a:xfrm>
            <a:off x="4491533" y="7591"/>
            <a:ext cx="0" cy="6858000"/>
          </a:xfrm>
          <a:prstGeom prst="line">
            <a:avLst/>
          </a:prstGeom>
          <a:noFill/>
          <a:ln w="6350">
            <a:solidFill>
              <a:srgbClr val="1A2331"/>
            </a:solidFill>
            <a:prstDash val="solid"/>
          </a:ln>
        </p:spPr>
        <p:txBody>
          <a:bodyPr/>
          <a:lstStyle/>
          <a:p>
            <a:endParaRPr lang="en-IN"/>
          </a:p>
        </p:txBody>
      </p:sp>
      <p:sp>
        <p:nvSpPr>
          <p:cNvPr id="11" name="Shape 9"/>
          <p:cNvSpPr/>
          <p:nvPr/>
        </p:nvSpPr>
        <p:spPr>
          <a:xfrm>
            <a:off x="4994453" y="7591"/>
            <a:ext cx="0" cy="6858000"/>
          </a:xfrm>
          <a:prstGeom prst="line">
            <a:avLst/>
          </a:prstGeom>
          <a:noFill/>
          <a:ln w="6350">
            <a:solidFill>
              <a:srgbClr val="1A2331"/>
            </a:solidFill>
            <a:prstDash val="solid"/>
          </a:ln>
        </p:spPr>
        <p:txBody>
          <a:bodyPr/>
          <a:lstStyle/>
          <a:p>
            <a:endParaRPr lang="en-IN"/>
          </a:p>
        </p:txBody>
      </p:sp>
      <p:sp>
        <p:nvSpPr>
          <p:cNvPr id="12" name="Shape 10"/>
          <p:cNvSpPr/>
          <p:nvPr/>
        </p:nvSpPr>
        <p:spPr>
          <a:xfrm>
            <a:off x="5497373" y="7591"/>
            <a:ext cx="0" cy="6858000"/>
          </a:xfrm>
          <a:prstGeom prst="line">
            <a:avLst/>
          </a:prstGeom>
          <a:noFill/>
          <a:ln w="6350">
            <a:solidFill>
              <a:srgbClr val="1A2331"/>
            </a:solidFill>
            <a:prstDash val="solid"/>
          </a:ln>
        </p:spPr>
        <p:txBody>
          <a:bodyPr/>
          <a:lstStyle/>
          <a:p>
            <a:endParaRPr lang="en-IN"/>
          </a:p>
        </p:txBody>
      </p:sp>
      <p:sp>
        <p:nvSpPr>
          <p:cNvPr id="13" name="Shape 11"/>
          <p:cNvSpPr/>
          <p:nvPr/>
        </p:nvSpPr>
        <p:spPr>
          <a:xfrm>
            <a:off x="6000293" y="7591"/>
            <a:ext cx="0" cy="6858000"/>
          </a:xfrm>
          <a:prstGeom prst="line">
            <a:avLst/>
          </a:prstGeom>
          <a:noFill/>
          <a:ln w="6350">
            <a:solidFill>
              <a:srgbClr val="1A2331"/>
            </a:solidFill>
            <a:prstDash val="solid"/>
          </a:ln>
        </p:spPr>
        <p:txBody>
          <a:bodyPr/>
          <a:lstStyle/>
          <a:p>
            <a:endParaRPr lang="en-IN"/>
          </a:p>
        </p:txBody>
      </p:sp>
      <p:sp>
        <p:nvSpPr>
          <p:cNvPr id="14" name="Shape 12"/>
          <p:cNvSpPr/>
          <p:nvPr/>
        </p:nvSpPr>
        <p:spPr>
          <a:xfrm>
            <a:off x="6503213" y="7591"/>
            <a:ext cx="0" cy="6858000"/>
          </a:xfrm>
          <a:prstGeom prst="line">
            <a:avLst/>
          </a:prstGeom>
          <a:noFill/>
          <a:ln w="6350">
            <a:solidFill>
              <a:srgbClr val="1A2331"/>
            </a:solidFill>
            <a:prstDash val="solid"/>
          </a:ln>
        </p:spPr>
        <p:txBody>
          <a:bodyPr/>
          <a:lstStyle/>
          <a:p>
            <a:endParaRPr lang="en-IN"/>
          </a:p>
        </p:txBody>
      </p:sp>
      <p:sp>
        <p:nvSpPr>
          <p:cNvPr id="15" name="Shape 13"/>
          <p:cNvSpPr/>
          <p:nvPr/>
        </p:nvSpPr>
        <p:spPr>
          <a:xfrm>
            <a:off x="7006133" y="7591"/>
            <a:ext cx="0" cy="6858000"/>
          </a:xfrm>
          <a:prstGeom prst="line">
            <a:avLst/>
          </a:prstGeom>
          <a:noFill/>
          <a:ln w="6350">
            <a:solidFill>
              <a:srgbClr val="1A2331"/>
            </a:solidFill>
            <a:prstDash val="solid"/>
          </a:ln>
        </p:spPr>
        <p:txBody>
          <a:bodyPr/>
          <a:lstStyle/>
          <a:p>
            <a:endParaRPr lang="en-IN"/>
          </a:p>
        </p:txBody>
      </p:sp>
      <p:sp>
        <p:nvSpPr>
          <p:cNvPr id="16" name="Shape 14"/>
          <p:cNvSpPr/>
          <p:nvPr/>
        </p:nvSpPr>
        <p:spPr>
          <a:xfrm>
            <a:off x="7509053" y="7591"/>
            <a:ext cx="0" cy="6858000"/>
          </a:xfrm>
          <a:prstGeom prst="line">
            <a:avLst/>
          </a:prstGeom>
          <a:noFill/>
          <a:ln w="6350">
            <a:solidFill>
              <a:srgbClr val="1A2331"/>
            </a:solidFill>
            <a:prstDash val="solid"/>
          </a:ln>
        </p:spPr>
        <p:txBody>
          <a:bodyPr/>
          <a:lstStyle/>
          <a:p>
            <a:endParaRPr lang="en-IN"/>
          </a:p>
        </p:txBody>
      </p:sp>
      <p:sp>
        <p:nvSpPr>
          <p:cNvPr id="17" name="Shape 15"/>
          <p:cNvSpPr/>
          <p:nvPr/>
        </p:nvSpPr>
        <p:spPr>
          <a:xfrm>
            <a:off x="8011973" y="7591"/>
            <a:ext cx="0" cy="6858000"/>
          </a:xfrm>
          <a:prstGeom prst="line">
            <a:avLst/>
          </a:prstGeom>
          <a:noFill/>
          <a:ln w="6350">
            <a:solidFill>
              <a:srgbClr val="1A2331"/>
            </a:solidFill>
            <a:prstDash val="solid"/>
          </a:ln>
        </p:spPr>
        <p:txBody>
          <a:bodyPr/>
          <a:lstStyle/>
          <a:p>
            <a:endParaRPr lang="en-IN"/>
          </a:p>
        </p:txBody>
      </p:sp>
      <p:sp>
        <p:nvSpPr>
          <p:cNvPr id="18" name="Shape 16"/>
          <p:cNvSpPr/>
          <p:nvPr/>
        </p:nvSpPr>
        <p:spPr>
          <a:xfrm>
            <a:off x="8247233" y="521483"/>
            <a:ext cx="0" cy="6858000"/>
          </a:xfrm>
          <a:prstGeom prst="line">
            <a:avLst/>
          </a:prstGeom>
          <a:noFill/>
          <a:ln w="6350">
            <a:solidFill>
              <a:srgbClr val="1A2331"/>
            </a:solidFill>
            <a:prstDash val="solid"/>
          </a:ln>
        </p:spPr>
        <p:txBody>
          <a:bodyPr/>
          <a:lstStyle/>
          <a:p>
            <a:endParaRPr lang="en-IN"/>
          </a:p>
        </p:txBody>
      </p:sp>
      <p:sp>
        <p:nvSpPr>
          <p:cNvPr id="19" name="Shape 17"/>
          <p:cNvSpPr/>
          <p:nvPr/>
        </p:nvSpPr>
        <p:spPr>
          <a:xfrm>
            <a:off x="9017813" y="7591"/>
            <a:ext cx="0" cy="6858000"/>
          </a:xfrm>
          <a:prstGeom prst="line">
            <a:avLst/>
          </a:prstGeom>
          <a:noFill/>
          <a:ln w="6350">
            <a:solidFill>
              <a:srgbClr val="1A2331"/>
            </a:solidFill>
            <a:prstDash val="solid"/>
          </a:ln>
        </p:spPr>
        <p:txBody>
          <a:bodyPr/>
          <a:lstStyle/>
          <a:p>
            <a:endParaRPr lang="en-IN"/>
          </a:p>
        </p:txBody>
      </p:sp>
      <p:sp>
        <p:nvSpPr>
          <p:cNvPr id="20" name="Shape 18"/>
          <p:cNvSpPr/>
          <p:nvPr/>
        </p:nvSpPr>
        <p:spPr>
          <a:xfrm>
            <a:off x="9520733" y="7591"/>
            <a:ext cx="0" cy="6858000"/>
          </a:xfrm>
          <a:prstGeom prst="line">
            <a:avLst/>
          </a:prstGeom>
          <a:noFill/>
          <a:ln w="6350">
            <a:solidFill>
              <a:srgbClr val="1A2331"/>
            </a:solidFill>
            <a:prstDash val="solid"/>
          </a:ln>
        </p:spPr>
        <p:txBody>
          <a:bodyPr/>
          <a:lstStyle/>
          <a:p>
            <a:endParaRPr lang="en-IN"/>
          </a:p>
        </p:txBody>
      </p:sp>
      <p:sp>
        <p:nvSpPr>
          <p:cNvPr id="21" name="Shape 19"/>
          <p:cNvSpPr/>
          <p:nvPr/>
        </p:nvSpPr>
        <p:spPr>
          <a:xfrm>
            <a:off x="10023653" y="7591"/>
            <a:ext cx="0" cy="6858000"/>
          </a:xfrm>
          <a:prstGeom prst="line">
            <a:avLst/>
          </a:prstGeom>
          <a:noFill/>
          <a:ln w="6350">
            <a:solidFill>
              <a:srgbClr val="1A2331"/>
            </a:solidFill>
            <a:prstDash val="solid"/>
          </a:ln>
        </p:spPr>
        <p:txBody>
          <a:bodyPr/>
          <a:lstStyle/>
          <a:p>
            <a:endParaRPr lang="en-IN"/>
          </a:p>
        </p:txBody>
      </p:sp>
      <p:sp>
        <p:nvSpPr>
          <p:cNvPr id="22" name="Shape 20"/>
          <p:cNvSpPr/>
          <p:nvPr/>
        </p:nvSpPr>
        <p:spPr>
          <a:xfrm>
            <a:off x="10526573" y="7591"/>
            <a:ext cx="0" cy="6858000"/>
          </a:xfrm>
          <a:prstGeom prst="line">
            <a:avLst/>
          </a:prstGeom>
          <a:noFill/>
          <a:ln w="6350">
            <a:solidFill>
              <a:srgbClr val="1A2331"/>
            </a:solidFill>
            <a:prstDash val="solid"/>
          </a:ln>
        </p:spPr>
        <p:txBody>
          <a:bodyPr/>
          <a:lstStyle/>
          <a:p>
            <a:endParaRPr lang="en-IN"/>
          </a:p>
        </p:txBody>
      </p:sp>
      <p:sp>
        <p:nvSpPr>
          <p:cNvPr id="23" name="Shape 21"/>
          <p:cNvSpPr/>
          <p:nvPr/>
        </p:nvSpPr>
        <p:spPr>
          <a:xfrm>
            <a:off x="11029493" y="7591"/>
            <a:ext cx="0" cy="6858000"/>
          </a:xfrm>
          <a:prstGeom prst="line">
            <a:avLst/>
          </a:prstGeom>
          <a:noFill/>
          <a:ln w="6350">
            <a:solidFill>
              <a:srgbClr val="1A2331"/>
            </a:solidFill>
            <a:prstDash val="solid"/>
          </a:ln>
        </p:spPr>
        <p:txBody>
          <a:bodyPr/>
          <a:lstStyle/>
          <a:p>
            <a:endParaRPr lang="en-IN"/>
          </a:p>
        </p:txBody>
      </p:sp>
      <p:sp>
        <p:nvSpPr>
          <p:cNvPr id="24" name="Shape 22"/>
          <p:cNvSpPr/>
          <p:nvPr/>
        </p:nvSpPr>
        <p:spPr>
          <a:xfrm>
            <a:off x="11532413" y="7591"/>
            <a:ext cx="0" cy="6858000"/>
          </a:xfrm>
          <a:prstGeom prst="line">
            <a:avLst/>
          </a:prstGeom>
          <a:noFill/>
          <a:ln w="6350">
            <a:solidFill>
              <a:srgbClr val="1A2331"/>
            </a:solidFill>
            <a:prstDash val="solid"/>
          </a:ln>
        </p:spPr>
        <p:txBody>
          <a:bodyPr/>
          <a:lstStyle/>
          <a:p>
            <a:endParaRPr lang="en-IN"/>
          </a:p>
        </p:txBody>
      </p:sp>
      <p:sp>
        <p:nvSpPr>
          <p:cNvPr id="25" name="Shape 23"/>
          <p:cNvSpPr/>
          <p:nvPr/>
        </p:nvSpPr>
        <p:spPr>
          <a:xfrm>
            <a:off x="12035333" y="7591"/>
            <a:ext cx="0" cy="6858000"/>
          </a:xfrm>
          <a:prstGeom prst="line">
            <a:avLst/>
          </a:prstGeom>
          <a:noFill/>
          <a:ln w="6350">
            <a:solidFill>
              <a:srgbClr val="1A2331"/>
            </a:solidFill>
            <a:prstDash val="solid"/>
          </a:ln>
        </p:spPr>
        <p:txBody>
          <a:bodyPr/>
          <a:lstStyle/>
          <a:p>
            <a:endParaRPr lang="en-IN"/>
          </a:p>
        </p:txBody>
      </p:sp>
      <p:sp>
        <p:nvSpPr>
          <p:cNvPr id="26" name="Shape 24"/>
          <p:cNvSpPr/>
          <p:nvPr/>
        </p:nvSpPr>
        <p:spPr>
          <a:xfrm>
            <a:off x="-34747" y="510511"/>
            <a:ext cx="12191695" cy="0"/>
          </a:xfrm>
          <a:prstGeom prst="line">
            <a:avLst/>
          </a:prstGeom>
          <a:noFill/>
          <a:ln w="6350">
            <a:solidFill>
              <a:srgbClr val="1A2331"/>
            </a:solidFill>
            <a:prstDash val="solid"/>
          </a:ln>
        </p:spPr>
        <p:txBody>
          <a:bodyPr/>
          <a:lstStyle/>
          <a:p>
            <a:endParaRPr lang="en-IN"/>
          </a:p>
        </p:txBody>
      </p:sp>
      <p:sp>
        <p:nvSpPr>
          <p:cNvPr id="27" name="Shape 25"/>
          <p:cNvSpPr/>
          <p:nvPr/>
        </p:nvSpPr>
        <p:spPr>
          <a:xfrm>
            <a:off x="-34747" y="1013431"/>
            <a:ext cx="12191695" cy="0"/>
          </a:xfrm>
          <a:prstGeom prst="line">
            <a:avLst/>
          </a:prstGeom>
          <a:noFill/>
          <a:ln w="6350">
            <a:solidFill>
              <a:srgbClr val="1A2331"/>
            </a:solidFill>
            <a:prstDash val="solid"/>
          </a:ln>
        </p:spPr>
        <p:txBody>
          <a:bodyPr/>
          <a:lstStyle/>
          <a:p>
            <a:endParaRPr lang="en-IN"/>
          </a:p>
        </p:txBody>
      </p:sp>
      <p:sp>
        <p:nvSpPr>
          <p:cNvPr id="28" name="Shape 26"/>
          <p:cNvSpPr/>
          <p:nvPr/>
        </p:nvSpPr>
        <p:spPr>
          <a:xfrm>
            <a:off x="-34747" y="1516351"/>
            <a:ext cx="12191695" cy="0"/>
          </a:xfrm>
          <a:prstGeom prst="line">
            <a:avLst/>
          </a:prstGeom>
          <a:noFill/>
          <a:ln w="6350">
            <a:solidFill>
              <a:srgbClr val="1A2331"/>
            </a:solidFill>
            <a:prstDash val="solid"/>
          </a:ln>
        </p:spPr>
        <p:txBody>
          <a:bodyPr/>
          <a:lstStyle/>
          <a:p>
            <a:endParaRPr lang="en-IN"/>
          </a:p>
        </p:txBody>
      </p:sp>
      <p:sp>
        <p:nvSpPr>
          <p:cNvPr id="29" name="Shape 27"/>
          <p:cNvSpPr/>
          <p:nvPr/>
        </p:nvSpPr>
        <p:spPr>
          <a:xfrm>
            <a:off x="-34747" y="2019271"/>
            <a:ext cx="12191695" cy="0"/>
          </a:xfrm>
          <a:prstGeom prst="line">
            <a:avLst/>
          </a:prstGeom>
          <a:noFill/>
          <a:ln w="6350">
            <a:solidFill>
              <a:srgbClr val="1A2331"/>
            </a:solidFill>
            <a:prstDash val="solid"/>
          </a:ln>
        </p:spPr>
        <p:txBody>
          <a:bodyPr/>
          <a:lstStyle/>
          <a:p>
            <a:endParaRPr lang="en-IN"/>
          </a:p>
        </p:txBody>
      </p:sp>
      <p:sp>
        <p:nvSpPr>
          <p:cNvPr id="30" name="Shape 28"/>
          <p:cNvSpPr/>
          <p:nvPr/>
        </p:nvSpPr>
        <p:spPr>
          <a:xfrm>
            <a:off x="-34747" y="2522191"/>
            <a:ext cx="12191695" cy="0"/>
          </a:xfrm>
          <a:prstGeom prst="line">
            <a:avLst/>
          </a:prstGeom>
          <a:noFill/>
          <a:ln w="6350">
            <a:solidFill>
              <a:srgbClr val="1A2331"/>
            </a:solidFill>
            <a:prstDash val="solid"/>
          </a:ln>
        </p:spPr>
        <p:txBody>
          <a:bodyPr/>
          <a:lstStyle/>
          <a:p>
            <a:endParaRPr lang="en-IN"/>
          </a:p>
        </p:txBody>
      </p:sp>
      <p:sp>
        <p:nvSpPr>
          <p:cNvPr id="31" name="Shape 29"/>
          <p:cNvSpPr/>
          <p:nvPr/>
        </p:nvSpPr>
        <p:spPr>
          <a:xfrm>
            <a:off x="-34747" y="3025111"/>
            <a:ext cx="12191695" cy="0"/>
          </a:xfrm>
          <a:prstGeom prst="line">
            <a:avLst/>
          </a:prstGeom>
          <a:noFill/>
          <a:ln w="6350">
            <a:solidFill>
              <a:srgbClr val="1A2331"/>
            </a:solidFill>
            <a:prstDash val="solid"/>
          </a:ln>
        </p:spPr>
        <p:txBody>
          <a:bodyPr/>
          <a:lstStyle/>
          <a:p>
            <a:endParaRPr lang="en-IN"/>
          </a:p>
        </p:txBody>
      </p:sp>
      <p:sp>
        <p:nvSpPr>
          <p:cNvPr id="32" name="Shape 30"/>
          <p:cNvSpPr/>
          <p:nvPr/>
        </p:nvSpPr>
        <p:spPr>
          <a:xfrm>
            <a:off x="-34747" y="3528031"/>
            <a:ext cx="12191695" cy="0"/>
          </a:xfrm>
          <a:prstGeom prst="line">
            <a:avLst/>
          </a:prstGeom>
          <a:noFill/>
          <a:ln w="6350">
            <a:solidFill>
              <a:srgbClr val="1A2331"/>
            </a:solidFill>
            <a:prstDash val="solid"/>
          </a:ln>
        </p:spPr>
        <p:txBody>
          <a:bodyPr/>
          <a:lstStyle/>
          <a:p>
            <a:endParaRPr lang="en-IN"/>
          </a:p>
        </p:txBody>
      </p:sp>
      <p:sp>
        <p:nvSpPr>
          <p:cNvPr id="33" name="Shape 31"/>
          <p:cNvSpPr/>
          <p:nvPr/>
        </p:nvSpPr>
        <p:spPr>
          <a:xfrm>
            <a:off x="-34747" y="4030951"/>
            <a:ext cx="12191695" cy="0"/>
          </a:xfrm>
          <a:prstGeom prst="line">
            <a:avLst/>
          </a:prstGeom>
          <a:noFill/>
          <a:ln w="6350">
            <a:solidFill>
              <a:srgbClr val="1A2331"/>
            </a:solidFill>
            <a:prstDash val="solid"/>
          </a:ln>
        </p:spPr>
        <p:txBody>
          <a:bodyPr/>
          <a:lstStyle/>
          <a:p>
            <a:endParaRPr lang="en-IN"/>
          </a:p>
        </p:txBody>
      </p:sp>
      <p:sp>
        <p:nvSpPr>
          <p:cNvPr id="34" name="Shape 32"/>
          <p:cNvSpPr/>
          <p:nvPr/>
        </p:nvSpPr>
        <p:spPr>
          <a:xfrm>
            <a:off x="-34747" y="4533871"/>
            <a:ext cx="12191695" cy="0"/>
          </a:xfrm>
          <a:prstGeom prst="line">
            <a:avLst/>
          </a:prstGeom>
          <a:noFill/>
          <a:ln w="6350">
            <a:solidFill>
              <a:srgbClr val="1A2331"/>
            </a:solidFill>
            <a:prstDash val="solid"/>
          </a:ln>
        </p:spPr>
        <p:txBody>
          <a:bodyPr/>
          <a:lstStyle/>
          <a:p>
            <a:endParaRPr lang="en-IN"/>
          </a:p>
        </p:txBody>
      </p:sp>
      <p:sp>
        <p:nvSpPr>
          <p:cNvPr id="35" name="Shape 33"/>
          <p:cNvSpPr/>
          <p:nvPr/>
        </p:nvSpPr>
        <p:spPr>
          <a:xfrm>
            <a:off x="-34747" y="5036791"/>
            <a:ext cx="12191695" cy="0"/>
          </a:xfrm>
          <a:prstGeom prst="line">
            <a:avLst/>
          </a:prstGeom>
          <a:noFill/>
          <a:ln w="6350">
            <a:solidFill>
              <a:srgbClr val="1A2331"/>
            </a:solidFill>
            <a:prstDash val="solid"/>
          </a:ln>
        </p:spPr>
        <p:txBody>
          <a:bodyPr/>
          <a:lstStyle/>
          <a:p>
            <a:endParaRPr lang="en-IN"/>
          </a:p>
        </p:txBody>
      </p:sp>
      <p:sp>
        <p:nvSpPr>
          <p:cNvPr id="36" name="Shape 34"/>
          <p:cNvSpPr/>
          <p:nvPr/>
        </p:nvSpPr>
        <p:spPr>
          <a:xfrm>
            <a:off x="-34747" y="5539711"/>
            <a:ext cx="12191695" cy="0"/>
          </a:xfrm>
          <a:prstGeom prst="line">
            <a:avLst/>
          </a:prstGeom>
          <a:noFill/>
          <a:ln w="6350">
            <a:solidFill>
              <a:srgbClr val="1A2331"/>
            </a:solidFill>
            <a:prstDash val="solid"/>
          </a:ln>
        </p:spPr>
        <p:txBody>
          <a:bodyPr/>
          <a:lstStyle/>
          <a:p>
            <a:endParaRPr lang="en-IN"/>
          </a:p>
        </p:txBody>
      </p:sp>
      <p:sp>
        <p:nvSpPr>
          <p:cNvPr id="37" name="Shape 35"/>
          <p:cNvSpPr/>
          <p:nvPr/>
        </p:nvSpPr>
        <p:spPr>
          <a:xfrm>
            <a:off x="-34747" y="6042631"/>
            <a:ext cx="12191695" cy="0"/>
          </a:xfrm>
          <a:prstGeom prst="line">
            <a:avLst/>
          </a:prstGeom>
          <a:noFill/>
          <a:ln w="6350">
            <a:solidFill>
              <a:srgbClr val="1A2331"/>
            </a:solidFill>
            <a:prstDash val="solid"/>
          </a:ln>
        </p:spPr>
        <p:txBody>
          <a:bodyPr/>
          <a:lstStyle/>
          <a:p>
            <a:endParaRPr lang="en-IN"/>
          </a:p>
        </p:txBody>
      </p:sp>
      <p:sp>
        <p:nvSpPr>
          <p:cNvPr id="38" name="Shape 36"/>
          <p:cNvSpPr/>
          <p:nvPr/>
        </p:nvSpPr>
        <p:spPr>
          <a:xfrm>
            <a:off x="-34747" y="6545551"/>
            <a:ext cx="12191695" cy="0"/>
          </a:xfrm>
          <a:prstGeom prst="line">
            <a:avLst/>
          </a:prstGeom>
          <a:noFill/>
          <a:ln w="6350">
            <a:solidFill>
              <a:srgbClr val="1A2331"/>
            </a:solidFill>
            <a:prstDash val="solid"/>
          </a:ln>
        </p:spPr>
        <p:txBody>
          <a:bodyPr/>
          <a:lstStyle/>
          <a:p>
            <a:endParaRPr lang="en-IN"/>
          </a:p>
        </p:txBody>
      </p:sp>
      <p:sp>
        <p:nvSpPr>
          <p:cNvPr id="39" name="Shape 37"/>
          <p:cNvSpPr/>
          <p:nvPr/>
        </p:nvSpPr>
        <p:spPr>
          <a:xfrm>
            <a:off x="532181" y="428215"/>
            <a:ext cx="274320" cy="274320"/>
          </a:xfrm>
          <a:prstGeom prst="rect">
            <a:avLst/>
          </a:prstGeom>
          <a:solidFill>
            <a:srgbClr val="7C4DE8"/>
          </a:solidFill>
          <a:ln/>
        </p:spPr>
        <p:txBody>
          <a:bodyPr/>
          <a:lstStyle/>
          <a:p>
            <a:endParaRPr lang="en-IN"/>
          </a:p>
        </p:txBody>
      </p:sp>
      <p:sp>
        <p:nvSpPr>
          <p:cNvPr id="40" name="Shape 38"/>
          <p:cNvSpPr/>
          <p:nvPr/>
        </p:nvSpPr>
        <p:spPr>
          <a:xfrm>
            <a:off x="606247" y="502281"/>
            <a:ext cx="126187" cy="126187"/>
          </a:xfrm>
          <a:prstGeom prst="rect">
            <a:avLst/>
          </a:prstGeom>
          <a:solidFill>
            <a:srgbClr val="0E141B"/>
          </a:solidFill>
          <a:ln/>
        </p:spPr>
        <p:txBody>
          <a:bodyPr/>
          <a:lstStyle/>
          <a:p>
            <a:endParaRPr lang="en-IN"/>
          </a:p>
        </p:txBody>
      </p:sp>
      <p:sp>
        <p:nvSpPr>
          <p:cNvPr id="41" name="Shape 39"/>
          <p:cNvSpPr/>
          <p:nvPr/>
        </p:nvSpPr>
        <p:spPr>
          <a:xfrm>
            <a:off x="578815" y="373351"/>
            <a:ext cx="46634" cy="54864"/>
          </a:xfrm>
          <a:prstGeom prst="rect">
            <a:avLst/>
          </a:prstGeom>
          <a:solidFill>
            <a:srgbClr val="7C4DE8"/>
          </a:solidFill>
          <a:ln/>
        </p:spPr>
        <p:txBody>
          <a:bodyPr/>
          <a:lstStyle/>
          <a:p>
            <a:endParaRPr lang="en-IN"/>
          </a:p>
        </p:txBody>
      </p:sp>
      <p:sp>
        <p:nvSpPr>
          <p:cNvPr id="42" name="Shape 40"/>
          <p:cNvSpPr/>
          <p:nvPr/>
        </p:nvSpPr>
        <p:spPr>
          <a:xfrm>
            <a:off x="578815" y="702535"/>
            <a:ext cx="46634" cy="54864"/>
          </a:xfrm>
          <a:prstGeom prst="rect">
            <a:avLst/>
          </a:prstGeom>
          <a:solidFill>
            <a:srgbClr val="7C4DE8"/>
          </a:solidFill>
          <a:ln/>
        </p:spPr>
        <p:txBody>
          <a:bodyPr/>
          <a:lstStyle/>
          <a:p>
            <a:endParaRPr lang="en-IN"/>
          </a:p>
        </p:txBody>
      </p:sp>
      <p:sp>
        <p:nvSpPr>
          <p:cNvPr id="43" name="Shape 41"/>
          <p:cNvSpPr/>
          <p:nvPr/>
        </p:nvSpPr>
        <p:spPr>
          <a:xfrm>
            <a:off x="477317" y="474849"/>
            <a:ext cx="54864" cy="46634"/>
          </a:xfrm>
          <a:prstGeom prst="rect">
            <a:avLst/>
          </a:prstGeom>
          <a:solidFill>
            <a:srgbClr val="7C4DE8"/>
          </a:solidFill>
          <a:ln/>
        </p:spPr>
        <p:txBody>
          <a:bodyPr/>
          <a:lstStyle/>
          <a:p>
            <a:endParaRPr lang="en-IN"/>
          </a:p>
        </p:txBody>
      </p:sp>
      <p:sp>
        <p:nvSpPr>
          <p:cNvPr id="44" name="Shape 42"/>
          <p:cNvSpPr/>
          <p:nvPr/>
        </p:nvSpPr>
        <p:spPr>
          <a:xfrm>
            <a:off x="806501" y="474849"/>
            <a:ext cx="54864" cy="46634"/>
          </a:xfrm>
          <a:prstGeom prst="rect">
            <a:avLst/>
          </a:prstGeom>
          <a:solidFill>
            <a:srgbClr val="7C4DE8"/>
          </a:solidFill>
          <a:ln/>
        </p:spPr>
        <p:txBody>
          <a:bodyPr/>
          <a:lstStyle/>
          <a:p>
            <a:endParaRPr lang="en-IN"/>
          </a:p>
        </p:txBody>
      </p:sp>
      <p:sp>
        <p:nvSpPr>
          <p:cNvPr id="45" name="Shape 43"/>
          <p:cNvSpPr/>
          <p:nvPr/>
        </p:nvSpPr>
        <p:spPr>
          <a:xfrm>
            <a:off x="713232" y="373351"/>
            <a:ext cx="46634" cy="54864"/>
          </a:xfrm>
          <a:prstGeom prst="rect">
            <a:avLst/>
          </a:prstGeom>
          <a:solidFill>
            <a:srgbClr val="7C4DE8"/>
          </a:solidFill>
          <a:ln/>
        </p:spPr>
        <p:txBody>
          <a:bodyPr/>
          <a:lstStyle/>
          <a:p>
            <a:endParaRPr lang="en-IN"/>
          </a:p>
        </p:txBody>
      </p:sp>
      <p:sp>
        <p:nvSpPr>
          <p:cNvPr id="46" name="Shape 44"/>
          <p:cNvSpPr/>
          <p:nvPr/>
        </p:nvSpPr>
        <p:spPr>
          <a:xfrm>
            <a:off x="713232" y="702535"/>
            <a:ext cx="46634" cy="54864"/>
          </a:xfrm>
          <a:prstGeom prst="rect">
            <a:avLst/>
          </a:prstGeom>
          <a:solidFill>
            <a:srgbClr val="7C4DE8"/>
          </a:solidFill>
          <a:ln/>
        </p:spPr>
        <p:txBody>
          <a:bodyPr/>
          <a:lstStyle/>
          <a:p>
            <a:endParaRPr lang="en-IN"/>
          </a:p>
        </p:txBody>
      </p:sp>
      <p:sp>
        <p:nvSpPr>
          <p:cNvPr id="47" name="Shape 45"/>
          <p:cNvSpPr/>
          <p:nvPr/>
        </p:nvSpPr>
        <p:spPr>
          <a:xfrm>
            <a:off x="477317" y="609266"/>
            <a:ext cx="54864" cy="46634"/>
          </a:xfrm>
          <a:prstGeom prst="rect">
            <a:avLst/>
          </a:prstGeom>
          <a:solidFill>
            <a:srgbClr val="7C4DE8"/>
          </a:solidFill>
          <a:ln/>
        </p:spPr>
        <p:txBody>
          <a:bodyPr/>
          <a:lstStyle/>
          <a:p>
            <a:endParaRPr lang="en-IN"/>
          </a:p>
        </p:txBody>
      </p:sp>
      <p:sp>
        <p:nvSpPr>
          <p:cNvPr id="48" name="Shape 46"/>
          <p:cNvSpPr/>
          <p:nvPr/>
        </p:nvSpPr>
        <p:spPr>
          <a:xfrm>
            <a:off x="806501" y="609266"/>
            <a:ext cx="54864" cy="46634"/>
          </a:xfrm>
          <a:prstGeom prst="rect">
            <a:avLst/>
          </a:prstGeom>
          <a:solidFill>
            <a:srgbClr val="7C4DE8"/>
          </a:solidFill>
          <a:ln/>
        </p:spPr>
        <p:txBody>
          <a:bodyPr/>
          <a:lstStyle/>
          <a:p>
            <a:endParaRPr lang="en-IN"/>
          </a:p>
        </p:txBody>
      </p:sp>
      <p:sp>
        <p:nvSpPr>
          <p:cNvPr id="49" name="Text 47"/>
          <p:cNvSpPr/>
          <p:nvPr/>
        </p:nvSpPr>
        <p:spPr>
          <a:xfrm>
            <a:off x="1080821" y="336775"/>
            <a:ext cx="3108960" cy="475488"/>
          </a:xfrm>
          <a:prstGeom prst="rect">
            <a:avLst/>
          </a:prstGeom>
          <a:noFill/>
          <a:ln/>
        </p:spPr>
        <p:txBody>
          <a:bodyPr wrap="square" lIns="0" tIns="0" rIns="0" bIns="0" rtlCol="0" anchor="ctr"/>
          <a:lstStyle/>
          <a:p>
            <a:pPr marL="0" indent="0">
              <a:buNone/>
            </a:pPr>
            <a:r>
              <a:rPr lang="en-US" sz="850" b="1" kern="0" spc="60" dirty="0">
                <a:solidFill>
                  <a:srgbClr val="FFFFFF"/>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50" name="Text 48"/>
          <p:cNvSpPr/>
          <p:nvPr/>
        </p:nvSpPr>
        <p:spPr>
          <a:xfrm>
            <a:off x="7554773" y="391639"/>
            <a:ext cx="4023360" cy="274320"/>
          </a:xfrm>
          <a:prstGeom prst="rect">
            <a:avLst/>
          </a:prstGeom>
          <a:noFill/>
          <a:ln/>
        </p:spPr>
        <p:txBody>
          <a:bodyPr wrap="square" lIns="0" tIns="0" rIns="0" bIns="0" rtlCol="0" anchor="ctr"/>
          <a:lstStyle/>
          <a:p>
            <a:pPr marL="0" indent="0" algn="r">
              <a:buNone/>
            </a:pPr>
            <a:r>
              <a:rPr lang="en-US" sz="900" kern="0" spc="120" dirty="0">
                <a:solidFill>
                  <a:srgbClr val="9AA3AE"/>
                </a:solidFill>
                <a:latin typeface="Consolas" pitchFamily="34" charset="0"/>
                <a:ea typeface="Consolas" pitchFamily="34" charset="-122"/>
                <a:cs typeface="Consolas" pitchFamily="34" charset="-120"/>
              </a:rPr>
              <a:t>· JULY 30-31</a:t>
            </a:r>
            <a:endParaRPr lang="en-US" sz="900" dirty="0"/>
          </a:p>
        </p:txBody>
      </p:sp>
      <p:sp>
        <p:nvSpPr>
          <p:cNvPr id="51" name="Text 49"/>
          <p:cNvSpPr/>
          <p:nvPr/>
        </p:nvSpPr>
        <p:spPr>
          <a:xfrm>
            <a:off x="495605" y="1013431"/>
            <a:ext cx="11155680" cy="960120"/>
          </a:xfrm>
          <a:prstGeom prst="rect">
            <a:avLst/>
          </a:prstGeom>
          <a:noFill/>
          <a:ln/>
        </p:spPr>
        <p:txBody>
          <a:bodyPr wrap="square" lIns="0" tIns="0" rIns="0" bIns="0" rtlCol="0" anchor="ctr"/>
          <a:lstStyle/>
          <a:p>
            <a:pPr marL="0" indent="0">
              <a:buNone/>
            </a:pPr>
            <a:r>
              <a:rPr lang="en-US" sz="5600" kern="0" spc="600" dirty="0">
                <a:solidFill>
                  <a:srgbClr val="FFFFFF"/>
                </a:solidFill>
                <a:latin typeface="Arial Black" pitchFamily="34" charset="0"/>
                <a:ea typeface="Arial Black" pitchFamily="34" charset="-122"/>
                <a:cs typeface="Arial Black" pitchFamily="34" charset="-120"/>
              </a:rPr>
              <a:t>FRONT</a:t>
            </a:r>
            <a:r>
              <a:rPr lang="en-US" sz="5600" kern="0" spc="600" dirty="0">
                <a:solidFill>
                  <a:srgbClr val="7C4DE8"/>
                </a:solidFill>
                <a:latin typeface="Arial Black" pitchFamily="34" charset="0"/>
                <a:ea typeface="Arial Black" pitchFamily="34" charset="-122"/>
                <a:cs typeface="Arial Black" pitchFamily="34" charset="-120"/>
              </a:rPr>
              <a:t>IER</a:t>
            </a:r>
            <a:endParaRPr lang="en-US" sz="5600" dirty="0"/>
          </a:p>
        </p:txBody>
      </p:sp>
      <p:sp>
        <p:nvSpPr>
          <p:cNvPr id="52" name="Shape 50"/>
          <p:cNvSpPr/>
          <p:nvPr/>
        </p:nvSpPr>
        <p:spPr>
          <a:xfrm>
            <a:off x="532181" y="2055847"/>
            <a:ext cx="7589520" cy="402336"/>
          </a:xfrm>
          <a:prstGeom prst="rect">
            <a:avLst/>
          </a:prstGeom>
          <a:ln w="9525">
            <a:solidFill>
              <a:srgbClr val="FFFFFF"/>
            </a:solidFill>
            <a:prstDash val="solid"/>
          </a:ln>
        </p:spPr>
        <p:txBody>
          <a:bodyPr/>
          <a:lstStyle/>
          <a:p>
            <a:endParaRPr lang="en-IN"/>
          </a:p>
        </p:txBody>
      </p:sp>
      <p:sp>
        <p:nvSpPr>
          <p:cNvPr id="53" name="Text 51"/>
          <p:cNvSpPr/>
          <p:nvPr/>
        </p:nvSpPr>
        <p:spPr>
          <a:xfrm>
            <a:off x="788213" y="2055847"/>
            <a:ext cx="7132320" cy="402336"/>
          </a:xfrm>
          <a:prstGeom prst="rect">
            <a:avLst/>
          </a:prstGeom>
          <a:noFill/>
          <a:ln/>
        </p:spPr>
        <p:txBody>
          <a:bodyPr wrap="square" lIns="0" tIns="0" rIns="0" bIns="0" rtlCol="0" anchor="ctr"/>
          <a:lstStyle/>
          <a:p>
            <a:pPr marL="0" indent="0">
              <a:buNone/>
            </a:pPr>
            <a:r>
              <a:rPr lang="en-US" sz="1300" kern="0" spc="300" dirty="0">
                <a:solidFill>
                  <a:srgbClr val="FFFFFF"/>
                </a:solidFill>
                <a:latin typeface="Consolas" pitchFamily="34" charset="0"/>
                <a:ea typeface="Consolas" pitchFamily="34" charset="-122"/>
                <a:cs typeface="Consolas" pitchFamily="34" charset="-120"/>
              </a:rPr>
              <a:t>B U I L D   T H E   N E X T</a:t>
            </a:r>
            <a:endParaRPr lang="en-US" sz="1300" dirty="0"/>
          </a:p>
        </p:txBody>
      </p:sp>
      <p:sp>
        <p:nvSpPr>
          <p:cNvPr id="54" name="Shape 52"/>
          <p:cNvSpPr/>
          <p:nvPr/>
        </p:nvSpPr>
        <p:spPr>
          <a:xfrm>
            <a:off x="8121701" y="2055847"/>
            <a:ext cx="1325880" cy="402336"/>
          </a:xfrm>
          <a:prstGeom prst="rect">
            <a:avLst/>
          </a:prstGeom>
          <a:solidFill>
            <a:srgbClr val="7C4DE8"/>
          </a:solidFill>
          <a:ln/>
        </p:spPr>
        <p:txBody>
          <a:bodyPr/>
          <a:lstStyle/>
          <a:p>
            <a:endParaRPr lang="en-IN"/>
          </a:p>
        </p:txBody>
      </p:sp>
      <p:sp>
        <p:nvSpPr>
          <p:cNvPr id="55" name="Text 53"/>
          <p:cNvSpPr/>
          <p:nvPr/>
        </p:nvSpPr>
        <p:spPr>
          <a:xfrm>
            <a:off x="8121701" y="2055847"/>
            <a:ext cx="1325880" cy="402336"/>
          </a:xfrm>
          <a:prstGeom prst="rect">
            <a:avLst/>
          </a:prstGeom>
          <a:noFill/>
          <a:ln/>
        </p:spPr>
        <p:txBody>
          <a:bodyPr wrap="square" lIns="0" tIns="0" rIns="0" bIns="0" rtlCol="0" anchor="ctr"/>
          <a:lstStyle/>
          <a:p>
            <a:pPr marL="0" indent="0" algn="ctr">
              <a:buNone/>
            </a:pPr>
            <a:r>
              <a:rPr lang="en-US" sz="1300" b="1" kern="0" spc="300" dirty="0">
                <a:solidFill>
                  <a:srgbClr val="FFFFFF"/>
                </a:solidFill>
                <a:latin typeface="Consolas" pitchFamily="34" charset="0"/>
                <a:ea typeface="Consolas" pitchFamily="34" charset="-122"/>
                <a:cs typeface="Consolas" pitchFamily="34" charset="-120"/>
              </a:rPr>
              <a:t>A I</a:t>
            </a:r>
            <a:endParaRPr lang="en-US" sz="1300" dirty="0"/>
          </a:p>
        </p:txBody>
      </p:sp>
      <p:sp>
        <p:nvSpPr>
          <p:cNvPr id="56" name="Text 54"/>
          <p:cNvSpPr/>
          <p:nvPr/>
        </p:nvSpPr>
        <p:spPr>
          <a:xfrm>
            <a:off x="532181" y="2796511"/>
            <a:ext cx="5577840" cy="201168"/>
          </a:xfrm>
          <a:prstGeom prst="rect">
            <a:avLst/>
          </a:prstGeom>
          <a:noFill/>
          <a:ln/>
        </p:spPr>
        <p:txBody>
          <a:bodyPr wrap="square" lIns="0" tIns="0" rIns="0" bIns="0" rtlCol="0" anchor="ctr"/>
          <a:lstStyle/>
          <a:p>
            <a:pPr marL="0" indent="0">
              <a:buNone/>
            </a:pPr>
            <a:endParaRPr lang="en-US" sz="900" dirty="0"/>
          </a:p>
        </p:txBody>
      </p:sp>
      <p:sp>
        <p:nvSpPr>
          <p:cNvPr id="58" name="Text 56"/>
          <p:cNvSpPr/>
          <p:nvPr/>
        </p:nvSpPr>
        <p:spPr>
          <a:xfrm>
            <a:off x="678485" y="3006823"/>
            <a:ext cx="5285232" cy="566928"/>
          </a:xfrm>
          <a:prstGeom prst="rect">
            <a:avLst/>
          </a:prstGeom>
          <a:noFill/>
          <a:ln/>
        </p:spPr>
        <p:txBody>
          <a:bodyPr wrap="square" lIns="762" tIns="762" rIns="762" bIns="762" rtlCol="0" anchor="t"/>
          <a:lstStyle/>
          <a:p>
            <a:pPr marL="0" indent="0">
              <a:buNone/>
            </a:pPr>
            <a:endParaRPr lang="en-US" sz="1100" dirty="0"/>
          </a:p>
        </p:txBody>
      </p:sp>
      <p:sp>
        <p:nvSpPr>
          <p:cNvPr id="59" name="Text 57"/>
          <p:cNvSpPr/>
          <p:nvPr/>
        </p:nvSpPr>
        <p:spPr>
          <a:xfrm>
            <a:off x="532181" y="3710911"/>
            <a:ext cx="5577840" cy="201168"/>
          </a:xfrm>
          <a:prstGeom prst="rect">
            <a:avLst/>
          </a:prstGeom>
          <a:noFill/>
          <a:ln/>
        </p:spPr>
        <p:txBody>
          <a:bodyPr wrap="square" lIns="0" tIns="0" rIns="0" bIns="0" rtlCol="0" anchor="ctr"/>
          <a:lstStyle/>
          <a:p>
            <a:pPr marL="0" indent="0">
              <a:buNone/>
            </a:pPr>
            <a:endParaRPr lang="en-US" sz="900" dirty="0"/>
          </a:p>
        </p:txBody>
      </p:sp>
      <p:sp>
        <p:nvSpPr>
          <p:cNvPr id="61" name="Text 59"/>
          <p:cNvSpPr/>
          <p:nvPr/>
        </p:nvSpPr>
        <p:spPr>
          <a:xfrm>
            <a:off x="678485" y="3921223"/>
            <a:ext cx="5285232" cy="566928"/>
          </a:xfrm>
          <a:prstGeom prst="rect">
            <a:avLst/>
          </a:prstGeom>
          <a:noFill/>
          <a:ln/>
        </p:spPr>
        <p:txBody>
          <a:bodyPr wrap="square" lIns="762" tIns="762" rIns="762" bIns="762" rtlCol="0" anchor="t"/>
          <a:lstStyle/>
          <a:p>
            <a:pPr marL="0" indent="0">
              <a:buNone/>
            </a:pPr>
            <a:endParaRPr lang="en-US" sz="1100" dirty="0"/>
          </a:p>
        </p:txBody>
      </p:sp>
      <p:sp>
        <p:nvSpPr>
          <p:cNvPr id="65" name="Text 63"/>
          <p:cNvSpPr/>
          <p:nvPr/>
        </p:nvSpPr>
        <p:spPr>
          <a:xfrm>
            <a:off x="6457493" y="2796511"/>
            <a:ext cx="5120640" cy="201168"/>
          </a:xfrm>
          <a:prstGeom prst="rect">
            <a:avLst/>
          </a:prstGeom>
          <a:noFill/>
          <a:ln/>
        </p:spPr>
        <p:txBody>
          <a:bodyPr wrap="square" lIns="0" tIns="0" rIns="0" bIns="0" rtlCol="0" anchor="ctr"/>
          <a:lstStyle/>
          <a:p>
            <a:pPr marL="0" indent="0">
              <a:buNone/>
            </a:pPr>
            <a:endParaRPr lang="en-US" sz="900" dirty="0"/>
          </a:p>
        </p:txBody>
      </p:sp>
      <p:sp>
        <p:nvSpPr>
          <p:cNvPr id="69" name="Text 67"/>
          <p:cNvSpPr/>
          <p:nvPr/>
        </p:nvSpPr>
        <p:spPr>
          <a:xfrm>
            <a:off x="6969557" y="3006823"/>
            <a:ext cx="4480560" cy="310896"/>
          </a:xfrm>
          <a:prstGeom prst="rect">
            <a:avLst/>
          </a:prstGeom>
          <a:noFill/>
          <a:ln/>
        </p:spPr>
        <p:txBody>
          <a:bodyPr wrap="square" lIns="0" tIns="0" rIns="0" bIns="0" rtlCol="0" anchor="ctr"/>
          <a:lstStyle/>
          <a:p>
            <a:pPr marL="0" indent="0">
              <a:buNone/>
            </a:pPr>
            <a:endParaRPr lang="en-US" sz="1100" dirty="0"/>
          </a:p>
        </p:txBody>
      </p:sp>
      <p:sp>
        <p:nvSpPr>
          <p:cNvPr id="72" name="Text 70"/>
          <p:cNvSpPr/>
          <p:nvPr/>
        </p:nvSpPr>
        <p:spPr>
          <a:xfrm>
            <a:off x="6457493" y="3372583"/>
            <a:ext cx="384048" cy="310896"/>
          </a:xfrm>
          <a:prstGeom prst="rect">
            <a:avLst/>
          </a:prstGeom>
          <a:noFill/>
          <a:ln/>
        </p:spPr>
        <p:txBody>
          <a:bodyPr wrap="square" lIns="0" tIns="0" rIns="0" bIns="0" rtlCol="0" anchor="ctr"/>
          <a:lstStyle/>
          <a:p>
            <a:pPr marL="0" indent="0" algn="ctr">
              <a:buNone/>
            </a:pPr>
            <a:endParaRPr lang="en-US" sz="950" dirty="0"/>
          </a:p>
        </p:txBody>
      </p:sp>
      <p:sp>
        <p:nvSpPr>
          <p:cNvPr id="76" name="Text 74"/>
          <p:cNvSpPr/>
          <p:nvPr/>
        </p:nvSpPr>
        <p:spPr>
          <a:xfrm>
            <a:off x="6457493" y="3738343"/>
            <a:ext cx="384048" cy="310896"/>
          </a:xfrm>
          <a:prstGeom prst="rect">
            <a:avLst/>
          </a:prstGeom>
          <a:noFill/>
          <a:ln/>
        </p:spPr>
        <p:txBody>
          <a:bodyPr wrap="square" lIns="0" tIns="0" rIns="0" bIns="0" rtlCol="0" anchor="ctr"/>
          <a:lstStyle/>
          <a:p>
            <a:pPr marL="0" indent="0" algn="ctr">
              <a:buNone/>
            </a:pPr>
            <a:endParaRPr lang="en-US" sz="950" dirty="0"/>
          </a:p>
        </p:txBody>
      </p:sp>
      <p:sp>
        <p:nvSpPr>
          <p:cNvPr id="77" name="Text 75"/>
          <p:cNvSpPr/>
          <p:nvPr/>
        </p:nvSpPr>
        <p:spPr>
          <a:xfrm>
            <a:off x="6969557" y="3738343"/>
            <a:ext cx="4480560" cy="310896"/>
          </a:xfrm>
          <a:prstGeom prst="rect">
            <a:avLst/>
          </a:prstGeom>
          <a:noFill/>
          <a:ln/>
        </p:spPr>
        <p:txBody>
          <a:bodyPr wrap="square" lIns="0" tIns="0" rIns="0" bIns="0" rtlCol="0" anchor="ctr"/>
          <a:lstStyle/>
          <a:p>
            <a:pPr marL="0" indent="0">
              <a:buNone/>
            </a:pPr>
            <a:endParaRPr lang="en-US" sz="1100" dirty="0"/>
          </a:p>
        </p:txBody>
      </p:sp>
      <p:sp>
        <p:nvSpPr>
          <p:cNvPr id="78" name="Shape 76"/>
          <p:cNvSpPr/>
          <p:nvPr/>
        </p:nvSpPr>
        <p:spPr>
          <a:xfrm>
            <a:off x="2644721" y="3610132"/>
            <a:ext cx="6475777" cy="634988"/>
          </a:xfrm>
          <a:prstGeom prst="rect">
            <a:avLst/>
          </a:prstGeom>
          <a:solidFill>
            <a:srgbClr val="18212C"/>
          </a:solidFill>
          <a:ln w="9525">
            <a:solidFill>
              <a:srgbClr val="2A3441"/>
            </a:solidFill>
            <a:prstDash val="solid"/>
          </a:ln>
        </p:spPr>
        <p:txBody>
          <a:bodyPr/>
          <a:lstStyle/>
          <a:p>
            <a:endParaRPr lang="en-IN"/>
          </a:p>
        </p:txBody>
      </p:sp>
      <p:sp>
        <p:nvSpPr>
          <p:cNvPr id="79" name="Shape 77"/>
          <p:cNvSpPr/>
          <p:nvPr/>
        </p:nvSpPr>
        <p:spPr>
          <a:xfrm>
            <a:off x="1539852" y="3608532"/>
            <a:ext cx="818387" cy="649224"/>
          </a:xfrm>
          <a:prstGeom prst="rect">
            <a:avLst/>
          </a:prstGeom>
          <a:solidFill>
            <a:srgbClr val="7C4DE8"/>
          </a:solidFill>
          <a:ln/>
        </p:spPr>
        <p:txBody>
          <a:bodyPr/>
          <a:lstStyle/>
          <a:p>
            <a:r>
              <a:rPr lang="en-US" sz="3200" kern="0" spc="50" dirty="0">
                <a:solidFill>
                  <a:schemeClr val="bg1"/>
                </a:solidFill>
                <a:latin typeface="Consolas" panose="020B0609020204030204" pitchFamily="49" charset="0"/>
                <a:ea typeface="Arial" pitchFamily="34" charset="-122"/>
                <a:cs typeface="Arial" pitchFamily="34" charset="-120"/>
              </a:rPr>
              <a:t>04</a:t>
            </a:r>
            <a:endParaRPr lang="en-IN" sz="3200" dirty="0">
              <a:solidFill>
                <a:schemeClr val="bg1"/>
              </a:solidFill>
            </a:endParaRPr>
          </a:p>
        </p:txBody>
      </p:sp>
      <p:sp>
        <p:nvSpPr>
          <p:cNvPr id="80" name="Text 78"/>
          <p:cNvSpPr/>
          <p:nvPr/>
        </p:nvSpPr>
        <p:spPr>
          <a:xfrm>
            <a:off x="6457493" y="4104103"/>
            <a:ext cx="384048" cy="310896"/>
          </a:xfrm>
          <a:prstGeom prst="rect">
            <a:avLst/>
          </a:prstGeom>
          <a:noFill/>
          <a:ln/>
        </p:spPr>
        <p:txBody>
          <a:bodyPr wrap="square" lIns="0" tIns="0" rIns="0" bIns="0" rtlCol="0" anchor="ctr"/>
          <a:lstStyle/>
          <a:p>
            <a:pPr marL="0" indent="0" algn="ctr">
              <a:buNone/>
            </a:pPr>
            <a:endParaRPr lang="en-US" sz="950" dirty="0"/>
          </a:p>
        </p:txBody>
      </p:sp>
      <p:sp>
        <p:nvSpPr>
          <p:cNvPr id="81" name="Text 79"/>
          <p:cNvSpPr/>
          <p:nvPr/>
        </p:nvSpPr>
        <p:spPr>
          <a:xfrm>
            <a:off x="3356936" y="3747487"/>
            <a:ext cx="6246093" cy="367140"/>
          </a:xfrm>
          <a:prstGeom prst="rect">
            <a:avLst/>
          </a:prstGeom>
          <a:noFill/>
          <a:ln/>
        </p:spPr>
        <p:txBody>
          <a:bodyPr wrap="square" lIns="0" tIns="0" rIns="0" bIns="0" rtlCol="0" anchor="ctr"/>
          <a:lstStyle/>
          <a:p>
            <a:pPr marL="0" indent="0">
              <a:buNone/>
            </a:pPr>
            <a:r>
              <a:rPr lang="en-US" sz="3200" kern="0" spc="50" dirty="0">
                <a:solidFill>
                  <a:srgbClr val="FFFFFF"/>
                </a:solidFill>
                <a:latin typeface="Consolas" panose="020B0609020204030204" pitchFamily="49" charset="0"/>
                <a:ea typeface="Arial" pitchFamily="34" charset="-122"/>
                <a:cs typeface="Arial" pitchFamily="34" charset="-120"/>
              </a:rPr>
              <a:t>DEV PRODUCTIVITY</a:t>
            </a:r>
            <a:endParaRPr lang="en-US" sz="3200" dirty="0">
              <a:latin typeface="Consolas" panose="020B0609020204030204" pitchFamily="49" charset="0"/>
            </a:endParaRPr>
          </a:p>
        </p:txBody>
      </p:sp>
      <p:sp>
        <p:nvSpPr>
          <p:cNvPr id="85" name="Text 83"/>
          <p:cNvSpPr/>
          <p:nvPr/>
        </p:nvSpPr>
        <p:spPr>
          <a:xfrm>
            <a:off x="6969557" y="4469863"/>
            <a:ext cx="4480560" cy="310896"/>
          </a:xfrm>
          <a:prstGeom prst="rect">
            <a:avLst/>
          </a:prstGeom>
          <a:noFill/>
          <a:ln/>
        </p:spPr>
        <p:txBody>
          <a:bodyPr wrap="square" lIns="0" tIns="0" rIns="0" bIns="0" rtlCol="0" anchor="ctr"/>
          <a:lstStyle/>
          <a:p>
            <a:pPr marL="0" indent="0">
              <a:buNone/>
            </a:pPr>
            <a:endParaRPr lang="en-US" sz="1100" dirty="0"/>
          </a:p>
        </p:txBody>
      </p:sp>
      <p:sp>
        <p:nvSpPr>
          <p:cNvPr id="86" name="Text 84"/>
          <p:cNvSpPr/>
          <p:nvPr/>
        </p:nvSpPr>
        <p:spPr>
          <a:xfrm>
            <a:off x="6457493" y="4991071"/>
            <a:ext cx="5120640" cy="201168"/>
          </a:xfrm>
          <a:prstGeom prst="rect">
            <a:avLst/>
          </a:prstGeom>
          <a:noFill/>
          <a:ln/>
        </p:spPr>
        <p:txBody>
          <a:bodyPr wrap="square" lIns="0" tIns="0" rIns="0" bIns="0" rtlCol="0" anchor="ctr"/>
          <a:lstStyle/>
          <a:p>
            <a:pPr marL="0" indent="0">
              <a:buNone/>
            </a:pPr>
            <a:endParaRPr lang="en-US" sz="900" dirty="0"/>
          </a:p>
        </p:txBody>
      </p:sp>
      <p:sp>
        <p:nvSpPr>
          <p:cNvPr id="89" name="Text 87"/>
          <p:cNvSpPr/>
          <p:nvPr/>
        </p:nvSpPr>
        <p:spPr>
          <a:xfrm>
            <a:off x="532181" y="6225511"/>
            <a:ext cx="6400800" cy="274320"/>
          </a:xfrm>
          <a:prstGeom prst="rect">
            <a:avLst/>
          </a:prstGeom>
          <a:noFill/>
          <a:ln/>
        </p:spPr>
        <p:txBody>
          <a:bodyPr wrap="square" lIns="0" tIns="0" rIns="0" bIns="0" rtlCol="0" anchor="ctr"/>
          <a:lstStyle/>
          <a:p>
            <a:pPr marL="0" indent="0">
              <a:buNone/>
            </a:pPr>
            <a:r>
              <a:rPr lang="en-US" sz="850" kern="0" spc="100" dirty="0">
                <a:solidFill>
                  <a:srgbClr val="9AA3AE"/>
                </a:solidFill>
                <a:latin typeface="Consolas" pitchFamily="34" charset="0"/>
                <a:ea typeface="Consolas" pitchFamily="34" charset="-122"/>
                <a:cs typeface="Consolas" pitchFamily="34" charset="-120"/>
              </a:rPr>
              <a:t>NETAJI AUDITORIUM · AB-1 · VIT CHENNAI</a:t>
            </a:r>
            <a:endParaRPr lang="en-US" sz="850" dirty="0"/>
          </a:p>
        </p:txBody>
      </p:sp>
      <p:sp>
        <p:nvSpPr>
          <p:cNvPr id="90" name="Text 88"/>
          <p:cNvSpPr/>
          <p:nvPr/>
        </p:nvSpPr>
        <p:spPr>
          <a:xfrm>
            <a:off x="8194853" y="6225511"/>
            <a:ext cx="3108960" cy="274320"/>
          </a:xfrm>
          <a:prstGeom prst="rect">
            <a:avLst/>
          </a:prstGeom>
          <a:noFill/>
          <a:ln/>
        </p:spPr>
        <p:txBody>
          <a:bodyPr wrap="square" lIns="0" tIns="0" rIns="0" bIns="0" rtlCol="0" anchor="ctr"/>
          <a:lstStyle/>
          <a:p>
            <a:pPr marL="0" indent="0" algn="r">
              <a:buNone/>
            </a:pPr>
            <a:r>
              <a:rPr lang="en-US" sz="850" b="1" kern="0" spc="100" dirty="0">
                <a:solidFill>
                  <a:srgbClr val="FF9900"/>
                </a:solidFill>
                <a:latin typeface="Consolas" pitchFamily="34" charset="0"/>
                <a:ea typeface="Consolas" pitchFamily="34" charset="-122"/>
                <a:cs typeface="Consolas" pitchFamily="34" charset="-120"/>
              </a:rPr>
              <a:t>JULY 30 &amp; 31</a:t>
            </a:r>
            <a:endParaRPr lang="en-US" sz="850" dirty="0"/>
          </a:p>
        </p:txBody>
      </p:sp>
      <p:sp>
        <p:nvSpPr>
          <p:cNvPr id="91" name="Shape 89"/>
          <p:cNvSpPr/>
          <p:nvPr/>
        </p:nvSpPr>
        <p:spPr>
          <a:xfrm>
            <a:off x="11687861" y="6271231"/>
            <a:ext cx="173736" cy="173736"/>
          </a:xfrm>
          <a:prstGeom prst="rect">
            <a:avLst/>
          </a:prstGeom>
          <a:solidFill>
            <a:srgbClr val="7C4DE8"/>
          </a:solidFill>
          <a:ln/>
        </p:spPr>
        <p:txBody>
          <a:bodyPr/>
          <a:lstStyle/>
          <a:p>
            <a:endParaRPr lang="en-IN"/>
          </a:p>
        </p:txBody>
      </p:sp>
      <p:sp>
        <p:nvSpPr>
          <p:cNvPr id="92" name="Shape 90"/>
          <p:cNvSpPr/>
          <p:nvPr/>
        </p:nvSpPr>
        <p:spPr>
          <a:xfrm>
            <a:off x="11734770" y="6318140"/>
            <a:ext cx="79919" cy="79919"/>
          </a:xfrm>
          <a:prstGeom prst="rect">
            <a:avLst/>
          </a:prstGeom>
          <a:solidFill>
            <a:srgbClr val="0E141B"/>
          </a:solidFill>
          <a:ln/>
        </p:spPr>
        <p:txBody>
          <a:bodyPr/>
          <a:lstStyle/>
          <a:p>
            <a:endParaRPr lang="en-IN"/>
          </a:p>
        </p:txBody>
      </p:sp>
      <p:sp>
        <p:nvSpPr>
          <p:cNvPr id="93" name="Shape 91"/>
          <p:cNvSpPr/>
          <p:nvPr/>
        </p:nvSpPr>
        <p:spPr>
          <a:xfrm>
            <a:off x="11717396" y="6236484"/>
            <a:ext cx="29535" cy="34747"/>
          </a:xfrm>
          <a:prstGeom prst="rect">
            <a:avLst/>
          </a:prstGeom>
          <a:solidFill>
            <a:srgbClr val="7C4DE8"/>
          </a:solidFill>
          <a:ln/>
        </p:spPr>
        <p:txBody>
          <a:bodyPr/>
          <a:lstStyle/>
          <a:p>
            <a:endParaRPr lang="en-IN"/>
          </a:p>
        </p:txBody>
      </p:sp>
      <p:sp>
        <p:nvSpPr>
          <p:cNvPr id="94" name="Shape 92"/>
          <p:cNvSpPr/>
          <p:nvPr/>
        </p:nvSpPr>
        <p:spPr>
          <a:xfrm>
            <a:off x="11717396" y="6444967"/>
            <a:ext cx="29535" cy="34747"/>
          </a:xfrm>
          <a:prstGeom prst="rect">
            <a:avLst/>
          </a:prstGeom>
          <a:solidFill>
            <a:srgbClr val="7C4DE8"/>
          </a:solidFill>
          <a:ln/>
        </p:spPr>
        <p:txBody>
          <a:bodyPr/>
          <a:lstStyle/>
          <a:p>
            <a:endParaRPr lang="en-IN"/>
          </a:p>
        </p:txBody>
      </p:sp>
      <p:sp>
        <p:nvSpPr>
          <p:cNvPr id="95" name="Shape 93"/>
          <p:cNvSpPr/>
          <p:nvPr/>
        </p:nvSpPr>
        <p:spPr>
          <a:xfrm>
            <a:off x="11653114" y="6300766"/>
            <a:ext cx="34747" cy="29535"/>
          </a:xfrm>
          <a:prstGeom prst="rect">
            <a:avLst/>
          </a:prstGeom>
          <a:solidFill>
            <a:srgbClr val="7C4DE8"/>
          </a:solidFill>
          <a:ln/>
        </p:spPr>
        <p:txBody>
          <a:bodyPr/>
          <a:lstStyle/>
          <a:p>
            <a:endParaRPr lang="en-IN"/>
          </a:p>
        </p:txBody>
      </p:sp>
      <p:sp>
        <p:nvSpPr>
          <p:cNvPr id="96" name="Shape 94"/>
          <p:cNvSpPr/>
          <p:nvPr/>
        </p:nvSpPr>
        <p:spPr>
          <a:xfrm>
            <a:off x="11861597" y="6300766"/>
            <a:ext cx="34747" cy="29535"/>
          </a:xfrm>
          <a:prstGeom prst="rect">
            <a:avLst/>
          </a:prstGeom>
          <a:solidFill>
            <a:srgbClr val="7C4DE8"/>
          </a:solidFill>
          <a:ln/>
        </p:spPr>
        <p:txBody>
          <a:bodyPr/>
          <a:lstStyle/>
          <a:p>
            <a:endParaRPr lang="en-IN"/>
          </a:p>
        </p:txBody>
      </p:sp>
      <p:sp>
        <p:nvSpPr>
          <p:cNvPr id="97" name="Shape 95"/>
          <p:cNvSpPr/>
          <p:nvPr/>
        </p:nvSpPr>
        <p:spPr>
          <a:xfrm>
            <a:off x="11802527" y="6236484"/>
            <a:ext cx="29535" cy="34747"/>
          </a:xfrm>
          <a:prstGeom prst="rect">
            <a:avLst/>
          </a:prstGeom>
          <a:solidFill>
            <a:srgbClr val="7C4DE8"/>
          </a:solidFill>
          <a:ln/>
        </p:spPr>
        <p:txBody>
          <a:bodyPr/>
          <a:lstStyle/>
          <a:p>
            <a:endParaRPr lang="en-IN"/>
          </a:p>
        </p:txBody>
      </p:sp>
      <p:sp>
        <p:nvSpPr>
          <p:cNvPr id="98" name="Shape 96"/>
          <p:cNvSpPr/>
          <p:nvPr/>
        </p:nvSpPr>
        <p:spPr>
          <a:xfrm>
            <a:off x="11802527" y="6444967"/>
            <a:ext cx="29535" cy="34747"/>
          </a:xfrm>
          <a:prstGeom prst="rect">
            <a:avLst/>
          </a:prstGeom>
          <a:solidFill>
            <a:srgbClr val="7C4DE8"/>
          </a:solidFill>
          <a:ln/>
        </p:spPr>
        <p:txBody>
          <a:bodyPr/>
          <a:lstStyle/>
          <a:p>
            <a:endParaRPr lang="en-IN"/>
          </a:p>
        </p:txBody>
      </p:sp>
      <p:sp>
        <p:nvSpPr>
          <p:cNvPr id="99" name="Shape 97"/>
          <p:cNvSpPr/>
          <p:nvPr/>
        </p:nvSpPr>
        <p:spPr>
          <a:xfrm>
            <a:off x="11653114" y="6385897"/>
            <a:ext cx="34747" cy="29535"/>
          </a:xfrm>
          <a:prstGeom prst="rect">
            <a:avLst/>
          </a:prstGeom>
          <a:solidFill>
            <a:srgbClr val="7C4DE8"/>
          </a:solidFill>
          <a:ln/>
        </p:spPr>
        <p:txBody>
          <a:bodyPr/>
          <a:lstStyle/>
          <a:p>
            <a:endParaRPr lang="en-IN"/>
          </a:p>
        </p:txBody>
      </p:sp>
      <p:sp>
        <p:nvSpPr>
          <p:cNvPr id="100" name="Shape 98"/>
          <p:cNvSpPr/>
          <p:nvPr/>
        </p:nvSpPr>
        <p:spPr>
          <a:xfrm>
            <a:off x="11861597" y="6385897"/>
            <a:ext cx="34747" cy="29535"/>
          </a:xfrm>
          <a:prstGeom prst="rect">
            <a:avLst/>
          </a:prstGeom>
          <a:solidFill>
            <a:srgbClr val="7C4DE8"/>
          </a:solidFill>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algn="r"/>
            <a:r>
              <a:rPr lang="en-US" sz="850" kern="0" spc="120" dirty="0">
                <a:solidFill>
                  <a:srgbClr val="9AA3AE"/>
                </a:solidFill>
                <a:latin typeface="Consolas" pitchFamily="34" charset="0"/>
                <a:ea typeface="Consolas" pitchFamily="34" charset="-122"/>
                <a:cs typeface="Consolas" pitchFamily="34" charset="-120"/>
              </a:rPr>
              <a:t>FRONTIER · TRACK -04</a:t>
            </a:r>
            <a:endParaRPr lang="en-US" sz="850" dirty="0"/>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onsolas" pitchFamily="34" charset="0"/>
                <a:ea typeface="Consolas" pitchFamily="34" charset="-122"/>
                <a:cs typeface="Consolas" pitchFamily="34" charset="-120"/>
              </a:rPr>
              <a:t>0</a:t>
            </a:r>
            <a:endParaRPr lang="en-US" sz="1700" dirty="0"/>
          </a:p>
        </p:txBody>
      </p:sp>
      <p:sp>
        <p:nvSpPr>
          <p:cNvPr id="16" name="Text 14"/>
          <p:cNvSpPr/>
          <p:nvPr/>
        </p:nvSpPr>
        <p:spPr>
          <a:xfrm>
            <a:off x="969264" y="1455684"/>
            <a:ext cx="9692640" cy="475488"/>
          </a:xfrm>
          <a:prstGeom prst="rect">
            <a:avLst/>
          </a:prstGeom>
          <a:noFill/>
          <a:ln/>
        </p:spPr>
        <p:txBody>
          <a:bodyPr wrap="square" lIns="0" tIns="0" rIns="0" bIns="0" rtlCol="0" anchor="ctr"/>
          <a:lstStyle/>
          <a:p>
            <a:pPr>
              <a:lnSpc>
                <a:spcPct val="98000"/>
              </a:lnSpc>
            </a:pPr>
            <a:r>
              <a:rPr lang="en-US" sz="3600" b="1" dirty="0">
                <a:solidFill>
                  <a:srgbClr val="0F172A"/>
                </a:solidFill>
                <a:latin typeface="Arial Black" panose="020B0A04020102020204" pitchFamily="34" charset="0"/>
                <a:ea typeface="Calibri" pitchFamily="34" charset="-122"/>
                <a:cs typeface="Calibri" pitchFamily="34" charset="-120"/>
              </a:rPr>
              <a:t>Developer</a:t>
            </a:r>
            <a:endParaRPr lang="en-US" sz="3600" b="1" dirty="0">
              <a:latin typeface="Arial Black" panose="020B0A04020102020204" pitchFamily="34" charset="0"/>
            </a:endParaRPr>
          </a:p>
          <a:p>
            <a:pPr>
              <a:lnSpc>
                <a:spcPct val="98000"/>
              </a:lnSpc>
            </a:pPr>
            <a:r>
              <a:rPr lang="en-US" sz="3600" b="1" dirty="0">
                <a:solidFill>
                  <a:srgbClr val="0F172A"/>
                </a:solidFill>
                <a:latin typeface="Arial Black" panose="020B0A04020102020204" pitchFamily="34" charset="0"/>
                <a:ea typeface="Calibri" pitchFamily="34" charset="-122"/>
                <a:cs typeface="Calibri" pitchFamily="34" charset="-120"/>
              </a:rPr>
              <a:t>Productivity</a:t>
            </a:r>
            <a:endParaRPr lang="en-US" sz="3600" b="1" dirty="0">
              <a:latin typeface="Arial Black" panose="020B0A04020102020204" pitchFamily="34" charset="0"/>
            </a:endParaRPr>
          </a:p>
        </p:txBody>
      </p:sp>
      <p:sp>
        <p:nvSpPr>
          <p:cNvPr id="17" name="Text 15"/>
          <p:cNvSpPr/>
          <p:nvPr/>
        </p:nvSpPr>
        <p:spPr>
          <a:xfrm>
            <a:off x="1371600" y="1481328"/>
            <a:ext cx="9692640" cy="237744"/>
          </a:xfrm>
          <a:prstGeom prst="rect">
            <a:avLst/>
          </a:prstGeom>
          <a:noFill/>
          <a:ln/>
        </p:spPr>
        <p:txBody>
          <a:bodyPr wrap="square" lIns="0" tIns="0" rIns="0" bIns="0" rtlCol="0" anchor="ctr"/>
          <a:lstStyle/>
          <a:p>
            <a:pPr marL="0" indent="0">
              <a:buNone/>
            </a:pPr>
            <a:endParaRPr lang="en-US" sz="1100" dirty="0"/>
          </a:p>
        </p:txBody>
      </p:sp>
      <p:sp>
        <p:nvSpPr>
          <p:cNvPr id="18" name="Text 16"/>
          <p:cNvSpPr/>
          <p:nvPr/>
        </p:nvSpPr>
        <p:spPr>
          <a:xfrm>
            <a:off x="822960" y="2103120"/>
            <a:ext cx="10543032" cy="566928"/>
          </a:xfrm>
          <a:prstGeom prst="rect">
            <a:avLst/>
          </a:prstGeom>
          <a:noFill/>
          <a:ln/>
        </p:spPr>
        <p:txBody>
          <a:bodyPr wrap="square" lIns="0" tIns="0" rIns="0" bIns="0" rtlCol="0" anchor="ctr"/>
          <a:lstStyle/>
          <a:p>
            <a:pPr marL="0" indent="0">
              <a:buNone/>
            </a:pPr>
            <a:endParaRPr lang="en-US" sz="2100" dirty="0"/>
          </a:p>
        </p:txBody>
      </p:sp>
      <p:sp>
        <p:nvSpPr>
          <p:cNvPr id="20" name="Text 18"/>
          <p:cNvSpPr/>
          <p:nvPr/>
        </p:nvSpPr>
        <p:spPr>
          <a:xfrm>
            <a:off x="969264" y="2770632"/>
            <a:ext cx="10250424" cy="2240280"/>
          </a:xfrm>
          <a:prstGeom prst="rect">
            <a:avLst/>
          </a:prstGeom>
          <a:noFill/>
          <a:ln/>
        </p:spPr>
        <p:txBody>
          <a:bodyPr wrap="square" lIns="762" tIns="762" rIns="762" bIns="762" rtlCol="0" anchor="t"/>
          <a:lstStyle/>
          <a:p>
            <a:pPr marL="0" indent="0">
              <a:buNone/>
            </a:pPr>
            <a:endParaRPr lang="en-US" sz="1100" dirty="0"/>
          </a:p>
        </p:txBody>
      </p:sp>
      <p:sp>
        <p:nvSpPr>
          <p:cNvPr id="21" name="Text 19"/>
          <p:cNvSpPr/>
          <p:nvPr/>
        </p:nvSpPr>
        <p:spPr>
          <a:xfrm>
            <a:off x="822960" y="5230368"/>
            <a:ext cx="10543032" cy="219456"/>
          </a:xfrm>
          <a:prstGeom prst="rect">
            <a:avLst/>
          </a:prstGeom>
          <a:noFill/>
          <a:ln/>
        </p:spPr>
        <p:txBody>
          <a:bodyPr wrap="square" lIns="0" tIns="0" rIns="0" bIns="0" rtlCol="0" anchor="ctr"/>
          <a:lstStyle/>
          <a:p>
            <a:pPr marL="0" indent="0">
              <a:buNone/>
            </a:pPr>
            <a:endParaRPr lang="en-US" sz="900" dirty="0"/>
          </a:p>
        </p:txBody>
      </p:sp>
      <p:sp>
        <p:nvSpPr>
          <p:cNvPr id="23" name="Text 21"/>
          <p:cNvSpPr/>
          <p:nvPr/>
        </p:nvSpPr>
        <p:spPr>
          <a:xfrm>
            <a:off x="1042416" y="5522976"/>
            <a:ext cx="2210562" cy="566928"/>
          </a:xfrm>
          <a:prstGeom prst="rect">
            <a:avLst/>
          </a:prstGeom>
          <a:noFill/>
          <a:ln/>
        </p:spPr>
        <p:txBody>
          <a:bodyPr wrap="square" lIns="0" tIns="0" rIns="0" bIns="0" rtlCol="0" anchor="t"/>
          <a:lstStyle/>
          <a:p>
            <a:pPr marL="0" indent="0">
              <a:buNone/>
            </a:pPr>
            <a:endParaRPr lang="en-US" sz="1100" dirty="0"/>
          </a:p>
        </p:txBody>
      </p:sp>
      <p:sp>
        <p:nvSpPr>
          <p:cNvPr id="25" name="Text 23"/>
          <p:cNvSpPr/>
          <p:nvPr/>
        </p:nvSpPr>
        <p:spPr>
          <a:xfrm>
            <a:off x="3746754" y="5522976"/>
            <a:ext cx="2210562" cy="566928"/>
          </a:xfrm>
          <a:prstGeom prst="rect">
            <a:avLst/>
          </a:prstGeom>
          <a:noFill/>
          <a:ln/>
        </p:spPr>
        <p:txBody>
          <a:bodyPr wrap="square" lIns="0" tIns="0" rIns="0" bIns="0" rtlCol="0" anchor="t"/>
          <a:lstStyle/>
          <a:p>
            <a:pPr marL="0" indent="0">
              <a:buNone/>
            </a:pPr>
            <a:endParaRPr lang="en-US" sz="1100" dirty="0"/>
          </a:p>
        </p:txBody>
      </p:sp>
      <p:sp>
        <p:nvSpPr>
          <p:cNvPr id="27" name="Text 25"/>
          <p:cNvSpPr/>
          <p:nvPr/>
        </p:nvSpPr>
        <p:spPr>
          <a:xfrm>
            <a:off x="6451092" y="5522976"/>
            <a:ext cx="2210562" cy="566928"/>
          </a:xfrm>
          <a:prstGeom prst="rect">
            <a:avLst/>
          </a:prstGeom>
          <a:noFill/>
          <a:ln/>
        </p:spPr>
        <p:txBody>
          <a:bodyPr wrap="square" lIns="0" tIns="0" rIns="0" bIns="0" rtlCol="0" anchor="t"/>
          <a:lstStyle/>
          <a:p>
            <a:pPr marL="0" indent="0">
              <a:buNone/>
            </a:pPr>
            <a:endParaRPr lang="en-US" sz="1100" dirty="0"/>
          </a:p>
        </p:txBody>
      </p:sp>
      <p:sp>
        <p:nvSpPr>
          <p:cNvPr id="29" name="Text 27"/>
          <p:cNvSpPr/>
          <p:nvPr/>
        </p:nvSpPr>
        <p:spPr>
          <a:xfrm>
            <a:off x="9155430" y="5522976"/>
            <a:ext cx="2210562" cy="566928"/>
          </a:xfrm>
          <a:prstGeom prst="rect">
            <a:avLst/>
          </a:prstGeom>
          <a:noFill/>
          <a:ln/>
        </p:spPr>
        <p:txBody>
          <a:bodyPr wrap="square" lIns="0" tIns="0" rIns="0" bIns="0" rtlCol="0" anchor="t"/>
          <a:lstStyle/>
          <a:p>
            <a:pPr marL="0" indent="0">
              <a:buNone/>
            </a:pPr>
            <a:endParaRPr lang="en-US" sz="1100" dirty="0"/>
          </a:p>
        </p:txBody>
      </p:sp>
      <p:sp>
        <p:nvSpPr>
          <p:cNvPr id="30" name="Text 28"/>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1" name="Text 29"/>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02</a:t>
            </a:r>
            <a:r>
              <a:rPr lang="en-US" sz="900" dirty="0">
                <a:solidFill>
                  <a:srgbClr val="9AA3AE"/>
                </a:solidFill>
                <a:latin typeface="Consolas" pitchFamily="34" charset="0"/>
                <a:ea typeface="Consolas" pitchFamily="34" charset="-122"/>
                <a:cs typeface="Consolas" pitchFamily="34" charset="-120"/>
              </a:rPr>
              <a:t> / 12</a:t>
            </a:r>
            <a:endParaRPr lang="en-US" sz="900" dirty="0"/>
          </a:p>
        </p:txBody>
      </p:sp>
      <p:sp>
        <p:nvSpPr>
          <p:cNvPr id="32" name="Shape 30"/>
          <p:cNvSpPr/>
          <p:nvPr/>
        </p:nvSpPr>
        <p:spPr>
          <a:xfrm>
            <a:off x="11722608" y="6391656"/>
            <a:ext cx="173736" cy="173736"/>
          </a:xfrm>
          <a:prstGeom prst="rect">
            <a:avLst/>
          </a:prstGeom>
          <a:solidFill>
            <a:srgbClr val="7C4DE8"/>
          </a:solidFill>
          <a:ln/>
        </p:spPr>
        <p:txBody>
          <a:bodyPr/>
          <a:lstStyle/>
          <a:p>
            <a:endParaRPr lang="en-IN"/>
          </a:p>
        </p:txBody>
      </p:sp>
      <p:sp>
        <p:nvSpPr>
          <p:cNvPr id="33" name="Shape 31"/>
          <p:cNvSpPr/>
          <p:nvPr/>
        </p:nvSpPr>
        <p:spPr>
          <a:xfrm>
            <a:off x="11769517" y="6438565"/>
            <a:ext cx="79919" cy="79919"/>
          </a:xfrm>
          <a:prstGeom prst="rect">
            <a:avLst/>
          </a:prstGeom>
          <a:solidFill>
            <a:srgbClr val="FFFFFF"/>
          </a:solidFill>
          <a:ln/>
        </p:spPr>
        <p:txBody>
          <a:bodyPr/>
          <a:lstStyle/>
          <a:p>
            <a:endParaRPr lang="en-IN"/>
          </a:p>
        </p:txBody>
      </p:sp>
      <p:sp>
        <p:nvSpPr>
          <p:cNvPr id="34" name="Shape 32"/>
          <p:cNvSpPr/>
          <p:nvPr/>
        </p:nvSpPr>
        <p:spPr>
          <a:xfrm>
            <a:off x="11752143" y="6356909"/>
            <a:ext cx="29535" cy="34747"/>
          </a:xfrm>
          <a:prstGeom prst="rect">
            <a:avLst/>
          </a:prstGeom>
          <a:solidFill>
            <a:srgbClr val="7C4DE8"/>
          </a:solidFill>
          <a:ln/>
        </p:spPr>
        <p:txBody>
          <a:bodyPr/>
          <a:lstStyle/>
          <a:p>
            <a:endParaRPr lang="en-IN"/>
          </a:p>
        </p:txBody>
      </p:sp>
      <p:sp>
        <p:nvSpPr>
          <p:cNvPr id="35" name="Shape 33"/>
          <p:cNvSpPr/>
          <p:nvPr/>
        </p:nvSpPr>
        <p:spPr>
          <a:xfrm>
            <a:off x="11752143" y="6565392"/>
            <a:ext cx="29535" cy="34747"/>
          </a:xfrm>
          <a:prstGeom prst="rect">
            <a:avLst/>
          </a:prstGeom>
          <a:solidFill>
            <a:srgbClr val="7C4DE8"/>
          </a:solidFill>
          <a:ln/>
        </p:spPr>
        <p:txBody>
          <a:bodyPr/>
          <a:lstStyle/>
          <a:p>
            <a:endParaRPr lang="en-IN"/>
          </a:p>
        </p:txBody>
      </p:sp>
      <p:sp>
        <p:nvSpPr>
          <p:cNvPr id="36" name="Shape 34"/>
          <p:cNvSpPr/>
          <p:nvPr/>
        </p:nvSpPr>
        <p:spPr>
          <a:xfrm>
            <a:off x="11687861" y="6421191"/>
            <a:ext cx="34747" cy="29535"/>
          </a:xfrm>
          <a:prstGeom prst="rect">
            <a:avLst/>
          </a:prstGeom>
          <a:solidFill>
            <a:srgbClr val="7C4DE8"/>
          </a:solidFill>
          <a:ln/>
        </p:spPr>
        <p:txBody>
          <a:bodyPr/>
          <a:lstStyle/>
          <a:p>
            <a:endParaRPr lang="en-IN"/>
          </a:p>
        </p:txBody>
      </p:sp>
      <p:sp>
        <p:nvSpPr>
          <p:cNvPr id="37" name="Shape 35"/>
          <p:cNvSpPr/>
          <p:nvPr/>
        </p:nvSpPr>
        <p:spPr>
          <a:xfrm>
            <a:off x="11896344" y="6421191"/>
            <a:ext cx="34747" cy="29535"/>
          </a:xfrm>
          <a:prstGeom prst="rect">
            <a:avLst/>
          </a:prstGeom>
          <a:solidFill>
            <a:srgbClr val="7C4DE8"/>
          </a:solidFill>
          <a:ln/>
        </p:spPr>
        <p:txBody>
          <a:bodyPr/>
          <a:lstStyle/>
          <a:p>
            <a:endParaRPr lang="en-IN"/>
          </a:p>
        </p:txBody>
      </p:sp>
      <p:sp>
        <p:nvSpPr>
          <p:cNvPr id="38" name="Shape 36"/>
          <p:cNvSpPr/>
          <p:nvPr/>
        </p:nvSpPr>
        <p:spPr>
          <a:xfrm>
            <a:off x="11837274" y="6356909"/>
            <a:ext cx="29535" cy="34747"/>
          </a:xfrm>
          <a:prstGeom prst="rect">
            <a:avLst/>
          </a:prstGeom>
          <a:solidFill>
            <a:srgbClr val="7C4DE8"/>
          </a:solidFill>
          <a:ln/>
        </p:spPr>
        <p:txBody>
          <a:bodyPr/>
          <a:lstStyle/>
          <a:p>
            <a:endParaRPr lang="en-IN"/>
          </a:p>
        </p:txBody>
      </p:sp>
      <p:sp>
        <p:nvSpPr>
          <p:cNvPr id="39" name="Shape 37"/>
          <p:cNvSpPr/>
          <p:nvPr/>
        </p:nvSpPr>
        <p:spPr>
          <a:xfrm>
            <a:off x="11837274" y="6565392"/>
            <a:ext cx="29535" cy="34747"/>
          </a:xfrm>
          <a:prstGeom prst="rect">
            <a:avLst/>
          </a:prstGeom>
          <a:solidFill>
            <a:srgbClr val="7C4DE8"/>
          </a:solidFill>
          <a:ln/>
        </p:spPr>
        <p:txBody>
          <a:bodyPr/>
          <a:lstStyle/>
          <a:p>
            <a:endParaRPr lang="en-IN"/>
          </a:p>
        </p:txBody>
      </p:sp>
      <p:sp>
        <p:nvSpPr>
          <p:cNvPr id="40" name="Shape 38"/>
          <p:cNvSpPr/>
          <p:nvPr/>
        </p:nvSpPr>
        <p:spPr>
          <a:xfrm>
            <a:off x="11687861" y="6506322"/>
            <a:ext cx="34747" cy="29535"/>
          </a:xfrm>
          <a:prstGeom prst="rect">
            <a:avLst/>
          </a:prstGeom>
          <a:solidFill>
            <a:srgbClr val="7C4DE8"/>
          </a:solidFill>
          <a:ln/>
        </p:spPr>
        <p:txBody>
          <a:bodyPr/>
          <a:lstStyle/>
          <a:p>
            <a:endParaRPr lang="en-IN"/>
          </a:p>
        </p:txBody>
      </p:sp>
      <p:sp>
        <p:nvSpPr>
          <p:cNvPr id="41" name="Shape 39"/>
          <p:cNvSpPr/>
          <p:nvPr/>
        </p:nvSpPr>
        <p:spPr>
          <a:xfrm>
            <a:off x="11896344" y="6506322"/>
            <a:ext cx="34747" cy="29535"/>
          </a:xfrm>
          <a:prstGeom prst="rect">
            <a:avLst/>
          </a:prstGeom>
          <a:solidFill>
            <a:srgbClr val="7C4DE8"/>
          </a:solidFill>
          <a:ln/>
        </p:spPr>
        <p:txBody>
          <a:bodyPr/>
          <a:lstStyle/>
          <a:p>
            <a:endParaRPr lang="en-IN"/>
          </a:p>
        </p:txBody>
      </p:sp>
      <p:sp>
        <p:nvSpPr>
          <p:cNvPr id="45" name="TextBox 44">
            <a:extLst>
              <a:ext uri="{FF2B5EF4-FFF2-40B4-BE49-F238E27FC236}">
                <a16:creationId xmlns:a16="http://schemas.microsoft.com/office/drawing/2014/main" id="{E99E650D-B833-2D6C-94DE-DFEA1279655E}"/>
              </a:ext>
            </a:extLst>
          </p:cNvPr>
          <p:cNvSpPr txBox="1"/>
          <p:nvPr/>
        </p:nvSpPr>
        <p:spPr>
          <a:xfrm>
            <a:off x="896112" y="2447017"/>
            <a:ext cx="6094562" cy="335989"/>
          </a:xfrm>
          <a:prstGeom prst="rect">
            <a:avLst/>
          </a:prstGeom>
          <a:noFill/>
        </p:spPr>
        <p:txBody>
          <a:bodyPr wrap="square">
            <a:spAutoFit/>
          </a:bodyPr>
          <a:lstStyle/>
          <a:p>
            <a:pPr>
              <a:lnSpc>
                <a:spcPts val="1889"/>
              </a:lnSpc>
            </a:pPr>
            <a:r>
              <a:rPr lang="en-GB" sz="1700" dirty="0"/>
              <a:t>Empowering Developers with AI to Build Better Software - Faster</a:t>
            </a:r>
            <a:endParaRPr lang="en-US" sz="1700" b="0" i="0" u="none" dirty="0">
              <a:solidFill>
                <a:srgbClr val="475569"/>
              </a:solidFill>
              <a:latin typeface="Plus Jakarta Sans"/>
            </a:endParaRPr>
          </a:p>
        </p:txBody>
      </p:sp>
      <p:sp>
        <p:nvSpPr>
          <p:cNvPr id="47" name="TextBox 46">
            <a:extLst>
              <a:ext uri="{FF2B5EF4-FFF2-40B4-BE49-F238E27FC236}">
                <a16:creationId xmlns:a16="http://schemas.microsoft.com/office/drawing/2014/main" id="{90CDD7A2-E9C8-A7DE-32D4-532AB5AC2906}"/>
              </a:ext>
            </a:extLst>
          </p:cNvPr>
          <p:cNvSpPr txBox="1"/>
          <p:nvPr/>
        </p:nvSpPr>
        <p:spPr>
          <a:xfrm>
            <a:off x="896112" y="3076019"/>
            <a:ext cx="6094562" cy="369332"/>
          </a:xfrm>
          <a:prstGeom prst="rect">
            <a:avLst/>
          </a:prstGeom>
          <a:noFill/>
        </p:spPr>
        <p:txBody>
          <a:bodyPr wrap="square">
            <a:spAutoFit/>
          </a:bodyPr>
          <a:lstStyle/>
          <a:p>
            <a:pPr algn="l"/>
            <a:r>
              <a:rPr lang="en-IN" b="1" i="0" u="none" dirty="0">
                <a:solidFill>
                  <a:srgbClr val="7C3AED"/>
                </a:solidFill>
                <a:latin typeface="Plus Jakarta Sans"/>
              </a:rPr>
              <a:t>What You'll Explore</a:t>
            </a:r>
          </a:p>
        </p:txBody>
      </p:sp>
      <p:sp>
        <p:nvSpPr>
          <p:cNvPr id="49" name="TextBox 48">
            <a:extLst>
              <a:ext uri="{FF2B5EF4-FFF2-40B4-BE49-F238E27FC236}">
                <a16:creationId xmlns:a16="http://schemas.microsoft.com/office/drawing/2014/main" id="{409CE2A8-C9CB-99AA-44BA-190A8723CC44}"/>
              </a:ext>
            </a:extLst>
          </p:cNvPr>
          <p:cNvSpPr txBox="1"/>
          <p:nvPr/>
        </p:nvSpPr>
        <p:spPr>
          <a:xfrm>
            <a:off x="1042416" y="3439729"/>
            <a:ext cx="6094562" cy="1531445"/>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sz="1600" b="1" i="0" u="none" dirty="0">
                <a:solidFill>
                  <a:srgbClr val="475569"/>
                </a:solidFill>
                <a:latin typeface="Plus Jakarta Sans"/>
              </a:rPr>
              <a:t>Write Better Code</a:t>
            </a:r>
          </a:p>
          <a:p>
            <a:pPr marL="285750" indent="-285750" algn="l">
              <a:lnSpc>
                <a:spcPct val="150000"/>
              </a:lnSpc>
              <a:buFont typeface="Arial" panose="020B0604020202020204" pitchFamily="34" charset="0"/>
              <a:buChar char="•"/>
            </a:pPr>
            <a:r>
              <a:rPr lang="en-US" sz="1600" b="1" i="0" u="none" dirty="0">
                <a:solidFill>
                  <a:srgbClr val="475569"/>
                </a:solidFill>
                <a:latin typeface="Plus Jakarta Sans"/>
              </a:rPr>
              <a:t>Automate Repetitive Tasks</a:t>
            </a:r>
          </a:p>
          <a:p>
            <a:pPr marL="285750" indent="-285750" algn="l">
              <a:lnSpc>
                <a:spcPct val="150000"/>
              </a:lnSpc>
              <a:buFont typeface="Arial" panose="020B0604020202020204" pitchFamily="34" charset="0"/>
              <a:buChar char="•"/>
            </a:pPr>
            <a:r>
              <a:rPr lang="en-US" sz="1600" b="1" i="0" u="none" dirty="0">
                <a:solidFill>
                  <a:srgbClr val="475569"/>
                </a:solidFill>
                <a:latin typeface="Plus Jakarta Sans"/>
              </a:rPr>
              <a:t>Improve Team Collaboration</a:t>
            </a:r>
          </a:p>
          <a:p>
            <a:pPr marL="285750" indent="-285750" algn="l">
              <a:lnSpc>
                <a:spcPct val="150000"/>
              </a:lnSpc>
              <a:buFont typeface="Arial" panose="020B0604020202020204" pitchFamily="34" charset="0"/>
              <a:buChar char="•"/>
            </a:pPr>
            <a:r>
              <a:rPr lang="en-US" sz="1600" b="1" i="0" u="none" dirty="0">
                <a:solidFill>
                  <a:srgbClr val="475569"/>
                </a:solidFill>
                <a:latin typeface="Plus Jakarta Sans"/>
              </a:rPr>
              <a:t>Accelerate Software Delivery</a:t>
            </a:r>
          </a:p>
        </p:txBody>
      </p:sp>
      <p:pic>
        <p:nvPicPr>
          <p:cNvPr id="14" name="Picture 13" descr="Amazon Q Developer dashboard in AWS Console showing subscription metrics, usage statistics with a donut chart of code suggestions by category, and an active users trend line graph">
            <a:extLst>
              <a:ext uri="{FF2B5EF4-FFF2-40B4-BE49-F238E27FC236}">
                <a16:creationId xmlns:a16="http://schemas.microsoft.com/office/drawing/2014/main" id="{48EFAC70-FCFD-F9C7-D0DF-84645C90A860}"/>
              </a:ext>
            </a:extLst>
          </p:cNvPr>
          <p:cNvPicPr>
            <a:picLocks noChangeAspect="1"/>
          </p:cNvPicPr>
          <p:nvPr/>
        </p:nvPicPr>
        <p:blipFill>
          <a:blip r:embed="rId3"/>
          <a:stretch>
            <a:fillRect/>
          </a:stretch>
        </p:blipFill>
        <p:spPr>
          <a:xfrm>
            <a:off x="6884275" y="2194560"/>
            <a:ext cx="5029442" cy="37700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algn="r"/>
            <a:r>
              <a:rPr lang="en-US" sz="850" kern="0" spc="120" dirty="0">
                <a:solidFill>
                  <a:srgbClr val="9AA3AE"/>
                </a:solidFill>
                <a:latin typeface="Consolas" pitchFamily="34" charset="0"/>
                <a:ea typeface="Consolas" pitchFamily="34" charset="-122"/>
                <a:cs typeface="Consolas" pitchFamily="34" charset="-120"/>
              </a:rPr>
              <a:t>FRONTIER · TRACK -04</a:t>
            </a:r>
            <a:endParaRPr lang="en-US" sz="850" dirty="0"/>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endParaRPr lang="en-US" sz="1700" dirty="0"/>
          </a:p>
        </p:txBody>
      </p:sp>
      <p:sp>
        <p:nvSpPr>
          <p:cNvPr id="16" name="Text 14"/>
          <p:cNvSpPr/>
          <p:nvPr/>
        </p:nvSpPr>
        <p:spPr>
          <a:xfrm>
            <a:off x="841248" y="1077164"/>
            <a:ext cx="9692640" cy="475488"/>
          </a:xfrm>
          <a:prstGeom prst="rect">
            <a:avLst/>
          </a:prstGeom>
          <a:noFill/>
          <a:ln/>
        </p:spPr>
        <p:txBody>
          <a:bodyPr wrap="square" lIns="0" tIns="0" rIns="0" bIns="0" rtlCol="0" anchor="ctr"/>
          <a:lstStyle/>
          <a:p>
            <a:pPr marL="0" indent="0">
              <a:buNone/>
            </a:pPr>
            <a:r>
              <a:rPr lang="en-US" sz="3100" kern="0" spc="40" dirty="0">
                <a:solidFill>
                  <a:srgbClr val="0E141B"/>
                </a:solidFill>
                <a:latin typeface="Arial Black" pitchFamily="34" charset="0"/>
                <a:ea typeface="Arial Black" pitchFamily="34" charset="-122"/>
                <a:cs typeface="Arial Black" pitchFamily="34" charset="-120"/>
              </a:rPr>
              <a:t>Why Developer Productivity Matters??</a:t>
            </a:r>
            <a:endParaRPr lang="en-US" sz="3100" dirty="0"/>
          </a:p>
        </p:txBody>
      </p:sp>
      <p:sp>
        <p:nvSpPr>
          <p:cNvPr id="17" name="Text 15"/>
          <p:cNvSpPr/>
          <p:nvPr/>
        </p:nvSpPr>
        <p:spPr>
          <a:xfrm>
            <a:off x="1371600" y="1767207"/>
            <a:ext cx="9692640" cy="237744"/>
          </a:xfrm>
          <a:prstGeom prst="rect">
            <a:avLst/>
          </a:prstGeom>
          <a:noFill/>
          <a:ln/>
        </p:spPr>
        <p:txBody>
          <a:bodyPr wrap="square" lIns="0" tIns="0" rIns="0" bIns="0" rtlCol="0" anchor="ctr"/>
          <a:lstStyle/>
          <a:p>
            <a:pPr marL="0" indent="0">
              <a:buNone/>
            </a:pPr>
            <a:endParaRPr lang="en-US" sz="1100" dirty="0"/>
          </a:p>
        </p:txBody>
      </p:sp>
      <p:sp>
        <p:nvSpPr>
          <p:cNvPr id="18" name="Text 16"/>
          <p:cNvSpPr/>
          <p:nvPr/>
        </p:nvSpPr>
        <p:spPr>
          <a:xfrm>
            <a:off x="822960" y="2103120"/>
            <a:ext cx="2998542" cy="711404"/>
          </a:xfrm>
          <a:prstGeom prst="rect">
            <a:avLst/>
          </a:prstGeom>
          <a:noFill/>
          <a:ln/>
        </p:spPr>
        <p:txBody>
          <a:bodyPr wrap="square" lIns="0" tIns="0" rIns="0" bIns="0" rtlCol="0" anchor="ctr"/>
          <a:lstStyle/>
          <a:p>
            <a:pPr marL="0" indent="0">
              <a:buNone/>
            </a:pPr>
            <a:endParaRPr lang="en-US" sz="1600" dirty="0">
              <a:solidFill>
                <a:srgbClr val="7030A0"/>
              </a:solidFill>
            </a:endParaRPr>
          </a:p>
        </p:txBody>
      </p:sp>
      <p:sp>
        <p:nvSpPr>
          <p:cNvPr id="20" name="Text 18"/>
          <p:cNvSpPr/>
          <p:nvPr/>
        </p:nvSpPr>
        <p:spPr>
          <a:xfrm>
            <a:off x="969264" y="2889504"/>
            <a:ext cx="4818888" cy="2121408"/>
          </a:xfrm>
          <a:prstGeom prst="rect">
            <a:avLst/>
          </a:prstGeom>
          <a:noFill/>
          <a:ln/>
        </p:spPr>
        <p:txBody>
          <a:bodyPr wrap="square" lIns="762" tIns="762" rIns="762" bIns="762" rtlCol="0" anchor="t"/>
          <a:lstStyle/>
          <a:p>
            <a:pPr marL="0" indent="0">
              <a:buNone/>
            </a:pPr>
            <a:endParaRPr lang="en-US" sz="1100" dirty="0"/>
          </a:p>
        </p:txBody>
      </p:sp>
      <p:sp>
        <p:nvSpPr>
          <p:cNvPr id="21" name="Text 19"/>
          <p:cNvSpPr/>
          <p:nvPr/>
        </p:nvSpPr>
        <p:spPr>
          <a:xfrm>
            <a:off x="6254496" y="2103120"/>
            <a:ext cx="5111496" cy="685800"/>
          </a:xfrm>
          <a:prstGeom prst="rect">
            <a:avLst/>
          </a:prstGeom>
          <a:noFill/>
          <a:ln/>
        </p:spPr>
        <p:txBody>
          <a:bodyPr wrap="square" lIns="0" tIns="0" rIns="0" bIns="0" rtlCol="0" anchor="ctr"/>
          <a:lstStyle/>
          <a:p>
            <a:pPr marL="0" indent="0">
              <a:buNone/>
            </a:pPr>
            <a:endParaRPr lang="en-US" sz="1800" dirty="0"/>
          </a:p>
        </p:txBody>
      </p:sp>
      <p:sp>
        <p:nvSpPr>
          <p:cNvPr id="23" name="Text 21"/>
          <p:cNvSpPr/>
          <p:nvPr/>
        </p:nvSpPr>
        <p:spPr>
          <a:xfrm>
            <a:off x="6582961" y="2583278"/>
            <a:ext cx="2207097" cy="2240774"/>
          </a:xfrm>
          <a:prstGeom prst="rect">
            <a:avLst/>
          </a:prstGeom>
          <a:noFill/>
          <a:ln/>
        </p:spPr>
        <p:txBody>
          <a:bodyPr wrap="square" lIns="762" tIns="762" rIns="762" bIns="762" rtlCol="0" anchor="t"/>
          <a:lstStyle/>
          <a:p>
            <a:r>
              <a:rPr lang="en-US" sz="1300" dirty="0">
                <a:solidFill>
                  <a:srgbClr val="667180"/>
                </a:solidFill>
                <a:latin typeface="ADLaM Display" panose="020F0502020204030204" pitchFamily="2" charset="0"/>
                <a:ea typeface="ADLaM Display" panose="020F0502020204030204" pitchFamily="2" charset="0"/>
                <a:cs typeface="ADLaM Display" panose="020F0502020204030204" pitchFamily="2" charset="0"/>
              </a:rPr>
              <a:t>AI-powered tools automate routine tasks, helping teams develop, test, and deploy software more efficiently.</a:t>
            </a:r>
            <a:endParaRPr lang="en-US" sz="1300" dirty="0">
              <a:latin typeface="ADLaM Display" panose="020F0502020204030204" pitchFamily="2" charset="0"/>
              <a:ea typeface="ADLaM Display" panose="020F0502020204030204" pitchFamily="2" charset="0"/>
              <a:cs typeface="ADLaM Display" panose="020F0502020204030204" pitchFamily="2" charset="0"/>
            </a:endParaRPr>
          </a:p>
        </p:txBody>
      </p:sp>
      <p:sp>
        <p:nvSpPr>
          <p:cNvPr id="24" name="Text 22"/>
          <p:cNvSpPr/>
          <p:nvPr/>
        </p:nvSpPr>
        <p:spPr>
          <a:xfrm>
            <a:off x="822960" y="5230368"/>
            <a:ext cx="10543032" cy="219456"/>
          </a:xfrm>
          <a:prstGeom prst="rect">
            <a:avLst/>
          </a:prstGeom>
          <a:noFill/>
          <a:ln/>
        </p:spPr>
        <p:txBody>
          <a:bodyPr wrap="square" lIns="0" tIns="0" rIns="0" bIns="0" rtlCol="0" anchor="ctr"/>
          <a:lstStyle/>
          <a:p>
            <a:pPr marL="0" indent="0">
              <a:buNone/>
            </a:pPr>
            <a:endParaRPr lang="en-US" sz="900" dirty="0"/>
          </a:p>
        </p:txBody>
      </p:sp>
      <p:sp>
        <p:nvSpPr>
          <p:cNvPr id="26" name="Text 24"/>
          <p:cNvSpPr/>
          <p:nvPr/>
        </p:nvSpPr>
        <p:spPr>
          <a:xfrm>
            <a:off x="6439244" y="4598417"/>
            <a:ext cx="3324515" cy="1432643"/>
          </a:xfrm>
          <a:prstGeom prst="rect">
            <a:avLst/>
          </a:prstGeom>
          <a:noFill/>
          <a:ln/>
        </p:spPr>
        <p:txBody>
          <a:bodyPr wrap="square" lIns="0" tIns="0" rIns="0" bIns="0" rtlCol="0" anchor="t"/>
          <a:lstStyle/>
          <a:p>
            <a:pPr marL="0" indent="0">
              <a:buNone/>
            </a:pPr>
            <a:r>
              <a:rPr lang="en-US" sz="1300" dirty="0">
                <a:solidFill>
                  <a:srgbClr val="667180"/>
                </a:solidFill>
                <a:latin typeface="ADLaM Display" panose="020F0502020204030204" pitchFamily="2" charset="0"/>
                <a:ea typeface="ADLaM Display" panose="020F0502020204030204" pitchFamily="2" charset="0"/>
                <a:cs typeface="ADLaM Display" panose="020F0502020204030204" pitchFamily="2" charset="0"/>
              </a:rPr>
              <a:t>AI assists with code reviews, testing, and best practice recommendations, helping teams build more reliable and maintainable software.</a:t>
            </a:r>
            <a:endParaRPr lang="en-US" sz="1300" dirty="0">
              <a:latin typeface="ADLaM Display" panose="020F0502020204030204" pitchFamily="2" charset="0"/>
              <a:ea typeface="ADLaM Display" panose="020F0502020204030204" pitchFamily="2" charset="0"/>
              <a:cs typeface="ADLaM Display" panose="020F0502020204030204" pitchFamily="2" charset="0"/>
            </a:endParaRPr>
          </a:p>
        </p:txBody>
      </p:sp>
      <p:sp>
        <p:nvSpPr>
          <p:cNvPr id="28" name="Text 26"/>
          <p:cNvSpPr/>
          <p:nvPr/>
        </p:nvSpPr>
        <p:spPr>
          <a:xfrm>
            <a:off x="4648200" y="5522976"/>
            <a:ext cx="3112008" cy="566928"/>
          </a:xfrm>
          <a:prstGeom prst="rect">
            <a:avLst/>
          </a:prstGeom>
          <a:noFill/>
          <a:ln/>
        </p:spPr>
        <p:txBody>
          <a:bodyPr wrap="square" lIns="0" tIns="0" rIns="0" bIns="0" rtlCol="0" anchor="t"/>
          <a:lstStyle/>
          <a:p>
            <a:pPr marL="0" indent="0">
              <a:buNone/>
            </a:pPr>
            <a:endParaRPr lang="en-US" sz="1100" dirty="0"/>
          </a:p>
        </p:txBody>
      </p:sp>
      <p:sp>
        <p:nvSpPr>
          <p:cNvPr id="30" name="Text 28"/>
          <p:cNvSpPr/>
          <p:nvPr/>
        </p:nvSpPr>
        <p:spPr>
          <a:xfrm>
            <a:off x="8253984" y="5522976"/>
            <a:ext cx="3112008" cy="566928"/>
          </a:xfrm>
          <a:prstGeom prst="rect">
            <a:avLst/>
          </a:prstGeom>
          <a:noFill/>
          <a:ln/>
        </p:spPr>
        <p:txBody>
          <a:bodyPr wrap="square" lIns="0" tIns="0" rIns="0" bIns="0" rtlCol="0" anchor="t"/>
          <a:lstStyle/>
          <a:p>
            <a:pPr marL="0" indent="0">
              <a:buNone/>
            </a:pPr>
            <a:endParaRPr lang="en-US" sz="1100" dirty="0"/>
          </a:p>
        </p:txBody>
      </p:sp>
      <p:sp>
        <p:nvSpPr>
          <p:cNvPr id="31" name="Text 29"/>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2" name="Text 30"/>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03</a:t>
            </a:r>
            <a:r>
              <a:rPr lang="en-US" sz="900" dirty="0">
                <a:solidFill>
                  <a:srgbClr val="9AA3AE"/>
                </a:solidFill>
                <a:latin typeface="Consolas" pitchFamily="34" charset="0"/>
                <a:ea typeface="Consolas" pitchFamily="34" charset="-122"/>
                <a:cs typeface="Consolas" pitchFamily="34" charset="-120"/>
              </a:rPr>
              <a:t> / 12</a:t>
            </a:r>
            <a:endParaRPr lang="en-US" sz="900" dirty="0"/>
          </a:p>
        </p:txBody>
      </p:sp>
      <p:sp>
        <p:nvSpPr>
          <p:cNvPr id="33" name="Shape 31"/>
          <p:cNvSpPr/>
          <p:nvPr/>
        </p:nvSpPr>
        <p:spPr>
          <a:xfrm>
            <a:off x="11722608" y="6391656"/>
            <a:ext cx="173736" cy="173736"/>
          </a:xfrm>
          <a:prstGeom prst="rect">
            <a:avLst/>
          </a:prstGeom>
          <a:solidFill>
            <a:srgbClr val="7C4DE8"/>
          </a:solidFill>
          <a:ln/>
        </p:spPr>
        <p:txBody>
          <a:bodyPr/>
          <a:lstStyle/>
          <a:p>
            <a:endParaRPr lang="en-IN"/>
          </a:p>
        </p:txBody>
      </p:sp>
      <p:sp>
        <p:nvSpPr>
          <p:cNvPr id="34" name="Shape 32"/>
          <p:cNvSpPr/>
          <p:nvPr/>
        </p:nvSpPr>
        <p:spPr>
          <a:xfrm>
            <a:off x="11769517" y="6438565"/>
            <a:ext cx="79919" cy="79919"/>
          </a:xfrm>
          <a:prstGeom prst="rect">
            <a:avLst/>
          </a:prstGeom>
          <a:solidFill>
            <a:srgbClr val="FFFFFF"/>
          </a:solidFill>
          <a:ln/>
        </p:spPr>
        <p:txBody>
          <a:bodyPr/>
          <a:lstStyle/>
          <a:p>
            <a:endParaRPr lang="en-IN"/>
          </a:p>
        </p:txBody>
      </p:sp>
      <p:sp>
        <p:nvSpPr>
          <p:cNvPr id="35" name="Shape 33"/>
          <p:cNvSpPr/>
          <p:nvPr/>
        </p:nvSpPr>
        <p:spPr>
          <a:xfrm>
            <a:off x="11752143" y="6356909"/>
            <a:ext cx="29535" cy="34747"/>
          </a:xfrm>
          <a:prstGeom prst="rect">
            <a:avLst/>
          </a:prstGeom>
          <a:solidFill>
            <a:srgbClr val="7C4DE8"/>
          </a:solidFill>
          <a:ln/>
        </p:spPr>
        <p:txBody>
          <a:bodyPr/>
          <a:lstStyle/>
          <a:p>
            <a:endParaRPr lang="en-IN"/>
          </a:p>
        </p:txBody>
      </p:sp>
      <p:sp>
        <p:nvSpPr>
          <p:cNvPr id="36" name="Shape 34"/>
          <p:cNvSpPr/>
          <p:nvPr/>
        </p:nvSpPr>
        <p:spPr>
          <a:xfrm>
            <a:off x="11752143" y="6565392"/>
            <a:ext cx="29535" cy="34747"/>
          </a:xfrm>
          <a:prstGeom prst="rect">
            <a:avLst/>
          </a:prstGeom>
          <a:solidFill>
            <a:srgbClr val="7C4DE8"/>
          </a:solidFill>
          <a:ln/>
        </p:spPr>
        <p:txBody>
          <a:bodyPr/>
          <a:lstStyle/>
          <a:p>
            <a:endParaRPr lang="en-IN"/>
          </a:p>
        </p:txBody>
      </p:sp>
      <p:sp>
        <p:nvSpPr>
          <p:cNvPr id="37" name="Shape 35"/>
          <p:cNvSpPr/>
          <p:nvPr/>
        </p:nvSpPr>
        <p:spPr>
          <a:xfrm>
            <a:off x="11687861" y="6421191"/>
            <a:ext cx="34747" cy="29535"/>
          </a:xfrm>
          <a:prstGeom prst="rect">
            <a:avLst/>
          </a:prstGeom>
          <a:solidFill>
            <a:srgbClr val="7C4DE8"/>
          </a:solidFill>
          <a:ln/>
        </p:spPr>
        <p:txBody>
          <a:bodyPr/>
          <a:lstStyle/>
          <a:p>
            <a:endParaRPr lang="en-IN"/>
          </a:p>
        </p:txBody>
      </p:sp>
      <p:sp>
        <p:nvSpPr>
          <p:cNvPr id="38" name="Shape 36"/>
          <p:cNvSpPr/>
          <p:nvPr/>
        </p:nvSpPr>
        <p:spPr>
          <a:xfrm>
            <a:off x="11896344" y="6421191"/>
            <a:ext cx="34747" cy="29535"/>
          </a:xfrm>
          <a:prstGeom prst="rect">
            <a:avLst/>
          </a:prstGeom>
          <a:solidFill>
            <a:srgbClr val="7C4DE8"/>
          </a:solidFill>
          <a:ln/>
        </p:spPr>
        <p:txBody>
          <a:bodyPr/>
          <a:lstStyle/>
          <a:p>
            <a:endParaRPr lang="en-IN"/>
          </a:p>
        </p:txBody>
      </p:sp>
      <p:sp>
        <p:nvSpPr>
          <p:cNvPr id="39" name="Shape 37"/>
          <p:cNvSpPr/>
          <p:nvPr/>
        </p:nvSpPr>
        <p:spPr>
          <a:xfrm>
            <a:off x="11837274" y="6356909"/>
            <a:ext cx="29535" cy="34747"/>
          </a:xfrm>
          <a:prstGeom prst="rect">
            <a:avLst/>
          </a:prstGeom>
          <a:solidFill>
            <a:srgbClr val="7C4DE8"/>
          </a:solidFill>
          <a:ln/>
        </p:spPr>
        <p:txBody>
          <a:bodyPr/>
          <a:lstStyle/>
          <a:p>
            <a:endParaRPr lang="en-IN"/>
          </a:p>
        </p:txBody>
      </p:sp>
      <p:sp>
        <p:nvSpPr>
          <p:cNvPr id="40" name="Shape 38"/>
          <p:cNvSpPr/>
          <p:nvPr/>
        </p:nvSpPr>
        <p:spPr>
          <a:xfrm>
            <a:off x="11837274" y="6565392"/>
            <a:ext cx="29535" cy="34747"/>
          </a:xfrm>
          <a:prstGeom prst="rect">
            <a:avLst/>
          </a:prstGeom>
          <a:solidFill>
            <a:srgbClr val="7C4DE8"/>
          </a:solidFill>
          <a:ln/>
        </p:spPr>
        <p:txBody>
          <a:bodyPr/>
          <a:lstStyle/>
          <a:p>
            <a:endParaRPr lang="en-IN"/>
          </a:p>
        </p:txBody>
      </p:sp>
      <p:sp>
        <p:nvSpPr>
          <p:cNvPr id="41" name="Shape 39"/>
          <p:cNvSpPr/>
          <p:nvPr/>
        </p:nvSpPr>
        <p:spPr>
          <a:xfrm>
            <a:off x="11687861" y="6506322"/>
            <a:ext cx="34747" cy="29535"/>
          </a:xfrm>
          <a:prstGeom prst="rect">
            <a:avLst/>
          </a:prstGeom>
          <a:solidFill>
            <a:srgbClr val="7C4DE8"/>
          </a:solidFill>
          <a:ln/>
        </p:spPr>
        <p:txBody>
          <a:bodyPr/>
          <a:lstStyle/>
          <a:p>
            <a:endParaRPr lang="en-IN"/>
          </a:p>
        </p:txBody>
      </p:sp>
      <p:sp>
        <p:nvSpPr>
          <p:cNvPr id="42" name="Shape 40"/>
          <p:cNvSpPr/>
          <p:nvPr/>
        </p:nvSpPr>
        <p:spPr>
          <a:xfrm>
            <a:off x="11896344" y="6506322"/>
            <a:ext cx="34747" cy="29535"/>
          </a:xfrm>
          <a:prstGeom prst="rect">
            <a:avLst/>
          </a:prstGeom>
          <a:solidFill>
            <a:srgbClr val="7C4DE8"/>
          </a:solidFill>
          <a:ln/>
        </p:spPr>
        <p:txBody>
          <a:bodyPr/>
          <a:lstStyle/>
          <a:p>
            <a:endParaRPr lang="en-IN"/>
          </a:p>
        </p:txBody>
      </p:sp>
      <p:sp>
        <p:nvSpPr>
          <p:cNvPr id="44" name="TextBox 43">
            <a:extLst>
              <a:ext uri="{FF2B5EF4-FFF2-40B4-BE49-F238E27FC236}">
                <a16:creationId xmlns:a16="http://schemas.microsoft.com/office/drawing/2014/main" id="{C04D69BC-DCE8-DC56-47D8-B958BE7BC3F1}"/>
              </a:ext>
            </a:extLst>
          </p:cNvPr>
          <p:cNvSpPr txBox="1"/>
          <p:nvPr/>
        </p:nvSpPr>
        <p:spPr>
          <a:xfrm>
            <a:off x="7291477" y="2320734"/>
            <a:ext cx="6094562" cy="338554"/>
          </a:xfrm>
          <a:prstGeom prst="rect">
            <a:avLst/>
          </a:prstGeom>
          <a:noFill/>
        </p:spPr>
        <p:txBody>
          <a:bodyPr wrap="square">
            <a:spAutoFit/>
          </a:bodyPr>
          <a:lstStyle/>
          <a:p>
            <a:pPr marL="0" indent="0">
              <a:buNone/>
            </a:pPr>
            <a:endParaRPr lang="en-US" sz="1600" dirty="0"/>
          </a:p>
        </p:txBody>
      </p:sp>
      <p:sp>
        <p:nvSpPr>
          <p:cNvPr id="54" name="TextBox 53">
            <a:extLst>
              <a:ext uri="{FF2B5EF4-FFF2-40B4-BE49-F238E27FC236}">
                <a16:creationId xmlns:a16="http://schemas.microsoft.com/office/drawing/2014/main" id="{A42C18EF-41CF-99D7-B321-62369816BA9C}"/>
              </a:ext>
            </a:extLst>
          </p:cNvPr>
          <p:cNvSpPr txBox="1"/>
          <p:nvPr/>
        </p:nvSpPr>
        <p:spPr>
          <a:xfrm>
            <a:off x="1386723" y="2196705"/>
            <a:ext cx="6694098" cy="307777"/>
          </a:xfrm>
          <a:prstGeom prst="rect">
            <a:avLst/>
          </a:prstGeom>
          <a:noFill/>
        </p:spPr>
        <p:txBody>
          <a:bodyPr wrap="square">
            <a:spAutoFit/>
          </a:bodyPr>
          <a:lstStyle/>
          <a:p>
            <a:pPr marL="0" indent="0">
              <a:buNone/>
            </a:pPr>
            <a:r>
              <a:rPr lang="en-US" sz="1400" b="1" kern="0" spc="80" dirty="0">
                <a:solidFill>
                  <a:srgbClr val="7C4DE8"/>
                </a:solidFill>
                <a:latin typeface="Consolas" pitchFamily="34" charset="0"/>
                <a:ea typeface="Consolas" pitchFamily="34" charset="-122"/>
                <a:cs typeface="Consolas" pitchFamily="34" charset="-120"/>
              </a:rPr>
              <a:t>REDUCE REPETITIVE WORK</a:t>
            </a:r>
            <a:endParaRPr lang="en-US" sz="1400" b="1" dirty="0"/>
          </a:p>
        </p:txBody>
      </p:sp>
      <p:sp>
        <p:nvSpPr>
          <p:cNvPr id="56" name="TextBox 55">
            <a:extLst>
              <a:ext uri="{FF2B5EF4-FFF2-40B4-BE49-F238E27FC236}">
                <a16:creationId xmlns:a16="http://schemas.microsoft.com/office/drawing/2014/main" id="{9EF8938B-C323-36D4-5ECC-C453E7C663A8}"/>
              </a:ext>
            </a:extLst>
          </p:cNvPr>
          <p:cNvSpPr txBox="1"/>
          <p:nvPr/>
        </p:nvSpPr>
        <p:spPr>
          <a:xfrm>
            <a:off x="6496553" y="2191872"/>
            <a:ext cx="6694098" cy="307777"/>
          </a:xfrm>
          <a:prstGeom prst="rect">
            <a:avLst/>
          </a:prstGeom>
          <a:noFill/>
        </p:spPr>
        <p:txBody>
          <a:bodyPr wrap="square">
            <a:spAutoFit/>
          </a:bodyPr>
          <a:lstStyle/>
          <a:p>
            <a:pPr marL="0" indent="0">
              <a:buNone/>
            </a:pPr>
            <a:r>
              <a:rPr lang="en-US" sz="1400" b="1" kern="0" spc="80" dirty="0">
                <a:solidFill>
                  <a:srgbClr val="7C4DE8"/>
                </a:solidFill>
                <a:latin typeface="Consolas" pitchFamily="34" charset="0"/>
                <a:ea typeface="Consolas" pitchFamily="34" charset="-122"/>
                <a:cs typeface="Consolas" pitchFamily="34" charset="-120"/>
              </a:rPr>
              <a:t>FASTER SOFTWARE DELIVERY</a:t>
            </a:r>
            <a:endParaRPr lang="en-US" sz="1400" b="1" dirty="0"/>
          </a:p>
        </p:txBody>
      </p:sp>
      <p:sp>
        <p:nvSpPr>
          <p:cNvPr id="58" name="Shape 23">
            <a:extLst>
              <a:ext uri="{FF2B5EF4-FFF2-40B4-BE49-F238E27FC236}">
                <a16:creationId xmlns:a16="http://schemas.microsoft.com/office/drawing/2014/main" id="{DD61CA77-7E1F-EF1E-0952-240CB7AC1D79}"/>
              </a:ext>
            </a:extLst>
          </p:cNvPr>
          <p:cNvSpPr/>
          <p:nvPr/>
        </p:nvSpPr>
        <p:spPr>
          <a:xfrm>
            <a:off x="6405228" y="2300585"/>
            <a:ext cx="91440" cy="91440"/>
          </a:xfrm>
          <a:prstGeom prst="rect">
            <a:avLst/>
          </a:prstGeom>
          <a:solidFill>
            <a:srgbClr val="7C4DE8"/>
          </a:solidFill>
          <a:ln/>
        </p:spPr>
        <p:txBody>
          <a:bodyPr/>
          <a:lstStyle/>
          <a:p>
            <a:endParaRPr lang="en-IN"/>
          </a:p>
        </p:txBody>
      </p:sp>
      <p:sp>
        <p:nvSpPr>
          <p:cNvPr id="60" name="TextBox 59">
            <a:extLst>
              <a:ext uri="{FF2B5EF4-FFF2-40B4-BE49-F238E27FC236}">
                <a16:creationId xmlns:a16="http://schemas.microsoft.com/office/drawing/2014/main" id="{019C6E00-01C5-A44A-D3CC-36F96E182238}"/>
              </a:ext>
            </a:extLst>
          </p:cNvPr>
          <p:cNvSpPr txBox="1"/>
          <p:nvPr/>
        </p:nvSpPr>
        <p:spPr>
          <a:xfrm>
            <a:off x="1301151" y="4203451"/>
            <a:ext cx="6694098" cy="307777"/>
          </a:xfrm>
          <a:prstGeom prst="rect">
            <a:avLst/>
          </a:prstGeom>
          <a:noFill/>
        </p:spPr>
        <p:txBody>
          <a:bodyPr wrap="square">
            <a:spAutoFit/>
          </a:bodyPr>
          <a:lstStyle/>
          <a:p>
            <a:pPr marL="0" indent="0">
              <a:buNone/>
            </a:pPr>
            <a:r>
              <a:rPr lang="en-US" sz="1400" b="1" kern="0" spc="80" dirty="0">
                <a:solidFill>
                  <a:srgbClr val="7C4DE8"/>
                </a:solidFill>
                <a:latin typeface="Consolas" pitchFamily="34" charset="0"/>
              </a:rPr>
              <a:t>BETTER DEVELOPER EXPERIENCE </a:t>
            </a:r>
            <a:endParaRPr lang="en-US" sz="1400" b="1" dirty="0"/>
          </a:p>
        </p:txBody>
      </p:sp>
      <p:sp>
        <p:nvSpPr>
          <p:cNvPr id="62" name="TextBox 61">
            <a:extLst>
              <a:ext uri="{FF2B5EF4-FFF2-40B4-BE49-F238E27FC236}">
                <a16:creationId xmlns:a16="http://schemas.microsoft.com/office/drawing/2014/main" id="{BC3626A0-C029-7A2F-FD37-1FE1A846E263}"/>
              </a:ext>
            </a:extLst>
          </p:cNvPr>
          <p:cNvSpPr txBox="1"/>
          <p:nvPr/>
        </p:nvSpPr>
        <p:spPr>
          <a:xfrm>
            <a:off x="6430628" y="4203451"/>
            <a:ext cx="6694098" cy="307777"/>
          </a:xfrm>
          <a:prstGeom prst="rect">
            <a:avLst/>
          </a:prstGeom>
          <a:noFill/>
        </p:spPr>
        <p:txBody>
          <a:bodyPr wrap="square">
            <a:spAutoFit/>
          </a:bodyPr>
          <a:lstStyle/>
          <a:p>
            <a:pPr marL="0" indent="0">
              <a:buNone/>
            </a:pPr>
            <a:r>
              <a:rPr lang="en-US" sz="1400" b="1" kern="0" spc="80" dirty="0">
                <a:solidFill>
                  <a:srgbClr val="7C4DE8"/>
                </a:solidFill>
                <a:latin typeface="Consolas" pitchFamily="34" charset="0"/>
                <a:ea typeface="Consolas" pitchFamily="34" charset="-122"/>
                <a:cs typeface="Consolas" pitchFamily="34" charset="-120"/>
              </a:rPr>
              <a:t>HIGHER QUALITY CODE</a:t>
            </a:r>
            <a:endParaRPr lang="en-US" sz="1400" b="1" dirty="0"/>
          </a:p>
        </p:txBody>
      </p:sp>
      <p:sp>
        <p:nvSpPr>
          <p:cNvPr id="64" name="Shape 23">
            <a:extLst>
              <a:ext uri="{FF2B5EF4-FFF2-40B4-BE49-F238E27FC236}">
                <a16:creationId xmlns:a16="http://schemas.microsoft.com/office/drawing/2014/main" id="{ECBAB44F-B124-0457-775A-05CB7BBEDA28}"/>
              </a:ext>
            </a:extLst>
          </p:cNvPr>
          <p:cNvSpPr/>
          <p:nvPr/>
        </p:nvSpPr>
        <p:spPr>
          <a:xfrm>
            <a:off x="1205398" y="4309872"/>
            <a:ext cx="91440" cy="91440"/>
          </a:xfrm>
          <a:prstGeom prst="rect">
            <a:avLst/>
          </a:prstGeom>
          <a:solidFill>
            <a:srgbClr val="7C4DE8"/>
          </a:solidFill>
          <a:ln/>
        </p:spPr>
        <p:txBody>
          <a:bodyPr/>
          <a:lstStyle/>
          <a:p>
            <a:endParaRPr lang="en-IN"/>
          </a:p>
        </p:txBody>
      </p:sp>
      <p:sp>
        <p:nvSpPr>
          <p:cNvPr id="66" name="Shape 23">
            <a:extLst>
              <a:ext uri="{FF2B5EF4-FFF2-40B4-BE49-F238E27FC236}">
                <a16:creationId xmlns:a16="http://schemas.microsoft.com/office/drawing/2014/main" id="{41FD5812-6816-AA0E-83FD-0AF29390BBA7}"/>
              </a:ext>
            </a:extLst>
          </p:cNvPr>
          <p:cNvSpPr/>
          <p:nvPr/>
        </p:nvSpPr>
        <p:spPr>
          <a:xfrm>
            <a:off x="6347805" y="4309872"/>
            <a:ext cx="91440" cy="91440"/>
          </a:xfrm>
          <a:prstGeom prst="rect">
            <a:avLst/>
          </a:prstGeom>
          <a:solidFill>
            <a:srgbClr val="7C4DE8"/>
          </a:solidFill>
          <a:ln/>
        </p:spPr>
        <p:txBody>
          <a:bodyPr/>
          <a:lstStyle/>
          <a:p>
            <a:endParaRPr lang="en-IN"/>
          </a:p>
        </p:txBody>
      </p:sp>
      <p:sp>
        <p:nvSpPr>
          <p:cNvPr id="68" name="TextBox 67">
            <a:extLst>
              <a:ext uri="{FF2B5EF4-FFF2-40B4-BE49-F238E27FC236}">
                <a16:creationId xmlns:a16="http://schemas.microsoft.com/office/drawing/2014/main" id="{146BD0E9-CE50-26C2-0EDF-985B7C2C5190}"/>
              </a:ext>
            </a:extLst>
          </p:cNvPr>
          <p:cNvSpPr txBox="1"/>
          <p:nvPr/>
        </p:nvSpPr>
        <p:spPr>
          <a:xfrm>
            <a:off x="1301150" y="4544568"/>
            <a:ext cx="2923377" cy="892552"/>
          </a:xfrm>
          <a:prstGeom prst="rect">
            <a:avLst/>
          </a:prstGeom>
          <a:noFill/>
        </p:spPr>
        <p:txBody>
          <a:bodyPr wrap="square">
            <a:spAutoFit/>
          </a:bodyPr>
          <a:lstStyle/>
          <a:p>
            <a:pPr marL="0" indent="0">
              <a:buNone/>
            </a:pPr>
            <a:r>
              <a:rPr lang="en-US" sz="1300" dirty="0">
                <a:solidFill>
                  <a:srgbClr val="667180"/>
                </a:solidFill>
                <a:latin typeface="ADLaM Display" panose="020F0502020204030204" pitchFamily="2" charset="0"/>
                <a:ea typeface="ADLaM Display" panose="020F0502020204030204" pitchFamily="2" charset="0"/>
                <a:cs typeface="ADLaM Display" panose="020F0502020204030204" pitchFamily="2" charset="0"/>
              </a:rPr>
              <a:t>By reducing context switching and simplifying workflows, developers can focus on solving real world problems and innovation.</a:t>
            </a:r>
            <a:endParaRPr lang="en-US" sz="1300" dirty="0">
              <a:latin typeface="ADLaM Display" panose="020F0502020204030204" pitchFamily="2" charset="0"/>
              <a:ea typeface="ADLaM Display" panose="020F0502020204030204" pitchFamily="2" charset="0"/>
              <a:cs typeface="ADLaM Display" panose="020F0502020204030204" pitchFamily="2" charset="0"/>
            </a:endParaRPr>
          </a:p>
        </p:txBody>
      </p:sp>
      <p:sp>
        <p:nvSpPr>
          <p:cNvPr id="70" name="TextBox 69">
            <a:extLst>
              <a:ext uri="{FF2B5EF4-FFF2-40B4-BE49-F238E27FC236}">
                <a16:creationId xmlns:a16="http://schemas.microsoft.com/office/drawing/2014/main" id="{7475407E-67B7-79BD-AC75-76A916B4DB63}"/>
              </a:ext>
            </a:extLst>
          </p:cNvPr>
          <p:cNvSpPr txBox="1"/>
          <p:nvPr/>
        </p:nvSpPr>
        <p:spPr>
          <a:xfrm>
            <a:off x="1371600" y="2577845"/>
            <a:ext cx="2336800" cy="1200329"/>
          </a:xfrm>
          <a:prstGeom prst="rect">
            <a:avLst/>
          </a:prstGeom>
          <a:noFill/>
        </p:spPr>
        <p:txBody>
          <a:bodyPr wrap="square">
            <a:spAutoFit/>
          </a:bodyPr>
          <a:lstStyle/>
          <a:p>
            <a:pPr marL="0" indent="0">
              <a:buNone/>
            </a:pPr>
            <a:r>
              <a:rPr lang="en-US" sz="1200" dirty="0">
                <a:solidFill>
                  <a:srgbClr val="667180"/>
                </a:solidFill>
                <a:latin typeface="ADLaM Display" panose="020F0502020204030204" pitchFamily="2" charset="0"/>
                <a:ea typeface="ADLaM Display" panose="020F0502020204030204" pitchFamily="2" charset="0"/>
                <a:cs typeface="ADLaM Display" panose="020F0502020204030204" pitchFamily="2" charset="0"/>
              </a:rPr>
              <a:t>Developers spend significant time on debugging, documentation, code reviews, and repetitive coding instead of building new features.</a:t>
            </a:r>
            <a:endParaRPr lang="en-US" sz="1200" dirty="0">
              <a:latin typeface="ADLaM Display" panose="020F0502020204030204" pitchFamily="2" charset="0"/>
              <a:ea typeface="ADLaM Display" panose="020F0502020204030204" pitchFamily="2" charset="0"/>
              <a:cs typeface="ADLaM Display" panose="020F0502020204030204" pitchFamily="2" charset="0"/>
            </a:endParaRPr>
          </a:p>
        </p:txBody>
      </p:sp>
      <p:sp>
        <p:nvSpPr>
          <p:cNvPr id="19" name="Shape 23">
            <a:extLst>
              <a:ext uri="{FF2B5EF4-FFF2-40B4-BE49-F238E27FC236}">
                <a16:creationId xmlns:a16="http://schemas.microsoft.com/office/drawing/2014/main" id="{E03FFB66-DB1A-52D0-951E-67B079BF0FC9}"/>
              </a:ext>
            </a:extLst>
          </p:cNvPr>
          <p:cNvSpPr/>
          <p:nvPr/>
        </p:nvSpPr>
        <p:spPr>
          <a:xfrm>
            <a:off x="1325880" y="2310254"/>
            <a:ext cx="91440" cy="91440"/>
          </a:xfrm>
          <a:prstGeom prst="rect">
            <a:avLst/>
          </a:prstGeom>
          <a:solidFill>
            <a:srgbClr val="7C4DE8"/>
          </a:solidFill>
          <a:ln/>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algn="r"/>
            <a:r>
              <a:rPr lang="en-US" sz="850" kern="0" spc="120" dirty="0">
                <a:solidFill>
                  <a:srgbClr val="9AA3AE"/>
                </a:solidFill>
                <a:latin typeface="Consolas" pitchFamily="34" charset="0"/>
                <a:ea typeface="Consolas" pitchFamily="34" charset="-122"/>
                <a:cs typeface="Consolas" pitchFamily="34" charset="-120"/>
              </a:rPr>
              <a:t>FRONTIER · TRACK -04</a:t>
            </a:r>
            <a:endParaRPr lang="en-US" sz="850" dirty="0"/>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onsolas" pitchFamily="34" charset="0"/>
                <a:ea typeface="Consolas" pitchFamily="34" charset="-122"/>
                <a:cs typeface="Consolas" pitchFamily="34" charset="-120"/>
              </a:rPr>
              <a:t>04</a:t>
            </a:r>
            <a:endParaRPr lang="en-US" sz="1700" dirty="0"/>
          </a:p>
        </p:txBody>
      </p:sp>
      <p:sp>
        <p:nvSpPr>
          <p:cNvPr id="16" name="Text 14"/>
          <p:cNvSpPr/>
          <p:nvPr/>
        </p:nvSpPr>
        <p:spPr>
          <a:xfrm>
            <a:off x="975360" y="1032357"/>
            <a:ext cx="9692640" cy="475488"/>
          </a:xfrm>
          <a:prstGeom prst="rect">
            <a:avLst/>
          </a:prstGeom>
          <a:noFill/>
          <a:ln/>
        </p:spPr>
        <p:txBody>
          <a:bodyPr wrap="square" lIns="0" tIns="0" rIns="0" bIns="0" rtlCol="0" anchor="ctr"/>
          <a:lstStyle/>
          <a:p>
            <a:r>
              <a:rPr lang="en-US" sz="3200" b="1" dirty="0">
                <a:solidFill>
                  <a:srgbClr val="0F172A"/>
                </a:solidFill>
                <a:latin typeface="Arial Black" panose="020B0A04020102020204" pitchFamily="34" charset="0"/>
                <a:ea typeface="Calibri" pitchFamily="34" charset="-122"/>
                <a:cs typeface="Calibri" pitchFamily="34" charset="-120"/>
              </a:rPr>
              <a:t>The Evolution of Developer Tools</a:t>
            </a:r>
            <a:endParaRPr lang="en-US" sz="3200" b="1" dirty="0">
              <a:latin typeface="Arial Black" panose="020B0A04020102020204" pitchFamily="34" charset="0"/>
            </a:endParaRPr>
          </a:p>
        </p:txBody>
      </p:sp>
      <p:sp>
        <p:nvSpPr>
          <p:cNvPr id="17" name="Text 15"/>
          <p:cNvSpPr/>
          <p:nvPr/>
        </p:nvSpPr>
        <p:spPr>
          <a:xfrm>
            <a:off x="1371600" y="1481328"/>
            <a:ext cx="9692640" cy="237744"/>
          </a:xfrm>
          <a:prstGeom prst="rect">
            <a:avLst/>
          </a:prstGeom>
          <a:noFill/>
          <a:ln/>
        </p:spPr>
        <p:txBody>
          <a:bodyPr wrap="square" lIns="0" tIns="0" rIns="0" bIns="0" rtlCol="0" anchor="ctr"/>
          <a:lstStyle/>
          <a:p>
            <a:pPr marL="0" indent="0">
              <a:buNone/>
            </a:pPr>
            <a:endParaRPr lang="en-US" sz="1100" dirty="0"/>
          </a:p>
        </p:txBody>
      </p:sp>
      <p:sp>
        <p:nvSpPr>
          <p:cNvPr id="18" name="Text 16"/>
          <p:cNvSpPr/>
          <p:nvPr/>
        </p:nvSpPr>
        <p:spPr>
          <a:xfrm>
            <a:off x="822960" y="2103120"/>
            <a:ext cx="5486400" cy="685800"/>
          </a:xfrm>
          <a:prstGeom prst="rect">
            <a:avLst/>
          </a:prstGeom>
          <a:noFill/>
          <a:ln/>
        </p:spPr>
        <p:txBody>
          <a:bodyPr wrap="square" lIns="0" tIns="0" rIns="0" bIns="0" rtlCol="0" anchor="ctr"/>
          <a:lstStyle/>
          <a:p>
            <a:pPr marL="0" indent="0">
              <a:buNone/>
            </a:pPr>
            <a:endParaRPr lang="en-US" sz="1800" dirty="0"/>
          </a:p>
        </p:txBody>
      </p:sp>
      <p:sp>
        <p:nvSpPr>
          <p:cNvPr id="22" name="Text 20"/>
          <p:cNvSpPr/>
          <p:nvPr/>
        </p:nvSpPr>
        <p:spPr>
          <a:xfrm>
            <a:off x="6629400" y="3200400"/>
            <a:ext cx="4736592" cy="274320"/>
          </a:xfrm>
          <a:prstGeom prst="rect">
            <a:avLst/>
          </a:prstGeom>
          <a:noFill/>
          <a:ln/>
        </p:spPr>
        <p:txBody>
          <a:bodyPr wrap="square" lIns="0" tIns="0" rIns="0" bIns="0" rtlCol="0" anchor="ctr"/>
          <a:lstStyle/>
          <a:p>
            <a:pPr marL="0" indent="0" algn="ctr">
              <a:buNone/>
            </a:pPr>
            <a:endParaRPr lang="en-US" sz="1100" dirty="0"/>
          </a:p>
        </p:txBody>
      </p:sp>
      <p:sp>
        <p:nvSpPr>
          <p:cNvPr id="23" name="Text 21"/>
          <p:cNvSpPr/>
          <p:nvPr/>
        </p:nvSpPr>
        <p:spPr>
          <a:xfrm>
            <a:off x="6766809" y="3106537"/>
            <a:ext cx="4005072" cy="320040"/>
          </a:xfrm>
          <a:prstGeom prst="rect">
            <a:avLst/>
          </a:prstGeom>
          <a:noFill/>
          <a:ln/>
        </p:spPr>
        <p:txBody>
          <a:bodyPr wrap="square" lIns="0" tIns="0" rIns="0" bIns="0" rtlCol="0" anchor="ctr"/>
          <a:lstStyle/>
          <a:p>
            <a:pPr>
              <a:lnSpc>
                <a:spcPct val="105000"/>
              </a:lnSpc>
            </a:pPr>
            <a:r>
              <a:rPr lang="en-US" sz="1500" b="1" dirty="0">
                <a:solidFill>
                  <a:srgbClr val="0F172A"/>
                </a:solidFill>
                <a:latin typeface="Calibri" pitchFamily="34" charset="0"/>
                <a:ea typeface="Calibri" pitchFamily="34" charset="-122"/>
                <a:cs typeface="Calibri" pitchFamily="34" charset="-120"/>
              </a:rPr>
              <a:t>Cloud Development</a:t>
            </a:r>
            <a:endParaRPr lang="en-US" sz="1500" dirty="0"/>
          </a:p>
        </p:txBody>
      </p:sp>
      <p:sp>
        <p:nvSpPr>
          <p:cNvPr id="24" name="Text 22"/>
          <p:cNvSpPr/>
          <p:nvPr/>
        </p:nvSpPr>
        <p:spPr>
          <a:xfrm>
            <a:off x="9442696" y="3914340"/>
            <a:ext cx="1617194" cy="719280"/>
          </a:xfrm>
          <a:prstGeom prst="rect">
            <a:avLst/>
          </a:prstGeom>
          <a:noFill/>
          <a:ln/>
        </p:spPr>
        <p:txBody>
          <a:bodyPr wrap="square" lIns="0" tIns="0" rIns="0" bIns="0" rtlCol="0" anchor="ctr"/>
          <a:lstStyle/>
          <a:p>
            <a:r>
              <a:rPr lang="en-US" sz="1300" dirty="0">
                <a:solidFill>
                  <a:srgbClr val="667180"/>
                </a:solidFill>
                <a:latin typeface="Arial" pitchFamily="34" charset="0"/>
                <a:ea typeface="Arial" pitchFamily="34" charset="-122"/>
                <a:cs typeface="Arial" pitchFamily="34" charset="-120"/>
              </a:rPr>
              <a:t>Leverage AI to generate code, debug faster, automate tasks, and boost productivity.</a:t>
            </a:r>
          </a:p>
        </p:txBody>
      </p:sp>
      <p:sp>
        <p:nvSpPr>
          <p:cNvPr id="26" name="Text 24"/>
          <p:cNvSpPr/>
          <p:nvPr/>
        </p:nvSpPr>
        <p:spPr>
          <a:xfrm>
            <a:off x="595274" y="3757450"/>
            <a:ext cx="1195807" cy="566928"/>
          </a:xfrm>
          <a:prstGeom prst="rect">
            <a:avLst/>
          </a:prstGeom>
          <a:noFill/>
          <a:ln/>
        </p:spPr>
        <p:txBody>
          <a:bodyPr wrap="square" lIns="0" tIns="0" rIns="0" bIns="0" rtlCol="0" anchor="t"/>
          <a:lstStyle/>
          <a:p>
            <a:pPr marL="0" indent="0">
              <a:buNone/>
            </a:pPr>
            <a:r>
              <a:rPr lang="en-US" sz="1300" dirty="0">
                <a:solidFill>
                  <a:srgbClr val="667180"/>
                </a:solidFill>
                <a:latin typeface="Arial" pitchFamily="34" charset="0"/>
                <a:ea typeface="Arial" pitchFamily="34" charset="-122"/>
                <a:cs typeface="Arial" pitchFamily="34" charset="-120"/>
              </a:rPr>
              <a:t>Build and debug applications using core development tools.</a:t>
            </a:r>
          </a:p>
        </p:txBody>
      </p:sp>
      <p:sp>
        <p:nvSpPr>
          <p:cNvPr id="28" name="Text 26"/>
          <p:cNvSpPr/>
          <p:nvPr/>
        </p:nvSpPr>
        <p:spPr>
          <a:xfrm>
            <a:off x="2491220" y="3766321"/>
            <a:ext cx="1620645" cy="566928"/>
          </a:xfrm>
          <a:prstGeom prst="rect">
            <a:avLst/>
          </a:prstGeom>
          <a:noFill/>
          <a:ln/>
        </p:spPr>
        <p:txBody>
          <a:bodyPr wrap="square" lIns="0" tIns="0" rIns="0" bIns="0" rtlCol="0" anchor="t"/>
          <a:lstStyle/>
          <a:p>
            <a:r>
              <a:rPr lang="en-US" sz="1300" dirty="0">
                <a:solidFill>
                  <a:srgbClr val="64748B"/>
                </a:solidFill>
                <a:latin typeface="Arial" panose="020B0604020202020204" pitchFamily="34" charset="0"/>
                <a:ea typeface="Calibri" pitchFamily="34" charset="-122"/>
                <a:cs typeface="Arial" panose="020B0604020202020204" pitchFamily="34" charset="0"/>
              </a:rPr>
              <a:t>Track code changes, collaborate efficiently, and manage project history.</a:t>
            </a:r>
            <a:endParaRPr lang="en-US" sz="1300" dirty="0">
              <a:latin typeface="Arial" panose="020B0604020202020204" pitchFamily="34" charset="0"/>
              <a:cs typeface="Arial" panose="020B0604020202020204" pitchFamily="34" charset="0"/>
            </a:endParaRPr>
          </a:p>
        </p:txBody>
      </p:sp>
      <p:sp>
        <p:nvSpPr>
          <p:cNvPr id="30" name="Text 28"/>
          <p:cNvSpPr/>
          <p:nvPr/>
        </p:nvSpPr>
        <p:spPr>
          <a:xfrm>
            <a:off x="4856476" y="3800762"/>
            <a:ext cx="1238796" cy="566928"/>
          </a:xfrm>
          <a:prstGeom prst="rect">
            <a:avLst/>
          </a:prstGeom>
          <a:noFill/>
          <a:ln/>
        </p:spPr>
        <p:txBody>
          <a:bodyPr wrap="square" lIns="0" tIns="0" rIns="0" bIns="0" rtlCol="0" anchor="t"/>
          <a:lstStyle/>
          <a:p>
            <a:pPr marL="0" indent="0">
              <a:buNone/>
            </a:pPr>
            <a:r>
              <a:rPr lang="en-US" sz="1300" dirty="0">
                <a:solidFill>
                  <a:srgbClr val="667180"/>
                </a:solidFill>
                <a:latin typeface="Arial" pitchFamily="34" charset="0"/>
                <a:ea typeface="Arial" pitchFamily="34" charset="-122"/>
                <a:cs typeface="Arial" pitchFamily="34" charset="-120"/>
              </a:rPr>
              <a:t>Automate building, testing, and deploying applications with confidence.</a:t>
            </a:r>
          </a:p>
        </p:txBody>
      </p:sp>
      <p:sp>
        <p:nvSpPr>
          <p:cNvPr id="32" name="Text 30"/>
          <p:cNvSpPr/>
          <p:nvPr/>
        </p:nvSpPr>
        <p:spPr>
          <a:xfrm>
            <a:off x="6839883" y="3776232"/>
            <a:ext cx="1620645" cy="566928"/>
          </a:xfrm>
          <a:prstGeom prst="rect">
            <a:avLst/>
          </a:prstGeom>
          <a:noFill/>
          <a:ln/>
        </p:spPr>
        <p:txBody>
          <a:bodyPr wrap="square" lIns="0" tIns="0" rIns="0" bIns="0" rtlCol="0" anchor="t"/>
          <a:lstStyle/>
          <a:p>
            <a:pPr marL="0" indent="0">
              <a:buNone/>
            </a:pPr>
            <a:r>
              <a:rPr lang="en-US" sz="1300" dirty="0">
                <a:solidFill>
                  <a:srgbClr val="667180"/>
                </a:solidFill>
                <a:latin typeface="Arial" pitchFamily="34" charset="0"/>
                <a:ea typeface="Arial" pitchFamily="34" charset="-122"/>
                <a:cs typeface="Arial" pitchFamily="34" charset="-120"/>
              </a:rPr>
              <a:t>Develop and scale applications using cloud-native platforms and services.</a:t>
            </a:r>
          </a:p>
        </p:txBody>
      </p:sp>
      <p:sp>
        <p:nvSpPr>
          <p:cNvPr id="33" name="Text 31"/>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4" name="Text 32"/>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04</a:t>
            </a:r>
            <a:r>
              <a:rPr lang="en-US" sz="900" dirty="0">
                <a:solidFill>
                  <a:srgbClr val="9AA3AE"/>
                </a:solidFill>
                <a:latin typeface="Consolas" pitchFamily="34" charset="0"/>
                <a:ea typeface="Consolas" pitchFamily="34" charset="-122"/>
                <a:cs typeface="Consolas" pitchFamily="34" charset="-120"/>
              </a:rPr>
              <a:t> / 12</a:t>
            </a:r>
            <a:endParaRPr lang="en-US" sz="900" dirty="0"/>
          </a:p>
        </p:txBody>
      </p:sp>
      <p:sp>
        <p:nvSpPr>
          <p:cNvPr id="35" name="Shape 33"/>
          <p:cNvSpPr/>
          <p:nvPr/>
        </p:nvSpPr>
        <p:spPr>
          <a:xfrm>
            <a:off x="11722608" y="6391656"/>
            <a:ext cx="173736" cy="173736"/>
          </a:xfrm>
          <a:prstGeom prst="rect">
            <a:avLst/>
          </a:prstGeom>
          <a:solidFill>
            <a:srgbClr val="7C4DE8"/>
          </a:solidFill>
          <a:ln/>
        </p:spPr>
        <p:txBody>
          <a:bodyPr/>
          <a:lstStyle/>
          <a:p>
            <a:endParaRPr lang="en-IN"/>
          </a:p>
        </p:txBody>
      </p:sp>
      <p:sp>
        <p:nvSpPr>
          <p:cNvPr id="36" name="Shape 34"/>
          <p:cNvSpPr/>
          <p:nvPr/>
        </p:nvSpPr>
        <p:spPr>
          <a:xfrm>
            <a:off x="11769517" y="6438565"/>
            <a:ext cx="79919" cy="79919"/>
          </a:xfrm>
          <a:prstGeom prst="rect">
            <a:avLst/>
          </a:prstGeom>
          <a:solidFill>
            <a:srgbClr val="FFFFFF"/>
          </a:solidFill>
          <a:ln/>
        </p:spPr>
        <p:txBody>
          <a:bodyPr/>
          <a:lstStyle/>
          <a:p>
            <a:endParaRPr lang="en-IN"/>
          </a:p>
        </p:txBody>
      </p:sp>
      <p:sp>
        <p:nvSpPr>
          <p:cNvPr id="37" name="Shape 35"/>
          <p:cNvSpPr/>
          <p:nvPr/>
        </p:nvSpPr>
        <p:spPr>
          <a:xfrm>
            <a:off x="11752143" y="6356909"/>
            <a:ext cx="29535" cy="34747"/>
          </a:xfrm>
          <a:prstGeom prst="rect">
            <a:avLst/>
          </a:prstGeom>
          <a:solidFill>
            <a:srgbClr val="7C4DE8"/>
          </a:solidFill>
          <a:ln/>
        </p:spPr>
        <p:txBody>
          <a:bodyPr/>
          <a:lstStyle/>
          <a:p>
            <a:endParaRPr lang="en-IN"/>
          </a:p>
        </p:txBody>
      </p:sp>
      <p:sp>
        <p:nvSpPr>
          <p:cNvPr id="38" name="Shape 36"/>
          <p:cNvSpPr/>
          <p:nvPr/>
        </p:nvSpPr>
        <p:spPr>
          <a:xfrm>
            <a:off x="11752143" y="6565392"/>
            <a:ext cx="29535" cy="34747"/>
          </a:xfrm>
          <a:prstGeom prst="rect">
            <a:avLst/>
          </a:prstGeom>
          <a:solidFill>
            <a:srgbClr val="7C4DE8"/>
          </a:solidFill>
          <a:ln/>
        </p:spPr>
        <p:txBody>
          <a:bodyPr/>
          <a:lstStyle/>
          <a:p>
            <a:endParaRPr lang="en-IN"/>
          </a:p>
        </p:txBody>
      </p:sp>
      <p:sp>
        <p:nvSpPr>
          <p:cNvPr id="39" name="Shape 37"/>
          <p:cNvSpPr/>
          <p:nvPr/>
        </p:nvSpPr>
        <p:spPr>
          <a:xfrm>
            <a:off x="11687861" y="6421191"/>
            <a:ext cx="34747" cy="29535"/>
          </a:xfrm>
          <a:prstGeom prst="rect">
            <a:avLst/>
          </a:prstGeom>
          <a:solidFill>
            <a:srgbClr val="7C4DE8"/>
          </a:solidFill>
          <a:ln/>
        </p:spPr>
        <p:txBody>
          <a:bodyPr/>
          <a:lstStyle/>
          <a:p>
            <a:endParaRPr lang="en-IN"/>
          </a:p>
        </p:txBody>
      </p:sp>
      <p:sp>
        <p:nvSpPr>
          <p:cNvPr id="40" name="Shape 38"/>
          <p:cNvSpPr/>
          <p:nvPr/>
        </p:nvSpPr>
        <p:spPr>
          <a:xfrm>
            <a:off x="11896344" y="6421191"/>
            <a:ext cx="34747" cy="29535"/>
          </a:xfrm>
          <a:prstGeom prst="rect">
            <a:avLst/>
          </a:prstGeom>
          <a:solidFill>
            <a:srgbClr val="7C4DE8"/>
          </a:solidFill>
          <a:ln/>
        </p:spPr>
        <p:txBody>
          <a:bodyPr/>
          <a:lstStyle/>
          <a:p>
            <a:endParaRPr lang="en-IN"/>
          </a:p>
        </p:txBody>
      </p:sp>
      <p:sp>
        <p:nvSpPr>
          <p:cNvPr id="41" name="Shape 39"/>
          <p:cNvSpPr/>
          <p:nvPr/>
        </p:nvSpPr>
        <p:spPr>
          <a:xfrm>
            <a:off x="11837274" y="6356909"/>
            <a:ext cx="29535" cy="34747"/>
          </a:xfrm>
          <a:prstGeom prst="rect">
            <a:avLst/>
          </a:prstGeom>
          <a:solidFill>
            <a:srgbClr val="7C4DE8"/>
          </a:solidFill>
          <a:ln/>
        </p:spPr>
        <p:txBody>
          <a:bodyPr/>
          <a:lstStyle/>
          <a:p>
            <a:endParaRPr lang="en-IN"/>
          </a:p>
        </p:txBody>
      </p:sp>
      <p:sp>
        <p:nvSpPr>
          <p:cNvPr id="42" name="Shape 40"/>
          <p:cNvSpPr/>
          <p:nvPr/>
        </p:nvSpPr>
        <p:spPr>
          <a:xfrm>
            <a:off x="11837274" y="6565392"/>
            <a:ext cx="29535" cy="34747"/>
          </a:xfrm>
          <a:prstGeom prst="rect">
            <a:avLst/>
          </a:prstGeom>
          <a:solidFill>
            <a:srgbClr val="7C4DE8"/>
          </a:solidFill>
          <a:ln/>
        </p:spPr>
        <p:txBody>
          <a:bodyPr/>
          <a:lstStyle/>
          <a:p>
            <a:endParaRPr lang="en-IN"/>
          </a:p>
        </p:txBody>
      </p:sp>
      <p:sp>
        <p:nvSpPr>
          <p:cNvPr id="43" name="Shape 41"/>
          <p:cNvSpPr/>
          <p:nvPr/>
        </p:nvSpPr>
        <p:spPr>
          <a:xfrm>
            <a:off x="11687861" y="6506322"/>
            <a:ext cx="34747" cy="29535"/>
          </a:xfrm>
          <a:prstGeom prst="rect">
            <a:avLst/>
          </a:prstGeom>
          <a:solidFill>
            <a:srgbClr val="7C4DE8"/>
          </a:solidFill>
          <a:ln/>
        </p:spPr>
        <p:txBody>
          <a:bodyPr/>
          <a:lstStyle/>
          <a:p>
            <a:endParaRPr lang="en-IN"/>
          </a:p>
        </p:txBody>
      </p:sp>
      <p:sp>
        <p:nvSpPr>
          <p:cNvPr id="44" name="Shape 42"/>
          <p:cNvSpPr/>
          <p:nvPr/>
        </p:nvSpPr>
        <p:spPr>
          <a:xfrm>
            <a:off x="11896344" y="6506322"/>
            <a:ext cx="34747" cy="29535"/>
          </a:xfrm>
          <a:prstGeom prst="rect">
            <a:avLst/>
          </a:prstGeom>
          <a:solidFill>
            <a:srgbClr val="7C4DE8"/>
          </a:solidFill>
          <a:ln/>
        </p:spPr>
        <p:txBody>
          <a:bodyPr/>
          <a:lstStyle/>
          <a:p>
            <a:endParaRPr lang="en-IN"/>
          </a:p>
        </p:txBody>
      </p:sp>
      <p:sp>
        <p:nvSpPr>
          <p:cNvPr id="45" name="Shape 6">
            <a:extLst>
              <a:ext uri="{FF2B5EF4-FFF2-40B4-BE49-F238E27FC236}">
                <a16:creationId xmlns:a16="http://schemas.microsoft.com/office/drawing/2014/main" id="{FE88636F-6236-8F9C-26C2-D85FC830D46E}"/>
              </a:ext>
            </a:extLst>
          </p:cNvPr>
          <p:cNvSpPr/>
          <p:nvPr/>
        </p:nvSpPr>
        <p:spPr>
          <a:xfrm>
            <a:off x="608386" y="2465100"/>
            <a:ext cx="420624" cy="420624"/>
          </a:xfrm>
          <a:prstGeom prst="roundRect">
            <a:avLst>
              <a:gd name="adj" fmla="val 60870"/>
            </a:avLst>
          </a:prstGeom>
          <a:solidFill>
            <a:srgbClr val="94A3B8"/>
          </a:solidFill>
          <a:ln w="12700">
            <a:solidFill>
              <a:srgbClr val="94A3B8"/>
            </a:solidFill>
            <a:prstDash val="solid"/>
          </a:ln>
        </p:spPr>
        <p:txBody>
          <a:bodyPr/>
          <a:lstStyle/>
          <a:p>
            <a:endParaRPr lang="en-IN"/>
          </a:p>
        </p:txBody>
      </p:sp>
      <p:pic>
        <p:nvPicPr>
          <p:cNvPr id="46" name="Image 1">
            <a:extLst>
              <a:ext uri="{FF2B5EF4-FFF2-40B4-BE49-F238E27FC236}">
                <a16:creationId xmlns:a16="http://schemas.microsoft.com/office/drawing/2014/main" id="{7DDD40B7-FC3D-F8CD-E49F-DF2D01B8D5B0}"/>
              </a:ext>
            </a:extLst>
          </p:cNvPr>
          <p:cNvPicPr>
            <a:picLocks noChangeAspect="1"/>
          </p:cNvPicPr>
          <p:nvPr/>
        </p:nvPicPr>
        <p:blipFill>
          <a:blip r:embed="rId3"/>
          <a:stretch>
            <a:fillRect/>
          </a:stretch>
        </p:blipFill>
        <p:spPr>
          <a:xfrm>
            <a:off x="740298" y="2600474"/>
            <a:ext cx="201900" cy="201900"/>
          </a:xfrm>
          <a:prstGeom prst="rect">
            <a:avLst/>
          </a:prstGeom>
        </p:spPr>
      </p:pic>
      <p:sp>
        <p:nvSpPr>
          <p:cNvPr id="51" name="Shape 10">
            <a:extLst>
              <a:ext uri="{FF2B5EF4-FFF2-40B4-BE49-F238E27FC236}">
                <a16:creationId xmlns:a16="http://schemas.microsoft.com/office/drawing/2014/main" id="{9CB0C844-1C06-DB47-643C-DDC281C66E5C}"/>
              </a:ext>
            </a:extLst>
          </p:cNvPr>
          <p:cNvSpPr/>
          <p:nvPr/>
        </p:nvSpPr>
        <p:spPr>
          <a:xfrm>
            <a:off x="2670048" y="2450592"/>
            <a:ext cx="420624" cy="420624"/>
          </a:xfrm>
          <a:prstGeom prst="roundRect">
            <a:avLst>
              <a:gd name="adj" fmla="val 60870"/>
            </a:avLst>
          </a:prstGeom>
          <a:solidFill>
            <a:srgbClr val="0284C7"/>
          </a:solidFill>
          <a:ln w="12700">
            <a:solidFill>
              <a:srgbClr val="0284C7"/>
            </a:solidFill>
            <a:prstDash val="solid"/>
          </a:ln>
        </p:spPr>
        <p:txBody>
          <a:bodyPr/>
          <a:lstStyle/>
          <a:p>
            <a:endParaRPr lang="en-IN" dirty="0"/>
          </a:p>
        </p:txBody>
      </p:sp>
      <p:pic>
        <p:nvPicPr>
          <p:cNvPr id="52" name="Image 3">
            <a:extLst>
              <a:ext uri="{FF2B5EF4-FFF2-40B4-BE49-F238E27FC236}">
                <a16:creationId xmlns:a16="http://schemas.microsoft.com/office/drawing/2014/main" id="{9F057840-C6BA-0A4A-C66F-BFF224CF5398}"/>
              </a:ext>
            </a:extLst>
          </p:cNvPr>
          <p:cNvPicPr>
            <a:picLocks noChangeAspect="1"/>
          </p:cNvPicPr>
          <p:nvPr/>
        </p:nvPicPr>
        <p:blipFill>
          <a:blip r:embed="rId4"/>
          <a:stretch>
            <a:fillRect/>
          </a:stretch>
        </p:blipFill>
        <p:spPr>
          <a:xfrm>
            <a:off x="2779410" y="2587020"/>
            <a:ext cx="201900" cy="201900"/>
          </a:xfrm>
          <a:prstGeom prst="rect">
            <a:avLst/>
          </a:prstGeom>
        </p:spPr>
      </p:pic>
      <p:sp>
        <p:nvSpPr>
          <p:cNvPr id="55" name="Shape 14">
            <a:extLst>
              <a:ext uri="{FF2B5EF4-FFF2-40B4-BE49-F238E27FC236}">
                <a16:creationId xmlns:a16="http://schemas.microsoft.com/office/drawing/2014/main" id="{B35FA0B7-A57D-A480-5D11-659A13AC22B5}"/>
              </a:ext>
            </a:extLst>
          </p:cNvPr>
          <p:cNvSpPr/>
          <p:nvPr/>
        </p:nvSpPr>
        <p:spPr>
          <a:xfrm>
            <a:off x="4919530" y="2477109"/>
            <a:ext cx="420624" cy="420624"/>
          </a:xfrm>
          <a:prstGeom prst="roundRect">
            <a:avLst>
              <a:gd name="adj" fmla="val 60870"/>
            </a:avLst>
          </a:prstGeom>
          <a:solidFill>
            <a:srgbClr val="7C3AED"/>
          </a:solidFill>
          <a:ln w="12700">
            <a:solidFill>
              <a:srgbClr val="7C3AED"/>
            </a:solidFill>
            <a:prstDash val="solid"/>
          </a:ln>
        </p:spPr>
        <p:txBody>
          <a:bodyPr/>
          <a:lstStyle/>
          <a:p>
            <a:endParaRPr lang="en-IN"/>
          </a:p>
        </p:txBody>
      </p:sp>
      <p:pic>
        <p:nvPicPr>
          <p:cNvPr id="56" name="Image 5">
            <a:extLst>
              <a:ext uri="{FF2B5EF4-FFF2-40B4-BE49-F238E27FC236}">
                <a16:creationId xmlns:a16="http://schemas.microsoft.com/office/drawing/2014/main" id="{F81A6B8A-4D77-4AEE-81DB-CBB32EEA97F1}"/>
              </a:ext>
            </a:extLst>
          </p:cNvPr>
          <p:cNvPicPr>
            <a:picLocks noChangeAspect="1"/>
          </p:cNvPicPr>
          <p:nvPr/>
        </p:nvPicPr>
        <p:blipFill>
          <a:blip r:embed="rId5"/>
          <a:stretch>
            <a:fillRect/>
          </a:stretch>
        </p:blipFill>
        <p:spPr>
          <a:xfrm>
            <a:off x="5028892" y="2586471"/>
            <a:ext cx="201900" cy="201900"/>
          </a:xfrm>
          <a:prstGeom prst="rect">
            <a:avLst/>
          </a:prstGeom>
        </p:spPr>
      </p:pic>
      <p:sp>
        <p:nvSpPr>
          <p:cNvPr id="58" name="TextBox 57">
            <a:extLst>
              <a:ext uri="{FF2B5EF4-FFF2-40B4-BE49-F238E27FC236}">
                <a16:creationId xmlns:a16="http://schemas.microsoft.com/office/drawing/2014/main" id="{B5401204-5B6D-F213-E5A7-21C6B3C24E85}"/>
              </a:ext>
            </a:extLst>
          </p:cNvPr>
          <p:cNvSpPr txBox="1"/>
          <p:nvPr/>
        </p:nvSpPr>
        <p:spPr>
          <a:xfrm>
            <a:off x="4757708" y="3091346"/>
            <a:ext cx="6094562" cy="324897"/>
          </a:xfrm>
          <a:prstGeom prst="rect">
            <a:avLst/>
          </a:prstGeom>
          <a:noFill/>
        </p:spPr>
        <p:txBody>
          <a:bodyPr wrap="square">
            <a:spAutoFit/>
          </a:bodyPr>
          <a:lstStyle/>
          <a:p>
            <a:pPr marL="0" indent="0">
              <a:lnSpc>
                <a:spcPct val="105000"/>
              </a:lnSpc>
              <a:buNone/>
            </a:pPr>
            <a:r>
              <a:rPr lang="en-US" sz="1500" b="1" dirty="0">
                <a:solidFill>
                  <a:srgbClr val="0F172A"/>
                </a:solidFill>
                <a:latin typeface="Calibri" pitchFamily="34" charset="0"/>
                <a:ea typeface="Calibri" pitchFamily="34" charset="-122"/>
                <a:cs typeface="Calibri" pitchFamily="34" charset="-120"/>
              </a:rPr>
              <a:t>CI / CD</a:t>
            </a:r>
            <a:endParaRPr lang="en-US" sz="1500" dirty="0"/>
          </a:p>
        </p:txBody>
      </p:sp>
      <p:sp>
        <p:nvSpPr>
          <p:cNvPr id="59" name="Shape 18">
            <a:extLst>
              <a:ext uri="{FF2B5EF4-FFF2-40B4-BE49-F238E27FC236}">
                <a16:creationId xmlns:a16="http://schemas.microsoft.com/office/drawing/2014/main" id="{2285AA9F-8995-77B3-47B6-4B4E1FAE9E29}"/>
              </a:ext>
            </a:extLst>
          </p:cNvPr>
          <p:cNvSpPr/>
          <p:nvPr/>
        </p:nvSpPr>
        <p:spPr>
          <a:xfrm>
            <a:off x="7107965" y="2457222"/>
            <a:ext cx="420624" cy="420624"/>
          </a:xfrm>
          <a:prstGeom prst="roundRect">
            <a:avLst>
              <a:gd name="adj" fmla="val 60870"/>
            </a:avLst>
          </a:prstGeom>
          <a:solidFill>
            <a:srgbClr val="0D9488"/>
          </a:solidFill>
          <a:ln w="12700">
            <a:solidFill>
              <a:srgbClr val="0D9488"/>
            </a:solidFill>
            <a:prstDash val="solid"/>
          </a:ln>
        </p:spPr>
        <p:txBody>
          <a:bodyPr/>
          <a:lstStyle/>
          <a:p>
            <a:endParaRPr lang="en-IN"/>
          </a:p>
        </p:txBody>
      </p:sp>
      <p:pic>
        <p:nvPicPr>
          <p:cNvPr id="60" name="Image 7">
            <a:extLst>
              <a:ext uri="{FF2B5EF4-FFF2-40B4-BE49-F238E27FC236}">
                <a16:creationId xmlns:a16="http://schemas.microsoft.com/office/drawing/2014/main" id="{DF89305D-DC55-23D8-2BDF-ABAB15A49A02}"/>
              </a:ext>
            </a:extLst>
          </p:cNvPr>
          <p:cNvPicPr>
            <a:picLocks noChangeAspect="1"/>
          </p:cNvPicPr>
          <p:nvPr/>
        </p:nvPicPr>
        <p:blipFill>
          <a:blip r:embed="rId6"/>
          <a:stretch>
            <a:fillRect/>
          </a:stretch>
        </p:blipFill>
        <p:spPr>
          <a:xfrm>
            <a:off x="7223789" y="2569557"/>
            <a:ext cx="201900" cy="201900"/>
          </a:xfrm>
          <a:prstGeom prst="rect">
            <a:avLst/>
          </a:prstGeom>
        </p:spPr>
      </p:pic>
      <p:sp>
        <p:nvSpPr>
          <p:cNvPr id="61" name="Shape 23">
            <a:extLst>
              <a:ext uri="{FF2B5EF4-FFF2-40B4-BE49-F238E27FC236}">
                <a16:creationId xmlns:a16="http://schemas.microsoft.com/office/drawing/2014/main" id="{E70EBBF3-1173-A6B5-C091-A1E36FBB0FB3}"/>
              </a:ext>
            </a:extLst>
          </p:cNvPr>
          <p:cNvSpPr/>
          <p:nvPr/>
        </p:nvSpPr>
        <p:spPr>
          <a:xfrm>
            <a:off x="9442696" y="2491112"/>
            <a:ext cx="420624" cy="420624"/>
          </a:xfrm>
          <a:prstGeom prst="roundRect">
            <a:avLst>
              <a:gd name="adj" fmla="val 60870"/>
            </a:avLst>
          </a:prstGeom>
          <a:solidFill>
            <a:srgbClr val="4F46E5"/>
          </a:solidFill>
          <a:ln w="12700">
            <a:solidFill>
              <a:srgbClr val="4F46E5"/>
            </a:solidFill>
            <a:prstDash val="solid"/>
          </a:ln>
        </p:spPr>
        <p:txBody>
          <a:bodyPr/>
          <a:lstStyle/>
          <a:p>
            <a:endParaRPr lang="en-IN"/>
          </a:p>
        </p:txBody>
      </p:sp>
      <p:pic>
        <p:nvPicPr>
          <p:cNvPr id="62" name="Image 9">
            <a:extLst>
              <a:ext uri="{FF2B5EF4-FFF2-40B4-BE49-F238E27FC236}">
                <a16:creationId xmlns:a16="http://schemas.microsoft.com/office/drawing/2014/main" id="{E47E5466-8A96-C66F-4839-587E84A53F93}"/>
              </a:ext>
            </a:extLst>
          </p:cNvPr>
          <p:cNvPicPr>
            <a:picLocks noChangeAspect="1"/>
          </p:cNvPicPr>
          <p:nvPr/>
        </p:nvPicPr>
        <p:blipFill>
          <a:blip r:embed="rId7"/>
          <a:stretch>
            <a:fillRect/>
          </a:stretch>
        </p:blipFill>
        <p:spPr>
          <a:xfrm>
            <a:off x="9552058" y="2613458"/>
            <a:ext cx="201900" cy="201900"/>
          </a:xfrm>
          <a:prstGeom prst="rect">
            <a:avLst/>
          </a:prstGeom>
        </p:spPr>
      </p:pic>
      <p:sp>
        <p:nvSpPr>
          <p:cNvPr id="64" name="TextBox 63">
            <a:extLst>
              <a:ext uri="{FF2B5EF4-FFF2-40B4-BE49-F238E27FC236}">
                <a16:creationId xmlns:a16="http://schemas.microsoft.com/office/drawing/2014/main" id="{D1159593-C1EA-E24A-E4BE-83925CF2E638}"/>
              </a:ext>
            </a:extLst>
          </p:cNvPr>
          <p:cNvSpPr txBox="1"/>
          <p:nvPr/>
        </p:nvSpPr>
        <p:spPr>
          <a:xfrm>
            <a:off x="9329403" y="3084970"/>
            <a:ext cx="6094562" cy="567271"/>
          </a:xfrm>
          <a:prstGeom prst="rect">
            <a:avLst/>
          </a:prstGeom>
          <a:noFill/>
        </p:spPr>
        <p:txBody>
          <a:bodyPr wrap="square">
            <a:spAutoFit/>
          </a:bodyPr>
          <a:lstStyle/>
          <a:p>
            <a:pPr marL="0" indent="0">
              <a:lnSpc>
                <a:spcPct val="105000"/>
              </a:lnSpc>
              <a:buNone/>
            </a:pPr>
            <a:r>
              <a:rPr lang="en-US" sz="1500" b="1" dirty="0">
                <a:solidFill>
                  <a:srgbClr val="0F172A"/>
                </a:solidFill>
                <a:ea typeface="Calibri" pitchFamily="34" charset="-122"/>
                <a:cs typeface="Calibri" pitchFamily="34" charset="-120"/>
              </a:rPr>
              <a:t>AI-Assisted</a:t>
            </a:r>
            <a:endParaRPr lang="en-US" sz="1500" dirty="0"/>
          </a:p>
          <a:p>
            <a:pPr marL="0" indent="0">
              <a:lnSpc>
                <a:spcPct val="105000"/>
              </a:lnSpc>
              <a:buNone/>
            </a:pPr>
            <a:r>
              <a:rPr lang="en-US" sz="1500" b="1" dirty="0">
                <a:solidFill>
                  <a:srgbClr val="0F172A"/>
                </a:solidFill>
                <a:ea typeface="Calibri" pitchFamily="34" charset="-122"/>
                <a:cs typeface="Calibri" pitchFamily="34" charset="-120"/>
              </a:rPr>
              <a:t>Development</a:t>
            </a:r>
            <a:endParaRPr lang="en-US" sz="1500" dirty="0"/>
          </a:p>
        </p:txBody>
      </p:sp>
      <p:cxnSp>
        <p:nvCxnSpPr>
          <p:cNvPr id="66" name="Straight Arrow Connector 65">
            <a:extLst>
              <a:ext uri="{FF2B5EF4-FFF2-40B4-BE49-F238E27FC236}">
                <a16:creationId xmlns:a16="http://schemas.microsoft.com/office/drawing/2014/main" id="{06666AEA-715B-8A21-E361-F78844CEB759}"/>
              </a:ext>
            </a:extLst>
          </p:cNvPr>
          <p:cNvCxnSpPr/>
          <p:nvPr/>
        </p:nvCxnSpPr>
        <p:spPr>
          <a:xfrm>
            <a:off x="1526959" y="2687421"/>
            <a:ext cx="7368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E10A544A-3DAE-EE19-2764-C28024FE6063}"/>
              </a:ext>
            </a:extLst>
          </p:cNvPr>
          <p:cNvCxnSpPr/>
          <p:nvPr/>
        </p:nvCxnSpPr>
        <p:spPr>
          <a:xfrm>
            <a:off x="3618738" y="2677510"/>
            <a:ext cx="7368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Text 16">
            <a:extLst>
              <a:ext uri="{FF2B5EF4-FFF2-40B4-BE49-F238E27FC236}">
                <a16:creationId xmlns:a16="http://schemas.microsoft.com/office/drawing/2014/main" id="{203D8298-1680-BA4C-775F-5156BB3A4564}"/>
              </a:ext>
            </a:extLst>
          </p:cNvPr>
          <p:cNvSpPr/>
          <p:nvPr/>
        </p:nvSpPr>
        <p:spPr>
          <a:xfrm>
            <a:off x="975360" y="2255520"/>
            <a:ext cx="5486400" cy="685800"/>
          </a:xfrm>
          <a:prstGeom prst="rect">
            <a:avLst/>
          </a:prstGeom>
          <a:noFill/>
          <a:ln/>
        </p:spPr>
        <p:txBody>
          <a:bodyPr wrap="square" lIns="0" tIns="0" rIns="0" bIns="0" rtlCol="0" anchor="ctr"/>
          <a:lstStyle/>
          <a:p>
            <a:pPr marL="0" indent="0">
              <a:buNone/>
            </a:pPr>
            <a:endParaRPr lang="en-US" sz="1800" dirty="0"/>
          </a:p>
        </p:txBody>
      </p:sp>
      <p:sp>
        <p:nvSpPr>
          <p:cNvPr id="71" name="Text 16">
            <a:extLst>
              <a:ext uri="{FF2B5EF4-FFF2-40B4-BE49-F238E27FC236}">
                <a16:creationId xmlns:a16="http://schemas.microsoft.com/office/drawing/2014/main" id="{658A61E7-7313-8574-97B7-15BAB550C06F}"/>
              </a:ext>
            </a:extLst>
          </p:cNvPr>
          <p:cNvSpPr/>
          <p:nvPr/>
        </p:nvSpPr>
        <p:spPr>
          <a:xfrm>
            <a:off x="1127760" y="2407920"/>
            <a:ext cx="5486400" cy="685800"/>
          </a:xfrm>
          <a:prstGeom prst="rect">
            <a:avLst/>
          </a:prstGeom>
          <a:noFill/>
          <a:ln/>
        </p:spPr>
        <p:txBody>
          <a:bodyPr wrap="square" lIns="0" tIns="0" rIns="0" bIns="0" rtlCol="0" anchor="ctr"/>
          <a:lstStyle/>
          <a:p>
            <a:pPr marL="0" indent="0">
              <a:buNone/>
            </a:pPr>
            <a:endParaRPr lang="en-US" sz="1800" dirty="0"/>
          </a:p>
        </p:txBody>
      </p:sp>
      <p:cxnSp>
        <p:nvCxnSpPr>
          <p:cNvPr id="72" name="Straight Arrow Connector 71">
            <a:extLst>
              <a:ext uri="{FF2B5EF4-FFF2-40B4-BE49-F238E27FC236}">
                <a16:creationId xmlns:a16="http://schemas.microsoft.com/office/drawing/2014/main" id="{0013173D-CE6D-E706-84DD-213BC3D10BD6}"/>
              </a:ext>
            </a:extLst>
          </p:cNvPr>
          <p:cNvCxnSpPr/>
          <p:nvPr/>
        </p:nvCxnSpPr>
        <p:spPr>
          <a:xfrm>
            <a:off x="5714245" y="2687421"/>
            <a:ext cx="7368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F4E30B6C-682A-6FA7-5831-13E6DFD3CA89}"/>
              </a:ext>
            </a:extLst>
          </p:cNvPr>
          <p:cNvCxnSpPr/>
          <p:nvPr/>
        </p:nvCxnSpPr>
        <p:spPr>
          <a:xfrm>
            <a:off x="8199127" y="2687421"/>
            <a:ext cx="7368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69ADCEC0-EC29-FEFC-AE08-B77AA2AFA8FF}"/>
              </a:ext>
            </a:extLst>
          </p:cNvPr>
          <p:cNvSpPr txBox="1"/>
          <p:nvPr/>
        </p:nvSpPr>
        <p:spPr>
          <a:xfrm>
            <a:off x="2427744" y="3091346"/>
            <a:ext cx="7710256" cy="324897"/>
          </a:xfrm>
          <a:prstGeom prst="rect">
            <a:avLst/>
          </a:prstGeom>
          <a:noFill/>
        </p:spPr>
        <p:txBody>
          <a:bodyPr wrap="square">
            <a:spAutoFit/>
          </a:bodyPr>
          <a:lstStyle/>
          <a:p>
            <a:pPr>
              <a:lnSpc>
                <a:spcPct val="105000"/>
              </a:lnSpc>
            </a:pPr>
            <a:r>
              <a:rPr lang="en-US" sz="1500" b="1" dirty="0">
                <a:solidFill>
                  <a:srgbClr val="0F172A"/>
                </a:solidFill>
                <a:ea typeface="Calibri" pitchFamily="34" charset="-122"/>
                <a:cs typeface="Calibri" pitchFamily="34" charset="-120"/>
              </a:rPr>
              <a:t>Version Control</a:t>
            </a:r>
            <a:endParaRPr lang="en-US" sz="1500" dirty="0"/>
          </a:p>
        </p:txBody>
      </p:sp>
      <p:sp>
        <p:nvSpPr>
          <p:cNvPr id="77" name="TextBox 76">
            <a:extLst>
              <a:ext uri="{FF2B5EF4-FFF2-40B4-BE49-F238E27FC236}">
                <a16:creationId xmlns:a16="http://schemas.microsoft.com/office/drawing/2014/main" id="{D8692DFA-3B7A-135E-4814-50AB71D0FD17}"/>
              </a:ext>
            </a:extLst>
          </p:cNvPr>
          <p:cNvSpPr txBox="1"/>
          <p:nvPr/>
        </p:nvSpPr>
        <p:spPr>
          <a:xfrm>
            <a:off x="499031" y="3107562"/>
            <a:ext cx="7710256" cy="503921"/>
          </a:xfrm>
          <a:prstGeom prst="rect">
            <a:avLst/>
          </a:prstGeom>
          <a:noFill/>
        </p:spPr>
        <p:txBody>
          <a:bodyPr wrap="square">
            <a:spAutoFit/>
          </a:bodyPr>
          <a:lstStyle/>
          <a:p>
            <a:pPr marL="0" indent="0">
              <a:lnSpc>
                <a:spcPct val="105000"/>
              </a:lnSpc>
              <a:buNone/>
            </a:pPr>
            <a:r>
              <a:rPr lang="en-US" sz="1300" b="1" dirty="0">
                <a:solidFill>
                  <a:srgbClr val="0F172A"/>
                </a:solidFill>
                <a:latin typeface="Arial" panose="020B0604020202020204" pitchFamily="34" charset="0"/>
                <a:ea typeface="Calibri" pitchFamily="34" charset="-122"/>
                <a:cs typeface="Arial" panose="020B0604020202020204" pitchFamily="34" charset="0"/>
              </a:rPr>
              <a:t>Editor, Compiler,</a:t>
            </a:r>
            <a:endParaRPr lang="en-US" sz="1300" dirty="0">
              <a:latin typeface="Arial" panose="020B0604020202020204" pitchFamily="34" charset="0"/>
              <a:cs typeface="Arial" panose="020B0604020202020204" pitchFamily="34" charset="0"/>
            </a:endParaRPr>
          </a:p>
          <a:p>
            <a:pPr marL="0" indent="0">
              <a:lnSpc>
                <a:spcPct val="105000"/>
              </a:lnSpc>
              <a:buNone/>
            </a:pPr>
            <a:r>
              <a:rPr lang="en-US" sz="1300" b="1" dirty="0">
                <a:solidFill>
                  <a:srgbClr val="0F172A"/>
                </a:solidFill>
                <a:latin typeface="Arial" panose="020B0604020202020204" pitchFamily="34" charset="0"/>
                <a:ea typeface="Calibri" pitchFamily="34" charset="-122"/>
                <a:cs typeface="Arial" panose="020B0604020202020204" pitchFamily="34" charset="0"/>
              </a:rPr>
              <a:t>Debugger</a:t>
            </a:r>
            <a:endParaRPr lang="en-US" sz="1300"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algn="r"/>
            <a:r>
              <a:rPr lang="en-US" sz="850" kern="0" spc="120" dirty="0">
                <a:solidFill>
                  <a:srgbClr val="9AA3AE"/>
                </a:solidFill>
                <a:latin typeface="Consolas" pitchFamily="34" charset="0"/>
                <a:ea typeface="Consolas" pitchFamily="34" charset="-122"/>
                <a:cs typeface="Consolas" pitchFamily="34" charset="-120"/>
              </a:rPr>
              <a:t>FRONTIER · TRACK -04</a:t>
            </a:r>
            <a:endParaRPr lang="en-US" sz="850" dirty="0"/>
          </a:p>
        </p:txBody>
      </p:sp>
      <p:sp>
        <p:nvSpPr>
          <p:cNvPr id="16" name="Text 14"/>
          <p:cNvSpPr/>
          <p:nvPr/>
        </p:nvSpPr>
        <p:spPr>
          <a:xfrm>
            <a:off x="747979" y="1058289"/>
            <a:ext cx="9692640" cy="475488"/>
          </a:xfrm>
          <a:prstGeom prst="rect">
            <a:avLst/>
          </a:prstGeom>
          <a:noFill/>
          <a:ln/>
        </p:spPr>
        <p:txBody>
          <a:bodyPr wrap="square" lIns="0" tIns="0" rIns="0" bIns="0" rtlCol="0" anchor="ctr"/>
          <a:lstStyle/>
          <a:p>
            <a:r>
              <a:rPr lang="en-US" sz="3200" b="1" dirty="0">
                <a:solidFill>
                  <a:srgbClr val="0F172A"/>
                </a:solidFill>
                <a:latin typeface="Arial Black" panose="020B0A04020102020204" pitchFamily="34" charset="0"/>
                <a:ea typeface="Calibri" pitchFamily="34" charset="-122"/>
                <a:cs typeface="Calibri" pitchFamily="34" charset="-120"/>
              </a:rPr>
              <a:t>WHERE DEVELOPERS LOSE TIME</a:t>
            </a:r>
            <a:endParaRPr lang="en-US" sz="3200" dirty="0">
              <a:latin typeface="Arial Black" panose="020B0A04020102020204" pitchFamily="34" charset="0"/>
            </a:endParaRPr>
          </a:p>
        </p:txBody>
      </p:sp>
      <p:sp>
        <p:nvSpPr>
          <p:cNvPr id="17" name="Text 15"/>
          <p:cNvSpPr/>
          <p:nvPr/>
        </p:nvSpPr>
        <p:spPr>
          <a:xfrm>
            <a:off x="767181" y="1533777"/>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122"/>
                <a:cs typeface="Consolas" pitchFamily="34" charset="-120"/>
              </a:rPr>
              <a:t>the reality check</a:t>
            </a:r>
            <a:endParaRPr lang="en-US" sz="1100" dirty="0"/>
          </a:p>
        </p:txBody>
      </p:sp>
      <p:sp>
        <p:nvSpPr>
          <p:cNvPr id="18" name="Text 16"/>
          <p:cNvSpPr/>
          <p:nvPr/>
        </p:nvSpPr>
        <p:spPr>
          <a:xfrm>
            <a:off x="2507488" y="5572923"/>
            <a:ext cx="8029458" cy="279324"/>
          </a:xfrm>
          <a:prstGeom prst="rect">
            <a:avLst/>
          </a:prstGeom>
          <a:noFill/>
          <a:ln/>
        </p:spPr>
        <p:txBody>
          <a:bodyPr wrap="square" lIns="0" tIns="0" rIns="0" bIns="0" rtlCol="0" anchor="ctr"/>
          <a:lstStyle/>
          <a:p>
            <a:r>
              <a:rPr lang="en-GB" sz="1600" i="1" dirty="0">
                <a:solidFill>
                  <a:schemeClr val="bg2">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Developers spend more time supporting software than writing it.</a:t>
            </a:r>
            <a:endParaRPr lang="en-US" sz="1600" i="1" dirty="0">
              <a:solidFill>
                <a:schemeClr val="bg2">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20" name="Text 18"/>
          <p:cNvSpPr/>
          <p:nvPr/>
        </p:nvSpPr>
        <p:spPr>
          <a:xfrm>
            <a:off x="969264" y="2770632"/>
            <a:ext cx="10250424" cy="2240280"/>
          </a:xfrm>
          <a:prstGeom prst="rect">
            <a:avLst/>
          </a:prstGeom>
          <a:noFill/>
          <a:ln/>
        </p:spPr>
        <p:txBody>
          <a:bodyPr wrap="square" lIns="762" tIns="762" rIns="762" bIns="762" rtlCol="0" anchor="t"/>
          <a:lstStyle/>
          <a:p>
            <a:pPr marL="0" indent="0">
              <a:buNone/>
            </a:pPr>
            <a:endParaRPr lang="en-US" sz="1100" dirty="0"/>
          </a:p>
        </p:txBody>
      </p:sp>
      <p:sp>
        <p:nvSpPr>
          <p:cNvPr id="21" name="Text 19"/>
          <p:cNvSpPr/>
          <p:nvPr/>
        </p:nvSpPr>
        <p:spPr>
          <a:xfrm>
            <a:off x="822960" y="5230368"/>
            <a:ext cx="10543032" cy="219456"/>
          </a:xfrm>
          <a:prstGeom prst="rect">
            <a:avLst/>
          </a:prstGeom>
          <a:noFill/>
          <a:ln/>
        </p:spPr>
        <p:txBody>
          <a:bodyPr wrap="square" lIns="0" tIns="0" rIns="0" bIns="0" rtlCol="0" anchor="ctr"/>
          <a:lstStyle/>
          <a:p>
            <a:pPr marL="0" indent="0">
              <a:buNone/>
            </a:pPr>
            <a:endParaRPr lang="en-US" sz="900" dirty="0"/>
          </a:p>
        </p:txBody>
      </p:sp>
      <p:sp>
        <p:nvSpPr>
          <p:cNvPr id="25" name="Text 23"/>
          <p:cNvSpPr/>
          <p:nvPr/>
        </p:nvSpPr>
        <p:spPr>
          <a:xfrm>
            <a:off x="3746754" y="5522976"/>
            <a:ext cx="2210562" cy="566928"/>
          </a:xfrm>
          <a:prstGeom prst="rect">
            <a:avLst/>
          </a:prstGeom>
          <a:noFill/>
          <a:ln/>
        </p:spPr>
        <p:txBody>
          <a:bodyPr wrap="square" lIns="0" tIns="0" rIns="0" bIns="0" rtlCol="0" anchor="t"/>
          <a:lstStyle/>
          <a:p>
            <a:pPr marL="0" indent="0">
              <a:buNone/>
            </a:pPr>
            <a:endParaRPr lang="en-US" sz="1100" dirty="0"/>
          </a:p>
        </p:txBody>
      </p:sp>
      <p:sp>
        <p:nvSpPr>
          <p:cNvPr id="27" name="Text 25"/>
          <p:cNvSpPr/>
          <p:nvPr/>
        </p:nvSpPr>
        <p:spPr>
          <a:xfrm>
            <a:off x="6451092" y="5522976"/>
            <a:ext cx="2210562" cy="566928"/>
          </a:xfrm>
          <a:prstGeom prst="rect">
            <a:avLst/>
          </a:prstGeom>
          <a:noFill/>
          <a:ln/>
        </p:spPr>
        <p:txBody>
          <a:bodyPr wrap="square" lIns="0" tIns="0" rIns="0" bIns="0" rtlCol="0" anchor="t"/>
          <a:lstStyle/>
          <a:p>
            <a:pPr marL="0" indent="0">
              <a:buNone/>
            </a:pPr>
            <a:endParaRPr lang="en-US" sz="1100" dirty="0"/>
          </a:p>
        </p:txBody>
      </p:sp>
      <p:sp>
        <p:nvSpPr>
          <p:cNvPr id="29" name="Text 27"/>
          <p:cNvSpPr/>
          <p:nvPr/>
        </p:nvSpPr>
        <p:spPr>
          <a:xfrm>
            <a:off x="9155430" y="5522976"/>
            <a:ext cx="2210562" cy="566928"/>
          </a:xfrm>
          <a:prstGeom prst="rect">
            <a:avLst/>
          </a:prstGeom>
          <a:noFill/>
          <a:ln/>
        </p:spPr>
        <p:txBody>
          <a:bodyPr wrap="square" lIns="0" tIns="0" rIns="0" bIns="0" rtlCol="0" anchor="t"/>
          <a:lstStyle/>
          <a:p>
            <a:pPr marL="0" indent="0">
              <a:buNone/>
            </a:pPr>
            <a:endParaRPr lang="en-US" sz="1100" dirty="0"/>
          </a:p>
        </p:txBody>
      </p:sp>
      <p:sp>
        <p:nvSpPr>
          <p:cNvPr id="30" name="Text 28"/>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1" name="Text 29"/>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05</a:t>
            </a:r>
            <a:r>
              <a:rPr lang="en-US" sz="900" dirty="0">
                <a:solidFill>
                  <a:srgbClr val="9AA3AE"/>
                </a:solidFill>
                <a:latin typeface="Consolas" pitchFamily="34" charset="0"/>
                <a:ea typeface="Consolas" pitchFamily="34" charset="-122"/>
                <a:cs typeface="Consolas" pitchFamily="34" charset="-120"/>
              </a:rPr>
              <a:t> / 12</a:t>
            </a:r>
            <a:endParaRPr lang="en-US" sz="900" dirty="0"/>
          </a:p>
        </p:txBody>
      </p:sp>
      <p:sp>
        <p:nvSpPr>
          <p:cNvPr id="32" name="Shape 30"/>
          <p:cNvSpPr/>
          <p:nvPr/>
        </p:nvSpPr>
        <p:spPr>
          <a:xfrm>
            <a:off x="11722608" y="6391656"/>
            <a:ext cx="173736" cy="173736"/>
          </a:xfrm>
          <a:prstGeom prst="rect">
            <a:avLst/>
          </a:prstGeom>
          <a:solidFill>
            <a:srgbClr val="7C4DE8"/>
          </a:solidFill>
          <a:ln/>
        </p:spPr>
        <p:txBody>
          <a:bodyPr/>
          <a:lstStyle/>
          <a:p>
            <a:endParaRPr lang="en-IN"/>
          </a:p>
        </p:txBody>
      </p:sp>
      <p:sp>
        <p:nvSpPr>
          <p:cNvPr id="33" name="Shape 31"/>
          <p:cNvSpPr/>
          <p:nvPr/>
        </p:nvSpPr>
        <p:spPr>
          <a:xfrm>
            <a:off x="11769517" y="6438565"/>
            <a:ext cx="79919" cy="79919"/>
          </a:xfrm>
          <a:prstGeom prst="rect">
            <a:avLst/>
          </a:prstGeom>
          <a:solidFill>
            <a:srgbClr val="FFFFFF"/>
          </a:solidFill>
          <a:ln/>
        </p:spPr>
        <p:txBody>
          <a:bodyPr/>
          <a:lstStyle/>
          <a:p>
            <a:endParaRPr lang="en-IN"/>
          </a:p>
        </p:txBody>
      </p:sp>
      <p:sp>
        <p:nvSpPr>
          <p:cNvPr id="34" name="Shape 32"/>
          <p:cNvSpPr/>
          <p:nvPr/>
        </p:nvSpPr>
        <p:spPr>
          <a:xfrm>
            <a:off x="11752143" y="6356909"/>
            <a:ext cx="29535" cy="34747"/>
          </a:xfrm>
          <a:prstGeom prst="rect">
            <a:avLst/>
          </a:prstGeom>
          <a:solidFill>
            <a:srgbClr val="7C4DE8"/>
          </a:solidFill>
          <a:ln/>
        </p:spPr>
        <p:txBody>
          <a:bodyPr/>
          <a:lstStyle/>
          <a:p>
            <a:endParaRPr lang="en-IN"/>
          </a:p>
        </p:txBody>
      </p:sp>
      <p:sp>
        <p:nvSpPr>
          <p:cNvPr id="35" name="Shape 33"/>
          <p:cNvSpPr/>
          <p:nvPr/>
        </p:nvSpPr>
        <p:spPr>
          <a:xfrm>
            <a:off x="11752143" y="6565392"/>
            <a:ext cx="29535" cy="34747"/>
          </a:xfrm>
          <a:prstGeom prst="rect">
            <a:avLst/>
          </a:prstGeom>
          <a:solidFill>
            <a:srgbClr val="7C4DE8"/>
          </a:solidFill>
          <a:ln/>
        </p:spPr>
        <p:txBody>
          <a:bodyPr/>
          <a:lstStyle/>
          <a:p>
            <a:endParaRPr lang="en-IN"/>
          </a:p>
        </p:txBody>
      </p:sp>
      <p:sp>
        <p:nvSpPr>
          <p:cNvPr id="36" name="Shape 34"/>
          <p:cNvSpPr/>
          <p:nvPr/>
        </p:nvSpPr>
        <p:spPr>
          <a:xfrm>
            <a:off x="11687861" y="6421191"/>
            <a:ext cx="34747" cy="29535"/>
          </a:xfrm>
          <a:prstGeom prst="rect">
            <a:avLst/>
          </a:prstGeom>
          <a:solidFill>
            <a:srgbClr val="7C4DE8"/>
          </a:solidFill>
          <a:ln/>
        </p:spPr>
        <p:txBody>
          <a:bodyPr/>
          <a:lstStyle/>
          <a:p>
            <a:endParaRPr lang="en-IN"/>
          </a:p>
        </p:txBody>
      </p:sp>
      <p:sp>
        <p:nvSpPr>
          <p:cNvPr id="37" name="Shape 35"/>
          <p:cNvSpPr/>
          <p:nvPr/>
        </p:nvSpPr>
        <p:spPr>
          <a:xfrm>
            <a:off x="11896344" y="6421191"/>
            <a:ext cx="34747" cy="29535"/>
          </a:xfrm>
          <a:prstGeom prst="rect">
            <a:avLst/>
          </a:prstGeom>
          <a:solidFill>
            <a:srgbClr val="7C4DE8"/>
          </a:solidFill>
          <a:ln/>
        </p:spPr>
        <p:txBody>
          <a:bodyPr/>
          <a:lstStyle/>
          <a:p>
            <a:endParaRPr lang="en-IN"/>
          </a:p>
        </p:txBody>
      </p:sp>
      <p:sp>
        <p:nvSpPr>
          <p:cNvPr id="38" name="Shape 36"/>
          <p:cNvSpPr/>
          <p:nvPr/>
        </p:nvSpPr>
        <p:spPr>
          <a:xfrm>
            <a:off x="11837274" y="6356909"/>
            <a:ext cx="29535" cy="34747"/>
          </a:xfrm>
          <a:prstGeom prst="rect">
            <a:avLst/>
          </a:prstGeom>
          <a:solidFill>
            <a:srgbClr val="7C4DE8"/>
          </a:solidFill>
          <a:ln/>
        </p:spPr>
        <p:txBody>
          <a:bodyPr/>
          <a:lstStyle/>
          <a:p>
            <a:endParaRPr lang="en-IN"/>
          </a:p>
        </p:txBody>
      </p:sp>
      <p:sp>
        <p:nvSpPr>
          <p:cNvPr id="39" name="Shape 37"/>
          <p:cNvSpPr/>
          <p:nvPr/>
        </p:nvSpPr>
        <p:spPr>
          <a:xfrm>
            <a:off x="11837274" y="6565392"/>
            <a:ext cx="29535" cy="34747"/>
          </a:xfrm>
          <a:prstGeom prst="rect">
            <a:avLst/>
          </a:prstGeom>
          <a:solidFill>
            <a:srgbClr val="7C4DE8"/>
          </a:solidFill>
          <a:ln/>
        </p:spPr>
        <p:txBody>
          <a:bodyPr/>
          <a:lstStyle/>
          <a:p>
            <a:endParaRPr lang="en-IN"/>
          </a:p>
        </p:txBody>
      </p:sp>
      <p:sp>
        <p:nvSpPr>
          <p:cNvPr id="40" name="Shape 38"/>
          <p:cNvSpPr/>
          <p:nvPr/>
        </p:nvSpPr>
        <p:spPr>
          <a:xfrm>
            <a:off x="11687861" y="6506322"/>
            <a:ext cx="34747" cy="29535"/>
          </a:xfrm>
          <a:prstGeom prst="rect">
            <a:avLst/>
          </a:prstGeom>
          <a:solidFill>
            <a:srgbClr val="7C4DE8"/>
          </a:solidFill>
          <a:ln/>
        </p:spPr>
        <p:txBody>
          <a:bodyPr/>
          <a:lstStyle/>
          <a:p>
            <a:endParaRPr lang="en-IN"/>
          </a:p>
        </p:txBody>
      </p:sp>
      <p:sp>
        <p:nvSpPr>
          <p:cNvPr id="41" name="Shape 39"/>
          <p:cNvSpPr/>
          <p:nvPr/>
        </p:nvSpPr>
        <p:spPr>
          <a:xfrm>
            <a:off x="11896344" y="6506322"/>
            <a:ext cx="34747" cy="29535"/>
          </a:xfrm>
          <a:prstGeom prst="rect">
            <a:avLst/>
          </a:prstGeom>
          <a:solidFill>
            <a:srgbClr val="7C4DE8"/>
          </a:solidFill>
          <a:ln/>
        </p:spPr>
        <p:txBody>
          <a:bodyPr/>
          <a:lstStyle/>
          <a:p>
            <a:endParaRPr lang="en-IN"/>
          </a:p>
        </p:txBody>
      </p:sp>
      <p:graphicFrame>
        <p:nvGraphicFramePr>
          <p:cNvPr id="49" name="Chart 48">
            <a:extLst>
              <a:ext uri="{FF2B5EF4-FFF2-40B4-BE49-F238E27FC236}">
                <a16:creationId xmlns:a16="http://schemas.microsoft.com/office/drawing/2014/main" id="{17512406-1369-133B-53AD-EBAB305F1FC5}"/>
              </a:ext>
            </a:extLst>
          </p:cNvPr>
          <p:cNvGraphicFramePr/>
          <p:nvPr>
            <p:extLst>
              <p:ext uri="{D42A27DB-BD31-4B8C-83A1-F6EECF244321}">
                <p14:modId xmlns:p14="http://schemas.microsoft.com/office/powerpoint/2010/main" val="1873354468"/>
              </p:ext>
            </p:extLst>
          </p:nvPr>
        </p:nvGraphicFramePr>
        <p:xfrm>
          <a:off x="1865227" y="2030012"/>
          <a:ext cx="11119402" cy="324612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algn="r"/>
            <a:r>
              <a:rPr lang="en-US" sz="850" kern="0" spc="120" dirty="0">
                <a:solidFill>
                  <a:srgbClr val="9AA3AE"/>
                </a:solidFill>
                <a:latin typeface="Consolas" pitchFamily="34" charset="0"/>
                <a:ea typeface="Consolas" pitchFamily="34" charset="-122"/>
                <a:cs typeface="Consolas" pitchFamily="34" charset="-120"/>
              </a:rPr>
              <a:t>FRONTIER · TRACK -04</a:t>
            </a:r>
            <a:endParaRPr lang="en-US" sz="850" dirty="0"/>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onsolas" pitchFamily="34" charset="0"/>
                <a:ea typeface="Consolas" pitchFamily="34" charset="-122"/>
                <a:cs typeface="Consolas" pitchFamily="34" charset="-120"/>
              </a:rPr>
              <a:t>06</a:t>
            </a:r>
            <a:endParaRPr lang="en-US" sz="1700" dirty="0"/>
          </a:p>
        </p:txBody>
      </p:sp>
      <p:sp>
        <p:nvSpPr>
          <p:cNvPr id="16" name="Text 14"/>
          <p:cNvSpPr/>
          <p:nvPr/>
        </p:nvSpPr>
        <p:spPr>
          <a:xfrm>
            <a:off x="613562" y="1068933"/>
            <a:ext cx="9692640" cy="475488"/>
          </a:xfrm>
          <a:prstGeom prst="rect">
            <a:avLst/>
          </a:prstGeom>
          <a:noFill/>
          <a:ln/>
        </p:spPr>
        <p:txBody>
          <a:bodyPr wrap="square" lIns="0" tIns="0" rIns="0" bIns="0" rtlCol="0" anchor="ctr"/>
          <a:lstStyle/>
          <a:p>
            <a:r>
              <a:rPr lang="en-US" sz="3200" b="1" dirty="0">
                <a:solidFill>
                  <a:srgbClr val="0F172A"/>
                </a:solidFill>
                <a:latin typeface="Calibri" pitchFamily="34" charset="0"/>
                <a:ea typeface="Calibri" pitchFamily="34" charset="-122"/>
                <a:cs typeface="Calibri" pitchFamily="34" charset="-120"/>
              </a:rPr>
              <a:t>AI Across the Software Development Lifecycle</a:t>
            </a:r>
            <a:endParaRPr lang="en-US" sz="3200" dirty="0"/>
          </a:p>
        </p:txBody>
      </p:sp>
      <p:sp>
        <p:nvSpPr>
          <p:cNvPr id="17" name="Text 15"/>
          <p:cNvSpPr/>
          <p:nvPr/>
        </p:nvSpPr>
        <p:spPr>
          <a:xfrm>
            <a:off x="636879" y="1600200"/>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122"/>
                <a:cs typeface="Consolas" pitchFamily="34" charset="-120"/>
              </a:rPr>
              <a:t>AI throughout the development journey</a:t>
            </a:r>
            <a:endParaRPr lang="en-US" sz="1100" dirty="0"/>
          </a:p>
        </p:txBody>
      </p:sp>
      <p:sp>
        <p:nvSpPr>
          <p:cNvPr id="18" name="Text 16"/>
          <p:cNvSpPr/>
          <p:nvPr/>
        </p:nvSpPr>
        <p:spPr>
          <a:xfrm>
            <a:off x="822960" y="2103120"/>
            <a:ext cx="7223760" cy="566928"/>
          </a:xfrm>
          <a:prstGeom prst="rect">
            <a:avLst/>
          </a:prstGeom>
          <a:noFill/>
          <a:ln/>
        </p:spPr>
        <p:txBody>
          <a:bodyPr wrap="square" lIns="0" tIns="0" rIns="0" bIns="0" rtlCol="0" anchor="ctr"/>
          <a:lstStyle/>
          <a:p>
            <a:pPr marL="0" indent="0">
              <a:buNone/>
            </a:pPr>
            <a:endParaRPr lang="en-US" sz="2100" dirty="0"/>
          </a:p>
        </p:txBody>
      </p:sp>
      <p:sp>
        <p:nvSpPr>
          <p:cNvPr id="24" name="Text 22"/>
          <p:cNvSpPr/>
          <p:nvPr/>
        </p:nvSpPr>
        <p:spPr>
          <a:xfrm>
            <a:off x="8622792" y="2670048"/>
            <a:ext cx="2487168" cy="1005840"/>
          </a:xfrm>
          <a:prstGeom prst="rect">
            <a:avLst/>
          </a:prstGeom>
          <a:noFill/>
          <a:ln/>
        </p:spPr>
        <p:txBody>
          <a:bodyPr wrap="square" lIns="0" tIns="0" rIns="0" bIns="0" rtlCol="0" anchor="ctr"/>
          <a:lstStyle/>
          <a:p>
            <a:pPr marL="0" indent="0" algn="ctr">
              <a:buNone/>
            </a:pPr>
            <a:endParaRPr lang="en-US" sz="3400" dirty="0"/>
          </a:p>
        </p:txBody>
      </p:sp>
      <p:sp>
        <p:nvSpPr>
          <p:cNvPr id="26" name="Text 24"/>
          <p:cNvSpPr/>
          <p:nvPr/>
        </p:nvSpPr>
        <p:spPr>
          <a:xfrm>
            <a:off x="8769096" y="3840480"/>
            <a:ext cx="2194560" cy="932688"/>
          </a:xfrm>
          <a:prstGeom prst="rect">
            <a:avLst/>
          </a:prstGeom>
          <a:noFill/>
          <a:ln/>
        </p:spPr>
        <p:txBody>
          <a:bodyPr wrap="square" lIns="762" tIns="762" rIns="762" bIns="762" rtlCol="0" anchor="t"/>
          <a:lstStyle/>
          <a:p>
            <a:pPr marL="0" indent="0">
              <a:buNone/>
            </a:pPr>
            <a:endParaRPr lang="en-US" sz="1100" dirty="0"/>
          </a:p>
        </p:txBody>
      </p:sp>
      <p:sp>
        <p:nvSpPr>
          <p:cNvPr id="27" name="Text 25"/>
          <p:cNvSpPr/>
          <p:nvPr/>
        </p:nvSpPr>
        <p:spPr>
          <a:xfrm>
            <a:off x="822960" y="5230368"/>
            <a:ext cx="10543032" cy="219456"/>
          </a:xfrm>
          <a:prstGeom prst="rect">
            <a:avLst/>
          </a:prstGeom>
          <a:noFill/>
          <a:ln/>
        </p:spPr>
        <p:txBody>
          <a:bodyPr wrap="square" lIns="0" tIns="0" rIns="0" bIns="0" rtlCol="0" anchor="ctr"/>
          <a:lstStyle/>
          <a:p>
            <a:pPr marL="0" indent="0">
              <a:buNone/>
            </a:pPr>
            <a:endParaRPr lang="en-US" sz="900" dirty="0"/>
          </a:p>
        </p:txBody>
      </p:sp>
      <p:sp>
        <p:nvSpPr>
          <p:cNvPr id="29" name="Text 27"/>
          <p:cNvSpPr/>
          <p:nvPr/>
        </p:nvSpPr>
        <p:spPr>
          <a:xfrm>
            <a:off x="841248" y="3920013"/>
            <a:ext cx="961910" cy="1740497"/>
          </a:xfrm>
          <a:prstGeom prst="rect">
            <a:avLst/>
          </a:prstGeom>
          <a:noFill/>
          <a:ln/>
        </p:spPr>
        <p:txBody>
          <a:bodyPr wrap="square" lIns="0" tIns="0" rIns="0" bIns="0" rtlCol="0" anchor="t"/>
          <a:lstStyle/>
          <a:p>
            <a:pPr marL="0" indent="0">
              <a:buNone/>
            </a:pPr>
            <a:r>
              <a:rPr lang="en-US" sz="1100" b="1" dirty="0">
                <a:solidFill>
                  <a:srgbClr val="667180"/>
                </a:solidFill>
                <a:latin typeface="Arial" pitchFamily="34" charset="0"/>
                <a:ea typeface="Arial" pitchFamily="34" charset="-122"/>
                <a:cs typeface="Arial" pitchFamily="34" charset="-120"/>
              </a:rPr>
              <a:t>Brainstorm ideas, validate concepts, and identify user requirements before development begins.</a:t>
            </a:r>
            <a:endParaRPr lang="en-US" sz="1100" b="1" dirty="0"/>
          </a:p>
        </p:txBody>
      </p:sp>
      <p:sp>
        <p:nvSpPr>
          <p:cNvPr id="31" name="Text 29"/>
          <p:cNvSpPr/>
          <p:nvPr/>
        </p:nvSpPr>
        <p:spPr>
          <a:xfrm>
            <a:off x="2450869" y="3966574"/>
            <a:ext cx="1105281" cy="1434464"/>
          </a:xfrm>
          <a:prstGeom prst="rect">
            <a:avLst/>
          </a:prstGeom>
          <a:noFill/>
          <a:ln/>
        </p:spPr>
        <p:txBody>
          <a:bodyPr wrap="square" lIns="0" tIns="0" rIns="0" bIns="0" rtlCol="0" anchor="t"/>
          <a:lstStyle/>
          <a:p>
            <a:pPr marL="0" indent="0">
              <a:buNone/>
            </a:pPr>
            <a:r>
              <a:rPr lang="en-US" sz="1100" b="1" dirty="0">
                <a:solidFill>
                  <a:srgbClr val="667180"/>
                </a:solidFill>
                <a:latin typeface="Arial" pitchFamily="34" charset="0"/>
                <a:ea typeface="Arial" pitchFamily="34" charset="-122"/>
                <a:cs typeface="Arial" pitchFamily="34" charset="-120"/>
              </a:rPr>
              <a:t>Define project scope, estimate effort, and </a:t>
            </a:r>
            <a:r>
              <a:rPr lang="en-US" sz="1100" b="1" dirty="0" err="1">
                <a:solidFill>
                  <a:srgbClr val="667180"/>
                </a:solidFill>
                <a:latin typeface="Arial" pitchFamily="34" charset="0"/>
                <a:ea typeface="Arial" pitchFamily="34" charset="-122"/>
                <a:cs typeface="Arial" pitchFamily="34" charset="-120"/>
              </a:rPr>
              <a:t>organise</a:t>
            </a:r>
            <a:r>
              <a:rPr lang="en-US" sz="1100" b="1" dirty="0">
                <a:solidFill>
                  <a:srgbClr val="667180"/>
                </a:solidFill>
                <a:latin typeface="Arial" pitchFamily="34" charset="0"/>
                <a:ea typeface="Arial" pitchFamily="34" charset="-122"/>
                <a:cs typeface="Arial" pitchFamily="34" charset="-120"/>
              </a:rPr>
              <a:t> tasks into a clear development roadmap.</a:t>
            </a:r>
            <a:endParaRPr lang="en-US" sz="1100" b="1" dirty="0"/>
          </a:p>
        </p:txBody>
      </p:sp>
      <p:sp>
        <p:nvSpPr>
          <p:cNvPr id="33" name="Text 31"/>
          <p:cNvSpPr/>
          <p:nvPr/>
        </p:nvSpPr>
        <p:spPr>
          <a:xfrm>
            <a:off x="4145228" y="3966573"/>
            <a:ext cx="1205618" cy="528751"/>
          </a:xfrm>
          <a:prstGeom prst="rect">
            <a:avLst/>
          </a:prstGeom>
          <a:noFill/>
          <a:ln/>
        </p:spPr>
        <p:txBody>
          <a:bodyPr wrap="square" lIns="0" tIns="0" rIns="0" bIns="0" rtlCol="0" anchor="t"/>
          <a:lstStyle/>
          <a:p>
            <a:pPr marL="0" indent="0">
              <a:buNone/>
            </a:pPr>
            <a:r>
              <a:rPr lang="en-US" sz="1100" b="1" dirty="0">
                <a:solidFill>
                  <a:srgbClr val="667180"/>
                </a:solidFill>
                <a:latin typeface="Arial" pitchFamily="34" charset="0"/>
                <a:ea typeface="Arial" pitchFamily="34" charset="-122"/>
                <a:cs typeface="Arial" pitchFamily="34" charset="-120"/>
              </a:rPr>
              <a:t>Design system architecture, APIs, database schemas, and user interfaces for scalable solutions.</a:t>
            </a:r>
            <a:endParaRPr lang="en-US" sz="1100" b="1" dirty="0"/>
          </a:p>
        </p:txBody>
      </p:sp>
      <p:sp>
        <p:nvSpPr>
          <p:cNvPr id="35" name="Text 33"/>
          <p:cNvSpPr/>
          <p:nvPr/>
        </p:nvSpPr>
        <p:spPr>
          <a:xfrm>
            <a:off x="9155430" y="5522976"/>
            <a:ext cx="2210562" cy="566928"/>
          </a:xfrm>
          <a:prstGeom prst="rect">
            <a:avLst/>
          </a:prstGeom>
          <a:noFill/>
          <a:ln/>
        </p:spPr>
        <p:txBody>
          <a:bodyPr wrap="square" lIns="0" tIns="0" rIns="0" bIns="0" rtlCol="0" anchor="t"/>
          <a:lstStyle/>
          <a:p>
            <a:pPr marL="0" indent="0">
              <a:buNone/>
            </a:pPr>
            <a:endParaRPr lang="en-US" sz="1100" dirty="0"/>
          </a:p>
        </p:txBody>
      </p:sp>
      <p:sp>
        <p:nvSpPr>
          <p:cNvPr id="36" name="Text 34"/>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7" name="Text 35"/>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06</a:t>
            </a:r>
            <a:r>
              <a:rPr lang="en-US" sz="900" dirty="0">
                <a:solidFill>
                  <a:srgbClr val="9AA3AE"/>
                </a:solidFill>
                <a:latin typeface="Consolas" pitchFamily="34" charset="0"/>
                <a:ea typeface="Consolas" pitchFamily="34" charset="-122"/>
                <a:cs typeface="Consolas" pitchFamily="34" charset="-120"/>
              </a:rPr>
              <a:t> / 12</a:t>
            </a:r>
            <a:endParaRPr lang="en-US" sz="900" dirty="0"/>
          </a:p>
        </p:txBody>
      </p:sp>
      <p:sp>
        <p:nvSpPr>
          <p:cNvPr id="38" name="Shape 36"/>
          <p:cNvSpPr/>
          <p:nvPr/>
        </p:nvSpPr>
        <p:spPr>
          <a:xfrm>
            <a:off x="11722608" y="6391656"/>
            <a:ext cx="173736" cy="173736"/>
          </a:xfrm>
          <a:prstGeom prst="rect">
            <a:avLst/>
          </a:prstGeom>
          <a:solidFill>
            <a:srgbClr val="7C4DE8"/>
          </a:solidFill>
          <a:ln/>
        </p:spPr>
        <p:txBody>
          <a:bodyPr/>
          <a:lstStyle/>
          <a:p>
            <a:endParaRPr lang="en-IN"/>
          </a:p>
        </p:txBody>
      </p:sp>
      <p:sp>
        <p:nvSpPr>
          <p:cNvPr id="39" name="Shape 37"/>
          <p:cNvSpPr/>
          <p:nvPr/>
        </p:nvSpPr>
        <p:spPr>
          <a:xfrm>
            <a:off x="11769517" y="6438565"/>
            <a:ext cx="79919" cy="79919"/>
          </a:xfrm>
          <a:prstGeom prst="rect">
            <a:avLst/>
          </a:prstGeom>
          <a:solidFill>
            <a:srgbClr val="FFFFFF"/>
          </a:solidFill>
          <a:ln/>
        </p:spPr>
        <p:txBody>
          <a:bodyPr/>
          <a:lstStyle/>
          <a:p>
            <a:endParaRPr lang="en-IN"/>
          </a:p>
        </p:txBody>
      </p:sp>
      <p:sp>
        <p:nvSpPr>
          <p:cNvPr id="40" name="Shape 38"/>
          <p:cNvSpPr/>
          <p:nvPr/>
        </p:nvSpPr>
        <p:spPr>
          <a:xfrm>
            <a:off x="11752143" y="6356909"/>
            <a:ext cx="29535" cy="34747"/>
          </a:xfrm>
          <a:prstGeom prst="rect">
            <a:avLst/>
          </a:prstGeom>
          <a:solidFill>
            <a:srgbClr val="7C4DE8"/>
          </a:solidFill>
          <a:ln/>
        </p:spPr>
        <p:txBody>
          <a:bodyPr/>
          <a:lstStyle/>
          <a:p>
            <a:endParaRPr lang="en-IN"/>
          </a:p>
        </p:txBody>
      </p:sp>
      <p:sp>
        <p:nvSpPr>
          <p:cNvPr id="41" name="Shape 39"/>
          <p:cNvSpPr/>
          <p:nvPr/>
        </p:nvSpPr>
        <p:spPr>
          <a:xfrm>
            <a:off x="11752143" y="6565392"/>
            <a:ext cx="29535" cy="34747"/>
          </a:xfrm>
          <a:prstGeom prst="rect">
            <a:avLst/>
          </a:prstGeom>
          <a:solidFill>
            <a:srgbClr val="7C4DE8"/>
          </a:solidFill>
          <a:ln/>
        </p:spPr>
        <p:txBody>
          <a:bodyPr/>
          <a:lstStyle/>
          <a:p>
            <a:endParaRPr lang="en-IN"/>
          </a:p>
        </p:txBody>
      </p:sp>
      <p:sp>
        <p:nvSpPr>
          <p:cNvPr id="42" name="Shape 40"/>
          <p:cNvSpPr/>
          <p:nvPr/>
        </p:nvSpPr>
        <p:spPr>
          <a:xfrm>
            <a:off x="11687861" y="6421191"/>
            <a:ext cx="34747" cy="29535"/>
          </a:xfrm>
          <a:prstGeom prst="rect">
            <a:avLst/>
          </a:prstGeom>
          <a:solidFill>
            <a:srgbClr val="7C4DE8"/>
          </a:solidFill>
          <a:ln/>
        </p:spPr>
        <p:txBody>
          <a:bodyPr/>
          <a:lstStyle/>
          <a:p>
            <a:endParaRPr lang="en-IN"/>
          </a:p>
        </p:txBody>
      </p:sp>
      <p:sp>
        <p:nvSpPr>
          <p:cNvPr id="43" name="Shape 41"/>
          <p:cNvSpPr/>
          <p:nvPr/>
        </p:nvSpPr>
        <p:spPr>
          <a:xfrm>
            <a:off x="11896344" y="6421191"/>
            <a:ext cx="34747" cy="29535"/>
          </a:xfrm>
          <a:prstGeom prst="rect">
            <a:avLst/>
          </a:prstGeom>
          <a:solidFill>
            <a:srgbClr val="7C4DE8"/>
          </a:solidFill>
          <a:ln/>
        </p:spPr>
        <p:txBody>
          <a:bodyPr/>
          <a:lstStyle/>
          <a:p>
            <a:endParaRPr lang="en-IN"/>
          </a:p>
        </p:txBody>
      </p:sp>
      <p:sp>
        <p:nvSpPr>
          <p:cNvPr id="44" name="Shape 42"/>
          <p:cNvSpPr/>
          <p:nvPr/>
        </p:nvSpPr>
        <p:spPr>
          <a:xfrm>
            <a:off x="11837274" y="6356909"/>
            <a:ext cx="29535" cy="34747"/>
          </a:xfrm>
          <a:prstGeom prst="rect">
            <a:avLst/>
          </a:prstGeom>
          <a:solidFill>
            <a:srgbClr val="7C4DE8"/>
          </a:solidFill>
          <a:ln/>
        </p:spPr>
        <p:txBody>
          <a:bodyPr/>
          <a:lstStyle/>
          <a:p>
            <a:endParaRPr lang="en-IN"/>
          </a:p>
        </p:txBody>
      </p:sp>
      <p:sp>
        <p:nvSpPr>
          <p:cNvPr id="45" name="Shape 43"/>
          <p:cNvSpPr/>
          <p:nvPr/>
        </p:nvSpPr>
        <p:spPr>
          <a:xfrm>
            <a:off x="11837274" y="6565392"/>
            <a:ext cx="29535" cy="34747"/>
          </a:xfrm>
          <a:prstGeom prst="rect">
            <a:avLst/>
          </a:prstGeom>
          <a:solidFill>
            <a:srgbClr val="7C4DE8"/>
          </a:solidFill>
          <a:ln/>
        </p:spPr>
        <p:txBody>
          <a:bodyPr/>
          <a:lstStyle/>
          <a:p>
            <a:endParaRPr lang="en-IN"/>
          </a:p>
        </p:txBody>
      </p:sp>
      <p:sp>
        <p:nvSpPr>
          <p:cNvPr id="46" name="Shape 44"/>
          <p:cNvSpPr/>
          <p:nvPr/>
        </p:nvSpPr>
        <p:spPr>
          <a:xfrm>
            <a:off x="11687861" y="6506322"/>
            <a:ext cx="34747" cy="29535"/>
          </a:xfrm>
          <a:prstGeom prst="rect">
            <a:avLst/>
          </a:prstGeom>
          <a:solidFill>
            <a:srgbClr val="7C4DE8"/>
          </a:solidFill>
          <a:ln/>
        </p:spPr>
        <p:txBody>
          <a:bodyPr/>
          <a:lstStyle/>
          <a:p>
            <a:endParaRPr lang="en-IN"/>
          </a:p>
        </p:txBody>
      </p:sp>
      <p:sp>
        <p:nvSpPr>
          <p:cNvPr id="47" name="Shape 45"/>
          <p:cNvSpPr/>
          <p:nvPr/>
        </p:nvSpPr>
        <p:spPr>
          <a:xfrm>
            <a:off x="11896344" y="6506322"/>
            <a:ext cx="34747" cy="29535"/>
          </a:xfrm>
          <a:prstGeom prst="rect">
            <a:avLst/>
          </a:prstGeom>
          <a:solidFill>
            <a:srgbClr val="7C4DE8"/>
          </a:solidFill>
          <a:ln/>
        </p:spPr>
        <p:txBody>
          <a:bodyPr/>
          <a:lstStyle/>
          <a:p>
            <a:endParaRPr lang="en-IN"/>
          </a:p>
        </p:txBody>
      </p:sp>
      <p:pic>
        <p:nvPicPr>
          <p:cNvPr id="56" name="Picture 55">
            <a:extLst>
              <a:ext uri="{FF2B5EF4-FFF2-40B4-BE49-F238E27FC236}">
                <a16:creationId xmlns:a16="http://schemas.microsoft.com/office/drawing/2014/main" id="{0E06D736-997A-1565-49CD-DB8CE7AEE565}"/>
              </a:ext>
            </a:extLst>
          </p:cNvPr>
          <p:cNvPicPr>
            <a:picLocks noChangeAspect="1"/>
          </p:cNvPicPr>
          <p:nvPr/>
        </p:nvPicPr>
        <p:blipFill>
          <a:blip r:embed="rId3"/>
          <a:stretch>
            <a:fillRect/>
          </a:stretch>
        </p:blipFill>
        <p:spPr>
          <a:xfrm>
            <a:off x="983626" y="2837610"/>
            <a:ext cx="10126334" cy="451143"/>
          </a:xfrm>
          <a:prstGeom prst="rect">
            <a:avLst/>
          </a:prstGeom>
        </p:spPr>
      </p:pic>
      <p:sp>
        <p:nvSpPr>
          <p:cNvPr id="58" name="TextBox 57">
            <a:extLst>
              <a:ext uri="{FF2B5EF4-FFF2-40B4-BE49-F238E27FC236}">
                <a16:creationId xmlns:a16="http://schemas.microsoft.com/office/drawing/2014/main" id="{B4C1C4D4-9445-603A-897E-2B6506B49958}"/>
              </a:ext>
            </a:extLst>
          </p:cNvPr>
          <p:cNvSpPr txBox="1"/>
          <p:nvPr/>
        </p:nvSpPr>
        <p:spPr>
          <a:xfrm>
            <a:off x="-1870034" y="3418654"/>
            <a:ext cx="6094562" cy="284693"/>
          </a:xfrm>
          <a:prstGeom prst="rect">
            <a:avLst/>
          </a:prstGeom>
          <a:noFill/>
        </p:spPr>
        <p:txBody>
          <a:bodyPr wrap="square">
            <a:spAutoFit/>
          </a:bodyPr>
          <a:lstStyle/>
          <a:p>
            <a:pPr marL="0" indent="0" algn="ctr">
              <a:buNone/>
            </a:pPr>
            <a:r>
              <a:rPr lang="en-US" sz="1250" b="1" dirty="0">
                <a:solidFill>
                  <a:srgbClr val="0F172A"/>
                </a:solidFill>
                <a:latin typeface="Calibri" pitchFamily="34" charset="0"/>
                <a:ea typeface="Calibri" pitchFamily="34" charset="-122"/>
                <a:cs typeface="Calibri" pitchFamily="34" charset="-120"/>
              </a:rPr>
              <a:t>Idea</a:t>
            </a:r>
            <a:endParaRPr lang="en-US" sz="1250" dirty="0"/>
          </a:p>
        </p:txBody>
      </p:sp>
      <p:sp>
        <p:nvSpPr>
          <p:cNvPr id="60" name="TextBox 59">
            <a:extLst>
              <a:ext uri="{FF2B5EF4-FFF2-40B4-BE49-F238E27FC236}">
                <a16:creationId xmlns:a16="http://schemas.microsoft.com/office/drawing/2014/main" id="{481BDC46-EA3E-EAB4-4760-CF951963EACC}"/>
              </a:ext>
            </a:extLst>
          </p:cNvPr>
          <p:cNvSpPr txBox="1"/>
          <p:nvPr/>
        </p:nvSpPr>
        <p:spPr>
          <a:xfrm>
            <a:off x="-607454" y="3431219"/>
            <a:ext cx="7031114" cy="284693"/>
          </a:xfrm>
          <a:prstGeom prst="rect">
            <a:avLst/>
          </a:prstGeom>
          <a:noFill/>
        </p:spPr>
        <p:txBody>
          <a:bodyPr wrap="square">
            <a:spAutoFit/>
          </a:bodyPr>
          <a:lstStyle/>
          <a:p>
            <a:pPr marL="0" indent="0" algn="ctr">
              <a:buNone/>
            </a:pPr>
            <a:r>
              <a:rPr lang="en-US" sz="1250" b="1" dirty="0">
                <a:solidFill>
                  <a:srgbClr val="0F172A"/>
                </a:solidFill>
                <a:latin typeface="Calibri" pitchFamily="34" charset="0"/>
                <a:ea typeface="Calibri" pitchFamily="34" charset="-122"/>
                <a:cs typeface="Calibri" pitchFamily="34" charset="-120"/>
              </a:rPr>
              <a:t>Planning</a:t>
            </a:r>
            <a:endParaRPr lang="en-US" sz="1250" dirty="0"/>
          </a:p>
        </p:txBody>
      </p:sp>
      <p:sp>
        <p:nvSpPr>
          <p:cNvPr id="62" name="TextBox 61">
            <a:extLst>
              <a:ext uri="{FF2B5EF4-FFF2-40B4-BE49-F238E27FC236}">
                <a16:creationId xmlns:a16="http://schemas.microsoft.com/office/drawing/2014/main" id="{DD059E78-61AB-BEB4-8E96-6A44D9367787}"/>
              </a:ext>
            </a:extLst>
          </p:cNvPr>
          <p:cNvSpPr txBox="1"/>
          <p:nvPr/>
        </p:nvSpPr>
        <p:spPr>
          <a:xfrm>
            <a:off x="4170683" y="3422669"/>
            <a:ext cx="7031114" cy="284693"/>
          </a:xfrm>
          <a:prstGeom prst="rect">
            <a:avLst/>
          </a:prstGeom>
          <a:noFill/>
        </p:spPr>
        <p:txBody>
          <a:bodyPr wrap="square">
            <a:spAutoFit/>
          </a:bodyPr>
          <a:lstStyle/>
          <a:p>
            <a:r>
              <a:rPr lang="en-US" sz="1250" b="1" dirty="0">
                <a:solidFill>
                  <a:srgbClr val="0F172A"/>
                </a:solidFill>
                <a:latin typeface="Calibri" pitchFamily="34" charset="0"/>
                <a:ea typeface="Calibri" pitchFamily="34" charset="-122"/>
                <a:cs typeface="Calibri" pitchFamily="34" charset="-120"/>
              </a:rPr>
              <a:t>Design</a:t>
            </a:r>
            <a:endParaRPr lang="en-IN" dirty="0"/>
          </a:p>
        </p:txBody>
      </p:sp>
      <p:sp>
        <p:nvSpPr>
          <p:cNvPr id="64" name="TextBox 63">
            <a:extLst>
              <a:ext uri="{FF2B5EF4-FFF2-40B4-BE49-F238E27FC236}">
                <a16:creationId xmlns:a16="http://schemas.microsoft.com/office/drawing/2014/main" id="{03A1AF3F-EC7C-A668-965E-208E8656B2E5}"/>
              </a:ext>
            </a:extLst>
          </p:cNvPr>
          <p:cNvSpPr txBox="1"/>
          <p:nvPr/>
        </p:nvSpPr>
        <p:spPr>
          <a:xfrm>
            <a:off x="5716893" y="3431218"/>
            <a:ext cx="7031114" cy="284693"/>
          </a:xfrm>
          <a:prstGeom prst="rect">
            <a:avLst/>
          </a:prstGeom>
          <a:noFill/>
        </p:spPr>
        <p:txBody>
          <a:bodyPr wrap="square">
            <a:spAutoFit/>
          </a:bodyPr>
          <a:lstStyle/>
          <a:p>
            <a:r>
              <a:rPr lang="en-US" sz="1250" b="1" dirty="0">
                <a:solidFill>
                  <a:srgbClr val="0F172A"/>
                </a:solidFill>
                <a:latin typeface="Calibri" pitchFamily="34" charset="0"/>
                <a:ea typeface="Calibri" pitchFamily="34" charset="-122"/>
                <a:cs typeface="Calibri" pitchFamily="34" charset="-120"/>
              </a:rPr>
              <a:t>Coding</a:t>
            </a:r>
            <a:endParaRPr lang="en-IN" dirty="0"/>
          </a:p>
        </p:txBody>
      </p:sp>
      <p:sp>
        <p:nvSpPr>
          <p:cNvPr id="66" name="TextBox 65">
            <a:extLst>
              <a:ext uri="{FF2B5EF4-FFF2-40B4-BE49-F238E27FC236}">
                <a16:creationId xmlns:a16="http://schemas.microsoft.com/office/drawing/2014/main" id="{16E68B64-56F8-780B-3D4F-DFBB8AEC1785}"/>
              </a:ext>
            </a:extLst>
          </p:cNvPr>
          <p:cNvSpPr txBox="1"/>
          <p:nvPr/>
        </p:nvSpPr>
        <p:spPr>
          <a:xfrm>
            <a:off x="3984210" y="3475590"/>
            <a:ext cx="7381782" cy="284693"/>
          </a:xfrm>
          <a:prstGeom prst="rect">
            <a:avLst/>
          </a:prstGeom>
          <a:noFill/>
        </p:spPr>
        <p:txBody>
          <a:bodyPr wrap="square">
            <a:spAutoFit/>
          </a:bodyPr>
          <a:lstStyle/>
          <a:p>
            <a:pPr marL="0" indent="0" algn="ctr">
              <a:buNone/>
            </a:pPr>
            <a:r>
              <a:rPr lang="en-US" sz="1250" b="1" dirty="0">
                <a:solidFill>
                  <a:srgbClr val="0F172A"/>
                </a:solidFill>
                <a:latin typeface="Calibri" pitchFamily="34" charset="0"/>
                <a:ea typeface="Calibri" pitchFamily="34" charset="-122"/>
                <a:cs typeface="Calibri" pitchFamily="34" charset="-120"/>
              </a:rPr>
              <a:t>Testing</a:t>
            </a:r>
            <a:endParaRPr lang="en-US" sz="1250" dirty="0"/>
          </a:p>
        </p:txBody>
      </p:sp>
      <p:sp>
        <p:nvSpPr>
          <p:cNvPr id="68" name="TextBox 67">
            <a:extLst>
              <a:ext uri="{FF2B5EF4-FFF2-40B4-BE49-F238E27FC236}">
                <a16:creationId xmlns:a16="http://schemas.microsoft.com/office/drawing/2014/main" id="{E60ECA34-9DF9-B8A4-AD4D-C0EF76BABC91}"/>
              </a:ext>
            </a:extLst>
          </p:cNvPr>
          <p:cNvSpPr txBox="1"/>
          <p:nvPr/>
        </p:nvSpPr>
        <p:spPr>
          <a:xfrm>
            <a:off x="5581816" y="3502152"/>
            <a:ext cx="7381782" cy="284693"/>
          </a:xfrm>
          <a:prstGeom prst="rect">
            <a:avLst/>
          </a:prstGeom>
          <a:noFill/>
        </p:spPr>
        <p:txBody>
          <a:bodyPr wrap="square">
            <a:spAutoFit/>
          </a:bodyPr>
          <a:lstStyle/>
          <a:p>
            <a:pPr marL="0" indent="0" algn="ctr">
              <a:buNone/>
            </a:pPr>
            <a:r>
              <a:rPr lang="en-US" sz="1250" b="1" dirty="0">
                <a:solidFill>
                  <a:srgbClr val="0F172A"/>
                </a:solidFill>
                <a:latin typeface="Calibri" pitchFamily="34" charset="0"/>
                <a:ea typeface="Calibri" pitchFamily="34" charset="-122"/>
                <a:cs typeface="Calibri" pitchFamily="34" charset="-120"/>
              </a:rPr>
              <a:t>Deployment</a:t>
            </a:r>
            <a:endParaRPr lang="en-US" sz="1250" dirty="0"/>
          </a:p>
        </p:txBody>
      </p:sp>
      <p:sp>
        <p:nvSpPr>
          <p:cNvPr id="70" name="TextBox 69">
            <a:extLst>
              <a:ext uri="{FF2B5EF4-FFF2-40B4-BE49-F238E27FC236}">
                <a16:creationId xmlns:a16="http://schemas.microsoft.com/office/drawing/2014/main" id="{4052CAA8-B574-B491-2D99-009E80921091}"/>
              </a:ext>
            </a:extLst>
          </p:cNvPr>
          <p:cNvSpPr txBox="1"/>
          <p:nvPr/>
        </p:nvSpPr>
        <p:spPr>
          <a:xfrm>
            <a:off x="7228377" y="3502015"/>
            <a:ext cx="7470558" cy="284693"/>
          </a:xfrm>
          <a:prstGeom prst="rect">
            <a:avLst/>
          </a:prstGeom>
          <a:noFill/>
        </p:spPr>
        <p:txBody>
          <a:bodyPr wrap="square">
            <a:spAutoFit/>
          </a:bodyPr>
          <a:lstStyle/>
          <a:p>
            <a:pPr marL="0" indent="0" algn="ctr">
              <a:buNone/>
            </a:pPr>
            <a:r>
              <a:rPr lang="en-US" sz="1250" b="1" dirty="0">
                <a:solidFill>
                  <a:srgbClr val="0F172A"/>
                </a:solidFill>
                <a:latin typeface="Calibri" pitchFamily="34" charset="0"/>
                <a:ea typeface="Calibri" pitchFamily="34" charset="-122"/>
                <a:cs typeface="Calibri" pitchFamily="34" charset="-120"/>
              </a:rPr>
              <a:t>Maintenance</a:t>
            </a:r>
            <a:endParaRPr lang="en-US" sz="1250" dirty="0"/>
          </a:p>
        </p:txBody>
      </p:sp>
      <p:cxnSp>
        <p:nvCxnSpPr>
          <p:cNvPr id="72" name="Straight Arrow Connector 71">
            <a:extLst>
              <a:ext uri="{FF2B5EF4-FFF2-40B4-BE49-F238E27FC236}">
                <a16:creationId xmlns:a16="http://schemas.microsoft.com/office/drawing/2014/main" id="{9A809C09-8C2A-5B57-EC48-CE50DDCC2E71}"/>
              </a:ext>
            </a:extLst>
          </p:cNvPr>
          <p:cNvCxnSpPr/>
          <p:nvPr/>
        </p:nvCxnSpPr>
        <p:spPr>
          <a:xfrm>
            <a:off x="1686757" y="3063181"/>
            <a:ext cx="7013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C72235C9-1F6D-C249-E696-9CB3889907B2}"/>
              </a:ext>
            </a:extLst>
          </p:cNvPr>
          <p:cNvCxnSpPr/>
          <p:nvPr/>
        </p:nvCxnSpPr>
        <p:spPr>
          <a:xfrm>
            <a:off x="3396086" y="3063181"/>
            <a:ext cx="7013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64B5B23A-0A5C-311F-E3B8-737B7458F06A}"/>
              </a:ext>
            </a:extLst>
          </p:cNvPr>
          <p:cNvCxnSpPr/>
          <p:nvPr/>
        </p:nvCxnSpPr>
        <p:spPr>
          <a:xfrm>
            <a:off x="4982593" y="3063181"/>
            <a:ext cx="7013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E5A86CB0-D2C2-D7B7-8147-004003A404AE}"/>
              </a:ext>
            </a:extLst>
          </p:cNvPr>
          <p:cNvCxnSpPr/>
          <p:nvPr/>
        </p:nvCxnSpPr>
        <p:spPr>
          <a:xfrm>
            <a:off x="6527041" y="3063181"/>
            <a:ext cx="7013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53960EBD-F559-B72C-0382-F5AF69CEF6BE}"/>
              </a:ext>
            </a:extLst>
          </p:cNvPr>
          <p:cNvCxnSpPr/>
          <p:nvPr/>
        </p:nvCxnSpPr>
        <p:spPr>
          <a:xfrm>
            <a:off x="8202404" y="3065045"/>
            <a:ext cx="7013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3D1B51E5-664D-1B84-2028-426BF88800B0}"/>
              </a:ext>
            </a:extLst>
          </p:cNvPr>
          <p:cNvCxnSpPr/>
          <p:nvPr/>
        </p:nvCxnSpPr>
        <p:spPr>
          <a:xfrm>
            <a:off x="9836062" y="3075787"/>
            <a:ext cx="7013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4709BD6F-040C-6105-1E6C-1E695E9CB3CD}"/>
              </a:ext>
            </a:extLst>
          </p:cNvPr>
          <p:cNvSpPr txBox="1"/>
          <p:nvPr/>
        </p:nvSpPr>
        <p:spPr>
          <a:xfrm>
            <a:off x="5559397" y="3903698"/>
            <a:ext cx="1281760" cy="1277273"/>
          </a:xfrm>
          <a:prstGeom prst="rect">
            <a:avLst/>
          </a:prstGeom>
          <a:noFill/>
        </p:spPr>
        <p:txBody>
          <a:bodyPr wrap="square">
            <a:spAutoFit/>
          </a:bodyPr>
          <a:lstStyle/>
          <a:p>
            <a:pPr marL="0" indent="0">
              <a:buNone/>
            </a:pPr>
            <a:r>
              <a:rPr lang="en-US" sz="1100" b="1" dirty="0">
                <a:solidFill>
                  <a:srgbClr val="667180"/>
                </a:solidFill>
                <a:latin typeface="Arial" pitchFamily="34" charset="0"/>
                <a:ea typeface="Arial" pitchFamily="34" charset="-122"/>
                <a:cs typeface="Arial" pitchFamily="34" charset="-120"/>
              </a:rPr>
              <a:t>Generate, explain, refactor, and </a:t>
            </a:r>
            <a:r>
              <a:rPr lang="en-US" sz="1100" b="1" dirty="0" err="1">
                <a:solidFill>
                  <a:srgbClr val="667180"/>
                </a:solidFill>
                <a:latin typeface="Arial" pitchFamily="34" charset="0"/>
                <a:ea typeface="Arial" pitchFamily="34" charset="-122"/>
                <a:cs typeface="Arial" pitchFamily="34" charset="-120"/>
              </a:rPr>
              <a:t>optimise</a:t>
            </a:r>
            <a:r>
              <a:rPr lang="en-US" sz="1100" b="1" dirty="0">
                <a:solidFill>
                  <a:srgbClr val="667180"/>
                </a:solidFill>
                <a:latin typeface="Arial" pitchFamily="34" charset="0"/>
                <a:ea typeface="Arial" pitchFamily="34" charset="-122"/>
                <a:cs typeface="Arial" pitchFamily="34" charset="-120"/>
              </a:rPr>
              <a:t> code to accelerate software development.</a:t>
            </a:r>
            <a:endParaRPr lang="en-US" sz="1100" b="1" dirty="0"/>
          </a:p>
        </p:txBody>
      </p:sp>
      <p:sp>
        <p:nvSpPr>
          <p:cNvPr id="99" name="TextBox 98">
            <a:extLst>
              <a:ext uri="{FF2B5EF4-FFF2-40B4-BE49-F238E27FC236}">
                <a16:creationId xmlns:a16="http://schemas.microsoft.com/office/drawing/2014/main" id="{314B7A7E-F459-55CC-84AF-79B464F08C14}"/>
              </a:ext>
            </a:extLst>
          </p:cNvPr>
          <p:cNvSpPr txBox="1"/>
          <p:nvPr/>
        </p:nvSpPr>
        <p:spPr>
          <a:xfrm>
            <a:off x="7057571" y="3932467"/>
            <a:ext cx="1495501" cy="1107996"/>
          </a:xfrm>
          <a:prstGeom prst="rect">
            <a:avLst/>
          </a:prstGeom>
          <a:noFill/>
        </p:spPr>
        <p:txBody>
          <a:bodyPr wrap="square">
            <a:spAutoFit/>
          </a:bodyPr>
          <a:lstStyle/>
          <a:p>
            <a:pPr marL="0" indent="0">
              <a:buNone/>
            </a:pPr>
            <a:r>
              <a:rPr lang="en-US" sz="1100" b="1" dirty="0">
                <a:solidFill>
                  <a:srgbClr val="667180"/>
                </a:solidFill>
                <a:latin typeface="Arial" pitchFamily="34" charset="0"/>
                <a:ea typeface="Arial" pitchFamily="34" charset="-122"/>
                <a:cs typeface="Arial" pitchFamily="34" charset="-120"/>
              </a:rPr>
              <a:t>Create test cases, detect bugs, and improve software quality through automated validation.</a:t>
            </a:r>
            <a:endParaRPr lang="en-US" sz="1100" b="1" dirty="0"/>
          </a:p>
        </p:txBody>
      </p:sp>
      <p:sp>
        <p:nvSpPr>
          <p:cNvPr id="103" name="TextBox 102">
            <a:extLst>
              <a:ext uri="{FF2B5EF4-FFF2-40B4-BE49-F238E27FC236}">
                <a16:creationId xmlns:a16="http://schemas.microsoft.com/office/drawing/2014/main" id="{B46C46DB-4896-95A7-66A2-D52350CF1E23}"/>
              </a:ext>
            </a:extLst>
          </p:cNvPr>
          <p:cNvSpPr txBox="1"/>
          <p:nvPr/>
        </p:nvSpPr>
        <p:spPr>
          <a:xfrm>
            <a:off x="8769096" y="3934001"/>
            <a:ext cx="1285686" cy="1107996"/>
          </a:xfrm>
          <a:prstGeom prst="rect">
            <a:avLst/>
          </a:prstGeom>
          <a:noFill/>
        </p:spPr>
        <p:txBody>
          <a:bodyPr wrap="square">
            <a:spAutoFit/>
          </a:bodyPr>
          <a:lstStyle/>
          <a:p>
            <a:pPr marL="0" indent="0">
              <a:buNone/>
            </a:pPr>
            <a:r>
              <a:rPr lang="en-US" sz="1100" b="1" dirty="0">
                <a:solidFill>
                  <a:srgbClr val="667180"/>
                </a:solidFill>
                <a:latin typeface="Arial" pitchFamily="34" charset="0"/>
                <a:ea typeface="Arial" pitchFamily="34" charset="-122"/>
                <a:cs typeface="Arial" pitchFamily="34" charset="-120"/>
              </a:rPr>
              <a:t>Automate builds, CI/CD pipelines, cloud deployments, and release management.</a:t>
            </a:r>
            <a:endParaRPr lang="en-US" sz="1100" b="1" dirty="0"/>
          </a:p>
        </p:txBody>
      </p:sp>
      <p:sp>
        <p:nvSpPr>
          <p:cNvPr id="105" name="TextBox 104">
            <a:extLst>
              <a:ext uri="{FF2B5EF4-FFF2-40B4-BE49-F238E27FC236}">
                <a16:creationId xmlns:a16="http://schemas.microsoft.com/office/drawing/2014/main" id="{FE569491-6CB0-4116-55CF-798A2B45635B}"/>
              </a:ext>
            </a:extLst>
          </p:cNvPr>
          <p:cNvSpPr txBox="1"/>
          <p:nvPr/>
        </p:nvSpPr>
        <p:spPr>
          <a:xfrm>
            <a:off x="10362184" y="3923072"/>
            <a:ext cx="1360424" cy="1446550"/>
          </a:xfrm>
          <a:prstGeom prst="rect">
            <a:avLst/>
          </a:prstGeom>
          <a:noFill/>
        </p:spPr>
        <p:txBody>
          <a:bodyPr wrap="square">
            <a:spAutoFit/>
          </a:bodyPr>
          <a:lstStyle/>
          <a:p>
            <a:pPr marL="0" indent="0">
              <a:buNone/>
            </a:pPr>
            <a:r>
              <a:rPr lang="en-US" sz="1100" b="1" dirty="0">
                <a:solidFill>
                  <a:srgbClr val="667180"/>
                </a:solidFill>
                <a:latin typeface="Arial" pitchFamily="34" charset="0"/>
                <a:ea typeface="Arial" pitchFamily="34" charset="-122"/>
                <a:cs typeface="Arial" pitchFamily="34" charset="-120"/>
              </a:rPr>
              <a:t>Monitor applications, resolve issues, update documentation, and continuously improve performance.</a:t>
            </a:r>
            <a:endParaRPr lang="en-US" sz="11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algn="r"/>
            <a:r>
              <a:rPr lang="en-US" sz="850" kern="0" spc="120" dirty="0">
                <a:solidFill>
                  <a:srgbClr val="9AA3AE"/>
                </a:solidFill>
                <a:latin typeface="Consolas" pitchFamily="34" charset="0"/>
                <a:ea typeface="Consolas" pitchFamily="34" charset="-122"/>
                <a:cs typeface="Consolas" pitchFamily="34" charset="-120"/>
              </a:rPr>
              <a:t>FRONTIER · TRACK -04</a:t>
            </a:r>
            <a:endParaRPr lang="en-US" sz="850" dirty="0"/>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endParaRPr lang="en-US" sz="1700" dirty="0"/>
          </a:p>
        </p:txBody>
      </p:sp>
      <p:sp>
        <p:nvSpPr>
          <p:cNvPr id="16" name="Text 14"/>
          <p:cNvSpPr/>
          <p:nvPr/>
        </p:nvSpPr>
        <p:spPr>
          <a:xfrm>
            <a:off x="841248" y="1077164"/>
            <a:ext cx="9692640" cy="475488"/>
          </a:xfrm>
          <a:prstGeom prst="rect">
            <a:avLst/>
          </a:prstGeom>
          <a:noFill/>
          <a:ln/>
        </p:spPr>
        <p:txBody>
          <a:bodyPr wrap="square" lIns="0" tIns="0" rIns="0" bIns="0" rtlCol="0" anchor="ctr"/>
          <a:lstStyle/>
          <a:p>
            <a:pPr marL="0" indent="0">
              <a:buNone/>
            </a:pPr>
            <a:r>
              <a:rPr lang="en-US" sz="3100" kern="0" spc="40" dirty="0">
                <a:solidFill>
                  <a:srgbClr val="0E141B"/>
                </a:solidFill>
                <a:latin typeface="Arial Black" pitchFamily="34" charset="0"/>
                <a:ea typeface="Arial Black" pitchFamily="34" charset="-122"/>
                <a:cs typeface="Arial Black" pitchFamily="34" charset="-120"/>
              </a:rPr>
              <a:t>Measuring What Matters</a:t>
            </a:r>
            <a:endParaRPr lang="en-US" sz="3100" dirty="0"/>
          </a:p>
        </p:txBody>
      </p:sp>
      <p:sp>
        <p:nvSpPr>
          <p:cNvPr id="17" name="Text 15"/>
          <p:cNvSpPr/>
          <p:nvPr/>
        </p:nvSpPr>
        <p:spPr>
          <a:xfrm>
            <a:off x="1371600" y="1767207"/>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0"/>
                <a:cs typeface="Consolas" pitchFamily="34" charset="0"/>
              </a:rPr>
              <a:t>the dora framework for developer productivity</a:t>
            </a:r>
            <a:endParaRPr lang="en-US" sz="1100" dirty="0"/>
          </a:p>
        </p:txBody>
      </p:sp>
      <p:sp>
        <p:nvSpPr>
          <p:cNvPr id="18" name="Text 16"/>
          <p:cNvSpPr/>
          <p:nvPr/>
        </p:nvSpPr>
        <p:spPr>
          <a:xfrm>
            <a:off x="822960" y="2103120"/>
            <a:ext cx="2998542" cy="711404"/>
          </a:xfrm>
          <a:prstGeom prst="rect">
            <a:avLst/>
          </a:prstGeom>
          <a:noFill/>
          <a:ln/>
        </p:spPr>
        <p:txBody>
          <a:bodyPr wrap="square" lIns="0" tIns="0" rIns="0" bIns="0" rtlCol="0" anchor="ctr"/>
          <a:lstStyle/>
          <a:p>
            <a:pPr marL="0" indent="0">
              <a:buNone/>
            </a:pPr>
            <a:endParaRPr lang="en-US" sz="1600" dirty="0">
              <a:solidFill>
                <a:srgbClr val="7030A0"/>
              </a:solidFill>
            </a:endParaRPr>
          </a:p>
        </p:txBody>
      </p:sp>
      <p:sp>
        <p:nvSpPr>
          <p:cNvPr id="20" name="Text 18"/>
          <p:cNvSpPr/>
          <p:nvPr/>
        </p:nvSpPr>
        <p:spPr>
          <a:xfrm>
            <a:off x="969264" y="2889504"/>
            <a:ext cx="4818888" cy="2121408"/>
          </a:xfrm>
          <a:prstGeom prst="rect">
            <a:avLst/>
          </a:prstGeom>
          <a:noFill/>
          <a:ln/>
        </p:spPr>
        <p:txBody>
          <a:bodyPr wrap="square" lIns="762" tIns="762" rIns="762" bIns="762" rtlCol="0" anchor="t"/>
          <a:lstStyle/>
          <a:p>
            <a:pPr marL="0" indent="0">
              <a:buNone/>
            </a:pPr>
            <a:endParaRPr lang="en-US" sz="1100" dirty="0"/>
          </a:p>
        </p:txBody>
      </p:sp>
      <p:sp>
        <p:nvSpPr>
          <p:cNvPr id="21" name="Text 19"/>
          <p:cNvSpPr/>
          <p:nvPr/>
        </p:nvSpPr>
        <p:spPr>
          <a:xfrm>
            <a:off x="6254496" y="2103120"/>
            <a:ext cx="5111496" cy="685800"/>
          </a:xfrm>
          <a:prstGeom prst="rect">
            <a:avLst/>
          </a:prstGeom>
          <a:noFill/>
          <a:ln/>
        </p:spPr>
        <p:txBody>
          <a:bodyPr wrap="square" lIns="0" tIns="0" rIns="0" bIns="0" rtlCol="0" anchor="ctr"/>
          <a:lstStyle/>
          <a:p>
            <a:pPr marL="0" indent="0">
              <a:buNone/>
            </a:pPr>
            <a:endParaRPr lang="en-US" sz="1800" dirty="0"/>
          </a:p>
        </p:txBody>
      </p:sp>
      <p:sp>
        <p:nvSpPr>
          <p:cNvPr id="23" name="Text 21"/>
          <p:cNvSpPr/>
          <p:nvPr/>
        </p:nvSpPr>
        <p:spPr>
          <a:xfrm>
            <a:off x="6582961" y="2583278"/>
            <a:ext cx="2207097" cy="2240774"/>
          </a:xfrm>
          <a:prstGeom prst="rect">
            <a:avLst/>
          </a:prstGeom>
          <a:noFill/>
          <a:ln/>
        </p:spPr>
        <p:txBody>
          <a:bodyPr wrap="square" lIns="762" tIns="762" rIns="762" bIns="762" rtlCol="0" anchor="t"/>
          <a:lstStyle/>
          <a:p>
            <a:r>
              <a:rPr lang="en-US" sz="1300" dirty="0">
                <a:solidFill>
                  <a:srgbClr val="667180"/>
                </a:solidFill>
                <a:latin typeface="ADLaM Display" panose="020F0502020204030204" pitchFamily="2" charset="0"/>
                <a:ea typeface="ADLaM Display" panose="020F0502020204030204" pitchFamily="2" charset="0"/>
                <a:cs typeface="ADLaM Display" panose="020F0502020204030204" pitchFamily="2" charset="0"/>
              </a:rPr>
              <a:t>The time from a code commit to it running in production. Shorter lead times mean faster feedback and quicker fixes.</a:t>
            </a:r>
            <a:endParaRPr lang="en-US" sz="1300" dirty="0">
              <a:latin typeface="ADLaM Display" panose="020F0502020204030204" pitchFamily="2" charset="0"/>
              <a:ea typeface="ADLaM Display" panose="020F0502020204030204" pitchFamily="2" charset="0"/>
              <a:cs typeface="ADLaM Display" panose="020F0502020204030204" pitchFamily="2" charset="0"/>
            </a:endParaRPr>
          </a:p>
        </p:txBody>
      </p:sp>
      <p:sp>
        <p:nvSpPr>
          <p:cNvPr id="24" name="Text 22"/>
          <p:cNvSpPr/>
          <p:nvPr/>
        </p:nvSpPr>
        <p:spPr>
          <a:xfrm>
            <a:off x="822960" y="5230368"/>
            <a:ext cx="10543032" cy="219456"/>
          </a:xfrm>
          <a:prstGeom prst="rect">
            <a:avLst/>
          </a:prstGeom>
          <a:noFill/>
          <a:ln/>
        </p:spPr>
        <p:txBody>
          <a:bodyPr wrap="square" lIns="0" tIns="0" rIns="0" bIns="0" rtlCol="0" anchor="ctr"/>
          <a:lstStyle/>
          <a:p>
            <a:pPr marL="0" indent="0">
              <a:buNone/>
            </a:pPr>
            <a:endParaRPr lang="en-US" sz="900" dirty="0"/>
          </a:p>
        </p:txBody>
      </p:sp>
      <p:sp>
        <p:nvSpPr>
          <p:cNvPr id="26" name="Text 24"/>
          <p:cNvSpPr/>
          <p:nvPr/>
        </p:nvSpPr>
        <p:spPr>
          <a:xfrm>
            <a:off x="6439244" y="4598417"/>
            <a:ext cx="3324515" cy="1432643"/>
          </a:xfrm>
          <a:prstGeom prst="rect">
            <a:avLst/>
          </a:prstGeom>
          <a:noFill/>
          <a:ln/>
        </p:spPr>
        <p:txBody>
          <a:bodyPr wrap="square" lIns="0" tIns="0" rIns="0" bIns="0" rtlCol="0" anchor="t"/>
          <a:lstStyle/>
          <a:p>
            <a:pPr marL="0" indent="0">
              <a:buNone/>
            </a:pPr>
            <a:r>
              <a:rPr lang="en-US" sz="1300" dirty="0">
                <a:solidFill>
                  <a:srgbClr val="667180"/>
                </a:solidFill>
                <a:latin typeface="ADLaM Display" panose="020F0502020204030204" pitchFamily="2" charset="0"/>
                <a:ea typeface="ADLaM Display" panose="020F0502020204030204" pitchFamily="2" charset="0"/>
                <a:cs typeface="ADLaM Display" panose="020F0502020204030204" pitchFamily="2" charset="0"/>
              </a:rPr>
              <a:t>How fast a team restores service after an incident. Elite performers recover in under an hour, not days.</a:t>
            </a:r>
            <a:endParaRPr lang="en-US" sz="1300" dirty="0">
              <a:latin typeface="ADLaM Display" panose="020F0502020204030204" pitchFamily="2" charset="0"/>
              <a:ea typeface="ADLaM Display" panose="020F0502020204030204" pitchFamily="2" charset="0"/>
              <a:cs typeface="ADLaM Display" panose="020F0502020204030204" pitchFamily="2" charset="0"/>
            </a:endParaRPr>
          </a:p>
        </p:txBody>
      </p:sp>
      <p:sp>
        <p:nvSpPr>
          <p:cNvPr id="28" name="Text 26"/>
          <p:cNvSpPr/>
          <p:nvPr/>
        </p:nvSpPr>
        <p:spPr>
          <a:xfrm>
            <a:off x="4648200" y="5522976"/>
            <a:ext cx="3112008" cy="566928"/>
          </a:xfrm>
          <a:prstGeom prst="rect">
            <a:avLst/>
          </a:prstGeom>
          <a:noFill/>
          <a:ln/>
        </p:spPr>
        <p:txBody>
          <a:bodyPr wrap="square" lIns="0" tIns="0" rIns="0" bIns="0" rtlCol="0" anchor="t"/>
          <a:lstStyle/>
          <a:p>
            <a:pPr marL="0" indent="0">
              <a:buNone/>
            </a:pPr>
            <a:endParaRPr lang="en-US" sz="1100" dirty="0"/>
          </a:p>
        </p:txBody>
      </p:sp>
      <p:sp>
        <p:nvSpPr>
          <p:cNvPr id="30" name="Text 28"/>
          <p:cNvSpPr/>
          <p:nvPr/>
        </p:nvSpPr>
        <p:spPr>
          <a:xfrm>
            <a:off x="8253984" y="5522976"/>
            <a:ext cx="3112008" cy="566928"/>
          </a:xfrm>
          <a:prstGeom prst="rect">
            <a:avLst/>
          </a:prstGeom>
          <a:noFill/>
          <a:ln/>
        </p:spPr>
        <p:txBody>
          <a:bodyPr wrap="square" lIns="0" tIns="0" rIns="0" bIns="0" rtlCol="0" anchor="t"/>
          <a:lstStyle/>
          <a:p>
            <a:pPr marL="0" indent="0">
              <a:buNone/>
            </a:pPr>
            <a:endParaRPr lang="en-US" sz="1100" dirty="0"/>
          </a:p>
        </p:txBody>
      </p:sp>
      <p:sp>
        <p:nvSpPr>
          <p:cNvPr id="31" name="Text 29"/>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2" name="Text 30"/>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07</a:t>
            </a:r>
            <a:r>
              <a:rPr lang="en-US" sz="900" dirty="0">
                <a:solidFill>
                  <a:srgbClr val="9AA3AE"/>
                </a:solidFill>
                <a:latin typeface="Consolas" pitchFamily="34" charset="0"/>
                <a:ea typeface="Consolas" pitchFamily="34" charset="-122"/>
                <a:cs typeface="Consolas" pitchFamily="34" charset="-120"/>
              </a:rPr>
              <a:t> / 12</a:t>
            </a:r>
            <a:endParaRPr lang="en-US" sz="900" dirty="0"/>
          </a:p>
        </p:txBody>
      </p:sp>
      <p:sp>
        <p:nvSpPr>
          <p:cNvPr id="33" name="Shape 31"/>
          <p:cNvSpPr/>
          <p:nvPr/>
        </p:nvSpPr>
        <p:spPr>
          <a:xfrm>
            <a:off x="11722608" y="6391656"/>
            <a:ext cx="173736" cy="173736"/>
          </a:xfrm>
          <a:prstGeom prst="rect">
            <a:avLst/>
          </a:prstGeom>
          <a:solidFill>
            <a:srgbClr val="7C4DE8"/>
          </a:solidFill>
          <a:ln/>
        </p:spPr>
        <p:txBody>
          <a:bodyPr/>
          <a:lstStyle/>
          <a:p>
            <a:endParaRPr lang="en-IN"/>
          </a:p>
        </p:txBody>
      </p:sp>
      <p:sp>
        <p:nvSpPr>
          <p:cNvPr id="34" name="Shape 32"/>
          <p:cNvSpPr/>
          <p:nvPr/>
        </p:nvSpPr>
        <p:spPr>
          <a:xfrm>
            <a:off x="11769517" y="6438565"/>
            <a:ext cx="79919" cy="79919"/>
          </a:xfrm>
          <a:prstGeom prst="rect">
            <a:avLst/>
          </a:prstGeom>
          <a:solidFill>
            <a:srgbClr val="FFFFFF"/>
          </a:solidFill>
          <a:ln/>
        </p:spPr>
        <p:txBody>
          <a:bodyPr/>
          <a:lstStyle/>
          <a:p>
            <a:endParaRPr lang="en-IN"/>
          </a:p>
        </p:txBody>
      </p:sp>
      <p:sp>
        <p:nvSpPr>
          <p:cNvPr id="35" name="Shape 33"/>
          <p:cNvSpPr/>
          <p:nvPr/>
        </p:nvSpPr>
        <p:spPr>
          <a:xfrm>
            <a:off x="11752143" y="6356909"/>
            <a:ext cx="29535" cy="34747"/>
          </a:xfrm>
          <a:prstGeom prst="rect">
            <a:avLst/>
          </a:prstGeom>
          <a:solidFill>
            <a:srgbClr val="7C4DE8"/>
          </a:solidFill>
          <a:ln/>
        </p:spPr>
        <p:txBody>
          <a:bodyPr/>
          <a:lstStyle/>
          <a:p>
            <a:endParaRPr lang="en-IN"/>
          </a:p>
        </p:txBody>
      </p:sp>
      <p:sp>
        <p:nvSpPr>
          <p:cNvPr id="36" name="Shape 34"/>
          <p:cNvSpPr/>
          <p:nvPr/>
        </p:nvSpPr>
        <p:spPr>
          <a:xfrm>
            <a:off x="11752143" y="6565392"/>
            <a:ext cx="29535" cy="34747"/>
          </a:xfrm>
          <a:prstGeom prst="rect">
            <a:avLst/>
          </a:prstGeom>
          <a:solidFill>
            <a:srgbClr val="7C4DE8"/>
          </a:solidFill>
          <a:ln/>
        </p:spPr>
        <p:txBody>
          <a:bodyPr/>
          <a:lstStyle/>
          <a:p>
            <a:endParaRPr lang="en-IN"/>
          </a:p>
        </p:txBody>
      </p:sp>
      <p:sp>
        <p:nvSpPr>
          <p:cNvPr id="37" name="Shape 35"/>
          <p:cNvSpPr/>
          <p:nvPr/>
        </p:nvSpPr>
        <p:spPr>
          <a:xfrm>
            <a:off x="11687861" y="6421191"/>
            <a:ext cx="34747" cy="29535"/>
          </a:xfrm>
          <a:prstGeom prst="rect">
            <a:avLst/>
          </a:prstGeom>
          <a:solidFill>
            <a:srgbClr val="7C4DE8"/>
          </a:solidFill>
          <a:ln/>
        </p:spPr>
        <p:txBody>
          <a:bodyPr/>
          <a:lstStyle/>
          <a:p>
            <a:endParaRPr lang="en-IN"/>
          </a:p>
        </p:txBody>
      </p:sp>
      <p:sp>
        <p:nvSpPr>
          <p:cNvPr id="38" name="Shape 36"/>
          <p:cNvSpPr/>
          <p:nvPr/>
        </p:nvSpPr>
        <p:spPr>
          <a:xfrm>
            <a:off x="11896344" y="6421191"/>
            <a:ext cx="34747" cy="29535"/>
          </a:xfrm>
          <a:prstGeom prst="rect">
            <a:avLst/>
          </a:prstGeom>
          <a:solidFill>
            <a:srgbClr val="7C4DE8"/>
          </a:solidFill>
          <a:ln/>
        </p:spPr>
        <p:txBody>
          <a:bodyPr/>
          <a:lstStyle/>
          <a:p>
            <a:endParaRPr lang="en-IN"/>
          </a:p>
        </p:txBody>
      </p:sp>
      <p:sp>
        <p:nvSpPr>
          <p:cNvPr id="39" name="Shape 37"/>
          <p:cNvSpPr/>
          <p:nvPr/>
        </p:nvSpPr>
        <p:spPr>
          <a:xfrm>
            <a:off x="11837274" y="6356909"/>
            <a:ext cx="29535" cy="34747"/>
          </a:xfrm>
          <a:prstGeom prst="rect">
            <a:avLst/>
          </a:prstGeom>
          <a:solidFill>
            <a:srgbClr val="7C4DE8"/>
          </a:solidFill>
          <a:ln/>
        </p:spPr>
        <p:txBody>
          <a:bodyPr/>
          <a:lstStyle/>
          <a:p>
            <a:endParaRPr lang="en-IN"/>
          </a:p>
        </p:txBody>
      </p:sp>
      <p:sp>
        <p:nvSpPr>
          <p:cNvPr id="40" name="Shape 38"/>
          <p:cNvSpPr/>
          <p:nvPr/>
        </p:nvSpPr>
        <p:spPr>
          <a:xfrm>
            <a:off x="11837274" y="6565392"/>
            <a:ext cx="29535" cy="34747"/>
          </a:xfrm>
          <a:prstGeom prst="rect">
            <a:avLst/>
          </a:prstGeom>
          <a:solidFill>
            <a:srgbClr val="7C4DE8"/>
          </a:solidFill>
          <a:ln/>
        </p:spPr>
        <p:txBody>
          <a:bodyPr/>
          <a:lstStyle/>
          <a:p>
            <a:endParaRPr lang="en-IN"/>
          </a:p>
        </p:txBody>
      </p:sp>
      <p:sp>
        <p:nvSpPr>
          <p:cNvPr id="41" name="Shape 39"/>
          <p:cNvSpPr/>
          <p:nvPr/>
        </p:nvSpPr>
        <p:spPr>
          <a:xfrm>
            <a:off x="11687861" y="6506322"/>
            <a:ext cx="34747" cy="29535"/>
          </a:xfrm>
          <a:prstGeom prst="rect">
            <a:avLst/>
          </a:prstGeom>
          <a:solidFill>
            <a:srgbClr val="7C4DE8"/>
          </a:solidFill>
          <a:ln/>
        </p:spPr>
        <p:txBody>
          <a:bodyPr/>
          <a:lstStyle/>
          <a:p>
            <a:endParaRPr lang="en-IN"/>
          </a:p>
        </p:txBody>
      </p:sp>
      <p:sp>
        <p:nvSpPr>
          <p:cNvPr id="42" name="Shape 40"/>
          <p:cNvSpPr/>
          <p:nvPr/>
        </p:nvSpPr>
        <p:spPr>
          <a:xfrm>
            <a:off x="11896344" y="6506322"/>
            <a:ext cx="34747" cy="29535"/>
          </a:xfrm>
          <a:prstGeom prst="rect">
            <a:avLst/>
          </a:prstGeom>
          <a:solidFill>
            <a:srgbClr val="7C4DE8"/>
          </a:solidFill>
          <a:ln/>
        </p:spPr>
        <p:txBody>
          <a:bodyPr/>
          <a:lstStyle/>
          <a:p>
            <a:endParaRPr lang="en-IN"/>
          </a:p>
        </p:txBody>
      </p:sp>
      <p:sp>
        <p:nvSpPr>
          <p:cNvPr id="44" name="TextBox 43">
            <a:extLst>
              <a:ext uri="{FF2B5EF4-FFF2-40B4-BE49-F238E27FC236}">
                <a16:creationId xmlns:a16="http://schemas.microsoft.com/office/drawing/2014/main" id="{C04D69BC-DCE8-DC56-47D8-B958BE7BC3F1}"/>
              </a:ext>
            </a:extLst>
          </p:cNvPr>
          <p:cNvSpPr txBox="1"/>
          <p:nvPr/>
        </p:nvSpPr>
        <p:spPr>
          <a:xfrm>
            <a:off x="7291477" y="2320734"/>
            <a:ext cx="6094562" cy="338554"/>
          </a:xfrm>
          <a:prstGeom prst="rect">
            <a:avLst/>
          </a:prstGeom>
          <a:noFill/>
        </p:spPr>
        <p:txBody>
          <a:bodyPr wrap="square">
            <a:spAutoFit/>
          </a:bodyPr>
          <a:lstStyle/>
          <a:p>
            <a:pPr marL="0" indent="0">
              <a:buNone/>
            </a:pPr>
            <a:endParaRPr lang="en-US" sz="1600" dirty="0"/>
          </a:p>
        </p:txBody>
      </p:sp>
      <p:sp>
        <p:nvSpPr>
          <p:cNvPr id="54" name="TextBox 53">
            <a:extLst>
              <a:ext uri="{FF2B5EF4-FFF2-40B4-BE49-F238E27FC236}">
                <a16:creationId xmlns:a16="http://schemas.microsoft.com/office/drawing/2014/main" id="{A42C18EF-41CF-99D7-B321-62369816BA9C}"/>
              </a:ext>
            </a:extLst>
          </p:cNvPr>
          <p:cNvSpPr txBox="1"/>
          <p:nvPr/>
        </p:nvSpPr>
        <p:spPr>
          <a:xfrm>
            <a:off x="1386723" y="2196705"/>
            <a:ext cx="6694098" cy="307777"/>
          </a:xfrm>
          <a:prstGeom prst="rect">
            <a:avLst/>
          </a:prstGeom>
          <a:noFill/>
        </p:spPr>
        <p:txBody>
          <a:bodyPr wrap="square">
            <a:spAutoFit/>
          </a:bodyPr>
          <a:lstStyle/>
          <a:p>
            <a:pPr marL="0" indent="0">
              <a:buNone/>
            </a:pPr>
            <a:r>
              <a:rPr lang="en-US" sz="1400" b="1" kern="0" spc="80" dirty="0">
                <a:solidFill>
                  <a:srgbClr val="7C4DE8"/>
                </a:solidFill>
                <a:latin typeface="Consolas" pitchFamily="34" charset="0"/>
                <a:ea typeface="Consolas" pitchFamily="34" charset="-122"/>
                <a:cs typeface="Consolas" pitchFamily="34" charset="-120"/>
              </a:rPr>
              <a:t>DEPLOYMENT FREQUENCY</a:t>
            </a:r>
            <a:endParaRPr lang="en-US" sz="1400" b="1" dirty="0"/>
          </a:p>
        </p:txBody>
      </p:sp>
      <p:sp>
        <p:nvSpPr>
          <p:cNvPr id="56" name="TextBox 55">
            <a:extLst>
              <a:ext uri="{FF2B5EF4-FFF2-40B4-BE49-F238E27FC236}">
                <a16:creationId xmlns:a16="http://schemas.microsoft.com/office/drawing/2014/main" id="{9EF8938B-C323-36D4-5ECC-C453E7C663A8}"/>
              </a:ext>
            </a:extLst>
          </p:cNvPr>
          <p:cNvSpPr txBox="1"/>
          <p:nvPr/>
        </p:nvSpPr>
        <p:spPr>
          <a:xfrm>
            <a:off x="6496553" y="2191872"/>
            <a:ext cx="6694098" cy="307777"/>
          </a:xfrm>
          <a:prstGeom prst="rect">
            <a:avLst/>
          </a:prstGeom>
          <a:noFill/>
        </p:spPr>
        <p:txBody>
          <a:bodyPr wrap="square">
            <a:spAutoFit/>
          </a:bodyPr>
          <a:lstStyle/>
          <a:p>
            <a:pPr marL="0" indent="0">
              <a:buNone/>
            </a:pPr>
            <a:r>
              <a:rPr lang="en-US" sz="1400" b="1" kern="0" spc="80" dirty="0">
                <a:solidFill>
                  <a:srgbClr val="7C4DE8"/>
                </a:solidFill>
                <a:latin typeface="Consolas" pitchFamily="34" charset="0"/>
                <a:ea typeface="Consolas" pitchFamily="34" charset="-122"/>
                <a:cs typeface="Consolas" pitchFamily="34" charset="-120"/>
              </a:rPr>
              <a:t>LEAD TIME FOR CHANGES</a:t>
            </a:r>
            <a:endParaRPr lang="en-US" sz="1400" b="1" dirty="0"/>
          </a:p>
        </p:txBody>
      </p:sp>
      <p:sp>
        <p:nvSpPr>
          <p:cNvPr id="58" name="Shape 23">
            <a:extLst>
              <a:ext uri="{FF2B5EF4-FFF2-40B4-BE49-F238E27FC236}">
                <a16:creationId xmlns:a16="http://schemas.microsoft.com/office/drawing/2014/main" id="{DD61CA77-7E1F-EF1E-0952-240CB7AC1D79}"/>
              </a:ext>
            </a:extLst>
          </p:cNvPr>
          <p:cNvSpPr/>
          <p:nvPr/>
        </p:nvSpPr>
        <p:spPr>
          <a:xfrm>
            <a:off x="6405228" y="2300585"/>
            <a:ext cx="91440" cy="91440"/>
          </a:xfrm>
          <a:prstGeom prst="rect">
            <a:avLst/>
          </a:prstGeom>
          <a:solidFill>
            <a:srgbClr val="7C4DE8"/>
          </a:solidFill>
          <a:ln/>
        </p:spPr>
        <p:txBody>
          <a:bodyPr/>
          <a:lstStyle/>
          <a:p>
            <a:endParaRPr lang="en-IN"/>
          </a:p>
        </p:txBody>
      </p:sp>
      <p:sp>
        <p:nvSpPr>
          <p:cNvPr id="60" name="TextBox 59">
            <a:extLst>
              <a:ext uri="{FF2B5EF4-FFF2-40B4-BE49-F238E27FC236}">
                <a16:creationId xmlns:a16="http://schemas.microsoft.com/office/drawing/2014/main" id="{019C6E00-01C5-A44A-D3CC-36F96E182238}"/>
              </a:ext>
            </a:extLst>
          </p:cNvPr>
          <p:cNvSpPr txBox="1"/>
          <p:nvPr/>
        </p:nvSpPr>
        <p:spPr>
          <a:xfrm>
            <a:off x="1301151" y="4203451"/>
            <a:ext cx="6694098" cy="307777"/>
          </a:xfrm>
          <a:prstGeom prst="rect">
            <a:avLst/>
          </a:prstGeom>
          <a:noFill/>
        </p:spPr>
        <p:txBody>
          <a:bodyPr wrap="square">
            <a:spAutoFit/>
          </a:bodyPr>
          <a:lstStyle/>
          <a:p>
            <a:pPr marL="0" indent="0">
              <a:buNone/>
            </a:pPr>
            <a:r>
              <a:rPr lang="en-US" sz="1400" b="1" kern="0" spc="80" dirty="0">
                <a:solidFill>
                  <a:srgbClr val="7C4DE8"/>
                </a:solidFill>
                <a:latin typeface="Consolas" pitchFamily="34" charset="0"/>
              </a:rPr>
              <a:t>CHANGE FAILURE RATE</a:t>
            </a:r>
            <a:endParaRPr lang="en-US" sz="1400" b="1" dirty="0"/>
          </a:p>
        </p:txBody>
      </p:sp>
      <p:sp>
        <p:nvSpPr>
          <p:cNvPr id="62" name="TextBox 61">
            <a:extLst>
              <a:ext uri="{FF2B5EF4-FFF2-40B4-BE49-F238E27FC236}">
                <a16:creationId xmlns:a16="http://schemas.microsoft.com/office/drawing/2014/main" id="{BC3626A0-C029-7A2F-FD37-1FE1A846E263}"/>
              </a:ext>
            </a:extLst>
          </p:cNvPr>
          <p:cNvSpPr txBox="1"/>
          <p:nvPr/>
        </p:nvSpPr>
        <p:spPr>
          <a:xfrm>
            <a:off x="6430628" y="4203451"/>
            <a:ext cx="6694098" cy="307777"/>
          </a:xfrm>
          <a:prstGeom prst="rect">
            <a:avLst/>
          </a:prstGeom>
          <a:noFill/>
        </p:spPr>
        <p:txBody>
          <a:bodyPr wrap="square">
            <a:spAutoFit/>
          </a:bodyPr>
          <a:lstStyle/>
          <a:p>
            <a:pPr marL="0" indent="0">
              <a:buNone/>
            </a:pPr>
            <a:r>
              <a:rPr lang="en-US" sz="1400" b="1" kern="0" spc="80" dirty="0">
                <a:solidFill>
                  <a:srgbClr val="7C4DE8"/>
                </a:solidFill>
                <a:latin typeface="Consolas" pitchFamily="34" charset="0"/>
                <a:ea typeface="Consolas" pitchFamily="34" charset="-122"/>
                <a:cs typeface="Consolas" pitchFamily="34" charset="-120"/>
              </a:rPr>
              <a:t>MEAN TIME TO RECOVERY</a:t>
            </a:r>
            <a:endParaRPr lang="en-US" sz="1400" b="1" dirty="0"/>
          </a:p>
        </p:txBody>
      </p:sp>
      <p:sp>
        <p:nvSpPr>
          <p:cNvPr id="64" name="Shape 23">
            <a:extLst>
              <a:ext uri="{FF2B5EF4-FFF2-40B4-BE49-F238E27FC236}">
                <a16:creationId xmlns:a16="http://schemas.microsoft.com/office/drawing/2014/main" id="{ECBAB44F-B124-0457-775A-05CB7BBEDA28}"/>
              </a:ext>
            </a:extLst>
          </p:cNvPr>
          <p:cNvSpPr/>
          <p:nvPr/>
        </p:nvSpPr>
        <p:spPr>
          <a:xfrm>
            <a:off x="1205398" y="4309872"/>
            <a:ext cx="91440" cy="91440"/>
          </a:xfrm>
          <a:prstGeom prst="rect">
            <a:avLst/>
          </a:prstGeom>
          <a:solidFill>
            <a:srgbClr val="7C4DE8"/>
          </a:solidFill>
          <a:ln/>
        </p:spPr>
        <p:txBody>
          <a:bodyPr/>
          <a:lstStyle/>
          <a:p>
            <a:endParaRPr lang="en-IN"/>
          </a:p>
        </p:txBody>
      </p:sp>
      <p:sp>
        <p:nvSpPr>
          <p:cNvPr id="66" name="Shape 23">
            <a:extLst>
              <a:ext uri="{FF2B5EF4-FFF2-40B4-BE49-F238E27FC236}">
                <a16:creationId xmlns:a16="http://schemas.microsoft.com/office/drawing/2014/main" id="{41FD5812-6816-AA0E-83FD-0AF29390BBA7}"/>
              </a:ext>
            </a:extLst>
          </p:cNvPr>
          <p:cNvSpPr/>
          <p:nvPr/>
        </p:nvSpPr>
        <p:spPr>
          <a:xfrm>
            <a:off x="6347805" y="4309872"/>
            <a:ext cx="91440" cy="91440"/>
          </a:xfrm>
          <a:prstGeom prst="rect">
            <a:avLst/>
          </a:prstGeom>
          <a:solidFill>
            <a:srgbClr val="7C4DE8"/>
          </a:solidFill>
          <a:ln/>
        </p:spPr>
        <p:txBody>
          <a:bodyPr/>
          <a:lstStyle/>
          <a:p>
            <a:endParaRPr lang="en-IN"/>
          </a:p>
        </p:txBody>
      </p:sp>
      <p:sp>
        <p:nvSpPr>
          <p:cNvPr id="68" name="TextBox 67">
            <a:extLst>
              <a:ext uri="{FF2B5EF4-FFF2-40B4-BE49-F238E27FC236}">
                <a16:creationId xmlns:a16="http://schemas.microsoft.com/office/drawing/2014/main" id="{146BD0E9-CE50-26C2-0EDF-985B7C2C5190}"/>
              </a:ext>
            </a:extLst>
          </p:cNvPr>
          <p:cNvSpPr txBox="1"/>
          <p:nvPr/>
        </p:nvSpPr>
        <p:spPr>
          <a:xfrm>
            <a:off x="1301150" y="4544568"/>
            <a:ext cx="2923377" cy="892552"/>
          </a:xfrm>
          <a:prstGeom prst="rect">
            <a:avLst/>
          </a:prstGeom>
          <a:noFill/>
        </p:spPr>
        <p:txBody>
          <a:bodyPr wrap="square">
            <a:spAutoFit/>
          </a:bodyPr>
          <a:lstStyle/>
          <a:p>
            <a:pPr marL="0" indent="0">
              <a:buNone/>
            </a:pPr>
            <a:r>
              <a:rPr lang="en-US" sz="1300" dirty="0">
                <a:solidFill>
                  <a:srgbClr val="667180"/>
                </a:solidFill>
                <a:latin typeface="ADLaM Display" panose="020F0502020204030204" pitchFamily="2" charset="0"/>
                <a:ea typeface="ADLaM Display" panose="020F0502020204030204" pitchFamily="2" charset="0"/>
                <a:cs typeface="ADLaM Display" panose="020F0502020204030204" pitchFamily="2" charset="0"/>
              </a:rPr>
              <a:t>The share of deployments that trigger a rollback or hotfix. Speed should never come at the cost of stability.</a:t>
            </a:r>
            <a:endParaRPr lang="en-US" sz="1300" dirty="0">
              <a:latin typeface="ADLaM Display" panose="020F0502020204030204" pitchFamily="2" charset="0"/>
              <a:ea typeface="ADLaM Display" panose="020F0502020204030204" pitchFamily="2" charset="0"/>
              <a:cs typeface="ADLaM Display" panose="020F0502020204030204" pitchFamily="2" charset="0"/>
            </a:endParaRPr>
          </a:p>
        </p:txBody>
      </p:sp>
      <p:sp>
        <p:nvSpPr>
          <p:cNvPr id="70" name="TextBox 69">
            <a:extLst>
              <a:ext uri="{FF2B5EF4-FFF2-40B4-BE49-F238E27FC236}">
                <a16:creationId xmlns:a16="http://schemas.microsoft.com/office/drawing/2014/main" id="{7475407E-67B7-79BD-AC75-76A916B4DB63}"/>
              </a:ext>
            </a:extLst>
          </p:cNvPr>
          <p:cNvSpPr txBox="1"/>
          <p:nvPr/>
        </p:nvSpPr>
        <p:spPr>
          <a:xfrm>
            <a:off x="1371600" y="2577845"/>
            <a:ext cx="2336800" cy="1200329"/>
          </a:xfrm>
          <a:prstGeom prst="rect">
            <a:avLst/>
          </a:prstGeom>
          <a:noFill/>
        </p:spPr>
        <p:txBody>
          <a:bodyPr wrap="square">
            <a:spAutoFit/>
          </a:bodyPr>
          <a:lstStyle/>
          <a:p>
            <a:pPr marL="0" indent="0">
              <a:buNone/>
            </a:pPr>
            <a:r>
              <a:rPr lang="en-US" sz="1200" dirty="0">
                <a:solidFill>
                  <a:srgbClr val="667180"/>
                </a:solidFill>
                <a:latin typeface="ADLaM Display" panose="020F0502020204030204" pitchFamily="2" charset="0"/>
                <a:ea typeface="ADLaM Display" panose="020F0502020204030204" pitchFamily="2" charset="0"/>
                <a:cs typeface="ADLaM Display" panose="020F0502020204030204" pitchFamily="2" charset="0"/>
              </a:rPr>
              <a:t>How often your team ships code to production. Elite teams deploy on demand, multiple times a day, instead of once a month.</a:t>
            </a:r>
            <a:endParaRPr lang="en-US" sz="1200" dirty="0">
              <a:latin typeface="ADLaM Display" panose="020F0502020204030204" pitchFamily="2" charset="0"/>
              <a:ea typeface="ADLaM Display" panose="020F0502020204030204" pitchFamily="2" charset="0"/>
              <a:cs typeface="ADLaM Display" panose="020F0502020204030204" pitchFamily="2" charset="0"/>
            </a:endParaRPr>
          </a:p>
        </p:txBody>
      </p:sp>
      <p:sp>
        <p:nvSpPr>
          <p:cNvPr id="19" name="Shape 23">
            <a:extLst>
              <a:ext uri="{FF2B5EF4-FFF2-40B4-BE49-F238E27FC236}">
                <a16:creationId xmlns:a16="http://schemas.microsoft.com/office/drawing/2014/main" id="{E03FFB66-DB1A-52D0-951E-67B079BF0FC9}"/>
              </a:ext>
            </a:extLst>
          </p:cNvPr>
          <p:cNvSpPr/>
          <p:nvPr/>
        </p:nvSpPr>
        <p:spPr>
          <a:xfrm>
            <a:off x="1325880" y="2310254"/>
            <a:ext cx="91440" cy="91440"/>
          </a:xfrm>
          <a:prstGeom prst="rect">
            <a:avLst/>
          </a:prstGeom>
          <a:solidFill>
            <a:srgbClr val="7C4DE8"/>
          </a:solidFill>
          <a:ln/>
        </p:spPr>
        <p:txBody>
          <a:bodyPr/>
          <a:lstStyle/>
          <a:p>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algn="r"/>
            <a:r>
              <a:rPr lang="en-US" sz="850" kern="0" spc="120" dirty="0">
                <a:solidFill>
                  <a:srgbClr val="9AA3AE"/>
                </a:solidFill>
                <a:latin typeface="Consolas" pitchFamily="34" charset="0"/>
                <a:ea typeface="Consolas" pitchFamily="34" charset="-122"/>
                <a:cs typeface="Consolas" pitchFamily="34" charset="-120"/>
              </a:rPr>
              <a:t>FRONTIER · TRACK -04</a:t>
            </a:r>
            <a:endParaRPr lang="en-US" sz="850" dirty="0"/>
          </a:p>
        </p:txBody>
      </p:sp>
      <p:sp>
        <p:nvSpPr>
          <p:cNvPr id="16" name="Text 14"/>
          <p:cNvSpPr/>
          <p:nvPr/>
        </p:nvSpPr>
        <p:spPr>
          <a:xfrm>
            <a:off x="747979" y="1058289"/>
            <a:ext cx="9692640" cy="475488"/>
          </a:xfrm>
          <a:prstGeom prst="rect">
            <a:avLst/>
          </a:prstGeom>
          <a:noFill/>
          <a:ln/>
        </p:spPr>
        <p:txBody>
          <a:bodyPr wrap="square" lIns="0" tIns="0" rIns="0" bIns="0" rtlCol="0" anchor="ctr"/>
          <a:lstStyle/>
          <a:p>
            <a:r>
              <a:rPr lang="en-US" sz="3200" b="1" dirty="0">
                <a:solidFill>
                  <a:srgbClr val="0F172A"/>
                </a:solidFill>
                <a:latin typeface="Arial Black" panose="020B0A04020102020204" pitchFamily="34" charset="0"/>
                <a:ea typeface="Calibri" pitchFamily="34" charset="-122"/>
                <a:cs typeface="Calibri" pitchFamily="34" charset="-120"/>
              </a:rPr>
              <a:t>The Data-Backed Payoff</a:t>
            </a:r>
            <a:endParaRPr lang="en-US" sz="3200" dirty="0">
              <a:latin typeface="Arial Black" panose="020B0A04020102020204" pitchFamily="34" charset="0"/>
            </a:endParaRPr>
          </a:p>
        </p:txBody>
      </p:sp>
      <p:sp>
        <p:nvSpPr>
          <p:cNvPr id="17" name="Text 15"/>
          <p:cNvSpPr/>
          <p:nvPr/>
        </p:nvSpPr>
        <p:spPr>
          <a:xfrm>
            <a:off x="767181" y="1533777"/>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122"/>
                <a:cs typeface="Consolas" pitchFamily="34" charset="-120"/>
              </a:rPr>
              <a:t>real results, not just promises</a:t>
            </a:r>
            <a:endParaRPr lang="en-US" sz="1100" dirty="0"/>
          </a:p>
        </p:txBody>
      </p:sp>
      <p:sp>
        <p:nvSpPr>
          <p:cNvPr id="18" name="Text 16"/>
          <p:cNvSpPr/>
          <p:nvPr/>
        </p:nvSpPr>
        <p:spPr>
          <a:xfrm>
            <a:off x="2507488" y="5572923"/>
            <a:ext cx="8029458" cy="279324"/>
          </a:xfrm>
          <a:prstGeom prst="rect">
            <a:avLst/>
          </a:prstGeom>
          <a:noFill/>
          <a:ln/>
        </p:spPr>
        <p:txBody>
          <a:bodyPr wrap="square" lIns="0" tIns="0" rIns="0" bIns="0" rtlCol="0" anchor="ctr"/>
          <a:lstStyle/>
          <a:p>
            <a:r>
              <a:rPr lang="en-GB" sz="1600" i="1" dirty="0">
                <a:solidFill>
                  <a:schemeClr val="bg2">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Real AWS case study: Altisource, powered by Amazon Q Developer.</a:t>
            </a:r>
            <a:endParaRPr lang="en-US" sz="1600" i="1" dirty="0">
              <a:solidFill>
                <a:schemeClr val="bg2">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20" name="Text 18"/>
          <p:cNvSpPr/>
          <p:nvPr/>
        </p:nvSpPr>
        <p:spPr>
          <a:xfrm>
            <a:off x="969264" y="2770632"/>
            <a:ext cx="10250424" cy="2240280"/>
          </a:xfrm>
          <a:prstGeom prst="rect">
            <a:avLst/>
          </a:prstGeom>
          <a:noFill/>
          <a:ln/>
        </p:spPr>
        <p:txBody>
          <a:bodyPr wrap="square" lIns="762" tIns="762" rIns="762" bIns="762" rtlCol="0" anchor="t"/>
          <a:lstStyle/>
          <a:p>
            <a:pPr marL="0" indent="0">
              <a:buNone/>
            </a:pPr>
            <a:endParaRPr lang="en-US" sz="1100" dirty="0"/>
          </a:p>
        </p:txBody>
      </p:sp>
      <p:sp>
        <p:nvSpPr>
          <p:cNvPr id="21" name="Text 19"/>
          <p:cNvSpPr/>
          <p:nvPr/>
        </p:nvSpPr>
        <p:spPr>
          <a:xfrm>
            <a:off x="822960" y="5230368"/>
            <a:ext cx="10543032" cy="219456"/>
          </a:xfrm>
          <a:prstGeom prst="rect">
            <a:avLst/>
          </a:prstGeom>
          <a:noFill/>
          <a:ln/>
        </p:spPr>
        <p:txBody>
          <a:bodyPr wrap="square" lIns="0" tIns="0" rIns="0" bIns="0" rtlCol="0" anchor="ctr"/>
          <a:lstStyle/>
          <a:p>
            <a:pPr marL="0" indent="0">
              <a:buNone/>
            </a:pPr>
            <a:endParaRPr lang="en-US" sz="900" dirty="0"/>
          </a:p>
        </p:txBody>
      </p:sp>
      <p:sp>
        <p:nvSpPr>
          <p:cNvPr id="25" name="Text 23"/>
          <p:cNvSpPr/>
          <p:nvPr/>
        </p:nvSpPr>
        <p:spPr>
          <a:xfrm>
            <a:off x="566928" y="2500000"/>
            <a:ext cx="3200000" cy="2100000"/>
          </a:xfrm>
          <a:prstGeom prst="rect">
            <a:avLst/>
          </a:prstGeom>
          <a:noFill/>
          <a:ln/>
        </p:spPr>
        <p:txBody>
          <a:bodyPr wrap="square" lIns="0" tIns="0" rIns="0" bIns="0" rtlCol="0" anchor="ctr"/>
          <a:lstStyle/>
          <a:p>
            <a:pPr algn="ctr">
              <a:buNone/>
            </a:pPr>
            <a:r>
              <a:rPr lang="en-US" sz="6000" b="1" dirty="0">
                <a:solidFill>
                  <a:srgbClr val="7C4DE8"/>
                </a:solidFill>
                <a:latin typeface="Arial Black" pitchFamily="34" charset="0"/>
                <a:cs typeface="Arial Black" pitchFamily="34" charset="0"/>
              </a:rPr>
              <a:t>25%</a:t>
            </a:r>
          </a:p>
          <a:p>
            <a:pPr algn="ctr">
              <a:spcBef>
                <a:spcPts val="600"/>
              </a:spcBef>
              <a:buNone/>
            </a:pPr>
            <a:r>
              <a:rPr lang="en-US" sz="1400" dirty="0">
                <a:solidFill>
                  <a:srgbClr val="667180"/>
                </a:solidFill>
                <a:latin typeface="Arial" pitchFamily="34" charset="0"/>
                <a:cs typeface="Arial" pitchFamily="34" charset="0"/>
              </a:rPr>
              <a:t>increase in developer productivity</a:t>
            </a:r>
          </a:p>
        </p:txBody>
      </p:sp>
      <p:sp>
        <p:nvSpPr>
          <p:cNvPr id="27" name="Text 25"/>
          <p:cNvSpPr/>
          <p:nvPr/>
        </p:nvSpPr>
        <p:spPr>
          <a:xfrm>
            <a:off x="4496000" y="2500000"/>
            <a:ext cx="3200000" cy="2100000"/>
          </a:xfrm>
          <a:prstGeom prst="rect">
            <a:avLst/>
          </a:prstGeom>
          <a:noFill/>
          <a:ln/>
        </p:spPr>
        <p:txBody>
          <a:bodyPr wrap="square" lIns="0" tIns="0" rIns="0" bIns="0" rtlCol="0" anchor="ctr"/>
          <a:lstStyle/>
          <a:p>
            <a:pPr algn="ctr">
              <a:buNone/>
            </a:pPr>
            <a:r>
              <a:rPr lang="en-US" sz="6000" b="1" dirty="0">
                <a:solidFill>
                  <a:srgbClr val="7C4DE8"/>
                </a:solidFill>
                <a:latin typeface="Arial Black" pitchFamily="34" charset="0"/>
                <a:cs typeface="Arial Black" pitchFamily="34" charset="0"/>
              </a:rPr>
              <a:t>54%</a:t>
            </a:r>
          </a:p>
          <a:p>
            <a:pPr algn="ctr">
              <a:spcBef>
                <a:spcPts val="600"/>
              </a:spcBef>
              <a:buNone/>
            </a:pPr>
            <a:r>
              <a:rPr lang="en-US" sz="1400" dirty="0">
                <a:solidFill>
                  <a:srgbClr val="667180"/>
                </a:solidFill>
                <a:latin typeface="Arial" pitchFamily="34" charset="0"/>
                <a:cs typeface="Arial" pitchFamily="34" charset="0"/>
              </a:rPr>
              <a:t>fewer security vulnerabilities</a:t>
            </a:r>
          </a:p>
        </p:txBody>
      </p:sp>
      <p:sp>
        <p:nvSpPr>
          <p:cNvPr id="29" name="Text 27"/>
          <p:cNvSpPr/>
          <p:nvPr/>
        </p:nvSpPr>
        <p:spPr>
          <a:xfrm>
            <a:off x="8425072" y="2500000"/>
            <a:ext cx="3200000" cy="2100000"/>
          </a:xfrm>
          <a:prstGeom prst="rect">
            <a:avLst/>
          </a:prstGeom>
          <a:noFill/>
          <a:ln/>
        </p:spPr>
        <p:txBody>
          <a:bodyPr wrap="square" lIns="0" tIns="0" rIns="0" bIns="0" rtlCol="0" anchor="ctr"/>
          <a:lstStyle/>
          <a:p>
            <a:pPr algn="ctr">
              <a:buNone/>
            </a:pPr>
            <a:r>
              <a:rPr lang="en-US" sz="6000" b="1" dirty="0">
                <a:solidFill>
                  <a:srgbClr val="7C4DE8"/>
                </a:solidFill>
                <a:latin typeface="Arial Black" pitchFamily="34" charset="0"/>
                <a:cs typeface="Arial Black" pitchFamily="34" charset="0"/>
              </a:rPr>
              <a:t>350K+</a:t>
            </a:r>
          </a:p>
          <a:p>
            <a:pPr algn="ctr">
              <a:spcBef>
                <a:spcPts val="600"/>
              </a:spcBef>
              <a:buNone/>
            </a:pPr>
            <a:r>
              <a:rPr lang="en-US" sz="1400" dirty="0">
                <a:solidFill>
                  <a:srgbClr val="667180"/>
                </a:solidFill>
                <a:latin typeface="Arial" pitchFamily="34" charset="0"/>
                <a:cs typeface="Arial" pitchFamily="34" charset="0"/>
              </a:rPr>
              <a:t>lines of legacy code modernized</a:t>
            </a:r>
          </a:p>
        </p:txBody>
      </p:sp>
      <p:sp>
        <p:nvSpPr>
          <p:cNvPr id="30" name="Text 28"/>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1" name="Text 29"/>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08</a:t>
            </a:r>
            <a:r>
              <a:rPr lang="en-US" sz="900" dirty="0">
                <a:solidFill>
                  <a:srgbClr val="9AA3AE"/>
                </a:solidFill>
                <a:latin typeface="Consolas" pitchFamily="34" charset="0"/>
                <a:ea typeface="Consolas" pitchFamily="34" charset="-122"/>
                <a:cs typeface="Consolas" pitchFamily="34" charset="-120"/>
              </a:rPr>
              <a:t> / 12</a:t>
            </a:r>
            <a:endParaRPr lang="en-US" sz="900" dirty="0"/>
          </a:p>
        </p:txBody>
      </p:sp>
      <p:sp>
        <p:nvSpPr>
          <p:cNvPr id="32" name="Shape 30"/>
          <p:cNvSpPr/>
          <p:nvPr/>
        </p:nvSpPr>
        <p:spPr>
          <a:xfrm>
            <a:off x="11722608" y="6391656"/>
            <a:ext cx="173736" cy="173736"/>
          </a:xfrm>
          <a:prstGeom prst="rect">
            <a:avLst/>
          </a:prstGeom>
          <a:solidFill>
            <a:srgbClr val="7C4DE8"/>
          </a:solidFill>
          <a:ln/>
        </p:spPr>
        <p:txBody>
          <a:bodyPr/>
          <a:lstStyle/>
          <a:p>
            <a:endParaRPr lang="en-IN"/>
          </a:p>
        </p:txBody>
      </p:sp>
      <p:sp>
        <p:nvSpPr>
          <p:cNvPr id="33" name="Shape 31"/>
          <p:cNvSpPr/>
          <p:nvPr/>
        </p:nvSpPr>
        <p:spPr>
          <a:xfrm>
            <a:off x="11769517" y="6438565"/>
            <a:ext cx="79919" cy="79919"/>
          </a:xfrm>
          <a:prstGeom prst="rect">
            <a:avLst/>
          </a:prstGeom>
          <a:solidFill>
            <a:srgbClr val="FFFFFF"/>
          </a:solidFill>
          <a:ln/>
        </p:spPr>
        <p:txBody>
          <a:bodyPr/>
          <a:lstStyle/>
          <a:p>
            <a:endParaRPr lang="en-IN"/>
          </a:p>
        </p:txBody>
      </p:sp>
      <p:sp>
        <p:nvSpPr>
          <p:cNvPr id="34" name="Shape 32"/>
          <p:cNvSpPr/>
          <p:nvPr/>
        </p:nvSpPr>
        <p:spPr>
          <a:xfrm>
            <a:off x="11752143" y="6356909"/>
            <a:ext cx="29535" cy="34747"/>
          </a:xfrm>
          <a:prstGeom prst="rect">
            <a:avLst/>
          </a:prstGeom>
          <a:solidFill>
            <a:srgbClr val="7C4DE8"/>
          </a:solidFill>
          <a:ln/>
        </p:spPr>
        <p:txBody>
          <a:bodyPr/>
          <a:lstStyle/>
          <a:p>
            <a:endParaRPr lang="en-IN"/>
          </a:p>
        </p:txBody>
      </p:sp>
      <p:sp>
        <p:nvSpPr>
          <p:cNvPr id="35" name="Shape 33"/>
          <p:cNvSpPr/>
          <p:nvPr/>
        </p:nvSpPr>
        <p:spPr>
          <a:xfrm>
            <a:off x="11752143" y="6565392"/>
            <a:ext cx="29535" cy="34747"/>
          </a:xfrm>
          <a:prstGeom prst="rect">
            <a:avLst/>
          </a:prstGeom>
          <a:solidFill>
            <a:srgbClr val="7C4DE8"/>
          </a:solidFill>
          <a:ln/>
        </p:spPr>
        <p:txBody>
          <a:bodyPr/>
          <a:lstStyle/>
          <a:p>
            <a:endParaRPr lang="en-IN"/>
          </a:p>
        </p:txBody>
      </p:sp>
      <p:sp>
        <p:nvSpPr>
          <p:cNvPr id="36" name="Shape 34"/>
          <p:cNvSpPr/>
          <p:nvPr/>
        </p:nvSpPr>
        <p:spPr>
          <a:xfrm>
            <a:off x="11687861" y="6421191"/>
            <a:ext cx="34747" cy="29535"/>
          </a:xfrm>
          <a:prstGeom prst="rect">
            <a:avLst/>
          </a:prstGeom>
          <a:solidFill>
            <a:srgbClr val="7C4DE8"/>
          </a:solidFill>
          <a:ln/>
        </p:spPr>
        <p:txBody>
          <a:bodyPr/>
          <a:lstStyle/>
          <a:p>
            <a:endParaRPr lang="en-IN"/>
          </a:p>
        </p:txBody>
      </p:sp>
      <p:sp>
        <p:nvSpPr>
          <p:cNvPr id="37" name="Shape 35"/>
          <p:cNvSpPr/>
          <p:nvPr/>
        </p:nvSpPr>
        <p:spPr>
          <a:xfrm>
            <a:off x="11896344" y="6421191"/>
            <a:ext cx="34747" cy="29535"/>
          </a:xfrm>
          <a:prstGeom prst="rect">
            <a:avLst/>
          </a:prstGeom>
          <a:solidFill>
            <a:srgbClr val="7C4DE8"/>
          </a:solidFill>
          <a:ln/>
        </p:spPr>
        <p:txBody>
          <a:bodyPr/>
          <a:lstStyle/>
          <a:p>
            <a:endParaRPr lang="en-IN"/>
          </a:p>
        </p:txBody>
      </p:sp>
      <p:sp>
        <p:nvSpPr>
          <p:cNvPr id="38" name="Shape 36"/>
          <p:cNvSpPr/>
          <p:nvPr/>
        </p:nvSpPr>
        <p:spPr>
          <a:xfrm>
            <a:off x="11837274" y="6356909"/>
            <a:ext cx="29535" cy="34747"/>
          </a:xfrm>
          <a:prstGeom prst="rect">
            <a:avLst/>
          </a:prstGeom>
          <a:solidFill>
            <a:srgbClr val="7C4DE8"/>
          </a:solidFill>
          <a:ln/>
        </p:spPr>
        <p:txBody>
          <a:bodyPr/>
          <a:lstStyle/>
          <a:p>
            <a:endParaRPr lang="en-IN"/>
          </a:p>
        </p:txBody>
      </p:sp>
      <p:sp>
        <p:nvSpPr>
          <p:cNvPr id="39" name="Shape 37"/>
          <p:cNvSpPr/>
          <p:nvPr/>
        </p:nvSpPr>
        <p:spPr>
          <a:xfrm>
            <a:off x="11837274" y="6565392"/>
            <a:ext cx="29535" cy="34747"/>
          </a:xfrm>
          <a:prstGeom prst="rect">
            <a:avLst/>
          </a:prstGeom>
          <a:solidFill>
            <a:srgbClr val="7C4DE8"/>
          </a:solidFill>
          <a:ln/>
        </p:spPr>
        <p:txBody>
          <a:bodyPr/>
          <a:lstStyle/>
          <a:p>
            <a:endParaRPr lang="en-IN"/>
          </a:p>
        </p:txBody>
      </p:sp>
      <p:sp>
        <p:nvSpPr>
          <p:cNvPr id="40" name="Shape 38"/>
          <p:cNvSpPr/>
          <p:nvPr/>
        </p:nvSpPr>
        <p:spPr>
          <a:xfrm>
            <a:off x="11687861" y="6506322"/>
            <a:ext cx="34747" cy="29535"/>
          </a:xfrm>
          <a:prstGeom prst="rect">
            <a:avLst/>
          </a:prstGeom>
          <a:solidFill>
            <a:srgbClr val="7C4DE8"/>
          </a:solidFill>
          <a:ln/>
        </p:spPr>
        <p:txBody>
          <a:bodyPr/>
          <a:lstStyle/>
          <a:p>
            <a:endParaRPr lang="en-IN"/>
          </a:p>
        </p:txBody>
      </p:sp>
      <p:sp>
        <p:nvSpPr>
          <p:cNvPr id="41" name="Shape 39"/>
          <p:cNvSpPr/>
          <p:nvPr/>
        </p:nvSpPr>
        <p:spPr>
          <a:xfrm>
            <a:off x="11896344" y="6506322"/>
            <a:ext cx="34747" cy="29535"/>
          </a:xfrm>
          <a:prstGeom prst="rect">
            <a:avLst/>
          </a:prstGeom>
          <a:solidFill>
            <a:srgbClr val="7C4DE8"/>
          </a:solidFill>
          <a:ln/>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algn="r"/>
            <a:r>
              <a:rPr lang="en-US" sz="850" kern="0" spc="120" dirty="0">
                <a:solidFill>
                  <a:srgbClr val="9AA3AE"/>
                </a:solidFill>
                <a:latin typeface="Consolas" pitchFamily="34" charset="0"/>
                <a:ea typeface="Consolas" pitchFamily="34" charset="-122"/>
                <a:cs typeface="Consolas" pitchFamily="34" charset="-120"/>
              </a:rPr>
              <a:t>FRONTIER · TRACK -04</a:t>
            </a:r>
            <a:endParaRPr lang="en-US" sz="850" dirty="0"/>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onsolas" pitchFamily="34" charset="0"/>
                <a:ea typeface="Consolas" pitchFamily="34" charset="-122"/>
                <a:cs typeface="Consolas" pitchFamily="34" charset="-120"/>
              </a:rPr>
              <a:t>09</a:t>
            </a:r>
            <a:endParaRPr lang="en-US" sz="1700" dirty="0"/>
          </a:p>
        </p:txBody>
      </p:sp>
      <p:sp>
        <p:nvSpPr>
          <p:cNvPr id="16" name="Text 14"/>
          <p:cNvSpPr/>
          <p:nvPr/>
        </p:nvSpPr>
        <p:spPr>
          <a:xfrm>
            <a:off x="1353312" y="1005840"/>
            <a:ext cx="9692640" cy="475488"/>
          </a:xfrm>
          <a:prstGeom prst="rect">
            <a:avLst/>
          </a:prstGeom>
          <a:noFill/>
          <a:ln/>
        </p:spPr>
        <p:txBody>
          <a:bodyPr wrap="square" lIns="0" tIns="0" rIns="0" bIns="0" rtlCol="0" anchor="ctr"/>
          <a:lstStyle/>
          <a:p>
            <a:pPr marL="0" indent="0">
              <a:buNone/>
            </a:pPr>
            <a:r>
              <a:rPr lang="en-US" sz="3100" kern="0" spc="40" dirty="0">
                <a:solidFill>
                  <a:srgbClr val="0E141B"/>
                </a:solidFill>
                <a:latin typeface="Arial Black" pitchFamily="34" charset="0"/>
                <a:ea typeface="Arial Black" pitchFamily="34" charset="-122"/>
                <a:cs typeface="Arial Black" pitchFamily="34" charset="-120"/>
              </a:rPr>
              <a:t>Inside Amazon Q Developer</a:t>
            </a:r>
            <a:endParaRPr lang="en-US" sz="3100" dirty="0"/>
          </a:p>
        </p:txBody>
      </p:sp>
      <p:sp>
        <p:nvSpPr>
          <p:cNvPr id="17" name="Text 15"/>
          <p:cNvSpPr/>
          <p:nvPr/>
        </p:nvSpPr>
        <p:spPr>
          <a:xfrm>
            <a:off x="1371600" y="1481328"/>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122"/>
                <a:cs typeface="Consolas" pitchFamily="34" charset="-120"/>
              </a:rPr>
              <a:t>core capabilities, up close</a:t>
            </a:r>
            <a:endParaRPr lang="en-US" sz="1100" dirty="0"/>
          </a:p>
        </p:txBody>
      </p:sp>
      <p:sp>
        <p:nvSpPr>
          <p:cNvPr id="18" name="Text 16"/>
          <p:cNvSpPr/>
          <p:nvPr/>
        </p:nvSpPr>
        <p:spPr>
          <a:xfrm>
            <a:off x="822960" y="2103120"/>
            <a:ext cx="10543032" cy="566928"/>
          </a:xfrm>
          <a:prstGeom prst="rect">
            <a:avLst/>
          </a:prstGeom>
          <a:noFill/>
          <a:ln/>
        </p:spPr>
        <p:txBody>
          <a:bodyPr wrap="square" lIns="0" tIns="0" rIns="0" bIns="0" rtlCol="0" anchor="ctr"/>
          <a:lstStyle/>
          <a:p>
            <a:r>
              <a:rPr lang="en-GB" sz="2400" b="1" i="1" dirty="0"/>
              <a:t>Your AI pair programmer, built right into the IDE.</a:t>
            </a:r>
            <a:endParaRPr lang="en-US" sz="2100" b="1" i="1" dirty="0"/>
          </a:p>
        </p:txBody>
      </p:sp>
      <p:sp>
        <p:nvSpPr>
          <p:cNvPr id="19" name="Shape 17"/>
          <p:cNvSpPr/>
          <p:nvPr/>
        </p:nvSpPr>
        <p:spPr>
          <a:xfrm>
            <a:off x="822960" y="2770632"/>
            <a:ext cx="10543032" cy="2240280"/>
          </a:xfrm>
          <a:prstGeom prst="roundRect">
            <a:avLst>
              <a:gd name="adj" fmla="val 1633"/>
            </a:avLst>
          </a:prstGeom>
          <a:solidFill>
            <a:srgbClr val="F4F6F8"/>
          </a:solidFill>
          <a:ln w="9525">
            <a:solidFill>
              <a:srgbClr val="DDE2E8"/>
            </a:solidFill>
            <a:prstDash val="solid"/>
          </a:ln>
        </p:spPr>
        <p:txBody>
          <a:bodyPr/>
          <a:lstStyle/>
          <a:p>
            <a:endParaRPr lang="en-IN"/>
          </a:p>
        </p:txBody>
      </p:sp>
      <p:sp>
        <p:nvSpPr>
          <p:cNvPr id="20" name="Text 18"/>
          <p:cNvSpPr/>
          <p:nvPr/>
        </p:nvSpPr>
        <p:spPr>
          <a:xfrm>
            <a:off x="969264" y="2770632"/>
            <a:ext cx="10250424" cy="2240280"/>
          </a:xfrm>
          <a:prstGeom prst="rect">
            <a:avLst/>
          </a:prstGeom>
          <a:noFill/>
          <a:ln/>
        </p:spPr>
        <p:txBody>
          <a:bodyPr wrap="square" lIns="762" tIns="762" rIns="762" bIns="762" rtlCol="0" anchor="t"/>
          <a:lstStyle/>
          <a:p>
            <a:pPr marL="228600" indent="-228600">
              <a:lnSpc>
                <a:spcPct val="200000"/>
              </a:lnSpc>
              <a:buFont typeface="Arial"/>
              <a:buAutoNum type="arabicPeriod"/>
            </a:pPr>
            <a:r>
              <a:rPr lang="en-US" sz="1400" b="1" dirty="0">
                <a:solidFill>
                  <a:srgbClr val="7C4DE8"/>
                </a:solidFill>
                <a:latin typeface="Arial" pitchFamily="34" charset="0"/>
                <a:cs typeface="Arial" pitchFamily="34" charset="0"/>
              </a:rPr>
              <a:t>Chat &amp; Contextual Q&amp;A — </a:t>
            </a:r>
            <a:r>
              <a:rPr lang="en-US" sz="1400" dirty="0">
                <a:solidFill>
                  <a:srgbClr val="475569"/>
                </a:solidFill>
                <a:latin typeface="Arial" pitchFamily="34" charset="0"/>
                <a:cs typeface="Arial" pitchFamily="34" charset="0"/>
              </a:rPr>
              <a:t>natural-language answers grounded in your own codebase.</a:t>
            </a:r>
          </a:p>
          <a:p>
            <a:pPr marL="228600" indent="-228600">
              <a:lnSpc>
                <a:spcPct val="200000"/>
              </a:lnSpc>
              <a:buFont typeface="Arial"/>
              <a:buAutoNum type="arabicPeriod"/>
            </a:pPr>
            <a:r>
              <a:rPr lang="en-US" sz="1400" b="1" dirty="0">
                <a:solidFill>
                  <a:srgbClr val="7C4DE8"/>
                </a:solidFill>
                <a:latin typeface="Arial" pitchFamily="34" charset="0"/>
                <a:cs typeface="Arial" pitchFamily="34" charset="0"/>
              </a:rPr>
              <a:t>Real-Time Inline Suggestions — </a:t>
            </a:r>
            <a:r>
              <a:rPr lang="en-US" sz="1400" dirty="0">
                <a:solidFill>
                  <a:srgbClr val="475569"/>
                </a:solidFill>
                <a:latin typeface="Arial" pitchFamily="34" charset="0"/>
                <a:cs typeface="Arial" pitchFamily="34" charset="0"/>
              </a:rPr>
              <a:t>full-function code completions across 15+ languages.</a:t>
            </a:r>
          </a:p>
          <a:p>
            <a:pPr marL="228600" indent="-228600">
              <a:lnSpc>
                <a:spcPct val="200000"/>
              </a:lnSpc>
              <a:buFont typeface="Arial"/>
              <a:buAutoNum type="arabicPeriod"/>
            </a:pPr>
            <a:r>
              <a:rPr lang="en-US" sz="1400" b="1" dirty="0">
                <a:solidFill>
                  <a:srgbClr val="7C4DE8"/>
                </a:solidFill>
                <a:latin typeface="Arial" pitchFamily="34" charset="0"/>
                <a:cs typeface="Arial" pitchFamily="34" charset="0"/>
              </a:rPr>
              <a:t>Automated Code Transformation — </a:t>
            </a:r>
            <a:r>
              <a:rPr lang="en-US" sz="1400" dirty="0">
                <a:solidFill>
                  <a:srgbClr val="475569"/>
                </a:solidFill>
                <a:latin typeface="Arial" pitchFamily="34" charset="0"/>
                <a:cs typeface="Arial" pitchFamily="34" charset="0"/>
              </a:rPr>
              <a:t>upgrades legacy Java and .NET apps across major versions.</a:t>
            </a:r>
          </a:p>
          <a:p>
            <a:pPr marL="228600" indent="-228600">
              <a:lnSpc>
                <a:spcPct val="200000"/>
              </a:lnSpc>
              <a:buFont typeface="Arial"/>
              <a:buAutoNum type="arabicPeriod"/>
            </a:pPr>
            <a:r>
              <a:rPr lang="en-US" sz="1400" b="1" dirty="0">
                <a:solidFill>
                  <a:srgbClr val="7C4DE8"/>
                </a:solidFill>
                <a:latin typeface="Arial" pitchFamily="34" charset="0"/>
                <a:cs typeface="Arial" pitchFamily="34" charset="0"/>
              </a:rPr>
              <a:t>Security Vulnerability Scanning — </a:t>
            </a:r>
            <a:r>
              <a:rPr lang="en-US" sz="1400" dirty="0">
                <a:solidFill>
                  <a:srgbClr val="475569"/>
                </a:solidFill>
                <a:latin typeface="Arial" pitchFamily="34" charset="0"/>
                <a:cs typeface="Arial" pitchFamily="34" charset="0"/>
              </a:rPr>
              <a:t>catches OWASP Top 10 issues with one-click fixes.</a:t>
            </a:r>
          </a:p>
          <a:p>
            <a:pPr marL="228600" indent="-228600">
              <a:lnSpc>
                <a:spcPct val="200000"/>
              </a:lnSpc>
              <a:buFont typeface="Arial"/>
              <a:buAutoNum type="arabicPeriod"/>
            </a:pPr>
            <a:r>
              <a:rPr lang="en-US" sz="1400" b="1" dirty="0">
                <a:solidFill>
                  <a:srgbClr val="7C4DE8"/>
                </a:solidFill>
                <a:latin typeface="Arial" pitchFamily="34" charset="0"/>
                <a:cs typeface="Arial" pitchFamily="34" charset="0"/>
              </a:rPr>
              <a:t>CLI &amp; Terminal Support — </a:t>
            </a:r>
            <a:r>
              <a:rPr lang="en-US" sz="1400" dirty="0">
                <a:solidFill>
                  <a:srgbClr val="475569"/>
                </a:solidFill>
                <a:latin typeface="Arial" pitchFamily="34" charset="0"/>
                <a:cs typeface="Arial" pitchFamily="34" charset="0"/>
              </a:rPr>
              <a:t>command completions and natural-language-to-bash translation.</a:t>
            </a:r>
          </a:p>
        </p:txBody>
      </p:sp>
      <p:sp>
        <p:nvSpPr>
          <p:cNvPr id="30" name="Text 28"/>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1" name="Text 29"/>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09</a:t>
            </a:r>
            <a:r>
              <a:rPr lang="en-US" sz="900" dirty="0">
                <a:solidFill>
                  <a:srgbClr val="9AA3AE"/>
                </a:solidFill>
                <a:latin typeface="Consolas" pitchFamily="34" charset="0"/>
                <a:ea typeface="Consolas" pitchFamily="34" charset="-122"/>
                <a:cs typeface="Consolas" pitchFamily="34" charset="-120"/>
              </a:rPr>
              <a:t> / 12</a:t>
            </a:r>
            <a:endParaRPr lang="en-US" sz="900" dirty="0"/>
          </a:p>
        </p:txBody>
      </p:sp>
      <p:sp>
        <p:nvSpPr>
          <p:cNvPr id="32" name="Shape 30"/>
          <p:cNvSpPr/>
          <p:nvPr/>
        </p:nvSpPr>
        <p:spPr>
          <a:xfrm>
            <a:off x="11722608" y="6391656"/>
            <a:ext cx="173736" cy="173736"/>
          </a:xfrm>
          <a:prstGeom prst="rect">
            <a:avLst/>
          </a:prstGeom>
          <a:solidFill>
            <a:srgbClr val="7C4DE8"/>
          </a:solidFill>
          <a:ln/>
        </p:spPr>
        <p:txBody>
          <a:bodyPr/>
          <a:lstStyle/>
          <a:p>
            <a:endParaRPr lang="en-IN"/>
          </a:p>
        </p:txBody>
      </p:sp>
      <p:sp>
        <p:nvSpPr>
          <p:cNvPr id="33" name="Shape 31"/>
          <p:cNvSpPr/>
          <p:nvPr/>
        </p:nvSpPr>
        <p:spPr>
          <a:xfrm>
            <a:off x="11769517" y="6438565"/>
            <a:ext cx="79919" cy="79919"/>
          </a:xfrm>
          <a:prstGeom prst="rect">
            <a:avLst/>
          </a:prstGeom>
          <a:solidFill>
            <a:srgbClr val="FFFFFF"/>
          </a:solidFill>
          <a:ln/>
        </p:spPr>
        <p:txBody>
          <a:bodyPr/>
          <a:lstStyle/>
          <a:p>
            <a:endParaRPr lang="en-IN"/>
          </a:p>
        </p:txBody>
      </p:sp>
      <p:sp>
        <p:nvSpPr>
          <p:cNvPr id="34" name="Shape 32"/>
          <p:cNvSpPr/>
          <p:nvPr/>
        </p:nvSpPr>
        <p:spPr>
          <a:xfrm>
            <a:off x="11752143" y="6356909"/>
            <a:ext cx="29535" cy="34747"/>
          </a:xfrm>
          <a:prstGeom prst="rect">
            <a:avLst/>
          </a:prstGeom>
          <a:solidFill>
            <a:srgbClr val="7C4DE8"/>
          </a:solidFill>
          <a:ln/>
        </p:spPr>
        <p:txBody>
          <a:bodyPr/>
          <a:lstStyle/>
          <a:p>
            <a:endParaRPr lang="en-IN"/>
          </a:p>
        </p:txBody>
      </p:sp>
      <p:sp>
        <p:nvSpPr>
          <p:cNvPr id="35" name="Shape 33"/>
          <p:cNvSpPr/>
          <p:nvPr/>
        </p:nvSpPr>
        <p:spPr>
          <a:xfrm>
            <a:off x="11752143" y="6565392"/>
            <a:ext cx="29535" cy="34747"/>
          </a:xfrm>
          <a:prstGeom prst="rect">
            <a:avLst/>
          </a:prstGeom>
          <a:solidFill>
            <a:srgbClr val="7C4DE8"/>
          </a:solidFill>
          <a:ln/>
        </p:spPr>
        <p:txBody>
          <a:bodyPr/>
          <a:lstStyle/>
          <a:p>
            <a:endParaRPr lang="en-IN"/>
          </a:p>
        </p:txBody>
      </p:sp>
      <p:sp>
        <p:nvSpPr>
          <p:cNvPr id="36" name="Shape 34"/>
          <p:cNvSpPr/>
          <p:nvPr/>
        </p:nvSpPr>
        <p:spPr>
          <a:xfrm>
            <a:off x="11687861" y="6421191"/>
            <a:ext cx="34747" cy="29535"/>
          </a:xfrm>
          <a:prstGeom prst="rect">
            <a:avLst/>
          </a:prstGeom>
          <a:solidFill>
            <a:srgbClr val="7C4DE8"/>
          </a:solidFill>
          <a:ln/>
        </p:spPr>
        <p:txBody>
          <a:bodyPr/>
          <a:lstStyle/>
          <a:p>
            <a:endParaRPr lang="en-IN"/>
          </a:p>
        </p:txBody>
      </p:sp>
      <p:sp>
        <p:nvSpPr>
          <p:cNvPr id="37" name="Shape 35"/>
          <p:cNvSpPr/>
          <p:nvPr/>
        </p:nvSpPr>
        <p:spPr>
          <a:xfrm>
            <a:off x="11896344" y="6421191"/>
            <a:ext cx="34747" cy="29535"/>
          </a:xfrm>
          <a:prstGeom prst="rect">
            <a:avLst/>
          </a:prstGeom>
          <a:solidFill>
            <a:srgbClr val="7C4DE8"/>
          </a:solidFill>
          <a:ln/>
        </p:spPr>
        <p:txBody>
          <a:bodyPr/>
          <a:lstStyle/>
          <a:p>
            <a:endParaRPr lang="en-IN"/>
          </a:p>
        </p:txBody>
      </p:sp>
      <p:sp>
        <p:nvSpPr>
          <p:cNvPr id="38" name="Shape 36"/>
          <p:cNvSpPr/>
          <p:nvPr/>
        </p:nvSpPr>
        <p:spPr>
          <a:xfrm>
            <a:off x="11837274" y="6356909"/>
            <a:ext cx="29535" cy="34747"/>
          </a:xfrm>
          <a:prstGeom prst="rect">
            <a:avLst/>
          </a:prstGeom>
          <a:solidFill>
            <a:srgbClr val="7C4DE8"/>
          </a:solidFill>
          <a:ln/>
        </p:spPr>
        <p:txBody>
          <a:bodyPr/>
          <a:lstStyle/>
          <a:p>
            <a:endParaRPr lang="en-IN"/>
          </a:p>
        </p:txBody>
      </p:sp>
      <p:sp>
        <p:nvSpPr>
          <p:cNvPr id="39" name="Shape 37"/>
          <p:cNvSpPr/>
          <p:nvPr/>
        </p:nvSpPr>
        <p:spPr>
          <a:xfrm>
            <a:off x="11837274" y="6565392"/>
            <a:ext cx="29535" cy="34747"/>
          </a:xfrm>
          <a:prstGeom prst="rect">
            <a:avLst/>
          </a:prstGeom>
          <a:solidFill>
            <a:srgbClr val="7C4DE8"/>
          </a:solidFill>
          <a:ln/>
        </p:spPr>
        <p:txBody>
          <a:bodyPr/>
          <a:lstStyle/>
          <a:p>
            <a:endParaRPr lang="en-IN"/>
          </a:p>
        </p:txBody>
      </p:sp>
      <p:sp>
        <p:nvSpPr>
          <p:cNvPr id="40" name="Shape 38"/>
          <p:cNvSpPr/>
          <p:nvPr/>
        </p:nvSpPr>
        <p:spPr>
          <a:xfrm>
            <a:off x="11687861" y="6506322"/>
            <a:ext cx="34747" cy="29535"/>
          </a:xfrm>
          <a:prstGeom prst="rect">
            <a:avLst/>
          </a:prstGeom>
          <a:solidFill>
            <a:srgbClr val="7C4DE8"/>
          </a:solidFill>
          <a:ln/>
        </p:spPr>
        <p:txBody>
          <a:bodyPr/>
          <a:lstStyle/>
          <a:p>
            <a:endParaRPr lang="en-IN"/>
          </a:p>
        </p:txBody>
      </p:sp>
      <p:sp>
        <p:nvSpPr>
          <p:cNvPr id="41" name="Shape 39"/>
          <p:cNvSpPr/>
          <p:nvPr/>
        </p:nvSpPr>
        <p:spPr>
          <a:xfrm>
            <a:off x="11896344" y="6506322"/>
            <a:ext cx="34747" cy="29535"/>
          </a:xfrm>
          <a:prstGeom prst="rect">
            <a:avLst/>
          </a:prstGeom>
          <a:solidFill>
            <a:srgbClr val="7C4DE8"/>
          </a:solidFill>
          <a:ln/>
        </p:spPr>
        <p:txBody>
          <a:bodyPr/>
          <a:lstStyle/>
          <a:p>
            <a:endParaRPr lang="en-IN"/>
          </a:p>
        </p:txBody>
      </p:sp>
      <p:sp>
        <p:nvSpPr>
          <p:cNvPr id="43" name="TextBox 42">
            <a:extLst>
              <a:ext uri="{FF2B5EF4-FFF2-40B4-BE49-F238E27FC236}">
                <a16:creationId xmlns:a16="http://schemas.microsoft.com/office/drawing/2014/main" id="{CE8FB19F-A753-2421-ED96-3F275875671B}"/>
              </a:ext>
            </a:extLst>
          </p:cNvPr>
          <p:cNvSpPr txBox="1"/>
          <p:nvPr/>
        </p:nvSpPr>
        <p:spPr>
          <a:xfrm>
            <a:off x="747979" y="5300920"/>
            <a:ext cx="6096000" cy="646331"/>
          </a:xfrm>
          <a:prstGeom prst="rect">
            <a:avLst/>
          </a:prstGeom>
          <a:noFill/>
        </p:spPr>
        <p:txBody>
          <a:bodyPr wrap="square">
            <a:spAutoFit/>
          </a:bodyPr>
          <a:lstStyle/>
          <a:p>
            <a:r>
              <a:rPr lang="en-GB" b="1" dirty="0"/>
              <a:t>One tool, the whole workflow.</a:t>
            </a:r>
            <a:br>
              <a:rPr lang="en-GB" dirty="0"/>
            </a:br>
            <a:r>
              <a:rPr lang="en-GB" i="1" dirty="0"/>
              <a:t>Bring it into your IDE and see what it can do.</a:t>
            </a:r>
            <a:endParaRPr lang="en-GB"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algn="r"/>
            <a:r>
              <a:rPr lang="en-US" sz="850" kern="0" spc="120" dirty="0">
                <a:solidFill>
                  <a:srgbClr val="9AA3AE"/>
                </a:solidFill>
                <a:latin typeface="Consolas" pitchFamily="34" charset="0"/>
                <a:ea typeface="Consolas" pitchFamily="34" charset="-122"/>
                <a:cs typeface="Consolas" pitchFamily="34" charset="-120"/>
              </a:rPr>
              <a:t>FRONTIER · TRACK -04</a:t>
            </a:r>
            <a:endParaRPr lang="en-US" sz="850" dirty="0"/>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endParaRPr lang="en-US" sz="1700" dirty="0"/>
          </a:p>
        </p:txBody>
      </p:sp>
      <p:sp>
        <p:nvSpPr>
          <p:cNvPr id="16" name="Text 14"/>
          <p:cNvSpPr/>
          <p:nvPr/>
        </p:nvSpPr>
        <p:spPr>
          <a:xfrm>
            <a:off x="841248" y="1077164"/>
            <a:ext cx="9692640" cy="475488"/>
          </a:xfrm>
          <a:prstGeom prst="rect">
            <a:avLst/>
          </a:prstGeom>
          <a:noFill/>
          <a:ln/>
        </p:spPr>
        <p:txBody>
          <a:bodyPr wrap="square" lIns="0" tIns="0" rIns="0" bIns="0" rtlCol="0" anchor="ctr"/>
          <a:lstStyle/>
          <a:p>
            <a:pPr marL="0" indent="0">
              <a:buNone/>
            </a:pPr>
            <a:r>
              <a:rPr lang="en-US" sz="3100" kern="0" spc="40" dirty="0">
                <a:solidFill>
                  <a:srgbClr val="0E141B"/>
                </a:solidFill>
                <a:latin typeface="Arial Black" pitchFamily="34" charset="0"/>
                <a:ea typeface="Arial Black" pitchFamily="34" charset="-122"/>
                <a:cs typeface="Arial Black" pitchFamily="34" charset="-120"/>
              </a:rPr>
              <a:t>Challenges &amp; Guardrails</a:t>
            </a:r>
            <a:endParaRPr lang="en-US" sz="3100" dirty="0"/>
          </a:p>
        </p:txBody>
      </p:sp>
      <p:sp>
        <p:nvSpPr>
          <p:cNvPr id="17" name="Text 15"/>
          <p:cNvSpPr/>
          <p:nvPr/>
        </p:nvSpPr>
        <p:spPr>
          <a:xfrm>
            <a:off x="1371600" y="1767207"/>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0"/>
                <a:cs typeface="Consolas" pitchFamily="34" charset="0"/>
              </a:rPr>
              <a:t>what responsible adoption has to reckon with</a:t>
            </a:r>
            <a:endParaRPr lang="en-US" sz="1100" dirty="0"/>
          </a:p>
        </p:txBody>
      </p:sp>
      <p:sp>
        <p:nvSpPr>
          <p:cNvPr id="18" name="Text 16"/>
          <p:cNvSpPr/>
          <p:nvPr/>
        </p:nvSpPr>
        <p:spPr>
          <a:xfrm>
            <a:off x="822960" y="2103120"/>
            <a:ext cx="2998542" cy="711404"/>
          </a:xfrm>
          <a:prstGeom prst="rect">
            <a:avLst/>
          </a:prstGeom>
          <a:noFill/>
          <a:ln/>
        </p:spPr>
        <p:txBody>
          <a:bodyPr wrap="square" lIns="0" tIns="0" rIns="0" bIns="0" rtlCol="0" anchor="ctr"/>
          <a:lstStyle/>
          <a:p>
            <a:pPr marL="0" indent="0">
              <a:buNone/>
            </a:pPr>
            <a:endParaRPr lang="en-US" sz="1600" dirty="0">
              <a:solidFill>
                <a:srgbClr val="7030A0"/>
              </a:solidFill>
            </a:endParaRPr>
          </a:p>
        </p:txBody>
      </p:sp>
      <p:sp>
        <p:nvSpPr>
          <p:cNvPr id="20" name="Text 18"/>
          <p:cNvSpPr/>
          <p:nvPr/>
        </p:nvSpPr>
        <p:spPr>
          <a:xfrm>
            <a:off x="969264" y="2889504"/>
            <a:ext cx="4818888" cy="2121408"/>
          </a:xfrm>
          <a:prstGeom prst="rect">
            <a:avLst/>
          </a:prstGeom>
          <a:noFill/>
          <a:ln/>
        </p:spPr>
        <p:txBody>
          <a:bodyPr wrap="square" lIns="762" tIns="762" rIns="762" bIns="762" rtlCol="0" anchor="t"/>
          <a:lstStyle/>
          <a:p>
            <a:pPr marL="0" indent="0">
              <a:buNone/>
            </a:pPr>
            <a:endParaRPr lang="en-US" sz="1100" dirty="0"/>
          </a:p>
        </p:txBody>
      </p:sp>
      <p:sp>
        <p:nvSpPr>
          <p:cNvPr id="21" name="Text 19"/>
          <p:cNvSpPr/>
          <p:nvPr/>
        </p:nvSpPr>
        <p:spPr>
          <a:xfrm>
            <a:off x="6254496" y="2103120"/>
            <a:ext cx="5111496" cy="685800"/>
          </a:xfrm>
          <a:prstGeom prst="rect">
            <a:avLst/>
          </a:prstGeom>
          <a:noFill/>
          <a:ln/>
        </p:spPr>
        <p:txBody>
          <a:bodyPr wrap="square" lIns="0" tIns="0" rIns="0" bIns="0" rtlCol="0" anchor="ctr"/>
          <a:lstStyle/>
          <a:p>
            <a:pPr marL="0" indent="0">
              <a:buNone/>
            </a:pPr>
            <a:endParaRPr lang="en-US" sz="1800" dirty="0"/>
          </a:p>
        </p:txBody>
      </p:sp>
      <p:sp>
        <p:nvSpPr>
          <p:cNvPr id="23" name="Text 21"/>
          <p:cNvSpPr/>
          <p:nvPr/>
        </p:nvSpPr>
        <p:spPr>
          <a:xfrm>
            <a:off x="6582961" y="2583278"/>
            <a:ext cx="2207097" cy="2240774"/>
          </a:xfrm>
          <a:prstGeom prst="rect">
            <a:avLst/>
          </a:prstGeom>
          <a:noFill/>
          <a:ln/>
        </p:spPr>
        <p:txBody>
          <a:bodyPr wrap="square" lIns="762" tIns="762" rIns="762" bIns="762" rtlCol="0" anchor="t"/>
          <a:lstStyle/>
          <a:p>
            <a:r>
              <a:rPr lang="en-US" sz="1300" dirty="0">
                <a:solidFill>
                  <a:srgbClr val="667180"/>
                </a:solidFill>
                <a:latin typeface="ADLaM Display" panose="020F0502020204030204" pitchFamily="2" charset="0"/>
                <a:ea typeface="ADLaM Display" panose="020F0502020204030204" pitchFamily="2" charset="0"/>
                <a:cs typeface="ADLaM Display" panose="020F0502020204030204" pitchFamily="2" charset="0"/>
              </a:rPr>
              <a:t>Generated code can compile, pass basic tests, and still hide subtle logic errors that are easy to miss on a quick read.</a:t>
            </a:r>
            <a:endParaRPr lang="en-US" sz="1300" dirty="0">
              <a:latin typeface="ADLaM Display" panose="020F0502020204030204" pitchFamily="2" charset="0"/>
              <a:ea typeface="ADLaM Display" panose="020F0502020204030204" pitchFamily="2" charset="0"/>
              <a:cs typeface="ADLaM Display" panose="020F0502020204030204" pitchFamily="2" charset="0"/>
            </a:endParaRPr>
          </a:p>
        </p:txBody>
      </p:sp>
      <p:sp>
        <p:nvSpPr>
          <p:cNvPr id="24" name="Text 22"/>
          <p:cNvSpPr/>
          <p:nvPr/>
        </p:nvSpPr>
        <p:spPr>
          <a:xfrm>
            <a:off x="822960" y="5230368"/>
            <a:ext cx="10543032" cy="219456"/>
          </a:xfrm>
          <a:prstGeom prst="rect">
            <a:avLst/>
          </a:prstGeom>
          <a:noFill/>
          <a:ln/>
        </p:spPr>
        <p:txBody>
          <a:bodyPr wrap="square" lIns="0" tIns="0" rIns="0" bIns="0" rtlCol="0" anchor="ctr"/>
          <a:lstStyle/>
          <a:p>
            <a:pPr marL="0" indent="0">
              <a:buNone/>
            </a:pPr>
            <a:endParaRPr lang="en-US" sz="900" dirty="0"/>
          </a:p>
        </p:txBody>
      </p:sp>
      <p:sp>
        <p:nvSpPr>
          <p:cNvPr id="26" name="Text 24"/>
          <p:cNvSpPr/>
          <p:nvPr/>
        </p:nvSpPr>
        <p:spPr>
          <a:xfrm>
            <a:off x="6439244" y="4598417"/>
            <a:ext cx="3324515" cy="1432643"/>
          </a:xfrm>
          <a:prstGeom prst="rect">
            <a:avLst/>
          </a:prstGeom>
          <a:noFill/>
          <a:ln/>
        </p:spPr>
        <p:txBody>
          <a:bodyPr wrap="square" lIns="0" tIns="0" rIns="0" bIns="0" rtlCol="0" anchor="t"/>
          <a:lstStyle/>
          <a:p>
            <a:pPr marL="0" indent="0">
              <a:buNone/>
            </a:pPr>
            <a:r>
              <a:rPr lang="en-US" sz="1300" dirty="0">
                <a:solidFill>
                  <a:srgbClr val="667180"/>
                </a:solidFill>
                <a:latin typeface="ADLaM Display" panose="020F0502020204030204" pitchFamily="2" charset="0"/>
                <a:ea typeface="ADLaM Display" panose="020F0502020204030204" pitchFamily="2" charset="0"/>
                <a:cs typeface="ADLaM Display" panose="020F0502020204030204" pitchFamily="2" charset="0"/>
              </a:rPr>
              <a:t>DORA’s own research links rising AI adoption to higher change failure rates when review capacity doesn’t scale with it.</a:t>
            </a:r>
            <a:endParaRPr lang="en-US" sz="1300" dirty="0">
              <a:latin typeface="ADLaM Display" panose="020F0502020204030204" pitchFamily="2" charset="0"/>
              <a:ea typeface="ADLaM Display" panose="020F0502020204030204" pitchFamily="2" charset="0"/>
              <a:cs typeface="ADLaM Display" panose="020F0502020204030204" pitchFamily="2" charset="0"/>
            </a:endParaRPr>
          </a:p>
        </p:txBody>
      </p:sp>
      <p:sp>
        <p:nvSpPr>
          <p:cNvPr id="28" name="Text 26"/>
          <p:cNvSpPr/>
          <p:nvPr/>
        </p:nvSpPr>
        <p:spPr>
          <a:xfrm>
            <a:off x="4648200" y="5522976"/>
            <a:ext cx="3112008" cy="566928"/>
          </a:xfrm>
          <a:prstGeom prst="rect">
            <a:avLst/>
          </a:prstGeom>
          <a:noFill/>
          <a:ln/>
        </p:spPr>
        <p:txBody>
          <a:bodyPr wrap="square" lIns="0" tIns="0" rIns="0" bIns="0" rtlCol="0" anchor="t"/>
          <a:lstStyle/>
          <a:p>
            <a:pPr marL="0" indent="0">
              <a:buNone/>
            </a:pPr>
            <a:endParaRPr lang="en-US" sz="1100" dirty="0"/>
          </a:p>
        </p:txBody>
      </p:sp>
      <p:sp>
        <p:nvSpPr>
          <p:cNvPr id="30" name="Text 28"/>
          <p:cNvSpPr/>
          <p:nvPr/>
        </p:nvSpPr>
        <p:spPr>
          <a:xfrm>
            <a:off x="8253984" y="5522976"/>
            <a:ext cx="3112008" cy="566928"/>
          </a:xfrm>
          <a:prstGeom prst="rect">
            <a:avLst/>
          </a:prstGeom>
          <a:noFill/>
          <a:ln/>
        </p:spPr>
        <p:txBody>
          <a:bodyPr wrap="square" lIns="0" tIns="0" rIns="0" bIns="0" rtlCol="0" anchor="t"/>
          <a:lstStyle/>
          <a:p>
            <a:pPr marL="0" indent="0">
              <a:buNone/>
            </a:pPr>
            <a:endParaRPr lang="en-US" sz="1100" dirty="0"/>
          </a:p>
        </p:txBody>
      </p:sp>
      <p:sp>
        <p:nvSpPr>
          <p:cNvPr id="31" name="Text 29"/>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2" name="Text 30"/>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10</a:t>
            </a:r>
            <a:r>
              <a:rPr lang="en-US" sz="900" dirty="0">
                <a:solidFill>
                  <a:srgbClr val="9AA3AE"/>
                </a:solidFill>
                <a:latin typeface="Consolas" pitchFamily="34" charset="0"/>
                <a:ea typeface="Consolas" pitchFamily="34" charset="-122"/>
                <a:cs typeface="Consolas" pitchFamily="34" charset="-120"/>
              </a:rPr>
              <a:t> / 12</a:t>
            </a:r>
            <a:endParaRPr lang="en-US" sz="900" dirty="0"/>
          </a:p>
        </p:txBody>
      </p:sp>
      <p:sp>
        <p:nvSpPr>
          <p:cNvPr id="33" name="Shape 31"/>
          <p:cNvSpPr/>
          <p:nvPr/>
        </p:nvSpPr>
        <p:spPr>
          <a:xfrm>
            <a:off x="11722608" y="6391656"/>
            <a:ext cx="173736" cy="173736"/>
          </a:xfrm>
          <a:prstGeom prst="rect">
            <a:avLst/>
          </a:prstGeom>
          <a:solidFill>
            <a:srgbClr val="7C4DE8"/>
          </a:solidFill>
          <a:ln/>
        </p:spPr>
        <p:txBody>
          <a:bodyPr/>
          <a:lstStyle/>
          <a:p>
            <a:endParaRPr lang="en-IN"/>
          </a:p>
        </p:txBody>
      </p:sp>
      <p:sp>
        <p:nvSpPr>
          <p:cNvPr id="34" name="Shape 32"/>
          <p:cNvSpPr/>
          <p:nvPr/>
        </p:nvSpPr>
        <p:spPr>
          <a:xfrm>
            <a:off x="11769517" y="6438565"/>
            <a:ext cx="79919" cy="79919"/>
          </a:xfrm>
          <a:prstGeom prst="rect">
            <a:avLst/>
          </a:prstGeom>
          <a:solidFill>
            <a:srgbClr val="FFFFFF"/>
          </a:solidFill>
          <a:ln/>
        </p:spPr>
        <p:txBody>
          <a:bodyPr/>
          <a:lstStyle/>
          <a:p>
            <a:endParaRPr lang="en-IN"/>
          </a:p>
        </p:txBody>
      </p:sp>
      <p:sp>
        <p:nvSpPr>
          <p:cNvPr id="35" name="Shape 33"/>
          <p:cNvSpPr/>
          <p:nvPr/>
        </p:nvSpPr>
        <p:spPr>
          <a:xfrm>
            <a:off x="11752143" y="6356909"/>
            <a:ext cx="29535" cy="34747"/>
          </a:xfrm>
          <a:prstGeom prst="rect">
            <a:avLst/>
          </a:prstGeom>
          <a:solidFill>
            <a:srgbClr val="7C4DE8"/>
          </a:solidFill>
          <a:ln/>
        </p:spPr>
        <p:txBody>
          <a:bodyPr/>
          <a:lstStyle/>
          <a:p>
            <a:endParaRPr lang="en-IN"/>
          </a:p>
        </p:txBody>
      </p:sp>
      <p:sp>
        <p:nvSpPr>
          <p:cNvPr id="36" name="Shape 34"/>
          <p:cNvSpPr/>
          <p:nvPr/>
        </p:nvSpPr>
        <p:spPr>
          <a:xfrm>
            <a:off x="11752143" y="6565392"/>
            <a:ext cx="29535" cy="34747"/>
          </a:xfrm>
          <a:prstGeom prst="rect">
            <a:avLst/>
          </a:prstGeom>
          <a:solidFill>
            <a:srgbClr val="7C4DE8"/>
          </a:solidFill>
          <a:ln/>
        </p:spPr>
        <p:txBody>
          <a:bodyPr/>
          <a:lstStyle/>
          <a:p>
            <a:endParaRPr lang="en-IN"/>
          </a:p>
        </p:txBody>
      </p:sp>
      <p:sp>
        <p:nvSpPr>
          <p:cNvPr id="37" name="Shape 35"/>
          <p:cNvSpPr/>
          <p:nvPr/>
        </p:nvSpPr>
        <p:spPr>
          <a:xfrm>
            <a:off x="11687861" y="6421191"/>
            <a:ext cx="34747" cy="29535"/>
          </a:xfrm>
          <a:prstGeom prst="rect">
            <a:avLst/>
          </a:prstGeom>
          <a:solidFill>
            <a:srgbClr val="7C4DE8"/>
          </a:solidFill>
          <a:ln/>
        </p:spPr>
        <p:txBody>
          <a:bodyPr/>
          <a:lstStyle/>
          <a:p>
            <a:endParaRPr lang="en-IN"/>
          </a:p>
        </p:txBody>
      </p:sp>
      <p:sp>
        <p:nvSpPr>
          <p:cNvPr id="38" name="Shape 36"/>
          <p:cNvSpPr/>
          <p:nvPr/>
        </p:nvSpPr>
        <p:spPr>
          <a:xfrm>
            <a:off x="11896344" y="6421191"/>
            <a:ext cx="34747" cy="29535"/>
          </a:xfrm>
          <a:prstGeom prst="rect">
            <a:avLst/>
          </a:prstGeom>
          <a:solidFill>
            <a:srgbClr val="7C4DE8"/>
          </a:solidFill>
          <a:ln/>
        </p:spPr>
        <p:txBody>
          <a:bodyPr/>
          <a:lstStyle/>
          <a:p>
            <a:endParaRPr lang="en-IN"/>
          </a:p>
        </p:txBody>
      </p:sp>
      <p:sp>
        <p:nvSpPr>
          <p:cNvPr id="39" name="Shape 37"/>
          <p:cNvSpPr/>
          <p:nvPr/>
        </p:nvSpPr>
        <p:spPr>
          <a:xfrm>
            <a:off x="11837274" y="6356909"/>
            <a:ext cx="29535" cy="34747"/>
          </a:xfrm>
          <a:prstGeom prst="rect">
            <a:avLst/>
          </a:prstGeom>
          <a:solidFill>
            <a:srgbClr val="7C4DE8"/>
          </a:solidFill>
          <a:ln/>
        </p:spPr>
        <p:txBody>
          <a:bodyPr/>
          <a:lstStyle/>
          <a:p>
            <a:endParaRPr lang="en-IN"/>
          </a:p>
        </p:txBody>
      </p:sp>
      <p:sp>
        <p:nvSpPr>
          <p:cNvPr id="40" name="Shape 38"/>
          <p:cNvSpPr/>
          <p:nvPr/>
        </p:nvSpPr>
        <p:spPr>
          <a:xfrm>
            <a:off x="11837274" y="6565392"/>
            <a:ext cx="29535" cy="34747"/>
          </a:xfrm>
          <a:prstGeom prst="rect">
            <a:avLst/>
          </a:prstGeom>
          <a:solidFill>
            <a:srgbClr val="7C4DE8"/>
          </a:solidFill>
          <a:ln/>
        </p:spPr>
        <p:txBody>
          <a:bodyPr/>
          <a:lstStyle/>
          <a:p>
            <a:endParaRPr lang="en-IN"/>
          </a:p>
        </p:txBody>
      </p:sp>
      <p:sp>
        <p:nvSpPr>
          <p:cNvPr id="41" name="Shape 39"/>
          <p:cNvSpPr/>
          <p:nvPr/>
        </p:nvSpPr>
        <p:spPr>
          <a:xfrm>
            <a:off x="11687861" y="6506322"/>
            <a:ext cx="34747" cy="29535"/>
          </a:xfrm>
          <a:prstGeom prst="rect">
            <a:avLst/>
          </a:prstGeom>
          <a:solidFill>
            <a:srgbClr val="7C4DE8"/>
          </a:solidFill>
          <a:ln/>
        </p:spPr>
        <p:txBody>
          <a:bodyPr/>
          <a:lstStyle/>
          <a:p>
            <a:endParaRPr lang="en-IN"/>
          </a:p>
        </p:txBody>
      </p:sp>
      <p:sp>
        <p:nvSpPr>
          <p:cNvPr id="42" name="Shape 40"/>
          <p:cNvSpPr/>
          <p:nvPr/>
        </p:nvSpPr>
        <p:spPr>
          <a:xfrm>
            <a:off x="11896344" y="6506322"/>
            <a:ext cx="34747" cy="29535"/>
          </a:xfrm>
          <a:prstGeom prst="rect">
            <a:avLst/>
          </a:prstGeom>
          <a:solidFill>
            <a:srgbClr val="7C4DE8"/>
          </a:solidFill>
          <a:ln/>
        </p:spPr>
        <p:txBody>
          <a:bodyPr/>
          <a:lstStyle/>
          <a:p>
            <a:endParaRPr lang="en-IN"/>
          </a:p>
        </p:txBody>
      </p:sp>
      <p:sp>
        <p:nvSpPr>
          <p:cNvPr id="44" name="TextBox 43">
            <a:extLst>
              <a:ext uri="{FF2B5EF4-FFF2-40B4-BE49-F238E27FC236}">
                <a16:creationId xmlns:a16="http://schemas.microsoft.com/office/drawing/2014/main" id="{C04D69BC-DCE8-DC56-47D8-B958BE7BC3F1}"/>
              </a:ext>
            </a:extLst>
          </p:cNvPr>
          <p:cNvSpPr txBox="1"/>
          <p:nvPr/>
        </p:nvSpPr>
        <p:spPr>
          <a:xfrm>
            <a:off x="7291477" y="2320734"/>
            <a:ext cx="6094562" cy="338554"/>
          </a:xfrm>
          <a:prstGeom prst="rect">
            <a:avLst/>
          </a:prstGeom>
          <a:noFill/>
        </p:spPr>
        <p:txBody>
          <a:bodyPr wrap="square">
            <a:spAutoFit/>
          </a:bodyPr>
          <a:lstStyle/>
          <a:p>
            <a:pPr marL="0" indent="0">
              <a:buNone/>
            </a:pPr>
            <a:endParaRPr lang="en-US" sz="1600" dirty="0"/>
          </a:p>
        </p:txBody>
      </p:sp>
      <p:sp>
        <p:nvSpPr>
          <p:cNvPr id="54" name="TextBox 53">
            <a:extLst>
              <a:ext uri="{FF2B5EF4-FFF2-40B4-BE49-F238E27FC236}">
                <a16:creationId xmlns:a16="http://schemas.microsoft.com/office/drawing/2014/main" id="{A42C18EF-41CF-99D7-B321-62369816BA9C}"/>
              </a:ext>
            </a:extLst>
          </p:cNvPr>
          <p:cNvSpPr txBox="1"/>
          <p:nvPr/>
        </p:nvSpPr>
        <p:spPr>
          <a:xfrm>
            <a:off x="1386723" y="2196705"/>
            <a:ext cx="6694098" cy="307777"/>
          </a:xfrm>
          <a:prstGeom prst="rect">
            <a:avLst/>
          </a:prstGeom>
          <a:noFill/>
        </p:spPr>
        <p:txBody>
          <a:bodyPr wrap="square">
            <a:spAutoFit/>
          </a:bodyPr>
          <a:lstStyle/>
          <a:p>
            <a:pPr marL="0" indent="0">
              <a:buNone/>
            </a:pPr>
            <a:r>
              <a:rPr lang="en-US" sz="1400" b="1" kern="0" spc="80" dirty="0">
                <a:solidFill>
                  <a:srgbClr val="FF9900"/>
                </a:solidFill>
                <a:latin typeface="Consolas" pitchFamily="34" charset="0"/>
                <a:ea typeface="Consolas" pitchFamily="34" charset="-122"/>
                <a:cs typeface="Consolas" pitchFamily="34" charset="-120"/>
              </a:rPr>
              <a:t>SECURITY BLIND SPOTS</a:t>
            </a:r>
            <a:endParaRPr lang="en-US" sz="1400" b="1" dirty="0"/>
          </a:p>
        </p:txBody>
      </p:sp>
      <p:sp>
        <p:nvSpPr>
          <p:cNvPr id="56" name="TextBox 55">
            <a:extLst>
              <a:ext uri="{FF2B5EF4-FFF2-40B4-BE49-F238E27FC236}">
                <a16:creationId xmlns:a16="http://schemas.microsoft.com/office/drawing/2014/main" id="{9EF8938B-C323-36D4-5ECC-C453E7C663A8}"/>
              </a:ext>
            </a:extLst>
          </p:cNvPr>
          <p:cNvSpPr txBox="1"/>
          <p:nvPr/>
        </p:nvSpPr>
        <p:spPr>
          <a:xfrm>
            <a:off x="6496553" y="2191872"/>
            <a:ext cx="6694098" cy="307777"/>
          </a:xfrm>
          <a:prstGeom prst="rect">
            <a:avLst/>
          </a:prstGeom>
          <a:noFill/>
        </p:spPr>
        <p:txBody>
          <a:bodyPr wrap="square">
            <a:spAutoFit/>
          </a:bodyPr>
          <a:lstStyle/>
          <a:p>
            <a:pPr marL="0" indent="0">
              <a:buNone/>
            </a:pPr>
            <a:r>
              <a:rPr lang="en-US" sz="1400" b="1" kern="0" spc="80" dirty="0">
                <a:solidFill>
                  <a:srgbClr val="FF9900"/>
                </a:solidFill>
                <a:latin typeface="Consolas" pitchFamily="34" charset="0"/>
                <a:ea typeface="Consolas" pitchFamily="34" charset="-122"/>
                <a:cs typeface="Consolas" pitchFamily="34" charset="-120"/>
              </a:rPr>
              <a:t>CONFIDENT BUT WRONG</a:t>
            </a:r>
            <a:endParaRPr lang="en-US" sz="1400" b="1" dirty="0"/>
          </a:p>
        </p:txBody>
      </p:sp>
      <p:sp>
        <p:nvSpPr>
          <p:cNvPr id="58" name="Shape 23">
            <a:extLst>
              <a:ext uri="{FF2B5EF4-FFF2-40B4-BE49-F238E27FC236}">
                <a16:creationId xmlns:a16="http://schemas.microsoft.com/office/drawing/2014/main" id="{DD61CA77-7E1F-EF1E-0952-240CB7AC1D79}"/>
              </a:ext>
            </a:extLst>
          </p:cNvPr>
          <p:cNvSpPr/>
          <p:nvPr/>
        </p:nvSpPr>
        <p:spPr>
          <a:xfrm>
            <a:off x="6405228" y="2300585"/>
            <a:ext cx="91440" cy="91440"/>
          </a:xfrm>
          <a:prstGeom prst="rect">
            <a:avLst/>
          </a:prstGeom>
          <a:solidFill>
            <a:srgbClr val="FF9900"/>
          </a:solidFill>
          <a:ln/>
        </p:spPr>
        <p:txBody>
          <a:bodyPr/>
          <a:lstStyle/>
          <a:p>
            <a:endParaRPr lang="en-IN"/>
          </a:p>
        </p:txBody>
      </p:sp>
      <p:sp>
        <p:nvSpPr>
          <p:cNvPr id="60" name="TextBox 59">
            <a:extLst>
              <a:ext uri="{FF2B5EF4-FFF2-40B4-BE49-F238E27FC236}">
                <a16:creationId xmlns:a16="http://schemas.microsoft.com/office/drawing/2014/main" id="{019C6E00-01C5-A44A-D3CC-36F96E182238}"/>
              </a:ext>
            </a:extLst>
          </p:cNvPr>
          <p:cNvSpPr txBox="1"/>
          <p:nvPr/>
        </p:nvSpPr>
        <p:spPr>
          <a:xfrm>
            <a:off x="1301151" y="4203451"/>
            <a:ext cx="6694098" cy="307777"/>
          </a:xfrm>
          <a:prstGeom prst="rect">
            <a:avLst/>
          </a:prstGeom>
          <a:noFill/>
        </p:spPr>
        <p:txBody>
          <a:bodyPr wrap="square">
            <a:spAutoFit/>
          </a:bodyPr>
          <a:lstStyle/>
          <a:p>
            <a:pPr marL="0" indent="0">
              <a:buNone/>
            </a:pPr>
            <a:r>
              <a:rPr lang="en-US" sz="1400" b="1" kern="0" spc="80" dirty="0">
                <a:solidFill>
                  <a:srgbClr val="FF9900"/>
                </a:solidFill>
                <a:latin typeface="Consolas" pitchFamily="34" charset="0"/>
              </a:rPr>
              <a:t>OVER-RELIANCE &amp; SKILL FADE</a:t>
            </a:r>
            <a:endParaRPr lang="en-US" sz="1400" b="1" dirty="0"/>
          </a:p>
        </p:txBody>
      </p:sp>
      <p:sp>
        <p:nvSpPr>
          <p:cNvPr id="62" name="TextBox 61">
            <a:extLst>
              <a:ext uri="{FF2B5EF4-FFF2-40B4-BE49-F238E27FC236}">
                <a16:creationId xmlns:a16="http://schemas.microsoft.com/office/drawing/2014/main" id="{BC3626A0-C029-7A2F-FD37-1FE1A846E263}"/>
              </a:ext>
            </a:extLst>
          </p:cNvPr>
          <p:cNvSpPr txBox="1"/>
          <p:nvPr/>
        </p:nvSpPr>
        <p:spPr>
          <a:xfrm>
            <a:off x="6430628" y="4203451"/>
            <a:ext cx="6694098" cy="307777"/>
          </a:xfrm>
          <a:prstGeom prst="rect">
            <a:avLst/>
          </a:prstGeom>
          <a:noFill/>
        </p:spPr>
        <p:txBody>
          <a:bodyPr wrap="square">
            <a:spAutoFit/>
          </a:bodyPr>
          <a:lstStyle/>
          <a:p>
            <a:pPr marL="0" indent="0">
              <a:buNone/>
            </a:pPr>
            <a:r>
              <a:rPr lang="en-US" sz="1400" b="1" kern="0" spc="80" dirty="0">
                <a:solidFill>
                  <a:srgbClr val="FF9900"/>
                </a:solidFill>
                <a:latin typeface="Consolas" pitchFamily="34" charset="0"/>
                <a:ea typeface="Consolas" pitchFamily="34" charset="-122"/>
                <a:cs typeface="Consolas" pitchFamily="34" charset="-120"/>
              </a:rPr>
              <a:t>REVIEW CAN’T KEEP PACE</a:t>
            </a:r>
            <a:endParaRPr lang="en-US" sz="1400" b="1" dirty="0"/>
          </a:p>
        </p:txBody>
      </p:sp>
      <p:sp>
        <p:nvSpPr>
          <p:cNvPr id="64" name="Shape 23">
            <a:extLst>
              <a:ext uri="{FF2B5EF4-FFF2-40B4-BE49-F238E27FC236}">
                <a16:creationId xmlns:a16="http://schemas.microsoft.com/office/drawing/2014/main" id="{ECBAB44F-B124-0457-775A-05CB7BBEDA28}"/>
              </a:ext>
            </a:extLst>
          </p:cNvPr>
          <p:cNvSpPr/>
          <p:nvPr/>
        </p:nvSpPr>
        <p:spPr>
          <a:xfrm>
            <a:off x="1205398" y="4309872"/>
            <a:ext cx="91440" cy="91440"/>
          </a:xfrm>
          <a:prstGeom prst="rect">
            <a:avLst/>
          </a:prstGeom>
          <a:solidFill>
            <a:srgbClr val="FF9900"/>
          </a:solidFill>
          <a:ln/>
        </p:spPr>
        <p:txBody>
          <a:bodyPr/>
          <a:lstStyle/>
          <a:p>
            <a:endParaRPr lang="en-IN"/>
          </a:p>
        </p:txBody>
      </p:sp>
      <p:sp>
        <p:nvSpPr>
          <p:cNvPr id="66" name="Shape 23">
            <a:extLst>
              <a:ext uri="{FF2B5EF4-FFF2-40B4-BE49-F238E27FC236}">
                <a16:creationId xmlns:a16="http://schemas.microsoft.com/office/drawing/2014/main" id="{41FD5812-6816-AA0E-83FD-0AF29390BBA7}"/>
              </a:ext>
            </a:extLst>
          </p:cNvPr>
          <p:cNvSpPr/>
          <p:nvPr/>
        </p:nvSpPr>
        <p:spPr>
          <a:xfrm>
            <a:off x="6347805" y="4309872"/>
            <a:ext cx="91440" cy="91440"/>
          </a:xfrm>
          <a:prstGeom prst="rect">
            <a:avLst/>
          </a:prstGeom>
          <a:solidFill>
            <a:srgbClr val="FF9900"/>
          </a:solidFill>
          <a:ln/>
        </p:spPr>
        <p:txBody>
          <a:bodyPr/>
          <a:lstStyle/>
          <a:p>
            <a:endParaRPr lang="en-IN"/>
          </a:p>
        </p:txBody>
      </p:sp>
      <p:sp>
        <p:nvSpPr>
          <p:cNvPr id="68" name="TextBox 67">
            <a:extLst>
              <a:ext uri="{FF2B5EF4-FFF2-40B4-BE49-F238E27FC236}">
                <a16:creationId xmlns:a16="http://schemas.microsoft.com/office/drawing/2014/main" id="{146BD0E9-CE50-26C2-0EDF-985B7C2C5190}"/>
              </a:ext>
            </a:extLst>
          </p:cNvPr>
          <p:cNvSpPr txBox="1"/>
          <p:nvPr/>
        </p:nvSpPr>
        <p:spPr>
          <a:xfrm>
            <a:off x="1301150" y="4544568"/>
            <a:ext cx="2923377" cy="892552"/>
          </a:xfrm>
          <a:prstGeom prst="rect">
            <a:avLst/>
          </a:prstGeom>
          <a:noFill/>
        </p:spPr>
        <p:txBody>
          <a:bodyPr wrap="square">
            <a:spAutoFit/>
          </a:bodyPr>
          <a:lstStyle/>
          <a:p>
            <a:pPr marL="0" indent="0">
              <a:buNone/>
            </a:pPr>
            <a:r>
              <a:rPr lang="en-US" sz="1300" dirty="0">
                <a:solidFill>
                  <a:srgbClr val="667180"/>
                </a:solidFill>
                <a:latin typeface="ADLaM Display" panose="020F0502020204030204" pitchFamily="2" charset="0"/>
                <a:ea typeface="ADLaM Display" panose="020F0502020204030204" pitchFamily="2" charset="0"/>
                <a:cs typeface="ADLaM Display" panose="020F0502020204030204" pitchFamily="2" charset="0"/>
              </a:rPr>
              <a:t>Leaning on AI for every line can erode the hands-on fluency developers need to catch what the AI cannot see.</a:t>
            </a:r>
            <a:endParaRPr lang="en-US" sz="1300" dirty="0">
              <a:latin typeface="ADLaM Display" panose="020F0502020204030204" pitchFamily="2" charset="0"/>
              <a:ea typeface="ADLaM Display" panose="020F0502020204030204" pitchFamily="2" charset="0"/>
              <a:cs typeface="ADLaM Display" panose="020F0502020204030204" pitchFamily="2" charset="0"/>
            </a:endParaRPr>
          </a:p>
        </p:txBody>
      </p:sp>
      <p:sp>
        <p:nvSpPr>
          <p:cNvPr id="70" name="TextBox 69">
            <a:extLst>
              <a:ext uri="{FF2B5EF4-FFF2-40B4-BE49-F238E27FC236}">
                <a16:creationId xmlns:a16="http://schemas.microsoft.com/office/drawing/2014/main" id="{7475407E-67B7-79BD-AC75-76A916B4DB63}"/>
              </a:ext>
            </a:extLst>
          </p:cNvPr>
          <p:cNvSpPr txBox="1"/>
          <p:nvPr/>
        </p:nvSpPr>
        <p:spPr>
          <a:xfrm>
            <a:off x="1371600" y="2577845"/>
            <a:ext cx="2336800" cy="1200329"/>
          </a:xfrm>
          <a:prstGeom prst="rect">
            <a:avLst/>
          </a:prstGeom>
          <a:noFill/>
        </p:spPr>
        <p:txBody>
          <a:bodyPr wrap="square">
            <a:spAutoFit/>
          </a:bodyPr>
          <a:lstStyle/>
          <a:p>
            <a:pPr marL="0" indent="0">
              <a:buNone/>
            </a:pPr>
            <a:r>
              <a:rPr lang="en-US" sz="1200" dirty="0">
                <a:solidFill>
                  <a:srgbClr val="667180"/>
                </a:solidFill>
                <a:latin typeface="ADLaM Display" panose="020F0502020204030204" pitchFamily="2" charset="0"/>
                <a:ea typeface="ADLaM Display" panose="020F0502020204030204" pitchFamily="2" charset="0"/>
                <a:cs typeface="ADLaM Display" panose="020F0502020204030204" pitchFamily="2" charset="0"/>
              </a:rPr>
              <a:t>Independent research has found a meaningful share of AI-suggested code contains exploitable vulnerabilities if merged without review.</a:t>
            </a:r>
            <a:endParaRPr lang="en-US" sz="1200" dirty="0">
              <a:latin typeface="ADLaM Display" panose="020F0502020204030204" pitchFamily="2" charset="0"/>
              <a:ea typeface="ADLaM Display" panose="020F0502020204030204" pitchFamily="2" charset="0"/>
              <a:cs typeface="ADLaM Display" panose="020F0502020204030204" pitchFamily="2" charset="0"/>
            </a:endParaRPr>
          </a:p>
        </p:txBody>
      </p:sp>
      <p:sp>
        <p:nvSpPr>
          <p:cNvPr id="19" name="Shape 23">
            <a:extLst>
              <a:ext uri="{FF2B5EF4-FFF2-40B4-BE49-F238E27FC236}">
                <a16:creationId xmlns:a16="http://schemas.microsoft.com/office/drawing/2014/main" id="{E03FFB66-DB1A-52D0-951E-67B079BF0FC9}"/>
              </a:ext>
            </a:extLst>
          </p:cNvPr>
          <p:cNvSpPr/>
          <p:nvPr/>
        </p:nvSpPr>
        <p:spPr>
          <a:xfrm>
            <a:off x="1325880" y="2310254"/>
            <a:ext cx="91440" cy="91440"/>
          </a:xfrm>
          <a:prstGeom prst="rect">
            <a:avLst/>
          </a:prstGeom>
          <a:solidFill>
            <a:srgbClr val="FF9900"/>
          </a:solidFill>
          <a:ln/>
        </p:spPr>
        <p:txBody>
          <a:bodyPr/>
          <a:lstStyle/>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algn="r"/>
            <a:r>
              <a:rPr lang="en-US" sz="850" kern="0" spc="120" dirty="0">
                <a:solidFill>
                  <a:srgbClr val="9AA3AE"/>
                </a:solidFill>
                <a:latin typeface="Consolas" pitchFamily="34" charset="0"/>
                <a:ea typeface="Consolas" pitchFamily="34" charset="-122"/>
                <a:cs typeface="Consolas" pitchFamily="34" charset="-120"/>
              </a:rPr>
              <a:t>FRONTIER · TRACK -04</a:t>
            </a:r>
            <a:endParaRPr lang="en-US" sz="850" dirty="0"/>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endParaRPr lang="en-US" sz="1700" dirty="0"/>
          </a:p>
        </p:txBody>
      </p:sp>
      <p:sp>
        <p:nvSpPr>
          <p:cNvPr id="16" name="Text 14"/>
          <p:cNvSpPr/>
          <p:nvPr/>
        </p:nvSpPr>
        <p:spPr>
          <a:xfrm>
            <a:off x="1353312" y="1005840"/>
            <a:ext cx="9692640" cy="475488"/>
          </a:xfrm>
          <a:prstGeom prst="rect">
            <a:avLst/>
          </a:prstGeom>
          <a:noFill/>
          <a:ln/>
        </p:spPr>
        <p:txBody>
          <a:bodyPr wrap="square" lIns="0" tIns="0" rIns="0" bIns="0" rtlCol="0" anchor="ctr"/>
          <a:lstStyle/>
          <a:p>
            <a:pPr marL="0" indent="0">
              <a:buNone/>
            </a:pPr>
            <a:r>
              <a:rPr lang="en-US" sz="3100" kern="0" spc="40" dirty="0">
                <a:solidFill>
                  <a:srgbClr val="0E141B"/>
                </a:solidFill>
                <a:latin typeface="Arial Black" pitchFamily="34" charset="0"/>
                <a:ea typeface="Arial Black" pitchFamily="34" charset="-122"/>
                <a:cs typeface="Arial Black" pitchFamily="34" charset="-120"/>
              </a:rPr>
              <a:t>Best Practices for Responsible AI Use</a:t>
            </a:r>
            <a:endParaRPr lang="en-US" sz="3100" dirty="0"/>
          </a:p>
        </p:txBody>
      </p:sp>
      <p:sp>
        <p:nvSpPr>
          <p:cNvPr id="17" name="Text 15"/>
          <p:cNvSpPr/>
          <p:nvPr/>
        </p:nvSpPr>
        <p:spPr>
          <a:xfrm>
            <a:off x="1371600" y="1481328"/>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122"/>
                <a:cs typeface="Consolas" pitchFamily="34" charset="-120"/>
              </a:rPr>
              <a:t>how to adopt AI-assisted development well</a:t>
            </a:r>
            <a:endParaRPr lang="en-US" sz="1100" dirty="0"/>
          </a:p>
        </p:txBody>
      </p:sp>
      <p:sp>
        <p:nvSpPr>
          <p:cNvPr id="18" name="Text 16"/>
          <p:cNvSpPr/>
          <p:nvPr/>
        </p:nvSpPr>
        <p:spPr>
          <a:xfrm>
            <a:off x="822960" y="2103120"/>
            <a:ext cx="10543032" cy="566928"/>
          </a:xfrm>
          <a:prstGeom prst="rect">
            <a:avLst/>
          </a:prstGeom>
          <a:noFill/>
          <a:ln/>
        </p:spPr>
        <p:txBody>
          <a:bodyPr wrap="square" lIns="0" tIns="0" rIns="0" bIns="0" rtlCol="0" anchor="ctr"/>
          <a:lstStyle/>
          <a:p>
            <a:r>
              <a:rPr lang="en-GB" sz="2400" b="1" i="1" dirty="0"/>
              <a:t>Five habits that keep speed and quality moving together.</a:t>
            </a:r>
            <a:endParaRPr lang="en-US" sz="2100" b="1" i="1" dirty="0"/>
          </a:p>
        </p:txBody>
      </p:sp>
      <p:sp>
        <p:nvSpPr>
          <p:cNvPr id="19" name="Shape 17"/>
          <p:cNvSpPr/>
          <p:nvPr/>
        </p:nvSpPr>
        <p:spPr>
          <a:xfrm>
            <a:off x="822960" y="2770632"/>
            <a:ext cx="10543032" cy="2240280"/>
          </a:xfrm>
          <a:prstGeom prst="roundRect">
            <a:avLst>
              <a:gd name="adj" fmla="val 1633"/>
            </a:avLst>
          </a:prstGeom>
          <a:solidFill>
            <a:srgbClr val="F4F6F8"/>
          </a:solidFill>
          <a:ln w="9525">
            <a:solidFill>
              <a:srgbClr val="DDE2E8"/>
            </a:solidFill>
            <a:prstDash val="solid"/>
          </a:ln>
        </p:spPr>
        <p:txBody>
          <a:bodyPr/>
          <a:lstStyle/>
          <a:p>
            <a:endParaRPr lang="en-IN"/>
          </a:p>
        </p:txBody>
      </p:sp>
      <p:sp>
        <p:nvSpPr>
          <p:cNvPr id="20" name="Text 18"/>
          <p:cNvSpPr/>
          <p:nvPr/>
        </p:nvSpPr>
        <p:spPr>
          <a:xfrm>
            <a:off x="969264" y="2770632"/>
            <a:ext cx="10250424" cy="2240280"/>
          </a:xfrm>
          <a:prstGeom prst="rect">
            <a:avLst/>
          </a:prstGeom>
          <a:noFill/>
          <a:ln/>
        </p:spPr>
        <p:txBody>
          <a:bodyPr wrap="square" lIns="762" tIns="762" rIns="762" bIns="762" rtlCol="0" anchor="t"/>
          <a:lstStyle/>
          <a:p>
            <a:pPr marL="228600" indent="-228600">
              <a:lnSpc>
                <a:spcPct val="200000"/>
              </a:lnSpc>
              <a:buFont typeface="Arial"/>
              <a:buAutoNum type="arabicPeriod"/>
            </a:pPr>
            <a:r>
              <a:rPr lang="en-US" sz="1400" b="1" dirty="0">
                <a:solidFill>
                  <a:srgbClr val="7C4DE8"/>
                </a:solidFill>
                <a:latin typeface="Arial" pitchFamily="34" charset="0"/>
                <a:cs typeface="Arial" pitchFamily="34" charset="0"/>
              </a:rPr>
              <a:t>Review Every Suggestion — </a:t>
            </a:r>
            <a:r>
              <a:rPr lang="en-US" sz="1400" dirty="0">
                <a:solidFill>
                  <a:srgbClr val="475569"/>
                </a:solidFill>
                <a:latin typeface="Arial" pitchFamily="34" charset="0"/>
                <a:cs typeface="Arial" pitchFamily="34" charset="0"/>
              </a:rPr>
              <a:t>treat AI output as a draft from a junior teammate, not a merge-ready patch.</a:t>
            </a:r>
          </a:p>
          <a:p>
            <a:pPr marL="228600" indent="-228600">
              <a:lnSpc>
                <a:spcPct val="200000"/>
              </a:lnSpc>
              <a:buFont typeface="Arial"/>
              <a:buAutoNum type="arabicPeriod"/>
            </a:pPr>
            <a:r>
              <a:rPr lang="en-US" sz="1400" b="1" dirty="0">
                <a:solidFill>
                  <a:srgbClr val="7C4DE8"/>
                </a:solidFill>
                <a:latin typeface="Arial" pitchFamily="34" charset="0"/>
                <a:cs typeface="Arial" pitchFamily="34" charset="0"/>
              </a:rPr>
              <a:t>Keep Tests Independent — </a:t>
            </a:r>
            <a:r>
              <a:rPr lang="en-US" sz="1400" dirty="0">
                <a:solidFill>
                  <a:srgbClr val="475569"/>
                </a:solidFill>
                <a:latin typeface="Arial" pitchFamily="34" charset="0"/>
                <a:cs typeface="Arial" pitchFamily="34" charset="0"/>
              </a:rPr>
              <a:t>write and run tests that don't just confirm what the AI already assumed.</a:t>
            </a:r>
          </a:p>
          <a:p>
            <a:pPr marL="228600" indent="-228600">
              <a:lnSpc>
                <a:spcPct val="200000"/>
              </a:lnSpc>
              <a:buFont typeface="Arial"/>
              <a:buAutoNum type="arabicPeriod"/>
            </a:pPr>
            <a:r>
              <a:rPr lang="en-US" sz="1400" b="1" dirty="0">
                <a:solidFill>
                  <a:srgbClr val="7C4DE8"/>
                </a:solidFill>
                <a:latin typeface="Arial" pitchFamily="34" charset="0"/>
                <a:cs typeface="Arial" pitchFamily="34" charset="0"/>
              </a:rPr>
              <a:t>Keep Architecture Human-Led — </a:t>
            </a:r>
            <a:r>
              <a:rPr lang="en-US" sz="1400" dirty="0">
                <a:solidFill>
                  <a:srgbClr val="475569"/>
                </a:solidFill>
                <a:latin typeface="Arial" pitchFamily="34" charset="0"/>
                <a:cs typeface="Arial" pitchFamily="34" charset="0"/>
              </a:rPr>
              <a:t>use AI for implementation, not for decisions about design and trade-offs.</a:t>
            </a:r>
          </a:p>
          <a:p>
            <a:pPr marL="228600" indent="-228600">
              <a:lnSpc>
                <a:spcPct val="200000"/>
              </a:lnSpc>
              <a:buFont typeface="Arial"/>
              <a:buAutoNum type="arabicPeriod"/>
            </a:pPr>
            <a:r>
              <a:rPr lang="en-US" sz="1400" b="1" dirty="0">
                <a:solidFill>
                  <a:srgbClr val="7C4DE8"/>
                </a:solidFill>
                <a:latin typeface="Arial" pitchFamily="34" charset="0"/>
                <a:cs typeface="Arial" pitchFamily="34" charset="0"/>
              </a:rPr>
              <a:t>Prompt With Your Own Context — </a:t>
            </a:r>
            <a:r>
              <a:rPr lang="en-US" sz="1400" dirty="0">
                <a:solidFill>
                  <a:srgbClr val="475569"/>
                </a:solidFill>
                <a:latin typeface="Arial" pitchFamily="34" charset="0"/>
                <a:cs typeface="Arial" pitchFamily="34" charset="0"/>
              </a:rPr>
              <a:t>point it at your codebase and standards instead of generic examples.</a:t>
            </a:r>
          </a:p>
          <a:p>
            <a:pPr marL="228600" indent="-228600">
              <a:lnSpc>
                <a:spcPct val="200000"/>
              </a:lnSpc>
              <a:buFont typeface="Arial"/>
              <a:buAutoNum type="arabicPeriod"/>
            </a:pPr>
            <a:r>
              <a:rPr lang="en-US" sz="1400" b="1" dirty="0">
                <a:solidFill>
                  <a:srgbClr val="7C4DE8"/>
                </a:solidFill>
                <a:latin typeface="Arial" pitchFamily="34" charset="0"/>
                <a:cs typeface="Arial" pitchFamily="34" charset="0"/>
              </a:rPr>
              <a:t>Track the Metrics That Matter — </a:t>
            </a:r>
            <a:r>
              <a:rPr lang="en-US" sz="1400" dirty="0">
                <a:solidFill>
                  <a:srgbClr val="475569"/>
                </a:solidFill>
                <a:latin typeface="Arial" pitchFamily="34" charset="0"/>
                <a:cs typeface="Arial" pitchFamily="34" charset="0"/>
              </a:rPr>
              <a:t>measure DORA metrics before and after adoption to prove real impact.</a:t>
            </a:r>
          </a:p>
        </p:txBody>
      </p:sp>
      <p:sp>
        <p:nvSpPr>
          <p:cNvPr id="30" name="Text 28"/>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1" name="Text 29"/>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11</a:t>
            </a:r>
            <a:r>
              <a:rPr lang="en-US" sz="900" dirty="0">
                <a:solidFill>
                  <a:srgbClr val="9AA3AE"/>
                </a:solidFill>
                <a:latin typeface="Consolas" pitchFamily="34" charset="0"/>
                <a:ea typeface="Consolas" pitchFamily="34" charset="-122"/>
                <a:cs typeface="Consolas" pitchFamily="34" charset="-120"/>
              </a:rPr>
              <a:t> / 12</a:t>
            </a:r>
            <a:endParaRPr lang="en-US" sz="900" dirty="0"/>
          </a:p>
        </p:txBody>
      </p:sp>
      <p:sp>
        <p:nvSpPr>
          <p:cNvPr id="32" name="Shape 30"/>
          <p:cNvSpPr/>
          <p:nvPr/>
        </p:nvSpPr>
        <p:spPr>
          <a:xfrm>
            <a:off x="11722608" y="6391656"/>
            <a:ext cx="173736" cy="173736"/>
          </a:xfrm>
          <a:prstGeom prst="rect">
            <a:avLst/>
          </a:prstGeom>
          <a:solidFill>
            <a:srgbClr val="7C4DE8"/>
          </a:solidFill>
          <a:ln/>
        </p:spPr>
        <p:txBody>
          <a:bodyPr/>
          <a:lstStyle/>
          <a:p>
            <a:endParaRPr lang="en-IN"/>
          </a:p>
        </p:txBody>
      </p:sp>
      <p:sp>
        <p:nvSpPr>
          <p:cNvPr id="33" name="Shape 31"/>
          <p:cNvSpPr/>
          <p:nvPr/>
        </p:nvSpPr>
        <p:spPr>
          <a:xfrm>
            <a:off x="11769517" y="6438565"/>
            <a:ext cx="79919" cy="79919"/>
          </a:xfrm>
          <a:prstGeom prst="rect">
            <a:avLst/>
          </a:prstGeom>
          <a:solidFill>
            <a:srgbClr val="FFFFFF"/>
          </a:solidFill>
          <a:ln/>
        </p:spPr>
        <p:txBody>
          <a:bodyPr/>
          <a:lstStyle/>
          <a:p>
            <a:endParaRPr lang="en-IN"/>
          </a:p>
        </p:txBody>
      </p:sp>
      <p:sp>
        <p:nvSpPr>
          <p:cNvPr id="34" name="Shape 32"/>
          <p:cNvSpPr/>
          <p:nvPr/>
        </p:nvSpPr>
        <p:spPr>
          <a:xfrm>
            <a:off x="11752143" y="6356909"/>
            <a:ext cx="29535" cy="34747"/>
          </a:xfrm>
          <a:prstGeom prst="rect">
            <a:avLst/>
          </a:prstGeom>
          <a:solidFill>
            <a:srgbClr val="7C4DE8"/>
          </a:solidFill>
          <a:ln/>
        </p:spPr>
        <p:txBody>
          <a:bodyPr/>
          <a:lstStyle/>
          <a:p>
            <a:endParaRPr lang="en-IN"/>
          </a:p>
        </p:txBody>
      </p:sp>
      <p:sp>
        <p:nvSpPr>
          <p:cNvPr id="35" name="Shape 33"/>
          <p:cNvSpPr/>
          <p:nvPr/>
        </p:nvSpPr>
        <p:spPr>
          <a:xfrm>
            <a:off x="11752143" y="6565392"/>
            <a:ext cx="29535" cy="34747"/>
          </a:xfrm>
          <a:prstGeom prst="rect">
            <a:avLst/>
          </a:prstGeom>
          <a:solidFill>
            <a:srgbClr val="7C4DE8"/>
          </a:solidFill>
          <a:ln/>
        </p:spPr>
        <p:txBody>
          <a:bodyPr/>
          <a:lstStyle/>
          <a:p>
            <a:endParaRPr lang="en-IN"/>
          </a:p>
        </p:txBody>
      </p:sp>
      <p:sp>
        <p:nvSpPr>
          <p:cNvPr id="36" name="Shape 34"/>
          <p:cNvSpPr/>
          <p:nvPr/>
        </p:nvSpPr>
        <p:spPr>
          <a:xfrm>
            <a:off x="11687861" y="6421191"/>
            <a:ext cx="34747" cy="29535"/>
          </a:xfrm>
          <a:prstGeom prst="rect">
            <a:avLst/>
          </a:prstGeom>
          <a:solidFill>
            <a:srgbClr val="7C4DE8"/>
          </a:solidFill>
          <a:ln/>
        </p:spPr>
        <p:txBody>
          <a:bodyPr/>
          <a:lstStyle/>
          <a:p>
            <a:endParaRPr lang="en-IN"/>
          </a:p>
        </p:txBody>
      </p:sp>
      <p:sp>
        <p:nvSpPr>
          <p:cNvPr id="37" name="Shape 35"/>
          <p:cNvSpPr/>
          <p:nvPr/>
        </p:nvSpPr>
        <p:spPr>
          <a:xfrm>
            <a:off x="11896344" y="6421191"/>
            <a:ext cx="34747" cy="29535"/>
          </a:xfrm>
          <a:prstGeom prst="rect">
            <a:avLst/>
          </a:prstGeom>
          <a:solidFill>
            <a:srgbClr val="7C4DE8"/>
          </a:solidFill>
          <a:ln/>
        </p:spPr>
        <p:txBody>
          <a:bodyPr/>
          <a:lstStyle/>
          <a:p>
            <a:endParaRPr lang="en-IN"/>
          </a:p>
        </p:txBody>
      </p:sp>
      <p:sp>
        <p:nvSpPr>
          <p:cNvPr id="38" name="Shape 36"/>
          <p:cNvSpPr/>
          <p:nvPr/>
        </p:nvSpPr>
        <p:spPr>
          <a:xfrm>
            <a:off x="11837274" y="6356909"/>
            <a:ext cx="29535" cy="34747"/>
          </a:xfrm>
          <a:prstGeom prst="rect">
            <a:avLst/>
          </a:prstGeom>
          <a:solidFill>
            <a:srgbClr val="7C4DE8"/>
          </a:solidFill>
          <a:ln/>
        </p:spPr>
        <p:txBody>
          <a:bodyPr/>
          <a:lstStyle/>
          <a:p>
            <a:endParaRPr lang="en-IN"/>
          </a:p>
        </p:txBody>
      </p:sp>
      <p:sp>
        <p:nvSpPr>
          <p:cNvPr id="39" name="Shape 37"/>
          <p:cNvSpPr/>
          <p:nvPr/>
        </p:nvSpPr>
        <p:spPr>
          <a:xfrm>
            <a:off x="11837274" y="6565392"/>
            <a:ext cx="29535" cy="34747"/>
          </a:xfrm>
          <a:prstGeom prst="rect">
            <a:avLst/>
          </a:prstGeom>
          <a:solidFill>
            <a:srgbClr val="7C4DE8"/>
          </a:solidFill>
          <a:ln/>
        </p:spPr>
        <p:txBody>
          <a:bodyPr/>
          <a:lstStyle/>
          <a:p>
            <a:endParaRPr lang="en-IN"/>
          </a:p>
        </p:txBody>
      </p:sp>
      <p:sp>
        <p:nvSpPr>
          <p:cNvPr id="40" name="Shape 38"/>
          <p:cNvSpPr/>
          <p:nvPr/>
        </p:nvSpPr>
        <p:spPr>
          <a:xfrm>
            <a:off x="11687861" y="6506322"/>
            <a:ext cx="34747" cy="29535"/>
          </a:xfrm>
          <a:prstGeom prst="rect">
            <a:avLst/>
          </a:prstGeom>
          <a:solidFill>
            <a:srgbClr val="7C4DE8"/>
          </a:solidFill>
          <a:ln/>
        </p:spPr>
        <p:txBody>
          <a:bodyPr/>
          <a:lstStyle/>
          <a:p>
            <a:endParaRPr lang="en-IN"/>
          </a:p>
        </p:txBody>
      </p:sp>
      <p:sp>
        <p:nvSpPr>
          <p:cNvPr id="41" name="Shape 39"/>
          <p:cNvSpPr/>
          <p:nvPr/>
        </p:nvSpPr>
        <p:spPr>
          <a:xfrm>
            <a:off x="11896344" y="6506322"/>
            <a:ext cx="34747" cy="29535"/>
          </a:xfrm>
          <a:prstGeom prst="rect">
            <a:avLst/>
          </a:prstGeom>
          <a:solidFill>
            <a:srgbClr val="7C4DE8"/>
          </a:solidFill>
          <a:ln/>
        </p:spPr>
        <p:txBody>
          <a:bodyPr/>
          <a:lstStyle/>
          <a:p>
            <a:endParaRPr lang="en-IN"/>
          </a:p>
        </p:txBody>
      </p:sp>
      <p:sp>
        <p:nvSpPr>
          <p:cNvPr id="43" name="TextBox 42">
            <a:extLst>
              <a:ext uri="{FF2B5EF4-FFF2-40B4-BE49-F238E27FC236}">
                <a16:creationId xmlns:a16="http://schemas.microsoft.com/office/drawing/2014/main" id="{CE8FB19F-A753-2421-ED96-3F275875671B}"/>
              </a:ext>
            </a:extLst>
          </p:cNvPr>
          <p:cNvSpPr txBox="1"/>
          <p:nvPr/>
        </p:nvSpPr>
        <p:spPr>
          <a:xfrm>
            <a:off x="747979" y="5300920"/>
            <a:ext cx="6096000" cy="646331"/>
          </a:xfrm>
          <a:prstGeom prst="rect">
            <a:avLst/>
          </a:prstGeom>
          <a:noFill/>
        </p:spPr>
        <p:txBody>
          <a:bodyPr wrap="square">
            <a:spAutoFit/>
          </a:bodyPr>
          <a:lstStyle/>
          <a:p>
            <a:r>
              <a:rPr lang="en-GB" b="1" dirty="0"/>
              <a:t>Speed and quality aren't a trade-off.</a:t>
            </a:r>
            <a:br>
              <a:rPr lang="en-GB" dirty="0"/>
            </a:br>
            <a:r>
              <a:rPr lang="en-GB" i="1" dirty="0"/>
              <a:t>Build the habits and both go up together.</a:t>
            </a:r>
            <a:endParaRPr lang="en-GB"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algn="r"/>
            <a:r>
              <a:rPr lang="en-US" sz="850" kern="0" spc="120" dirty="0">
                <a:solidFill>
                  <a:srgbClr val="9AA3AE"/>
                </a:solidFill>
                <a:latin typeface="Consolas" pitchFamily="34" charset="0"/>
                <a:ea typeface="Consolas" pitchFamily="34" charset="-122"/>
                <a:cs typeface="Consolas" pitchFamily="34" charset="-120"/>
              </a:rPr>
              <a:t>FRONTIER · TRACK -04</a:t>
            </a:r>
            <a:endParaRPr lang="en-US" sz="850" dirty="0"/>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onsolas" pitchFamily="34" charset="0"/>
                <a:ea typeface="Consolas" pitchFamily="34" charset="-122"/>
                <a:cs typeface="Consolas" pitchFamily="34" charset="-120"/>
              </a:rPr>
              <a:t>12</a:t>
            </a:r>
            <a:endParaRPr lang="en-US" sz="1700" dirty="0"/>
          </a:p>
        </p:txBody>
      </p:sp>
      <p:sp>
        <p:nvSpPr>
          <p:cNvPr id="16" name="Text 14"/>
          <p:cNvSpPr/>
          <p:nvPr/>
        </p:nvSpPr>
        <p:spPr>
          <a:xfrm>
            <a:off x="1353312" y="1005840"/>
            <a:ext cx="9692640" cy="475488"/>
          </a:xfrm>
          <a:prstGeom prst="rect">
            <a:avLst/>
          </a:prstGeom>
          <a:noFill/>
          <a:ln/>
        </p:spPr>
        <p:txBody>
          <a:bodyPr wrap="square" lIns="0" tIns="0" rIns="0" bIns="0" rtlCol="0" anchor="ctr"/>
          <a:lstStyle/>
          <a:p>
            <a:pPr marL="0" indent="0">
              <a:buNone/>
            </a:pPr>
            <a:r>
              <a:rPr lang="en-US" sz="3100" kern="0" spc="40" dirty="0">
                <a:solidFill>
                  <a:srgbClr val="0E141B"/>
                </a:solidFill>
                <a:latin typeface="Arial Black" pitchFamily="34" charset="0"/>
                <a:ea typeface="Arial Black" pitchFamily="34" charset="-122"/>
                <a:cs typeface="Arial Black" pitchFamily="34" charset="-120"/>
              </a:rPr>
              <a:t>AWS RESOURCES FOR DEV PRODUCTIVITY</a:t>
            </a:r>
            <a:endParaRPr lang="en-US" sz="3100" dirty="0"/>
          </a:p>
        </p:txBody>
      </p:sp>
      <p:sp>
        <p:nvSpPr>
          <p:cNvPr id="17" name="Text 15"/>
          <p:cNvSpPr/>
          <p:nvPr/>
        </p:nvSpPr>
        <p:spPr>
          <a:xfrm>
            <a:off x="1371600" y="1481328"/>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122"/>
                <a:cs typeface="Consolas" pitchFamily="34" charset="-120"/>
              </a:rPr>
              <a:t>research and references</a:t>
            </a:r>
            <a:endParaRPr lang="en-US" sz="1100" dirty="0"/>
          </a:p>
        </p:txBody>
      </p:sp>
      <p:sp>
        <p:nvSpPr>
          <p:cNvPr id="18" name="Text 16"/>
          <p:cNvSpPr/>
          <p:nvPr/>
        </p:nvSpPr>
        <p:spPr>
          <a:xfrm>
            <a:off x="822960" y="2103120"/>
            <a:ext cx="10543032" cy="566928"/>
          </a:xfrm>
          <a:prstGeom prst="rect">
            <a:avLst/>
          </a:prstGeom>
          <a:noFill/>
          <a:ln/>
        </p:spPr>
        <p:txBody>
          <a:bodyPr wrap="square" lIns="0" tIns="0" rIns="0" bIns="0" rtlCol="0" anchor="ctr"/>
          <a:lstStyle/>
          <a:p>
            <a:r>
              <a:rPr lang="en-GB" sz="2400" b="1" i="1" dirty="0"/>
              <a:t>Build smarter with AWS-powered developer tools</a:t>
            </a:r>
            <a:endParaRPr lang="en-US" sz="2100" b="1" i="1" dirty="0"/>
          </a:p>
        </p:txBody>
      </p:sp>
      <p:sp>
        <p:nvSpPr>
          <p:cNvPr id="19" name="Shape 17"/>
          <p:cNvSpPr/>
          <p:nvPr/>
        </p:nvSpPr>
        <p:spPr>
          <a:xfrm>
            <a:off x="822960" y="2770632"/>
            <a:ext cx="10543032" cy="2240280"/>
          </a:xfrm>
          <a:prstGeom prst="roundRect">
            <a:avLst>
              <a:gd name="adj" fmla="val 1633"/>
            </a:avLst>
          </a:prstGeom>
          <a:solidFill>
            <a:srgbClr val="F4F6F8"/>
          </a:solidFill>
          <a:ln w="9525">
            <a:solidFill>
              <a:srgbClr val="DDE2E8"/>
            </a:solidFill>
            <a:prstDash val="solid"/>
          </a:ln>
        </p:spPr>
        <p:txBody>
          <a:bodyPr/>
          <a:lstStyle/>
          <a:p>
            <a:endParaRPr lang="en-IN"/>
          </a:p>
        </p:txBody>
      </p:sp>
      <p:sp>
        <p:nvSpPr>
          <p:cNvPr id="20" name="Text 18"/>
          <p:cNvSpPr/>
          <p:nvPr/>
        </p:nvSpPr>
        <p:spPr>
          <a:xfrm>
            <a:off x="969264" y="2770632"/>
            <a:ext cx="10250424" cy="2240280"/>
          </a:xfrm>
          <a:prstGeom prst="rect">
            <a:avLst/>
          </a:prstGeom>
          <a:noFill/>
          <a:ln/>
        </p:spPr>
        <p:txBody>
          <a:bodyPr wrap="square" lIns="762" tIns="762" rIns="762" bIns="762" rtlCol="0" anchor="t"/>
          <a:lstStyle/>
          <a:p>
            <a:pPr marL="228600" indent="-228600">
              <a:lnSpc>
                <a:spcPct val="200000"/>
              </a:lnSpc>
              <a:buAutoNum type="arabicPeriod"/>
            </a:pPr>
            <a:r>
              <a:rPr lang="en-US" sz="1400" b="1" i="1" dirty="0">
                <a:latin typeface="Arial" pitchFamily="34" charset="0"/>
                <a:ea typeface="Arial" pitchFamily="34" charset="-122"/>
                <a:cs typeface="Arial" pitchFamily="34" charset="-120"/>
              </a:rPr>
              <a:t>Amazon Q Developer - </a:t>
            </a:r>
            <a:r>
              <a:rPr lang="en-US" sz="1400" b="1" i="1" dirty="0">
                <a:solidFill>
                  <a:srgbClr val="0563C1"/>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https://docs.aws.amazon.com/amazonq/latest/qdeveloper-ug/what-is.</a:t>
            </a:r>
            <a:r>
              <a:rPr lang="en-US" sz="1400" b="1" i="1" dirty="0">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html</a:t>
            </a:r>
            <a:endParaRPr lang="en-US" sz="1400" b="1" i="1" dirty="0">
              <a:latin typeface="Arial" pitchFamily="34" charset="0"/>
              <a:ea typeface="Arial" pitchFamily="34" charset="-122"/>
              <a:cs typeface="Arial" pitchFamily="34" charset="-120"/>
            </a:endParaRPr>
          </a:p>
          <a:p>
            <a:pPr marL="228600" indent="-228600">
              <a:lnSpc>
                <a:spcPct val="200000"/>
              </a:lnSpc>
              <a:buAutoNum type="arabicPeriod"/>
            </a:pPr>
            <a:r>
              <a:rPr lang="en-US" sz="1400" b="1" i="1" dirty="0">
                <a:latin typeface="Arial" pitchFamily="34" charset="0"/>
                <a:cs typeface="Arial" pitchFamily="34" charset="-120"/>
              </a:rPr>
              <a:t>Amazon Bedrock - </a:t>
            </a:r>
            <a:r>
              <a:rPr lang="en-US" sz="1400" b="1" i="1" dirty="0">
                <a:solidFill>
                  <a:srgbClr val="0563C1"/>
                </a:solidFill>
                <a:latin typeface="Arial" pitchFamily="34" charset="0"/>
                <a:cs typeface="Arial" pitchFamily="34" charset="-120"/>
                <a:hlinkClick r:id="rId4">
                  <a:extLst>
                    <a:ext uri="{A12FA001-AC4F-418D-AE19-62706E023703}">
                      <ahyp:hlinkClr xmlns:ahyp="http://schemas.microsoft.com/office/drawing/2018/hyperlinkcolor" val="tx"/>
                    </a:ext>
                  </a:extLst>
                </a:hlinkClick>
              </a:rPr>
              <a:t>https://docs.aws.amazon.com/bedrock</a:t>
            </a:r>
            <a:r>
              <a:rPr lang="en-US" sz="1400" b="1" i="1" dirty="0">
                <a:latin typeface="Arial" pitchFamily="34" charset="0"/>
                <a:cs typeface="Arial" pitchFamily="34" charset="-120"/>
                <a:hlinkClick r:id="rId4">
                  <a:extLst>
                    <a:ext uri="{A12FA001-AC4F-418D-AE19-62706E023703}">
                      <ahyp:hlinkClr xmlns:ahyp="http://schemas.microsoft.com/office/drawing/2018/hyperlinkcolor" val="tx"/>
                    </a:ext>
                  </a:extLst>
                </a:hlinkClick>
              </a:rPr>
              <a:t>/</a:t>
            </a:r>
            <a:endParaRPr lang="en-US" sz="1400" b="1" i="1" dirty="0">
              <a:latin typeface="Arial" pitchFamily="34" charset="0"/>
              <a:cs typeface="Arial" pitchFamily="34" charset="-120"/>
            </a:endParaRPr>
          </a:p>
          <a:p>
            <a:pPr marL="228600" indent="-228600">
              <a:lnSpc>
                <a:spcPct val="200000"/>
              </a:lnSpc>
              <a:buAutoNum type="arabicPeriod"/>
            </a:pPr>
            <a:r>
              <a:rPr lang="en-US" sz="1400" b="1" i="1" dirty="0">
                <a:latin typeface="Arial" pitchFamily="34" charset="0"/>
                <a:cs typeface="Arial" pitchFamily="34" charset="-120"/>
              </a:rPr>
              <a:t>AWS </a:t>
            </a:r>
            <a:r>
              <a:rPr lang="en-US" sz="1400" b="1" i="1" dirty="0" err="1">
                <a:latin typeface="Arial" pitchFamily="34" charset="0"/>
                <a:cs typeface="Arial" pitchFamily="34" charset="-120"/>
              </a:rPr>
              <a:t>CodePipeline</a:t>
            </a:r>
            <a:r>
              <a:rPr lang="en-US" sz="1400" b="1" i="1" dirty="0">
                <a:latin typeface="Arial" pitchFamily="34" charset="0"/>
                <a:cs typeface="Arial" pitchFamily="34" charset="-120"/>
              </a:rPr>
              <a:t> - </a:t>
            </a:r>
            <a:r>
              <a:rPr lang="en-US" sz="1400" b="1" i="1" dirty="0">
                <a:solidFill>
                  <a:srgbClr val="0563C1"/>
                </a:solidFill>
                <a:latin typeface="Arial" pitchFamily="34" charset="0"/>
                <a:cs typeface="Arial" pitchFamily="34" charset="-120"/>
                <a:hlinkClick r:id="rId5">
                  <a:extLst>
                    <a:ext uri="{A12FA001-AC4F-418D-AE19-62706E023703}">
                      <ahyp:hlinkClr xmlns:ahyp="http://schemas.microsoft.com/office/drawing/2018/hyperlinkcolor" val="tx"/>
                    </a:ext>
                  </a:extLst>
                </a:hlinkClick>
              </a:rPr>
              <a:t>https://docs.aws.amazon.com/codepipeline/latest/userguide/welcome.</a:t>
            </a:r>
            <a:r>
              <a:rPr lang="en-US" sz="1400" b="1" i="1" dirty="0">
                <a:latin typeface="Arial" pitchFamily="34" charset="0"/>
                <a:cs typeface="Arial" pitchFamily="34" charset="-120"/>
                <a:hlinkClick r:id="rId5">
                  <a:extLst>
                    <a:ext uri="{A12FA001-AC4F-418D-AE19-62706E023703}">
                      <ahyp:hlinkClr xmlns:ahyp="http://schemas.microsoft.com/office/drawing/2018/hyperlinkcolor" val="tx"/>
                    </a:ext>
                  </a:extLst>
                </a:hlinkClick>
              </a:rPr>
              <a:t>html</a:t>
            </a:r>
            <a:endParaRPr lang="en-US" sz="1400" b="1" i="1" dirty="0">
              <a:latin typeface="Arial" pitchFamily="34" charset="0"/>
              <a:cs typeface="Arial" pitchFamily="34" charset="-120"/>
            </a:endParaRPr>
          </a:p>
          <a:p>
            <a:pPr marL="228600" indent="-228600">
              <a:lnSpc>
                <a:spcPct val="200000"/>
              </a:lnSpc>
              <a:buAutoNum type="arabicPeriod"/>
            </a:pPr>
            <a:r>
              <a:rPr lang="en-US" sz="1400" b="1" i="1" dirty="0">
                <a:latin typeface="Arial" pitchFamily="34" charset="0"/>
                <a:cs typeface="Arial" pitchFamily="34" charset="-120"/>
              </a:rPr>
              <a:t>AWS Lambda - </a:t>
            </a:r>
            <a:r>
              <a:rPr lang="en-US" sz="1400" b="1" i="1" dirty="0">
                <a:solidFill>
                  <a:srgbClr val="0563C1"/>
                </a:solidFill>
                <a:latin typeface="Arial" pitchFamily="34" charset="0"/>
                <a:cs typeface="Arial" pitchFamily="34" charset="-120"/>
                <a:hlinkClick r:id="rId6">
                  <a:extLst>
                    <a:ext uri="{A12FA001-AC4F-418D-AE19-62706E023703}">
                      <ahyp:hlinkClr xmlns:ahyp="http://schemas.microsoft.com/office/drawing/2018/hyperlinkcolor" val="tx"/>
                    </a:ext>
                  </a:extLst>
                </a:hlinkClick>
              </a:rPr>
              <a:t>https://docs.aws.amazon.com/lambda/latest/dg/welcome.</a:t>
            </a:r>
            <a:r>
              <a:rPr lang="en-US" sz="1400" b="1" i="1" dirty="0">
                <a:latin typeface="Arial" pitchFamily="34" charset="0"/>
                <a:cs typeface="Arial" pitchFamily="34" charset="-120"/>
                <a:hlinkClick r:id="rId6">
                  <a:extLst>
                    <a:ext uri="{A12FA001-AC4F-418D-AE19-62706E023703}">
                      <ahyp:hlinkClr xmlns:ahyp="http://schemas.microsoft.com/office/drawing/2018/hyperlinkcolor" val="tx"/>
                    </a:ext>
                  </a:extLst>
                </a:hlinkClick>
              </a:rPr>
              <a:t>html</a:t>
            </a:r>
            <a:endParaRPr lang="en-US" sz="1400" b="1" i="1" dirty="0">
              <a:latin typeface="Arial" pitchFamily="34" charset="0"/>
              <a:cs typeface="Arial" pitchFamily="34" charset="-120"/>
            </a:endParaRPr>
          </a:p>
          <a:p>
            <a:pPr marL="228600" indent="-228600">
              <a:lnSpc>
                <a:spcPct val="200000"/>
              </a:lnSpc>
              <a:buAutoNum type="arabicPeriod"/>
            </a:pPr>
            <a:r>
              <a:rPr lang="en-US" sz="1400" b="1" i="1" dirty="0">
                <a:latin typeface="Arial" pitchFamily="34" charset="0"/>
                <a:cs typeface="Arial" pitchFamily="34" charset="-120"/>
              </a:rPr>
              <a:t>AWS </a:t>
            </a:r>
            <a:r>
              <a:rPr lang="en-US" sz="1400" b="1" i="1" dirty="0" err="1">
                <a:latin typeface="Arial" pitchFamily="34" charset="0"/>
                <a:cs typeface="Arial" pitchFamily="34" charset="-120"/>
              </a:rPr>
              <a:t>CodeBuild</a:t>
            </a:r>
            <a:r>
              <a:rPr lang="en-US" sz="1400" b="1" i="1" dirty="0">
                <a:latin typeface="Arial" pitchFamily="34" charset="0"/>
                <a:cs typeface="Arial" pitchFamily="34" charset="-120"/>
              </a:rPr>
              <a:t> - </a:t>
            </a:r>
            <a:r>
              <a:rPr lang="en-US" sz="1400" b="1" i="1" dirty="0">
                <a:solidFill>
                  <a:srgbClr val="0563C1"/>
                </a:solidFill>
                <a:latin typeface="Arial" pitchFamily="34" charset="0"/>
                <a:cs typeface="Arial" pitchFamily="34" charset="-120"/>
                <a:hlinkClick r:id="rId7">
                  <a:extLst>
                    <a:ext uri="{A12FA001-AC4F-418D-AE19-62706E023703}">
                      <ahyp:hlinkClr xmlns:ahyp="http://schemas.microsoft.com/office/drawing/2018/hyperlinkcolor" val="tx"/>
                    </a:ext>
                  </a:extLst>
                </a:hlinkClick>
              </a:rPr>
              <a:t>https://docs.aws.amazon.com/codebuild/latest/userguide/welcome.</a:t>
            </a:r>
            <a:r>
              <a:rPr lang="en-US" sz="1400" b="1" i="1" dirty="0">
                <a:latin typeface="Arial" pitchFamily="34" charset="0"/>
                <a:cs typeface="Arial" pitchFamily="34" charset="-120"/>
                <a:hlinkClick r:id="rId7">
                  <a:extLst>
                    <a:ext uri="{A12FA001-AC4F-418D-AE19-62706E023703}">
                      <ahyp:hlinkClr xmlns:ahyp="http://schemas.microsoft.com/office/drawing/2018/hyperlinkcolor" val="tx"/>
                    </a:ext>
                  </a:extLst>
                </a:hlinkClick>
              </a:rPr>
              <a:t>html</a:t>
            </a:r>
            <a:endParaRPr lang="en-US" sz="1400" b="1" i="1" dirty="0">
              <a:latin typeface="Arial" pitchFamily="34" charset="0"/>
              <a:cs typeface="Arial" pitchFamily="34" charset="-120"/>
            </a:endParaRPr>
          </a:p>
          <a:p>
            <a:endParaRPr lang="en-US" sz="1100" dirty="0"/>
          </a:p>
        </p:txBody>
      </p:sp>
      <p:sp>
        <p:nvSpPr>
          <p:cNvPr id="30" name="Text 28"/>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1" name="Text 29"/>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12</a:t>
            </a:r>
            <a:r>
              <a:rPr lang="en-US" sz="900" dirty="0">
                <a:solidFill>
                  <a:srgbClr val="9AA3AE"/>
                </a:solidFill>
                <a:latin typeface="Consolas" pitchFamily="34" charset="0"/>
                <a:ea typeface="Consolas" pitchFamily="34" charset="-122"/>
                <a:cs typeface="Consolas" pitchFamily="34" charset="-120"/>
              </a:rPr>
              <a:t> / 12</a:t>
            </a:r>
            <a:endParaRPr lang="en-US" sz="900" dirty="0"/>
          </a:p>
        </p:txBody>
      </p:sp>
      <p:sp>
        <p:nvSpPr>
          <p:cNvPr id="32" name="Shape 30"/>
          <p:cNvSpPr/>
          <p:nvPr/>
        </p:nvSpPr>
        <p:spPr>
          <a:xfrm>
            <a:off x="11722608" y="6391656"/>
            <a:ext cx="173736" cy="173736"/>
          </a:xfrm>
          <a:prstGeom prst="rect">
            <a:avLst/>
          </a:prstGeom>
          <a:solidFill>
            <a:srgbClr val="7C4DE8"/>
          </a:solidFill>
          <a:ln/>
        </p:spPr>
        <p:txBody>
          <a:bodyPr/>
          <a:lstStyle/>
          <a:p>
            <a:endParaRPr lang="en-IN"/>
          </a:p>
        </p:txBody>
      </p:sp>
      <p:sp>
        <p:nvSpPr>
          <p:cNvPr id="33" name="Shape 31"/>
          <p:cNvSpPr/>
          <p:nvPr/>
        </p:nvSpPr>
        <p:spPr>
          <a:xfrm>
            <a:off x="11769517" y="6438565"/>
            <a:ext cx="79919" cy="79919"/>
          </a:xfrm>
          <a:prstGeom prst="rect">
            <a:avLst/>
          </a:prstGeom>
          <a:solidFill>
            <a:srgbClr val="FFFFFF"/>
          </a:solidFill>
          <a:ln/>
        </p:spPr>
        <p:txBody>
          <a:bodyPr/>
          <a:lstStyle/>
          <a:p>
            <a:endParaRPr lang="en-IN"/>
          </a:p>
        </p:txBody>
      </p:sp>
      <p:sp>
        <p:nvSpPr>
          <p:cNvPr id="34" name="Shape 32"/>
          <p:cNvSpPr/>
          <p:nvPr/>
        </p:nvSpPr>
        <p:spPr>
          <a:xfrm>
            <a:off x="11752143" y="6356909"/>
            <a:ext cx="29535" cy="34747"/>
          </a:xfrm>
          <a:prstGeom prst="rect">
            <a:avLst/>
          </a:prstGeom>
          <a:solidFill>
            <a:srgbClr val="7C4DE8"/>
          </a:solidFill>
          <a:ln/>
        </p:spPr>
        <p:txBody>
          <a:bodyPr/>
          <a:lstStyle/>
          <a:p>
            <a:endParaRPr lang="en-IN"/>
          </a:p>
        </p:txBody>
      </p:sp>
      <p:sp>
        <p:nvSpPr>
          <p:cNvPr id="35" name="Shape 33"/>
          <p:cNvSpPr/>
          <p:nvPr/>
        </p:nvSpPr>
        <p:spPr>
          <a:xfrm>
            <a:off x="11752143" y="6565392"/>
            <a:ext cx="29535" cy="34747"/>
          </a:xfrm>
          <a:prstGeom prst="rect">
            <a:avLst/>
          </a:prstGeom>
          <a:solidFill>
            <a:srgbClr val="7C4DE8"/>
          </a:solidFill>
          <a:ln/>
        </p:spPr>
        <p:txBody>
          <a:bodyPr/>
          <a:lstStyle/>
          <a:p>
            <a:endParaRPr lang="en-IN"/>
          </a:p>
        </p:txBody>
      </p:sp>
      <p:sp>
        <p:nvSpPr>
          <p:cNvPr id="36" name="Shape 34"/>
          <p:cNvSpPr/>
          <p:nvPr/>
        </p:nvSpPr>
        <p:spPr>
          <a:xfrm>
            <a:off x="11687861" y="6421191"/>
            <a:ext cx="34747" cy="29535"/>
          </a:xfrm>
          <a:prstGeom prst="rect">
            <a:avLst/>
          </a:prstGeom>
          <a:solidFill>
            <a:srgbClr val="7C4DE8"/>
          </a:solidFill>
          <a:ln/>
        </p:spPr>
        <p:txBody>
          <a:bodyPr/>
          <a:lstStyle/>
          <a:p>
            <a:endParaRPr lang="en-IN"/>
          </a:p>
        </p:txBody>
      </p:sp>
      <p:sp>
        <p:nvSpPr>
          <p:cNvPr id="37" name="Shape 35"/>
          <p:cNvSpPr/>
          <p:nvPr/>
        </p:nvSpPr>
        <p:spPr>
          <a:xfrm>
            <a:off x="11896344" y="6421191"/>
            <a:ext cx="34747" cy="29535"/>
          </a:xfrm>
          <a:prstGeom prst="rect">
            <a:avLst/>
          </a:prstGeom>
          <a:solidFill>
            <a:srgbClr val="7C4DE8"/>
          </a:solidFill>
          <a:ln/>
        </p:spPr>
        <p:txBody>
          <a:bodyPr/>
          <a:lstStyle/>
          <a:p>
            <a:endParaRPr lang="en-IN"/>
          </a:p>
        </p:txBody>
      </p:sp>
      <p:sp>
        <p:nvSpPr>
          <p:cNvPr id="38" name="Shape 36"/>
          <p:cNvSpPr/>
          <p:nvPr/>
        </p:nvSpPr>
        <p:spPr>
          <a:xfrm>
            <a:off x="11837274" y="6356909"/>
            <a:ext cx="29535" cy="34747"/>
          </a:xfrm>
          <a:prstGeom prst="rect">
            <a:avLst/>
          </a:prstGeom>
          <a:solidFill>
            <a:srgbClr val="7C4DE8"/>
          </a:solidFill>
          <a:ln/>
        </p:spPr>
        <p:txBody>
          <a:bodyPr/>
          <a:lstStyle/>
          <a:p>
            <a:endParaRPr lang="en-IN"/>
          </a:p>
        </p:txBody>
      </p:sp>
      <p:sp>
        <p:nvSpPr>
          <p:cNvPr id="39" name="Shape 37"/>
          <p:cNvSpPr/>
          <p:nvPr/>
        </p:nvSpPr>
        <p:spPr>
          <a:xfrm>
            <a:off x="11837274" y="6565392"/>
            <a:ext cx="29535" cy="34747"/>
          </a:xfrm>
          <a:prstGeom prst="rect">
            <a:avLst/>
          </a:prstGeom>
          <a:solidFill>
            <a:srgbClr val="7C4DE8"/>
          </a:solidFill>
          <a:ln/>
        </p:spPr>
        <p:txBody>
          <a:bodyPr/>
          <a:lstStyle/>
          <a:p>
            <a:endParaRPr lang="en-IN"/>
          </a:p>
        </p:txBody>
      </p:sp>
      <p:sp>
        <p:nvSpPr>
          <p:cNvPr id="40" name="Shape 38"/>
          <p:cNvSpPr/>
          <p:nvPr/>
        </p:nvSpPr>
        <p:spPr>
          <a:xfrm>
            <a:off x="11687861" y="6506322"/>
            <a:ext cx="34747" cy="29535"/>
          </a:xfrm>
          <a:prstGeom prst="rect">
            <a:avLst/>
          </a:prstGeom>
          <a:solidFill>
            <a:srgbClr val="7C4DE8"/>
          </a:solidFill>
          <a:ln/>
        </p:spPr>
        <p:txBody>
          <a:bodyPr/>
          <a:lstStyle/>
          <a:p>
            <a:endParaRPr lang="en-IN"/>
          </a:p>
        </p:txBody>
      </p:sp>
      <p:sp>
        <p:nvSpPr>
          <p:cNvPr id="41" name="Shape 39"/>
          <p:cNvSpPr/>
          <p:nvPr/>
        </p:nvSpPr>
        <p:spPr>
          <a:xfrm>
            <a:off x="11896344" y="6506322"/>
            <a:ext cx="34747" cy="29535"/>
          </a:xfrm>
          <a:prstGeom prst="rect">
            <a:avLst/>
          </a:prstGeom>
          <a:solidFill>
            <a:srgbClr val="7C4DE8"/>
          </a:solidFill>
          <a:ln/>
        </p:spPr>
        <p:txBody>
          <a:bodyPr/>
          <a:lstStyle/>
          <a:p>
            <a:endParaRPr lang="en-IN"/>
          </a:p>
        </p:txBody>
      </p:sp>
      <p:sp>
        <p:nvSpPr>
          <p:cNvPr id="43" name="TextBox 42">
            <a:extLst>
              <a:ext uri="{FF2B5EF4-FFF2-40B4-BE49-F238E27FC236}">
                <a16:creationId xmlns:a16="http://schemas.microsoft.com/office/drawing/2014/main" id="{CE8FB19F-A753-2421-ED96-3F275875671B}"/>
              </a:ext>
            </a:extLst>
          </p:cNvPr>
          <p:cNvSpPr txBox="1"/>
          <p:nvPr/>
        </p:nvSpPr>
        <p:spPr>
          <a:xfrm>
            <a:off x="747979" y="5300920"/>
            <a:ext cx="6096000" cy="646331"/>
          </a:xfrm>
          <a:prstGeom prst="rect">
            <a:avLst/>
          </a:prstGeom>
          <a:noFill/>
        </p:spPr>
        <p:txBody>
          <a:bodyPr wrap="square">
            <a:spAutoFit/>
          </a:bodyPr>
          <a:lstStyle/>
          <a:p>
            <a:r>
              <a:rPr lang="en-GB" b="1" dirty="0"/>
              <a:t>Now it's your turn.</a:t>
            </a:r>
            <a:br>
              <a:rPr lang="en-GB" dirty="0"/>
            </a:br>
            <a:r>
              <a:rPr lang="en-GB" i="1" dirty="0"/>
              <a:t>Use these tools to build something amazing at Frontier 2026!</a:t>
            </a:r>
            <a:endParaRPr lang="en-GB"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127</TotalTime>
  <Words>1501</Words>
  <Application>Microsoft Office PowerPoint</Application>
  <PresentationFormat>Widescreen</PresentationFormat>
  <Paragraphs>190</Paragraphs>
  <Slides>12</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ADLaM Display</vt:lpstr>
      <vt:lpstr>Arial</vt:lpstr>
      <vt:lpstr>Arial Black</vt:lpstr>
      <vt:lpstr>Calibri</vt:lpstr>
      <vt:lpstr>Consolas</vt:lpstr>
      <vt:lpstr>Plus Jakarta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AWS Student Builder Groups, VIT Chennai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FRONTIER 2026 - Submission Template</dc:title>
  <dc:subject>PptxGenJS Presentation</dc:subject>
  <dc:creator>AWS Student Builder Groups - VIT Chennai</dc:creator>
  <cp:lastModifiedBy>Rakshith S</cp:lastModifiedBy>
  <cp:revision>4</cp:revision>
  <dcterms:created xsi:type="dcterms:W3CDTF">2026-07-27T09:18:57Z</dcterms:created>
  <dcterms:modified xsi:type="dcterms:W3CDTF">2026-07-29T17:57:37Z</dcterms:modified>
</cp:coreProperties>
</file>