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JetBrains Mono Bold" charset="1" panose="02010809030102050004"/>
      <p:regular r:id="rId16"/>
    </p:embeddedFont>
    <p:embeddedFont>
      <p:font typeface="JetBrains Mono" charset="1" panose="02010509020102050004"/>
      <p:regular r:id="rId17"/>
    </p:embeddedFont>
    <p:embeddedFont>
      <p:font typeface="Barlow Condensed Bold" charset="1" panose="00000806000000000000"/>
      <p:regular r:id="rId18"/>
    </p:embeddedFont>
    <p:embeddedFont>
      <p:font typeface="Inter" charset="1" panose="02000503000000020004"/>
      <p:regular r:id="rId19"/>
    </p:embeddedFont>
    <p:embeddedFont>
      <p:font typeface="Barlow Condensed" charset="1" panose="00000506000000000000"/>
      <p:regular r:id="rId20"/>
    </p:embeddedFont>
    <p:embeddedFont>
      <p:font typeface="Inter Bold" charset="1" panose="02000503000000020004"/>
      <p:regular r:id="rId21"/>
    </p:embeddedFont>
    <p:embeddedFont>
      <p:font typeface="Inter Italics" charset="1" panose="0200050300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62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524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86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3048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3810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572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5334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6096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6858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620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8382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9144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9906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0668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1430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2192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2954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3716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4478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5240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6002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6764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7526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0" y="791308"/>
            <a:ext cx="18288000" cy="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0" y="1582615"/>
            <a:ext cx="18288000" cy="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0" y="2373923"/>
            <a:ext cx="18288000" cy="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0" y="3165231"/>
            <a:ext cx="18288000" cy="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0" y="3956538"/>
            <a:ext cx="18288000" cy="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0" y="4747846"/>
            <a:ext cx="18288000" cy="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0" y="5539154"/>
            <a:ext cx="18288000" cy="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0" y="6330462"/>
            <a:ext cx="18288000" cy="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0" y="7121769"/>
            <a:ext cx="18288000" cy="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0" y="7913077"/>
            <a:ext cx="18288000" cy="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0" y="8704385"/>
            <a:ext cx="18288000" cy="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0" y="9495692"/>
            <a:ext cx="18288000" cy="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7" id="37"/>
          <p:cNvSpPr txBox="true"/>
          <p:nvPr/>
        </p:nvSpPr>
        <p:spPr>
          <a:xfrm rot="0">
            <a:off x="952500" y="552450"/>
            <a:ext cx="762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378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FRONTIER / 2026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715500" y="552450"/>
            <a:ext cx="762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spc="378">
                <a:solidFill>
                  <a:srgbClr val="A5A5A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AGENTIC SYSTEMS TRACK</a:t>
            </a:r>
          </a:p>
        </p:txBody>
      </p:sp>
      <p:sp>
        <p:nvSpPr>
          <p:cNvPr name="AutoShape 39" id="39"/>
          <p:cNvSpPr/>
          <p:nvPr/>
        </p:nvSpPr>
        <p:spPr>
          <a:xfrm>
            <a:off x="952500" y="1047750"/>
            <a:ext cx="16383000" cy="0"/>
          </a:xfrm>
          <a:prstGeom prst="line">
            <a:avLst/>
          </a:prstGeom>
          <a:ln cap="flat" w="9525">
            <a:solidFill>
              <a:srgbClr val="2A2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0" id="40"/>
          <p:cNvSpPr txBox="true"/>
          <p:nvPr/>
        </p:nvSpPr>
        <p:spPr>
          <a:xfrm rot="0">
            <a:off x="952500" y="2447925"/>
            <a:ext cx="5715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84" b="true">
                <a:solidFill>
                  <a:srgbClr val="FF6A1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— TRACK 03  ·  AUTONOMY &amp; TOOLS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52500" y="2724150"/>
            <a:ext cx="5715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36">
                <a:solidFill>
                  <a:srgbClr val="8B5C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AGENTIC SYSTEMS PRESENTATION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52500" y="3924300"/>
            <a:ext cx="16383000" cy="319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60"/>
              </a:lnSpc>
            </a:pPr>
            <a:r>
              <a:rPr lang="en-US" sz="25500" spc="-254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AGENTIC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52500" y="7612380"/>
            <a:ext cx="16383000" cy="319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60"/>
              </a:lnSpc>
            </a:pPr>
            <a:r>
              <a:rPr lang="en-US" sz="25500" spc="-254" b="true">
                <a:solidFill>
                  <a:srgbClr val="8B5CF6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SYSTEMS.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52500" y="11062335"/>
            <a:ext cx="9525000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A5A5AD"/>
                </a:solidFill>
                <a:latin typeface="Inter"/>
                <a:ea typeface="Inter"/>
                <a:cs typeface="Inter"/>
                <a:sym typeface="Inter"/>
              </a:rPr>
              <a:t>Building AI that can reason, use tools &amp; take action.</a:t>
            </a:r>
          </a:p>
        </p:txBody>
      </p:sp>
      <p:sp>
        <p:nvSpPr>
          <p:cNvPr name="AutoShape 45" id="45"/>
          <p:cNvSpPr/>
          <p:nvPr/>
        </p:nvSpPr>
        <p:spPr>
          <a:xfrm>
            <a:off x="12192000" y="3238500"/>
            <a:ext cx="0" cy="3619500"/>
          </a:xfrm>
          <a:prstGeom prst="line">
            <a:avLst/>
          </a:prstGeom>
          <a:ln cap="flat" w="9525">
            <a:solidFill>
              <a:srgbClr val="2A2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6" id="46"/>
          <p:cNvSpPr txBox="true"/>
          <p:nvPr/>
        </p:nvSpPr>
        <p:spPr>
          <a:xfrm rot="0">
            <a:off x="12382500" y="3219450"/>
            <a:ext cx="4953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36" b="true">
                <a:solidFill>
                  <a:srgbClr val="FF6A1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— OPENING NOTE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382500" y="3600450"/>
            <a:ext cx="4953000" cy="1414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5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“Most AI applications answer a prompt. Agentic systems go further—they understand a goal, decide the next step, use tools, and complete a useful workflow.”</a:t>
            </a:r>
          </a:p>
        </p:txBody>
      </p:sp>
      <p:sp>
        <p:nvSpPr>
          <p:cNvPr name="AutoShape 48" id="48"/>
          <p:cNvSpPr/>
          <p:nvPr/>
        </p:nvSpPr>
        <p:spPr>
          <a:xfrm>
            <a:off x="952500" y="9048750"/>
            <a:ext cx="16383000" cy="0"/>
          </a:xfrm>
          <a:prstGeom prst="line">
            <a:avLst/>
          </a:prstGeom>
          <a:ln cap="flat" w="9525">
            <a:solidFill>
              <a:srgbClr val="2A2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9" id="49"/>
          <p:cNvSpPr txBox="true"/>
          <p:nvPr/>
        </p:nvSpPr>
        <p:spPr>
          <a:xfrm rot="0">
            <a:off x="952500" y="9220200"/>
            <a:ext cx="57150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312">
                <a:solidFill>
                  <a:srgbClr val="A5A5A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EVENT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52500" y="941070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FRONTIER 2026 — AGENTIC SYSTEMS TRACK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620000" y="9220200"/>
            <a:ext cx="5715000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 spc="312">
                <a:solidFill>
                  <a:srgbClr val="A5A5A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TRACK HEAD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620000" y="941070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YOUR NAME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525500" y="941070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sz="1650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1910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324" b="true">
                <a:solidFill>
                  <a:srgbClr val="0E0E1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FRONTIER /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620500" y="41910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spc="324">
                <a:solidFill>
                  <a:srgbClr val="6B6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AGENTIC SYSTEMS TRACK</a:t>
            </a:r>
          </a:p>
        </p:txBody>
      </p:sp>
      <p:sp>
        <p:nvSpPr>
          <p:cNvPr name="AutoShape 4" id="4"/>
          <p:cNvSpPr/>
          <p:nvPr/>
        </p:nvSpPr>
        <p:spPr>
          <a:xfrm>
            <a:off x="952500" y="914400"/>
            <a:ext cx="1638300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52500" y="1238250"/>
            <a:ext cx="685800" cy="685800"/>
            <a:chOff x="0" y="0"/>
            <a:chExt cx="9144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E0E10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52500" y="1381125"/>
            <a:ext cx="6858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28800" y="1381125"/>
            <a:ext cx="857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84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DEFINITION &amp; CAPABILITIES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28800" y="1600200"/>
            <a:ext cx="8572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36">
                <a:solidFill>
                  <a:srgbClr val="FF6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— TRACK BRIEFING</a:t>
            </a:r>
          </a:p>
        </p:txBody>
      </p:sp>
      <p:sp>
        <p:nvSpPr>
          <p:cNvPr name="AutoShape 11" id="11"/>
          <p:cNvSpPr/>
          <p:nvPr/>
        </p:nvSpPr>
        <p:spPr>
          <a:xfrm>
            <a:off x="952500" y="9620250"/>
            <a:ext cx="1638300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952500" y="9753600"/>
            <a:ext cx="762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52">
                <a:solidFill>
                  <a:srgbClr val="6B6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FRONTIER 2026  ·  AGENTIC SYSTEMS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25500" y="9753600"/>
            <a:ext cx="381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52">
                <a:solidFill>
                  <a:srgbClr val="6B6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PAGE 02 / 09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2500" y="2486025"/>
            <a:ext cx="16383000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9000" spc="-44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WHAT MAKES A</a:t>
            </a:r>
          </a:p>
          <a:p>
            <a:pPr algn="l">
              <a:lnSpc>
                <a:spcPts val="8550"/>
              </a:lnSpc>
            </a:pPr>
            <a:r>
              <a:rPr lang="en-US" sz="9000" spc="-44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SYSTEM AGENTIC.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2500" y="6076950"/>
            <a:ext cx="381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36" b="true">
                <a:solidFill>
                  <a:srgbClr val="FF6A1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— DEFINITION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500" y="6381750"/>
            <a:ext cx="742950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3000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Agentic AI is AI that works toward a goal through multiple steps.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2500" y="7734300"/>
            <a:ext cx="381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36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— PROCESS FLOW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2500" y="8029575"/>
            <a:ext cx="161925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39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UNDERSTAND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81250" y="8029575"/>
            <a:ext cx="28575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8B5CF6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→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62250" y="8029575"/>
            <a:ext cx="161925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39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DECIDE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191000" y="8029575"/>
            <a:ext cx="28575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8B5CF6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→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572000" y="8029575"/>
            <a:ext cx="161925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39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000750" y="8029575"/>
            <a:ext cx="28575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8B5CF6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→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381750" y="8029575"/>
            <a:ext cx="161925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39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EVALUATE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52500" y="9029700"/>
            <a:ext cx="7810500" cy="38100"/>
            <a:chOff x="0" y="0"/>
            <a:chExt cx="10414000" cy="50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14000" cy="50800"/>
            </a:xfrm>
            <a:custGeom>
              <a:avLst/>
              <a:gdLst/>
              <a:ahLst/>
              <a:cxnLst/>
              <a:rect r="r" b="b" t="t" l="l"/>
              <a:pathLst>
                <a:path h="508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B5CF6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0414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52500" y="9220200"/>
            <a:ext cx="7810500" cy="672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Autonomy does not mean unlimited control. Good agents work with permissions, guardrails, and human approval.</a:t>
            </a:r>
          </a:p>
        </p:txBody>
      </p:sp>
      <p:sp>
        <p:nvSpPr>
          <p:cNvPr name="AutoShape 29" id="29"/>
          <p:cNvSpPr/>
          <p:nvPr/>
        </p:nvSpPr>
        <p:spPr>
          <a:xfrm>
            <a:off x="9715500" y="6000750"/>
            <a:ext cx="0" cy="304800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10287000" y="6076950"/>
            <a:ext cx="381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36" b="true">
                <a:solidFill>
                  <a:srgbClr val="FF6A1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— CAPABILITIES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0" y="6553200"/>
            <a:ext cx="571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953750" y="6524625"/>
            <a:ext cx="62865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Understand a user's goal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0" y="7029450"/>
            <a:ext cx="571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953750" y="7000875"/>
            <a:ext cx="62865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Decide the next best step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0" y="7505700"/>
            <a:ext cx="571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953750" y="7477125"/>
            <a:ext cx="62865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Use tools, APIs, databases, or search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87000" y="7981950"/>
            <a:ext cx="571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04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953750" y="7953375"/>
            <a:ext cx="62865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Observe results and adapt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287000" y="8458200"/>
            <a:ext cx="571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05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953750" y="8429625"/>
            <a:ext cx="62865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Ask for approval when an action is sensitive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1910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324" b="true">
                <a:solidFill>
                  <a:srgbClr val="0E0E1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FRONTIER /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620500" y="41910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spc="324">
                <a:solidFill>
                  <a:srgbClr val="6B6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AGENTIC SYSTEMS TRACK</a:t>
            </a:r>
          </a:p>
        </p:txBody>
      </p:sp>
      <p:sp>
        <p:nvSpPr>
          <p:cNvPr name="AutoShape 4" id="4"/>
          <p:cNvSpPr/>
          <p:nvPr/>
        </p:nvSpPr>
        <p:spPr>
          <a:xfrm>
            <a:off x="952500" y="914400"/>
            <a:ext cx="1638300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52500" y="1238250"/>
            <a:ext cx="685800" cy="685800"/>
            <a:chOff x="0" y="0"/>
            <a:chExt cx="9144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E0E10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52500" y="1381125"/>
            <a:ext cx="6858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28800" y="1381125"/>
            <a:ext cx="857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84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WORKFLOW &amp; BUILDING BLOCKS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28800" y="1600200"/>
            <a:ext cx="8572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36">
                <a:solidFill>
                  <a:srgbClr val="FF6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— TRACK BRIEFING</a:t>
            </a:r>
          </a:p>
        </p:txBody>
      </p:sp>
      <p:sp>
        <p:nvSpPr>
          <p:cNvPr name="AutoShape 11" id="11"/>
          <p:cNvSpPr/>
          <p:nvPr/>
        </p:nvSpPr>
        <p:spPr>
          <a:xfrm>
            <a:off x="952500" y="9620250"/>
            <a:ext cx="1638300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952500" y="9753600"/>
            <a:ext cx="762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52">
                <a:solidFill>
                  <a:srgbClr val="6B6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FRONTIER 2026  ·  AGENTIC SYSTEMS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25500" y="9753600"/>
            <a:ext cx="381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52">
                <a:solidFill>
                  <a:srgbClr val="6B6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PAGE 03 / 09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2500" y="2486025"/>
            <a:ext cx="16383000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9000" spc="-44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HOW DOES AN</a:t>
            </a:r>
          </a:p>
          <a:p>
            <a:pPr algn="l">
              <a:lnSpc>
                <a:spcPts val="8550"/>
              </a:lnSpc>
            </a:pPr>
            <a:r>
              <a:rPr lang="en-US" sz="9000" spc="-44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AI AGENT WORK.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2500" y="6076950"/>
            <a:ext cx="381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36" b="true">
                <a:solidFill>
                  <a:srgbClr val="FF6A1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— AGENT WORKFLOW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52500" y="6667500"/>
            <a:ext cx="419100" cy="419100"/>
            <a:chOff x="0" y="0"/>
            <a:chExt cx="558800" cy="558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0"/>
                  </a:moveTo>
                  <a:lnTo>
                    <a:pt x="558800" y="0"/>
                  </a:ln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0E0E10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52500" y="6734175"/>
            <a:ext cx="4191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2500" y="7248525"/>
            <a:ext cx="25400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650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USER GOAL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683000" y="6667500"/>
            <a:ext cx="419100" cy="419100"/>
            <a:chOff x="0" y="0"/>
            <a:chExt cx="558800" cy="558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0"/>
                  </a:moveTo>
                  <a:lnTo>
                    <a:pt x="558800" y="0"/>
                  </a:ln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0E0E10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683000" y="6734175"/>
            <a:ext cx="4191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683000" y="7248525"/>
            <a:ext cx="25400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650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PLAN NEXT STEP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413500" y="6667500"/>
            <a:ext cx="419100" cy="419100"/>
            <a:chOff x="0" y="0"/>
            <a:chExt cx="558800" cy="558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0"/>
                  </a:moveTo>
                  <a:lnTo>
                    <a:pt x="558800" y="0"/>
                  </a:ln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0E0E10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6413500" y="6734175"/>
            <a:ext cx="4191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413500" y="7248525"/>
            <a:ext cx="25400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650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CHOOSE TOOL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144000" y="6667500"/>
            <a:ext cx="419100" cy="419100"/>
            <a:chOff x="0" y="0"/>
            <a:chExt cx="558800" cy="558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0"/>
                  </a:moveTo>
                  <a:lnTo>
                    <a:pt x="558800" y="0"/>
                  </a:ln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0E0E10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144000" y="6734175"/>
            <a:ext cx="4191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04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44000" y="7248525"/>
            <a:ext cx="25400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650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TAKE ACTION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1874500" y="6667500"/>
            <a:ext cx="419100" cy="419100"/>
            <a:chOff x="0" y="0"/>
            <a:chExt cx="558800" cy="558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0"/>
                  </a:moveTo>
                  <a:lnTo>
                    <a:pt x="558800" y="0"/>
                  </a:ln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0E0E10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1874500" y="6734175"/>
            <a:ext cx="4191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05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874500" y="7248525"/>
            <a:ext cx="25400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650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OBSERVE RESULT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4605000" y="6667500"/>
            <a:ext cx="419100" cy="419100"/>
            <a:chOff x="0" y="0"/>
            <a:chExt cx="558800" cy="558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0"/>
                  </a:moveTo>
                  <a:lnTo>
                    <a:pt x="558800" y="0"/>
                  </a:ln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0E0E10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4605000" y="6734175"/>
            <a:ext cx="4191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06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605000" y="7248525"/>
            <a:ext cx="25400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650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EVALUATE</a:t>
            </a:r>
          </a:p>
        </p:txBody>
      </p:sp>
      <p:sp>
        <p:nvSpPr>
          <p:cNvPr name="AutoShape 46" id="46"/>
          <p:cNvSpPr/>
          <p:nvPr/>
        </p:nvSpPr>
        <p:spPr>
          <a:xfrm>
            <a:off x="1371600" y="6877050"/>
            <a:ext cx="1365250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952500" y="7810500"/>
            <a:ext cx="38100" cy="952500"/>
            <a:chOff x="0" y="0"/>
            <a:chExt cx="50800" cy="1270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08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8B5CF6"/>
            </a:solidFill>
            <a:ln cap="sq">
              <a:noFill/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08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143000" y="7791450"/>
            <a:ext cx="762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36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— ITERATIVE · HUMAN-IN-THE-LOOP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43000" y="8039100"/>
            <a:ext cx="857250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Continue · Retry · Ask for Approval — the loop repeats until the goal is met safely.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52500" y="4362450"/>
            <a:ext cx="381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36" b="true">
                <a:solidFill>
                  <a:srgbClr val="FF6A1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— CORE BUILDING BLOCKS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52500" y="4724400"/>
            <a:ext cx="5334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6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LLM + INSTRUCTIONS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52500" y="5038725"/>
            <a:ext cx="5334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6B6B73"/>
                </a:solidFill>
                <a:latin typeface="Inter"/>
                <a:ea typeface="Inter"/>
                <a:cs typeface="Inter"/>
                <a:sym typeface="Inter"/>
              </a:rPr>
              <a:t>Foundation reasoning with a clear system prompt.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477000" y="4724400"/>
            <a:ext cx="5334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6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TOOLS &amp; APIs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477000" y="5038725"/>
            <a:ext cx="5334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6B6B73"/>
                </a:solidFill>
                <a:latin typeface="Inter"/>
                <a:ea typeface="Inter"/>
                <a:cs typeface="Inter"/>
                <a:sym typeface="Inter"/>
              </a:rPr>
              <a:t>External capabilities the agent can invoke.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001500" y="4724400"/>
            <a:ext cx="5334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6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MEMORY / STATE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001500" y="5038725"/>
            <a:ext cx="5334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6B6B73"/>
                </a:solidFill>
                <a:latin typeface="Inter"/>
                <a:ea typeface="Inter"/>
                <a:cs typeface="Inter"/>
                <a:sym typeface="Inter"/>
              </a:rPr>
              <a:t>Context carried across steps or sessions.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52500" y="5581650"/>
            <a:ext cx="5334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6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PLANNING LOGIC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52500" y="5895975"/>
            <a:ext cx="5334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6B6B73"/>
                </a:solidFill>
                <a:latin typeface="Inter"/>
                <a:ea typeface="Inter"/>
                <a:cs typeface="Inter"/>
                <a:sym typeface="Inter"/>
              </a:rPr>
              <a:t>Deciding what to do next given the goal.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477000" y="5581650"/>
            <a:ext cx="5334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6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EVAL &amp; ERRORS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477000" y="5895975"/>
            <a:ext cx="5334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6B6B73"/>
                </a:solidFill>
                <a:latin typeface="Inter"/>
                <a:ea typeface="Inter"/>
                <a:cs typeface="Inter"/>
                <a:sym typeface="Inter"/>
              </a:rPr>
              <a:t>Checking results, retrying, or asking for help.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001500" y="5581650"/>
            <a:ext cx="5334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6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GUARDRAILS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2001500" y="5895975"/>
            <a:ext cx="5334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6B6B73"/>
                </a:solidFill>
                <a:latin typeface="Inter"/>
                <a:ea typeface="Inter"/>
                <a:cs typeface="Inter"/>
                <a:sym typeface="Inter"/>
              </a:rPr>
              <a:t>Permissions and human approval on sensitive actions.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1910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324" b="true">
                <a:solidFill>
                  <a:srgbClr val="0E0E1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FRONTIER /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620500" y="41910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spc="324">
                <a:solidFill>
                  <a:srgbClr val="6B6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AGENTIC SYSTEMS TRACK</a:t>
            </a:r>
          </a:p>
        </p:txBody>
      </p:sp>
      <p:sp>
        <p:nvSpPr>
          <p:cNvPr name="AutoShape 4" id="4"/>
          <p:cNvSpPr/>
          <p:nvPr/>
        </p:nvSpPr>
        <p:spPr>
          <a:xfrm>
            <a:off x="952500" y="914400"/>
            <a:ext cx="1638300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52500" y="1238250"/>
            <a:ext cx="685800" cy="685800"/>
            <a:chOff x="0" y="0"/>
            <a:chExt cx="9144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E0E10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52500" y="1381125"/>
            <a:ext cx="6858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28800" y="1381125"/>
            <a:ext cx="857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84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COMPARISON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28800" y="1600200"/>
            <a:ext cx="8572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36">
                <a:solidFill>
                  <a:srgbClr val="FF6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— TRACK BRIEFING</a:t>
            </a:r>
          </a:p>
        </p:txBody>
      </p:sp>
      <p:sp>
        <p:nvSpPr>
          <p:cNvPr name="AutoShape 11" id="11"/>
          <p:cNvSpPr/>
          <p:nvPr/>
        </p:nvSpPr>
        <p:spPr>
          <a:xfrm>
            <a:off x="952500" y="9620250"/>
            <a:ext cx="1638300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952500" y="9753600"/>
            <a:ext cx="762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52">
                <a:solidFill>
                  <a:srgbClr val="6B6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FRONTIER 2026  ·  AGENTIC SYSTEMS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25500" y="9753600"/>
            <a:ext cx="381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52">
                <a:solidFill>
                  <a:srgbClr val="6B6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PAGE 04 / 09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2500" y="2486025"/>
            <a:ext cx="16383000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9000" spc="-44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CHATBOT VS</a:t>
            </a:r>
          </a:p>
          <a:p>
            <a:pPr algn="l">
              <a:lnSpc>
                <a:spcPts val="8550"/>
              </a:lnSpc>
            </a:pPr>
            <a:r>
              <a:rPr lang="en-US" sz="9000" spc="-44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AI AGENT.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2500" y="6019800"/>
            <a:ext cx="8001000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CHATBOT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34500" y="6019800"/>
            <a:ext cx="8001000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8B5CF6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AI AGENT</a:t>
            </a:r>
          </a:p>
        </p:txBody>
      </p:sp>
      <p:sp>
        <p:nvSpPr>
          <p:cNvPr name="AutoShape 17" id="17"/>
          <p:cNvSpPr/>
          <p:nvPr/>
        </p:nvSpPr>
        <p:spPr>
          <a:xfrm>
            <a:off x="952500" y="6686550"/>
            <a:ext cx="16383000" cy="0"/>
          </a:xfrm>
          <a:prstGeom prst="line">
            <a:avLst/>
          </a:prstGeom>
          <a:ln cap="flat" w="9525">
            <a:solidFill>
              <a:srgbClr val="0E0E1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952500" y="6848475"/>
            <a:ext cx="7810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Responds to a prompt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34500" y="6848475"/>
            <a:ext cx="7810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 b="true">
                <a:solidFill>
                  <a:srgbClr val="0E0E10"/>
                </a:solidFill>
                <a:latin typeface="Inter Bold"/>
                <a:ea typeface="Inter Bold"/>
                <a:cs typeface="Inter Bold"/>
                <a:sym typeface="Inter Bold"/>
              </a:rPr>
              <a:t>Works toward a goal</a:t>
            </a:r>
          </a:p>
        </p:txBody>
      </p:sp>
      <p:sp>
        <p:nvSpPr>
          <p:cNvPr name="AutoShape 20" id="20"/>
          <p:cNvSpPr/>
          <p:nvPr/>
        </p:nvSpPr>
        <p:spPr>
          <a:xfrm>
            <a:off x="952500" y="7200900"/>
            <a:ext cx="1638300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952500" y="7248525"/>
            <a:ext cx="7810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Usually gives one answer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34500" y="7248525"/>
            <a:ext cx="7810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 b="true">
                <a:solidFill>
                  <a:srgbClr val="0E0E10"/>
                </a:solidFill>
                <a:latin typeface="Inter Bold"/>
                <a:ea typeface="Inter Bold"/>
                <a:cs typeface="Inter Bold"/>
                <a:sym typeface="Inter Bold"/>
              </a:rPr>
              <a:t>Performs multiple steps</a:t>
            </a:r>
          </a:p>
        </p:txBody>
      </p:sp>
      <p:sp>
        <p:nvSpPr>
          <p:cNvPr name="AutoShape 23" id="23"/>
          <p:cNvSpPr/>
          <p:nvPr/>
        </p:nvSpPr>
        <p:spPr>
          <a:xfrm>
            <a:off x="952500" y="7600950"/>
            <a:ext cx="1638300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952500" y="7648575"/>
            <a:ext cx="7810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User guides every step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34500" y="7648575"/>
            <a:ext cx="7810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 b="true">
                <a:solidFill>
                  <a:srgbClr val="0E0E10"/>
                </a:solidFill>
                <a:latin typeface="Inter Bold"/>
                <a:ea typeface="Inter Bold"/>
                <a:cs typeface="Inter Bold"/>
                <a:sym typeface="Inter Bold"/>
              </a:rPr>
              <a:t>Decides the next step</a:t>
            </a:r>
          </a:p>
        </p:txBody>
      </p:sp>
      <p:sp>
        <p:nvSpPr>
          <p:cNvPr name="AutoShape 26" id="26"/>
          <p:cNvSpPr/>
          <p:nvPr/>
        </p:nvSpPr>
        <p:spPr>
          <a:xfrm>
            <a:off x="952500" y="8001000"/>
            <a:ext cx="1638300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952500" y="8048625"/>
            <a:ext cx="7810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Mainly generates content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334500" y="8048625"/>
            <a:ext cx="7810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 b="true">
                <a:solidFill>
                  <a:srgbClr val="0E0E10"/>
                </a:solidFill>
                <a:latin typeface="Inter Bold"/>
                <a:ea typeface="Inter Bold"/>
                <a:cs typeface="Inter Bold"/>
                <a:sym typeface="Inter Bold"/>
              </a:rPr>
              <a:t>Uses tools and APIs</a:t>
            </a:r>
          </a:p>
        </p:txBody>
      </p:sp>
      <p:sp>
        <p:nvSpPr>
          <p:cNvPr name="AutoShape 29" id="29"/>
          <p:cNvSpPr/>
          <p:nvPr/>
        </p:nvSpPr>
        <p:spPr>
          <a:xfrm>
            <a:off x="952500" y="8401050"/>
            <a:ext cx="1638300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952500" y="8448675"/>
            <a:ext cx="7810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Limited context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34500" y="8448675"/>
            <a:ext cx="7810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 b="true">
                <a:solidFill>
                  <a:srgbClr val="0E0E10"/>
                </a:solidFill>
                <a:latin typeface="Inter Bold"/>
                <a:ea typeface="Inter Bold"/>
                <a:cs typeface="Inter Bold"/>
                <a:sym typeface="Inter Bold"/>
              </a:rPr>
              <a:t>Can use memory / state</a:t>
            </a:r>
          </a:p>
        </p:txBody>
      </p:sp>
      <p:sp>
        <p:nvSpPr>
          <p:cNvPr name="AutoShape 32" id="32"/>
          <p:cNvSpPr/>
          <p:nvPr/>
        </p:nvSpPr>
        <p:spPr>
          <a:xfrm>
            <a:off x="952500" y="8801100"/>
            <a:ext cx="1638300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952500" y="9048750"/>
            <a:ext cx="381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36" b="true">
                <a:solidFill>
                  <a:srgbClr val="FF6A1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— EXAMPLE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52500" y="9267825"/>
            <a:ext cx="116205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0E0E1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Chatbot suggests a travel itinerary. An AI agent compares options, checks weather and budget, drafts an itinerary, then asks before booking anything.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954000" y="9067800"/>
            <a:ext cx="38100" cy="1143000"/>
            <a:chOff x="0" y="0"/>
            <a:chExt cx="50800" cy="1524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08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8B5CF6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08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3144500" y="9048750"/>
            <a:ext cx="4191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36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— IMPORTANT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144500" y="9296400"/>
            <a:ext cx="419100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High-impact actions—payments, bookings, sending emails—must require user confirmation.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1910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324" b="true">
                <a:solidFill>
                  <a:srgbClr val="0E0E1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FRONTIER /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620500" y="41910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spc="324">
                <a:solidFill>
                  <a:srgbClr val="6B6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AGENTIC SYSTEMS TRACK</a:t>
            </a:r>
          </a:p>
        </p:txBody>
      </p:sp>
      <p:sp>
        <p:nvSpPr>
          <p:cNvPr name="AutoShape 4" id="4"/>
          <p:cNvSpPr/>
          <p:nvPr/>
        </p:nvSpPr>
        <p:spPr>
          <a:xfrm>
            <a:off x="952500" y="914400"/>
            <a:ext cx="1638300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52500" y="1238250"/>
            <a:ext cx="685800" cy="685800"/>
            <a:chOff x="0" y="0"/>
            <a:chExt cx="9144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E0E10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52500" y="1381125"/>
            <a:ext cx="6858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28800" y="1381125"/>
            <a:ext cx="857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84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CASE STUDY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28800" y="1600200"/>
            <a:ext cx="8572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36">
                <a:solidFill>
                  <a:srgbClr val="FF6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— TRACK BRIEFING</a:t>
            </a:r>
          </a:p>
        </p:txBody>
      </p:sp>
      <p:sp>
        <p:nvSpPr>
          <p:cNvPr name="AutoShape 11" id="11"/>
          <p:cNvSpPr/>
          <p:nvPr/>
        </p:nvSpPr>
        <p:spPr>
          <a:xfrm>
            <a:off x="952500" y="9620250"/>
            <a:ext cx="1638300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952500" y="9753600"/>
            <a:ext cx="762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52">
                <a:solidFill>
                  <a:srgbClr val="6B6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FRONTIER 2026  ·  AGENTIC SYSTEMS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25500" y="9753600"/>
            <a:ext cx="381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52">
                <a:solidFill>
                  <a:srgbClr val="6B6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PAGE 05 / 09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2500" y="2486025"/>
            <a:ext cx="16383000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9000" spc="-44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 REAL AGENTIC</a:t>
            </a:r>
          </a:p>
          <a:p>
            <a:pPr algn="l">
              <a:lnSpc>
                <a:spcPts val="8550"/>
              </a:lnSpc>
            </a:pPr>
            <a:r>
              <a:rPr lang="en-US" sz="9000" spc="-44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WORKFLOW.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2500" y="6076950"/>
            <a:ext cx="762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36" b="true">
                <a:solidFill>
                  <a:srgbClr val="FF6A1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— RESEARCH &amp; EVENT PLANNING AGENT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500" y="6515100"/>
            <a:ext cx="571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19250" y="6477000"/>
            <a:ext cx="7810500" cy="2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Receives a topic and requirements</a:t>
            </a:r>
          </a:p>
        </p:txBody>
      </p:sp>
      <p:sp>
        <p:nvSpPr>
          <p:cNvPr name="AutoShape 18" id="18"/>
          <p:cNvSpPr/>
          <p:nvPr/>
        </p:nvSpPr>
        <p:spPr>
          <a:xfrm>
            <a:off x="952500" y="6915150"/>
            <a:ext cx="857250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952500" y="6972300"/>
            <a:ext cx="571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19250" y="6934200"/>
            <a:ext cx="7810500" cy="2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Searches reliable sources</a:t>
            </a:r>
          </a:p>
        </p:txBody>
      </p:sp>
      <p:sp>
        <p:nvSpPr>
          <p:cNvPr name="AutoShape 21" id="21"/>
          <p:cNvSpPr/>
          <p:nvPr/>
        </p:nvSpPr>
        <p:spPr>
          <a:xfrm>
            <a:off x="952500" y="7372350"/>
            <a:ext cx="857250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952500" y="7429500"/>
            <a:ext cx="571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19250" y="7391400"/>
            <a:ext cx="7810500" cy="2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Extracts and compares information</a:t>
            </a:r>
          </a:p>
        </p:txBody>
      </p:sp>
      <p:sp>
        <p:nvSpPr>
          <p:cNvPr name="AutoShape 24" id="24"/>
          <p:cNvSpPr/>
          <p:nvPr/>
        </p:nvSpPr>
        <p:spPr>
          <a:xfrm>
            <a:off x="952500" y="7829550"/>
            <a:ext cx="857250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952500" y="7886700"/>
            <a:ext cx="571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19250" y="7848600"/>
            <a:ext cx="7810500" cy="2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Saves findings with citations</a:t>
            </a:r>
          </a:p>
        </p:txBody>
      </p:sp>
      <p:sp>
        <p:nvSpPr>
          <p:cNvPr name="AutoShape 27" id="27"/>
          <p:cNvSpPr/>
          <p:nvPr/>
        </p:nvSpPr>
        <p:spPr>
          <a:xfrm>
            <a:off x="952500" y="8286750"/>
            <a:ext cx="857250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952500" y="8343900"/>
            <a:ext cx="571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19250" y="8305800"/>
            <a:ext cx="7810500" cy="2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Creates a structured event plan</a:t>
            </a:r>
          </a:p>
        </p:txBody>
      </p:sp>
      <p:sp>
        <p:nvSpPr>
          <p:cNvPr name="AutoShape 30" id="30"/>
          <p:cNvSpPr/>
          <p:nvPr/>
        </p:nvSpPr>
        <p:spPr>
          <a:xfrm>
            <a:off x="952500" y="8743950"/>
            <a:ext cx="857250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952500" y="8801100"/>
            <a:ext cx="571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06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19250" y="8763000"/>
            <a:ext cx="7810500" cy="2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Checks whether all requirements are covered</a:t>
            </a:r>
          </a:p>
        </p:txBody>
      </p:sp>
      <p:sp>
        <p:nvSpPr>
          <p:cNvPr name="AutoShape 33" id="33"/>
          <p:cNvSpPr/>
          <p:nvPr/>
        </p:nvSpPr>
        <p:spPr>
          <a:xfrm>
            <a:off x="952500" y="9201150"/>
            <a:ext cx="857250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952500" y="9258300"/>
            <a:ext cx="571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07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19250" y="9220200"/>
            <a:ext cx="7810500" cy="2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Requests approval before publishing</a:t>
            </a:r>
          </a:p>
        </p:txBody>
      </p:sp>
      <p:sp>
        <p:nvSpPr>
          <p:cNvPr name="AutoShape 36" id="36"/>
          <p:cNvSpPr/>
          <p:nvPr/>
        </p:nvSpPr>
        <p:spPr>
          <a:xfrm>
            <a:off x="952500" y="9658350"/>
            <a:ext cx="857250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10287000" y="6096000"/>
            <a:ext cx="0" cy="295275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8" id="38"/>
          <p:cNvSpPr txBox="true"/>
          <p:nvPr/>
        </p:nvSpPr>
        <p:spPr>
          <a:xfrm rot="0">
            <a:off x="10858500" y="6076950"/>
            <a:ext cx="6096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36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— APPLICATION AREAS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858500" y="6429375"/>
            <a:ext cx="6096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spc="22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EDUCATION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858500" y="6848475"/>
            <a:ext cx="6096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spc="22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CUSTOMER SUPPORT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858500" y="7267575"/>
            <a:ext cx="6096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spc="22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CODING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858500" y="7686675"/>
            <a:ext cx="6096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spc="22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PRODUCTIVITY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858500" y="8105775"/>
            <a:ext cx="6096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spc="22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HEALTHCARE ADMIN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858500" y="8524875"/>
            <a:ext cx="6096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spc="22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FINANCE TRACKING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0858500" y="9182100"/>
            <a:ext cx="38100" cy="762000"/>
            <a:chOff x="0" y="0"/>
            <a:chExt cx="50800" cy="1016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08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8B5CF6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508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1049000" y="9353550"/>
            <a:ext cx="59055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Agentic systems automate workflows—not only conversations.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1910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324" b="true">
                <a:solidFill>
                  <a:srgbClr val="0E0E1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FRONTIER /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620500" y="41910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spc="324">
                <a:solidFill>
                  <a:srgbClr val="6B6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AGENTIC SYSTEMS TRACK</a:t>
            </a:r>
          </a:p>
        </p:txBody>
      </p:sp>
      <p:sp>
        <p:nvSpPr>
          <p:cNvPr name="AutoShape 4" id="4"/>
          <p:cNvSpPr/>
          <p:nvPr/>
        </p:nvSpPr>
        <p:spPr>
          <a:xfrm>
            <a:off x="952500" y="914400"/>
            <a:ext cx="1638300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52500" y="1238250"/>
            <a:ext cx="685800" cy="685800"/>
            <a:chOff x="0" y="0"/>
            <a:chExt cx="9144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E0E10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52500" y="1381125"/>
            <a:ext cx="6858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28800" y="1381125"/>
            <a:ext cx="857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84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TOOLING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28800" y="1600200"/>
            <a:ext cx="8572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36">
                <a:solidFill>
                  <a:srgbClr val="FF6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— TRACK BRIEFING</a:t>
            </a:r>
          </a:p>
        </p:txBody>
      </p:sp>
      <p:sp>
        <p:nvSpPr>
          <p:cNvPr name="AutoShape 11" id="11"/>
          <p:cNvSpPr/>
          <p:nvPr/>
        </p:nvSpPr>
        <p:spPr>
          <a:xfrm>
            <a:off x="952500" y="9620250"/>
            <a:ext cx="1638300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952500" y="9753600"/>
            <a:ext cx="762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52">
                <a:solidFill>
                  <a:srgbClr val="6B6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FRONTIER 2026  ·  AGENTIC SYSTEMS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25500" y="9753600"/>
            <a:ext cx="381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52">
                <a:solidFill>
                  <a:srgbClr val="6B6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PAGE 06 / 09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2500" y="2466975"/>
            <a:ext cx="16383000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5"/>
              </a:lnSpc>
            </a:pPr>
            <a:r>
              <a:rPr lang="en-US" sz="7500" spc="-37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FREE APIS, MODELS</a:t>
            </a:r>
          </a:p>
          <a:p>
            <a:pPr algn="l">
              <a:lnSpc>
                <a:spcPts val="7125"/>
              </a:lnSpc>
            </a:pPr>
            <a:r>
              <a:rPr lang="en-US" sz="7500" spc="-37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&amp; FRAMEWORKS.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2500" y="6172200"/>
            <a:ext cx="381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36" b="true">
                <a:solidFill>
                  <a:srgbClr val="FF6A1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— MODEL APIs (FREE / FREE-TIER)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500" y="6429375"/>
            <a:ext cx="790575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8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GEMINI API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2500" y="6734175"/>
            <a:ext cx="79057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6B6B73"/>
                </a:solidFill>
                <a:latin typeface="Inter"/>
                <a:ea typeface="Inter"/>
                <a:cs typeface="Inter"/>
                <a:sym typeface="Inter"/>
              </a:rPr>
              <a:t>Text, image, document &amp; multimodal — free tier.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2500" y="7077075"/>
            <a:ext cx="790575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8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GROQ API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2500" y="7381875"/>
            <a:ext cx="79057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6B6B73"/>
                </a:solidFill>
                <a:latin typeface="Inter"/>
                <a:ea typeface="Inter"/>
                <a:cs typeface="Inter"/>
                <a:sym typeface="Inter"/>
              </a:rPr>
              <a:t>Very fast inference for open models.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2500" y="7724775"/>
            <a:ext cx="790575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8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OLLAMA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2500" y="8029575"/>
            <a:ext cx="79057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6B6B73"/>
                </a:solidFill>
                <a:latin typeface="Inter"/>
                <a:ea typeface="Inter"/>
                <a:cs typeface="Inter"/>
                <a:sym typeface="Inter"/>
              </a:rPr>
              <a:t>Run open-source models locally—no API cost.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2500" y="8372475"/>
            <a:ext cx="790575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8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HUGGING FACE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2500" y="8677275"/>
            <a:ext cx="79057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6B6B73"/>
                </a:solidFill>
                <a:latin typeface="Inter"/>
                <a:ea typeface="Inter"/>
                <a:cs typeface="Inter"/>
                <a:sym typeface="Inter"/>
              </a:rPr>
              <a:t>Open models, datasets, demos, inference.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2500" y="9020175"/>
            <a:ext cx="790575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8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OPENROUTER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2500" y="9324975"/>
            <a:ext cx="790575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200">
                <a:solidFill>
                  <a:srgbClr val="6B6B73"/>
                </a:solidFill>
                <a:latin typeface="Inter"/>
                <a:ea typeface="Inter"/>
                <a:cs typeface="Inter"/>
                <a:sym typeface="Inter"/>
              </a:rPr>
              <a:t>One API, many models—limited free access.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29750" y="6172200"/>
            <a:ext cx="381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36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— AGENT FRAMEWORKS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29750" y="6438900"/>
            <a:ext cx="7905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6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LANGGRAPH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29750" y="6715125"/>
            <a:ext cx="7905750" cy="197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8"/>
              </a:lnSpc>
            </a:pPr>
            <a:r>
              <a:rPr lang="en-US" sz="1125">
                <a:solidFill>
                  <a:srgbClr val="6B6B73"/>
                </a:solidFill>
                <a:latin typeface="Inter"/>
                <a:ea typeface="Inter"/>
                <a:cs typeface="Inter"/>
                <a:sym typeface="Inter"/>
              </a:rPr>
              <a:t>Stateful workflows — retries, memory, approvals.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29750" y="6972300"/>
            <a:ext cx="7905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6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LANGCHAIN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29750" y="7248525"/>
            <a:ext cx="7905750" cy="197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8"/>
              </a:lnSpc>
            </a:pPr>
            <a:r>
              <a:rPr lang="en-US" sz="1125">
                <a:solidFill>
                  <a:srgbClr val="6B6B73"/>
                </a:solidFill>
                <a:latin typeface="Inter"/>
                <a:ea typeface="Inter"/>
                <a:cs typeface="Inter"/>
                <a:sym typeface="Inter"/>
              </a:rPr>
              <a:t>Tool calling, RAG, integrations, prototyping.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429750" y="7505700"/>
            <a:ext cx="7905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6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CREWAI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429750" y="7781925"/>
            <a:ext cx="7905750" cy="197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8"/>
              </a:lnSpc>
            </a:pPr>
            <a:r>
              <a:rPr lang="en-US" sz="1125">
                <a:solidFill>
                  <a:srgbClr val="6B6B73"/>
                </a:solidFill>
                <a:latin typeface="Inter"/>
                <a:ea typeface="Inter"/>
                <a:cs typeface="Inter"/>
                <a:sym typeface="Inter"/>
              </a:rPr>
              <a:t>Role-based multi-agent workflows.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29750" y="8039100"/>
            <a:ext cx="7905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6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AUTOGEN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429750" y="8315325"/>
            <a:ext cx="7905750" cy="197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8"/>
              </a:lnSpc>
            </a:pPr>
            <a:r>
              <a:rPr lang="en-US" sz="1125">
                <a:solidFill>
                  <a:srgbClr val="6B6B73"/>
                </a:solidFill>
                <a:latin typeface="Inter"/>
                <a:ea typeface="Inter"/>
                <a:cs typeface="Inter"/>
                <a:sym typeface="Inter"/>
              </a:rPr>
              <a:t>Conversational multi-agent systems.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29750" y="8572500"/>
            <a:ext cx="7905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6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OPENAI AGENTS SDK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29750" y="8848725"/>
            <a:ext cx="7905750" cy="197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8"/>
              </a:lnSpc>
            </a:pPr>
            <a:r>
              <a:rPr lang="en-US" sz="1125">
                <a:solidFill>
                  <a:srgbClr val="6B6B73"/>
                </a:solidFill>
                <a:latin typeface="Inter"/>
                <a:ea typeface="Inter"/>
                <a:cs typeface="Inter"/>
                <a:sym typeface="Inter"/>
              </a:rPr>
              <a:t>Agents, tools, handoffs, sessions, tracing.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429750" y="9105900"/>
            <a:ext cx="7905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6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PYDANTICAI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429750" y="9382125"/>
            <a:ext cx="7905750" cy="197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8"/>
              </a:lnSpc>
            </a:pPr>
            <a:r>
              <a:rPr lang="en-US" sz="1125">
                <a:solidFill>
                  <a:srgbClr val="6B6B73"/>
                </a:solidFill>
                <a:latin typeface="Inter"/>
                <a:ea typeface="Inter"/>
                <a:cs typeface="Inter"/>
                <a:sym typeface="Inter"/>
              </a:rPr>
              <a:t>Structured, typed Python agent applications.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52500" y="9229725"/>
            <a:ext cx="163830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i="true">
                <a:solidFill>
                  <a:srgbClr val="8B5CF6"/>
                </a:solidFill>
                <a:latin typeface="Inter Italics"/>
                <a:ea typeface="Inter Italics"/>
                <a:cs typeface="Inter Italics"/>
                <a:sym typeface="Inter Italics"/>
              </a:rPr>
              <a:t>“Free” often means open-source or free-tier — verify quota, rate limits, and event-day availability before you build.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1910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324" b="true">
                <a:solidFill>
                  <a:srgbClr val="0E0E1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FRONTIER /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620500" y="41910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spc="324">
                <a:solidFill>
                  <a:srgbClr val="6B6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AGENTIC SYSTEMS TRACK</a:t>
            </a:r>
          </a:p>
        </p:txBody>
      </p:sp>
      <p:sp>
        <p:nvSpPr>
          <p:cNvPr name="AutoShape 4" id="4"/>
          <p:cNvSpPr/>
          <p:nvPr/>
        </p:nvSpPr>
        <p:spPr>
          <a:xfrm>
            <a:off x="952500" y="914400"/>
            <a:ext cx="1638300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52500" y="1238250"/>
            <a:ext cx="685800" cy="685800"/>
            <a:chOff x="0" y="0"/>
            <a:chExt cx="9144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E0E10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52500" y="1381125"/>
            <a:ext cx="6858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28800" y="1381125"/>
            <a:ext cx="857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84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RECOMMENDED STACK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28800" y="1600200"/>
            <a:ext cx="8572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36">
                <a:solidFill>
                  <a:srgbClr val="FF6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— TRACK BRIEFING</a:t>
            </a:r>
          </a:p>
        </p:txBody>
      </p:sp>
      <p:sp>
        <p:nvSpPr>
          <p:cNvPr name="AutoShape 11" id="11"/>
          <p:cNvSpPr/>
          <p:nvPr/>
        </p:nvSpPr>
        <p:spPr>
          <a:xfrm>
            <a:off x="952500" y="9620250"/>
            <a:ext cx="1638300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952500" y="9753600"/>
            <a:ext cx="762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52">
                <a:solidFill>
                  <a:srgbClr val="6B6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FRONTIER 2026  ·  AGENTIC SYSTEMS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25500" y="9753600"/>
            <a:ext cx="381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52">
                <a:solidFill>
                  <a:srgbClr val="6B6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PAGE 07 / 09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2500" y="2486025"/>
            <a:ext cx="16383000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9000" spc="-44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SUGGESTED</a:t>
            </a:r>
          </a:p>
          <a:p>
            <a:pPr algn="l">
              <a:lnSpc>
                <a:spcPts val="8550"/>
              </a:lnSpc>
            </a:pPr>
            <a:r>
              <a:rPr lang="en-US" sz="9000" spc="-44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STARTER STACK.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2500" y="6076950"/>
            <a:ext cx="571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500" y="6248400"/>
            <a:ext cx="7905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33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MODEL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2500" y="6562725"/>
            <a:ext cx="7905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Gemini API  ·  Groq  ·  Ollama</a:t>
            </a:r>
          </a:p>
        </p:txBody>
      </p:sp>
      <p:sp>
        <p:nvSpPr>
          <p:cNvPr name="AutoShape 18" id="18"/>
          <p:cNvSpPr/>
          <p:nvPr/>
        </p:nvSpPr>
        <p:spPr>
          <a:xfrm>
            <a:off x="952500" y="6858000"/>
            <a:ext cx="790575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9429750" y="6076950"/>
            <a:ext cx="571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29750" y="6248400"/>
            <a:ext cx="7905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33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AGENT FRAMEWORK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29750" y="6562725"/>
            <a:ext cx="7905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LangGraph  ·  CrewAI</a:t>
            </a:r>
          </a:p>
        </p:txBody>
      </p:sp>
      <p:sp>
        <p:nvSpPr>
          <p:cNvPr name="AutoShape 22" id="22"/>
          <p:cNvSpPr/>
          <p:nvPr/>
        </p:nvSpPr>
        <p:spPr>
          <a:xfrm>
            <a:off x="9429750" y="6858000"/>
            <a:ext cx="790575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952500" y="6934200"/>
            <a:ext cx="571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2500" y="7105650"/>
            <a:ext cx="7905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33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BACKEND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2500" y="7419975"/>
            <a:ext cx="7905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FastAPI  ·  Flask  ·  Node.js</a:t>
            </a:r>
          </a:p>
        </p:txBody>
      </p:sp>
      <p:sp>
        <p:nvSpPr>
          <p:cNvPr name="AutoShape 26" id="26"/>
          <p:cNvSpPr/>
          <p:nvPr/>
        </p:nvSpPr>
        <p:spPr>
          <a:xfrm>
            <a:off x="952500" y="7715250"/>
            <a:ext cx="790575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9429750" y="6934200"/>
            <a:ext cx="571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29750" y="7105650"/>
            <a:ext cx="7905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33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KNOWLEDGE BASE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29750" y="7419975"/>
            <a:ext cx="7905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ChromaDB  ·  FAISS</a:t>
            </a:r>
          </a:p>
        </p:txBody>
      </p:sp>
      <p:sp>
        <p:nvSpPr>
          <p:cNvPr name="AutoShape 30" id="30"/>
          <p:cNvSpPr/>
          <p:nvPr/>
        </p:nvSpPr>
        <p:spPr>
          <a:xfrm>
            <a:off x="9429750" y="7715250"/>
            <a:ext cx="790575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952500" y="7791450"/>
            <a:ext cx="571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2500" y="7962900"/>
            <a:ext cx="7905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33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DATABASE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52500" y="8277225"/>
            <a:ext cx="7905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PostgreSQL  ·  MongoDB  ·  Firebase</a:t>
            </a:r>
          </a:p>
        </p:txBody>
      </p:sp>
      <p:sp>
        <p:nvSpPr>
          <p:cNvPr name="AutoShape 34" id="34"/>
          <p:cNvSpPr/>
          <p:nvPr/>
        </p:nvSpPr>
        <p:spPr>
          <a:xfrm>
            <a:off x="952500" y="8572500"/>
            <a:ext cx="790575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9429750" y="7791450"/>
            <a:ext cx="571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06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29750" y="7962900"/>
            <a:ext cx="7905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33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TOOLS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429750" y="8277225"/>
            <a:ext cx="7905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Search  ·  Weather  ·  Maps  ·  Calendar  ·  Email</a:t>
            </a:r>
          </a:p>
        </p:txBody>
      </p:sp>
      <p:sp>
        <p:nvSpPr>
          <p:cNvPr name="AutoShape 38" id="38"/>
          <p:cNvSpPr/>
          <p:nvPr/>
        </p:nvSpPr>
        <p:spPr>
          <a:xfrm>
            <a:off x="9429750" y="8572500"/>
            <a:ext cx="790575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952500" y="8648700"/>
            <a:ext cx="571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07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52500" y="8820150"/>
            <a:ext cx="7905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33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AUTOMATION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52500" y="9134475"/>
            <a:ext cx="7905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n8n</a:t>
            </a:r>
          </a:p>
        </p:txBody>
      </p:sp>
      <p:sp>
        <p:nvSpPr>
          <p:cNvPr name="AutoShape 42" id="42"/>
          <p:cNvSpPr/>
          <p:nvPr/>
        </p:nvSpPr>
        <p:spPr>
          <a:xfrm>
            <a:off x="952500" y="9429750"/>
            <a:ext cx="790575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3" id="43"/>
          <p:cNvSpPr txBox="true"/>
          <p:nvPr/>
        </p:nvSpPr>
        <p:spPr>
          <a:xfrm rot="0">
            <a:off x="9429750" y="8648700"/>
            <a:ext cx="571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08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429750" y="8820150"/>
            <a:ext cx="7905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33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DEPLOYMENT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429750" y="9134475"/>
            <a:ext cx="7905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Docker + Render / Railway / Cloud</a:t>
            </a:r>
          </a:p>
        </p:txBody>
      </p:sp>
      <p:sp>
        <p:nvSpPr>
          <p:cNvPr name="AutoShape 46" id="46"/>
          <p:cNvSpPr/>
          <p:nvPr/>
        </p:nvSpPr>
        <p:spPr>
          <a:xfrm>
            <a:off x="9429750" y="9429750"/>
            <a:ext cx="790575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952500" y="9715500"/>
            <a:ext cx="38100" cy="571500"/>
            <a:chOff x="0" y="0"/>
            <a:chExt cx="50800" cy="762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0800" cy="762000"/>
            </a:xfrm>
            <a:custGeom>
              <a:avLst/>
              <a:gdLst/>
              <a:ahLst/>
              <a:cxnLst/>
              <a:rect r="r" b="b" t="t" l="l"/>
              <a:pathLst>
                <a:path h="762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8B5CF6"/>
            </a:solidFill>
            <a:ln cap="sq">
              <a:noFill/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08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143000" y="9696450"/>
            <a:ext cx="4762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36" b="true">
                <a:solidFill>
                  <a:srgbClr val="FF6A1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— RECOMMENDED FOR BEGINNERS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43000" y="9915525"/>
            <a:ext cx="16002000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Gemini or Groq  +  LangGraph  +  FastAPI  +  ChromaDB  +  a simple React UI.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1910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324" b="true">
                <a:solidFill>
                  <a:srgbClr val="0E0E1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FRONTIER /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620500" y="41910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spc="324">
                <a:solidFill>
                  <a:srgbClr val="6B6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AGENTIC SYSTEMS TRACK</a:t>
            </a:r>
          </a:p>
        </p:txBody>
      </p:sp>
      <p:sp>
        <p:nvSpPr>
          <p:cNvPr name="AutoShape 4" id="4"/>
          <p:cNvSpPr/>
          <p:nvPr/>
        </p:nvSpPr>
        <p:spPr>
          <a:xfrm>
            <a:off x="952500" y="914400"/>
            <a:ext cx="1638300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52500" y="1238250"/>
            <a:ext cx="685800" cy="685800"/>
            <a:chOff x="0" y="0"/>
            <a:chExt cx="9144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E0E10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52500" y="1381125"/>
            <a:ext cx="6858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28800" y="1381125"/>
            <a:ext cx="857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84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BRIEF FOR PARTICIPANTS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28800" y="1600200"/>
            <a:ext cx="8572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36">
                <a:solidFill>
                  <a:srgbClr val="FF6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— TRACK BRIEFING</a:t>
            </a:r>
          </a:p>
        </p:txBody>
      </p:sp>
      <p:sp>
        <p:nvSpPr>
          <p:cNvPr name="AutoShape 11" id="11"/>
          <p:cNvSpPr/>
          <p:nvPr/>
        </p:nvSpPr>
        <p:spPr>
          <a:xfrm>
            <a:off x="952500" y="9620250"/>
            <a:ext cx="16383000" cy="0"/>
          </a:xfrm>
          <a:prstGeom prst="line">
            <a:avLst/>
          </a:prstGeom>
          <a:ln cap="flat" w="9525">
            <a:solidFill>
              <a:srgbClr val="D9D9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952500" y="9753600"/>
            <a:ext cx="762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52">
                <a:solidFill>
                  <a:srgbClr val="6B6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FRONTIER 2026  ·  AGENTIC SYSTEMS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25500" y="9753600"/>
            <a:ext cx="381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52">
                <a:solidFill>
                  <a:srgbClr val="6B6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PAGE 08 / 09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2500" y="2486025"/>
            <a:ext cx="16383000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9000" spc="-44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WHAT SHOULD</a:t>
            </a:r>
          </a:p>
          <a:p>
            <a:pPr algn="l">
              <a:lnSpc>
                <a:spcPts val="8550"/>
              </a:lnSpc>
            </a:pPr>
            <a:r>
              <a:rPr lang="en-US" sz="9000" spc="-44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YOU BUILD.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2500" y="6076950"/>
            <a:ext cx="381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36" b="true">
                <a:solidFill>
                  <a:srgbClr val="FF6A1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— MUST HAVE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500" y="6362700"/>
            <a:ext cx="571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0E0E1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24000" y="6334125"/>
            <a:ext cx="7334250" cy="23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3"/>
              </a:lnSpc>
            </a:pPr>
            <a:r>
              <a:rPr lang="en-US" sz="1425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A real, specific problem statement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2500" y="6724650"/>
            <a:ext cx="571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0E0E1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24000" y="6696075"/>
            <a:ext cx="7334250" cy="23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3"/>
              </a:lnSpc>
            </a:pPr>
            <a:r>
              <a:rPr lang="en-US" sz="1425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A clearly defined user goal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2500" y="7086600"/>
            <a:ext cx="571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0E0E1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24000" y="7058025"/>
            <a:ext cx="7334250" cy="23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3"/>
              </a:lnSpc>
            </a:pPr>
            <a:r>
              <a:rPr lang="en-US" sz="1425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A multi-step agent workflow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2500" y="7448550"/>
            <a:ext cx="571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0E0E1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24000" y="7419975"/>
            <a:ext cx="7334250" cy="23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3"/>
              </a:lnSpc>
            </a:pPr>
            <a:r>
              <a:rPr lang="en-US" sz="1425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At least one meaningful external tool or API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2500" y="7810500"/>
            <a:ext cx="571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0E0E1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24000" y="7781925"/>
            <a:ext cx="7334250" cy="23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3"/>
              </a:lnSpc>
            </a:pPr>
            <a:r>
              <a:rPr lang="en-US" sz="1425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Tool-result checking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2500" y="8172450"/>
            <a:ext cx="571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0E0E1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24000" y="8143875"/>
            <a:ext cx="7334250" cy="23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3"/>
              </a:lnSpc>
            </a:pPr>
            <a:r>
              <a:rPr lang="en-US" sz="1425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Error handling or retry logic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52500" y="8534400"/>
            <a:ext cx="571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true">
                <a:solidFill>
                  <a:srgbClr val="0E0E1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07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24000" y="8505825"/>
            <a:ext cx="7334250" cy="23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3"/>
              </a:lnSpc>
            </a:pPr>
            <a:r>
              <a:rPr lang="en-US" sz="1425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A working end-to-end demo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29750" y="6076950"/>
            <a:ext cx="381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36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— STRONG ADDITIONS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429750" y="6362700"/>
            <a:ext cx="571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+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810750" y="6334125"/>
            <a:ext cx="7524750" cy="23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3"/>
              </a:lnSpc>
            </a:pPr>
            <a:r>
              <a:rPr lang="en-US" sz="1425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RAG with cited sources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29750" y="6724650"/>
            <a:ext cx="571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+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810750" y="6696075"/>
            <a:ext cx="7524750" cy="23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3"/>
              </a:lnSpc>
            </a:pPr>
            <a:r>
              <a:rPr lang="en-US" sz="1425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Persistent memory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29750" y="7086600"/>
            <a:ext cx="571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+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810750" y="7058025"/>
            <a:ext cx="7524750" cy="23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3"/>
              </a:lnSpc>
            </a:pPr>
            <a:r>
              <a:rPr lang="en-US" sz="1425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Human approval before sensitive actions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429750" y="7448550"/>
            <a:ext cx="571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+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810750" y="7419975"/>
            <a:ext cx="7524750" cy="23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3"/>
              </a:lnSpc>
            </a:pPr>
            <a:r>
              <a:rPr lang="en-US" sz="1425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Agent logs, tracing, or evaluation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429750" y="7810500"/>
            <a:ext cx="571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+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810750" y="7781925"/>
            <a:ext cx="7524750" cy="23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3"/>
              </a:lnSpc>
            </a:pPr>
            <a:r>
              <a:rPr lang="en-US" sz="1425">
                <a:solidFill>
                  <a:srgbClr val="2B2B2F"/>
                </a:solidFill>
                <a:latin typeface="Inter"/>
                <a:ea typeface="Inter"/>
                <a:cs typeface="Inter"/>
                <a:sym typeface="Inter"/>
              </a:rPr>
              <a:t>Multi-agent design only when roles differ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52500" y="8382000"/>
            <a:ext cx="38100" cy="762000"/>
            <a:chOff x="0" y="0"/>
            <a:chExt cx="50800" cy="1016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08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8B5CF6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508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143000" y="8362950"/>
            <a:ext cx="47625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36" b="true">
                <a:solidFill>
                  <a:srgbClr val="FF6A1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— TEST YOUR PROJECT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43000" y="8601075"/>
            <a:ext cx="16002000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 b="true">
                <a:solidFill>
                  <a:srgbClr val="0E0E1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If the system only takes one prompt and gives one answer, it is likely a chatbot—not an agentic system.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62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524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286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3048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3810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572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5334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6096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6858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620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8382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9144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9906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0668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1430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2192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2954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3716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4478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5240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6002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6764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7526000" y="0"/>
            <a:ext cx="0" cy="1028700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0" y="791308"/>
            <a:ext cx="18288000" cy="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0" y="1582615"/>
            <a:ext cx="18288000" cy="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0" y="2373923"/>
            <a:ext cx="18288000" cy="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0" y="3165231"/>
            <a:ext cx="18288000" cy="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0" y="3956538"/>
            <a:ext cx="18288000" cy="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0" y="4747846"/>
            <a:ext cx="18288000" cy="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0" y="5539154"/>
            <a:ext cx="18288000" cy="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0" y="6330462"/>
            <a:ext cx="18288000" cy="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0" y="7121769"/>
            <a:ext cx="18288000" cy="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0" y="7913077"/>
            <a:ext cx="18288000" cy="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0" y="8704385"/>
            <a:ext cx="18288000" cy="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0" y="9495692"/>
            <a:ext cx="18288000" cy="0"/>
          </a:xfrm>
          <a:prstGeom prst="line">
            <a:avLst/>
          </a:prstGeom>
          <a:ln cap="flat" w="9525">
            <a:solidFill>
              <a:srgbClr val="1A1A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7" id="37"/>
          <p:cNvSpPr txBox="true"/>
          <p:nvPr/>
        </p:nvSpPr>
        <p:spPr>
          <a:xfrm rot="0">
            <a:off x="952500" y="552450"/>
            <a:ext cx="762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378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FRONTIER / 2026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715500" y="552450"/>
            <a:ext cx="762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spc="378">
                <a:solidFill>
                  <a:srgbClr val="A5A5A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AGENTIC SYSTEMS TRACK</a:t>
            </a:r>
          </a:p>
        </p:txBody>
      </p:sp>
      <p:sp>
        <p:nvSpPr>
          <p:cNvPr name="AutoShape 39" id="39"/>
          <p:cNvSpPr/>
          <p:nvPr/>
        </p:nvSpPr>
        <p:spPr>
          <a:xfrm>
            <a:off x="952500" y="1047750"/>
            <a:ext cx="16383000" cy="0"/>
          </a:xfrm>
          <a:prstGeom prst="line">
            <a:avLst/>
          </a:prstGeom>
          <a:ln cap="flat" w="9525">
            <a:solidFill>
              <a:srgbClr val="2A2A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952500" y="1428750"/>
            <a:ext cx="685800" cy="685800"/>
            <a:chOff x="0" y="0"/>
            <a:chExt cx="91440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8B5CF6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952500" y="1571625"/>
            <a:ext cx="6858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09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828800" y="1571625"/>
            <a:ext cx="8572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84" b="true">
                <a:solidFill>
                  <a:srgbClr val="FF6A1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— JUDGING · TIPS · CLOSING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52500" y="2876550"/>
            <a:ext cx="16383000" cy="363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00"/>
              </a:lnSpc>
            </a:pPr>
            <a:r>
              <a:rPr lang="en-US" sz="15000" spc="-75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BUILD THE</a:t>
            </a:r>
          </a:p>
          <a:p>
            <a:pPr algn="l">
              <a:lnSpc>
                <a:spcPts val="13800"/>
              </a:lnSpc>
            </a:pPr>
            <a:r>
              <a:rPr lang="en-US" sz="15000" spc="-75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WORKFLOW.</a:t>
            </a:r>
          </a:p>
        </p:txBody>
      </p:sp>
      <p:sp>
        <p:nvSpPr>
          <p:cNvPr name="AutoShape 46" id="46"/>
          <p:cNvSpPr/>
          <p:nvPr/>
        </p:nvSpPr>
        <p:spPr>
          <a:xfrm>
            <a:off x="952500" y="6477000"/>
            <a:ext cx="16383000" cy="0"/>
          </a:xfrm>
          <a:prstGeom prst="line">
            <a:avLst/>
          </a:prstGeom>
          <a:ln cap="flat" w="9525">
            <a:solidFill>
              <a:srgbClr val="2A2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7" id="47"/>
          <p:cNvSpPr txBox="true"/>
          <p:nvPr/>
        </p:nvSpPr>
        <p:spPr>
          <a:xfrm rot="0">
            <a:off x="952500" y="6648450"/>
            <a:ext cx="381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36" b="true">
                <a:solidFill>
                  <a:srgbClr val="FF6A1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— WHAT WE LOOK FOR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429750" y="6648450"/>
            <a:ext cx="3810000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336" b="true">
                <a:solidFill>
                  <a:srgbClr val="8B5CF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— WINNING TIPS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52500" y="6943725"/>
            <a:ext cx="7905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· Useful problem statement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52500" y="7191375"/>
            <a:ext cx="7905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· Clear agent design &amp; workflow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52500" y="7439025"/>
            <a:ext cx="7905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· Meaningful tool integration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52500" y="7686675"/>
            <a:ext cx="7905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· Context or memory where needed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52500" y="7934325"/>
            <a:ext cx="7905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· Multi-step automation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52500" y="8181975"/>
            <a:ext cx="7905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· Reliable execution &amp; error handling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52500" y="8429625"/>
            <a:ext cx="7905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· Good user experience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52500" y="8677275"/>
            <a:ext cx="7905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· Scalability &amp; modularity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429750" y="6943725"/>
            <a:ext cx="7905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· Build small, but reliable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429750" y="7191375"/>
            <a:ext cx="7905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· Demo the full workflow live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429750" y="7439025"/>
            <a:ext cx="7905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· Show why each tool is necessary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429750" y="7686675"/>
            <a:ext cx="7905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· Handle errors gracefully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429750" y="7934325"/>
            <a:ext cx="7905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· Keep the UI simple, focus on backend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429750" y="8181975"/>
            <a:ext cx="7905750" cy="2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7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· No multi-agent buzzwords</a:t>
            </a:r>
          </a:p>
        </p:txBody>
      </p:sp>
      <p:sp>
        <p:nvSpPr>
          <p:cNvPr name="AutoShape 63" id="63"/>
          <p:cNvSpPr/>
          <p:nvPr/>
        </p:nvSpPr>
        <p:spPr>
          <a:xfrm>
            <a:off x="952500" y="9048750"/>
            <a:ext cx="16383000" cy="0"/>
          </a:xfrm>
          <a:prstGeom prst="line">
            <a:avLst/>
          </a:prstGeom>
          <a:ln cap="flat" w="9525">
            <a:solidFill>
              <a:srgbClr val="2A2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4" id="64"/>
          <p:cNvSpPr txBox="true"/>
          <p:nvPr/>
        </p:nvSpPr>
        <p:spPr>
          <a:xfrm rot="0">
            <a:off x="952500" y="9191625"/>
            <a:ext cx="16383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spc="22" b="true">
                <a:solidFill>
                  <a:srgbClr val="8B5CF6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Think beyond the response. Build the workflow.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52500" y="9610725"/>
            <a:ext cx="14478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i="true">
                <a:solidFill>
                  <a:srgbClr val="A5A5AD"/>
                </a:solidFill>
                <a:latin typeface="Inter Italics"/>
                <a:ea typeface="Inter Italics"/>
                <a:cs typeface="Inter Italics"/>
                <a:sym typeface="Inter Italics"/>
              </a:rPr>
              <a:t>Can your system understand a goal, choose actions, use tools, evaluate results, and handle failure safely?  —  Questions welcome.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5621000" y="9620250"/>
            <a:ext cx="1714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DAHQyOPKLv4</dc:identifier>
  <dcterms:modified xsi:type="dcterms:W3CDTF">2011-08-01T06:04:30Z</dcterms:modified>
  <cp:revision>1</cp:revision>
</cp:coreProperties>
</file>