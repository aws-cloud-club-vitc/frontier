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10287000" cx="18288000"/>
  <p:notesSz cx="10287000" cy="18288000"/>
  <p:embeddedFontLst>
    <p:embeddedFont>
      <p:font typeface="Plus Jakarta Sans"/>
      <p:regular r:id="rId19"/>
      <p:bold r:id="rId20"/>
      <p:italic r:id="rId21"/>
      <p:boldItalic r:id="rId22"/>
    </p:embeddedFont>
    <p:embeddedFont>
      <p:font typeface="JetBrains Mon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bold.fntdata"/><Relationship Id="rId22" Type="http://schemas.openxmlformats.org/officeDocument/2006/relationships/font" Target="fonts/PlusJakartaSans-boldItalic.fntdata"/><Relationship Id="rId21" Type="http://schemas.openxmlformats.org/officeDocument/2006/relationships/font" Target="fonts/PlusJakartaSans-italic.fntdata"/><Relationship Id="rId24" Type="http://schemas.openxmlformats.org/officeDocument/2006/relationships/font" Target="fonts/JetBrainsMono-bold.fntdata"/><Relationship Id="rId23" Type="http://schemas.openxmlformats.org/officeDocument/2006/relationships/font" Target="fonts/JetBrainsMono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JetBrainsMono-boldItalic.fntdata"/><Relationship Id="rId25" Type="http://schemas.openxmlformats.org/officeDocument/2006/relationships/font" Target="fonts/JetBrainsMono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PlusJakartaSans-regular.fntdata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Welcome. Ten minutes, no code. By the end you will know what to build, what the AI step actually does, and where to run it.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 steps · 35s</a:t>
            </a:r>
            <a:br>
              <a:rPr lang="en-US"/>
            </a:br>
            <a:r>
              <a:rPr lang="en-US"/>
              <a:t>Start with what you already use</a:t>
            </a:r>
            <a:br>
              <a:rPr lang="en-US"/>
            </a:br>
            <a:r>
              <a:rPr lang="en-US"/>
              <a:t>Something happens / pull the facts / check a rule / something changes</a:t>
            </a:r>
            <a:br>
              <a:rPr lang="en-US"/>
            </a:br>
            <a:r>
              <a:rPr lang="en-US"/>
              <a:t>Attendance system, Gmail filters, UPI autopay</a:t>
            </a:r>
            <a:br>
              <a:rPr lang="en-US"/>
            </a:br>
            <a:r>
              <a:rPr lang="en-US"/>
              <a:t>Decades old, none of it AI</a:t>
            </a:r>
            <a:br>
              <a:rPr lang="en-US"/>
            </a:br>
            <a:r>
              <a:rPr lang="en-US"/>
              <a:t>Automating it means nobody sits inside the loop. Not that nobody's needed.</a:t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Deterministic vs probabilistic · 55s</a:t>
            </a:r>
            <a:br>
              <a:rPr lang="en-US"/>
            </a:br>
            <a:r>
              <a:rPr lang="en-US"/>
              <a:t>Left: SQL query, hash function</a:t>
            </a:r>
            <a:br>
              <a:rPr lang="en-US"/>
            </a:br>
            <a:r>
              <a:rPr lang="en-US"/>
              <a:t>Same input, same output, every machine, every retry</a:t>
            </a:r>
            <a:br>
              <a:rPr lang="en-US"/>
            </a:br>
            <a:r>
              <a:rPr lang="en-US"/>
              <a:t>Test once, behaves forever</a:t>
            </a:r>
            <a:br>
              <a:rPr lang="en-US"/>
            </a:br>
            <a:r>
              <a:rPr lang="en-US"/>
              <a:t>Right: same prompt, same ticket, two runs</a:t>
            </a:r>
            <a:br>
              <a:rPr lang="en-US"/>
            </a:br>
            <a:r>
              <a:rPr lang="en-US"/>
              <a:t>(point) lowercase high becomes capital High, billing becomes payments, extra field appears</a:t>
            </a:r>
            <a:br>
              <a:rPr lang="en-US"/>
            </a:br>
            <a:r>
              <a:rPr lang="en-US"/>
              <a:t>Nothing broke, that's just what models do</a:t>
            </a:r>
            <a:br>
              <a:rPr lang="en-US"/>
            </a:br>
            <a:r>
              <a:rPr lang="en-US"/>
              <a:t>Picking the next token from a distribution</a:t>
            </a:r>
            <a:br>
              <a:rPr lang="en-US"/>
            </a:br>
            <a:r>
              <a:rPr lang="en-US"/>
              <a:t>So exact string match downstream is a bug waiting</a:t>
            </a:r>
            <a:br>
              <a:rPr lang="en-US"/>
            </a:br>
            <a:r>
              <a:rPr lang="en-US"/>
              <a:t>You give up certainty to get the ability to handle mess. That trade is the whole field.</a:t>
            </a:r>
            <a:br>
              <a:rPr lang="en-US"/>
            </a:br>
            <a:r>
              <a:rPr lang="en-US"/>
              <a:t>Remember the word probabilistic. It comes back at the end.</a:t>
            </a:r>
            <a:endParaRPr/>
          </a:p>
        </p:txBody>
      </p:sp>
      <p:sp>
        <p:nvSpPr>
          <p:cNvPr id="81" name="Google Shape;8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AI adds · 50s</a:t>
            </a:r>
            <a:br>
              <a:rPr lang="en-US"/>
            </a:br>
            <a:r>
              <a:rPr lang="en-US"/>
              <a:t>Accounts payable: 40 vendors, 40 layouts, one shared mailbox</a:t>
            </a:r>
            <a:br>
              <a:rPr lang="en-US"/>
            </a:br>
            <a:r>
              <a:rPr lang="en-US"/>
              <a:t>Human opens the PDF, reads it, types into the ERP</a:t>
            </a:r>
            <a:br>
              <a:rPr lang="en-US"/>
            </a:br>
            <a:r>
              <a:rPr lang="en-US"/>
              <a:t>Four to six minutes each, and they typo</a:t>
            </a:r>
            <a:br>
              <a:rPr lang="en-US"/>
            </a:br>
            <a:r>
              <a:rPr lang="en-US"/>
              <a:t>PDF same. Match rule same. Only the reading step changed.</a:t>
            </a:r>
            <a:br>
              <a:rPr lang="en-US"/>
            </a:br>
            <a:r>
              <a:rPr lang="en-US"/>
              <a:t>Eighty percent of business data looks like this</a:t>
            </a:r>
            <a:br>
              <a:rPr lang="en-US"/>
            </a:br>
            <a:r>
              <a:rPr lang="en-US"/>
              <a:t>It didn't replace the workflow. It replaced the data entry inside it.</a:t>
            </a:r>
            <a:endParaRPr/>
          </a:p>
        </p:txBody>
      </p:sp>
      <p:sp>
        <p:nvSpPr>
          <p:cNvPr id="122" name="Google Shape;12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Five parts · 40s</a:t>
            </a:r>
            <a:br>
              <a:rPr lang="en-US"/>
            </a:br>
            <a:r>
              <a:rPr lang="en-US"/>
              <a:t>Trigger: a form, an email, 9am, a file landing</a:t>
            </a:r>
            <a:br>
              <a:rPr lang="en-US"/>
            </a:br>
            <a:r>
              <a:rPr lang="en-US"/>
              <a:t>Never a human typing a prompt, that's a chat app</a:t>
            </a:r>
            <a:br>
              <a:rPr lang="en-US"/>
            </a:br>
            <a:r>
              <a:rPr lang="en-US"/>
              <a:t>Collect, then AI step, fields not paragraphs</a:t>
            </a:r>
            <a:br>
              <a:rPr lang="en-US"/>
            </a:br>
            <a:r>
              <a:rPr lang="en-US"/>
              <a:t>Action: a row, a message, a ticket</a:t>
            </a:r>
            <a:br>
              <a:rPr lang="en-US"/>
            </a:br>
            <a:r>
              <a:rPr lang="en-US"/>
              <a:t>Check: what happens when it's wrong</a:t>
            </a:r>
            <a:br>
              <a:rPr lang="en-US"/>
            </a:br>
            <a:r>
              <a:rPr lang="en-US"/>
              <a:t>Everyone builds the first four. The fifth is what makes it real.</a:t>
            </a:r>
            <a:endParaRPr/>
          </a:p>
        </p:txBody>
      </p:sp>
      <p:sp>
        <p:nvSpPr>
          <p:cNvPr id="185" name="Google Shape;18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Already in production · 40s</a:t>
            </a:r>
            <a:br>
              <a:rPr lang="en-US"/>
            </a:br>
            <a:r>
              <a:rPr lang="en-US"/>
              <a:t>NVIDIA supply chain, daily planning down over 95%</a:t>
            </a:r>
            <a:br>
              <a:rPr lang="en-US"/>
            </a:br>
            <a:r>
              <a:rPr lang="en-US"/>
              <a:t>CyberArk, case resolution down up to 95%, hundreds of log formats, on Bedrock</a:t>
            </a:r>
            <a:br>
              <a:rPr lang="en-US"/>
            </a:br>
            <a:r>
              <a:rPr lang="en-US"/>
              <a:t>Four industries, same pattern</a:t>
            </a:r>
            <a:br>
              <a:rPr lang="en-US"/>
            </a:br>
            <a:r>
              <a:rPr lang="en-US"/>
              <a:t>Notice nobody got replaced</a:t>
            </a:r>
            <a:br>
              <a:rPr lang="en-US"/>
            </a:br>
            <a:r>
              <a:rPr lang="en-US"/>
              <a:t>The queue disappeared. The reviewer stayed.</a:t>
            </a:r>
            <a:endParaRPr/>
          </a:p>
        </p:txBody>
      </p:sp>
      <p:sp>
        <p:nvSpPr>
          <p:cNvPr id="230" name="Google Shape;23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Production workflow · 50s</a:t>
            </a:r>
            <a:br>
              <a:rPr lang="en-US"/>
            </a:br>
            <a:r>
              <a:rPr lang="en-US"/>
              <a:t>Support mail to on-call page</a:t>
            </a:r>
            <a:br>
              <a:rPr lang="en-US"/>
            </a:br>
            <a:r>
              <a:rPr lang="en-US"/>
              <a:t>Normalise, strip signature, dedupe on thread id</a:t>
            </a:r>
            <a:br>
              <a:rPr lang="en-US"/>
            </a:br>
            <a:r>
              <a:rPr lang="en-US"/>
              <a:t>AI step: four fields plus a confidence score</a:t>
            </a:r>
            <a:br>
              <a:rPr lang="en-US"/>
            </a:br>
            <a:r>
              <a:rPr lang="en-US"/>
              <a:t>Under 0.8 goes to review queue, not forward</a:t>
            </a:r>
            <a:br>
              <a:rPr lang="en-US"/>
            </a:br>
            <a:r>
              <a:rPr lang="en-US"/>
              <a:t>Create the ticket, P1 pages on-call</a:t>
            </a:r>
            <a:br>
              <a:rPr lang="en-US"/>
            </a:br>
            <a:r>
              <a:rPr lang="en-US"/>
              <a:t>(point) AI owns one of seven boxes</a:t>
            </a:r>
            <a:br>
              <a:rPr lang="en-US"/>
            </a:br>
            <a:r>
              <a:rPr lang="en-US"/>
              <a:t>Never sends the mail, never picks the branch</a:t>
            </a:r>
            <a:br>
              <a:rPr lang="en-US"/>
            </a:br>
            <a:r>
              <a:rPr lang="en-US"/>
              <a:t>The IF decides. The AI just made the fields the IF needed.</a:t>
            </a:r>
            <a:endParaRPr/>
          </a:p>
        </p:txBody>
      </p:sp>
      <p:sp>
        <p:nvSpPr>
          <p:cNvPr id="269" name="Google Shape;26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n8n canvas · 50s</a:t>
            </a:r>
            <a:br>
              <a:rPr lang="en-US"/>
            </a:br>
            <a:r>
              <a:rPr lang="en-US"/>
              <a:t>What most of you will actually build in</a:t>
            </a:r>
            <a:br>
              <a:rPr lang="en-US"/>
            </a:br>
            <a:r>
              <a:rPr lang="en-US"/>
              <a:t>Not what a bank runs its core systems on</a:t>
            </a:r>
            <a:br>
              <a:rPr lang="en-US"/>
            </a:br>
            <a:r>
              <a:rPr lang="en-US"/>
              <a:t>But a huge amount of real automation gets built here</a:t>
            </a:r>
            <a:br>
              <a:rPr lang="en-US"/>
            </a:br>
            <a:r>
              <a:rPr lang="en-US"/>
              <a:t>Fastest path from idea to working thing</a:t>
            </a:r>
            <a:br>
              <a:rPr lang="en-US"/>
            </a:br>
            <a:r>
              <a:rPr lang="en-US"/>
              <a:t>Four things: trigger node / wires carry JSON / AI node with a schema / executions tab</a:t>
            </a:r>
            <a:br>
              <a:rPr lang="en-US"/>
            </a:br>
            <a:r>
              <a:rPr lang="en-US"/>
              <a:t>Executions replays any run, shows what went in and out</a:t>
            </a:r>
            <a:br>
              <a:rPr lang="en-US"/>
            </a:br>
            <a:r>
              <a:rPr lang="en-US"/>
              <a:t>Dragging a field from one node to the next is where everyone stalls. That's the skill, not the AI part.</a:t>
            </a:r>
            <a:endParaRPr/>
          </a:p>
        </p:txBody>
      </p:sp>
      <p:sp>
        <p:nvSpPr>
          <p:cNvPr id="328" name="Google Shape;32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Tools you'll hear about · 25s</a:t>
            </a:r>
            <a:br>
              <a:rPr lang="en-US"/>
            </a:br>
            <a:r>
              <a:rPr lang="en-US"/>
              <a:t>No code, low code, code</a:t>
            </a:r>
            <a:br>
              <a:rPr lang="en-US"/>
            </a:br>
            <a:r>
              <a:rPr lang="en-US"/>
              <a:t>All build the same four steps</a:t>
            </a:r>
            <a:br>
              <a:rPr lang="en-US"/>
            </a:br>
            <a:r>
              <a:rPr lang="en-US"/>
              <a:t>Difference is how much you draw versus write</a:t>
            </a:r>
            <a:br>
              <a:rPr lang="en-US"/>
            </a:br>
            <a:r>
              <a:rPr lang="en-US"/>
              <a:t>Start in the middle column</a:t>
            </a:r>
            <a:br>
              <a:rPr lang="en-US"/>
            </a:br>
            <a:r>
              <a:rPr lang="en-US"/>
              <a:t>Code only for the step the canvas can't do</a:t>
            </a:r>
            <a:br>
              <a:rPr lang="en-US"/>
            </a:br>
            <a:r>
              <a:rPr lang="en-US"/>
              <a:t>Don't spend Saturday self-hosting Docker.</a:t>
            </a:r>
            <a:br>
              <a:rPr lang="en-US"/>
            </a:br>
            <a:r>
              <a:rPr lang="en-US"/>
              <a:t>(pause 3 seconds)</a:t>
            </a:r>
            <a:endParaRPr/>
          </a:p>
        </p:txBody>
      </p:sp>
      <p:sp>
        <p:nvSpPr>
          <p:cNvPr id="369" name="Google Shape;36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Laptop is not a server · 45s</a:t>
            </a:r>
            <a:br>
              <a:rPr lang="en-US"/>
            </a:br>
            <a:r>
              <a:rPr lang="en-US"/>
              <a:t>Close the lid, it's dead. 2am run never happened, nobody noticed till Monday.</a:t>
            </a:r>
            <a:br>
              <a:rPr lang="en-US"/>
            </a:br>
            <a:r>
              <a:rPr lang="en-US"/>
              <a:t>Webhooks need somewhere public. localhost means nothing. ngrok dies with the terminal.</a:t>
            </a:r>
            <a:br>
              <a:rPr lang="en-US"/>
            </a:br>
            <a:r>
              <a:rPr lang="en-US"/>
              <a:t>Keys in a .env. Nothing rotating, scoping, or watching them.</a:t>
            </a:r>
            <a:br>
              <a:rPr lang="en-US"/>
            </a:br>
            <a:r>
              <a:rPr lang="en-US"/>
              <a:t>Fine while you're the only user</a:t>
            </a:r>
            <a:br>
              <a:rPr lang="en-US"/>
            </a:br>
            <a:r>
              <a:rPr lang="en-US"/>
              <a:t>Second someone else depends on it: stays up, real URL, doesn't care you went home</a:t>
            </a:r>
            <a:br>
              <a:rPr lang="en-US"/>
            </a:br>
            <a:r>
              <a:rPr lang="en-US"/>
              <a:t>That's not an AI problem. That's a hosting problem.</a:t>
            </a:r>
            <a:endParaRPr/>
          </a:p>
        </p:txBody>
      </p:sp>
      <p:sp>
        <p:nvSpPr>
          <p:cNvPr id="426" name="Google Shape;42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Purely on AWS · 55s</a:t>
            </a:r>
            <a:br>
              <a:rPr lang="en-US"/>
            </a:br>
            <a:r>
              <a:rPr lang="en-US"/>
              <a:t>Open with: hosting problems are what AWS has done for twenty years</a:t>
            </a:r>
            <a:br>
              <a:rPr lang="en-US"/>
            </a:br>
            <a:r>
              <a:rPr lang="en-US"/>
              <a:t>Same workflow as slide 7</a:t>
            </a:r>
            <a:br>
              <a:rPr lang="en-US"/>
            </a:br>
            <a:r>
              <a:rPr lang="en-US"/>
              <a:t>API Gateway takes the POST / Lambda runs logic / Bedrock one AI call / DynamoDB the row / SNS the alert / CloudWatch underneath</a:t>
            </a:r>
            <a:br>
              <a:rPr lang="en-US"/>
            </a:br>
            <a:r>
              <a:rPr lang="en-US"/>
              <a:t>Read it as a mapping: API Gateway is the trigger node, Lambda the code node, Bedrock the AI node, DynamoDB the sheet, CloudWatch the executions tab</a:t>
            </a:r>
            <a:br>
              <a:rPr lang="en-US"/>
            </a:br>
            <a:r>
              <a:rPr lang="en-US"/>
              <a:t>Two things that eat your Saturday:</a:t>
            </a:r>
            <a:br>
              <a:rPr lang="en-US"/>
            </a:br>
            <a:r>
              <a:rPr lang="en-US"/>
              <a:t>Lambda role needs three permissions or AccessDenied with no useful message</a:t>
            </a:r>
            <a:br>
              <a:rPr lang="en-US"/>
            </a:br>
            <a:r>
              <a:rPr lang="en-US"/>
              <a:t>Bedrock access is per model, per region, in the console. Fresh accounts have nothing on.</a:t>
            </a:r>
            <a:endParaRPr/>
          </a:p>
        </p:txBody>
      </p:sp>
      <p:sp>
        <p:nvSpPr>
          <p:cNvPr id="458" name="Google Shape;45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AWS toolbox · 35s</a:t>
            </a:r>
            <a:br>
              <a:rPr lang="en-US"/>
            </a:br>
            <a:r>
              <a:rPr lang="en-US"/>
              <a:t>Don't read this. Screenshot it. (pause 2 seconds)</a:t>
            </a:r>
            <a:br>
              <a:rPr lang="en-US"/>
            </a:br>
            <a:r>
              <a:rPr lang="en-US"/>
              <a:t>Six columns: starts it / runs the work / does the thinking / remembers / tells someone / proves it worked</a:t>
            </a:r>
            <a:br>
              <a:rPr lang="en-US"/>
            </a:br>
            <a:r>
              <a:rPr lang="en-US"/>
              <a:t>You need three: API Gateway or EventBridge, Lambda, Bedrock</a:t>
            </a:r>
            <a:br>
              <a:rPr lang="en-US"/>
            </a:br>
            <a:r>
              <a:rPr lang="en-US"/>
              <a:t>Rest is for when it grows</a:t>
            </a:r>
            <a:br>
              <a:rPr lang="en-US"/>
            </a:br>
            <a:r>
              <a:rPr lang="en-US"/>
              <a:t>Permanent free tier, costs close to nothing</a:t>
            </a:r>
            <a:endParaRPr/>
          </a:p>
        </p:txBody>
      </p:sp>
      <p:sp>
        <p:nvSpPr>
          <p:cNvPr id="518" name="Google Shape;51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4" name="Google Shape;59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really stands out · 45s</a:t>
            </a:r>
            <a:br>
              <a:rPr lang="en-US"/>
            </a:br>
            <a:r>
              <a:rPr lang="en-US"/>
              <a:t>Real problem. Name the person, say how often they do it.</a:t>
            </a:r>
            <a:br>
              <a:rPr lang="en-US"/>
            </a:br>
            <a:r>
              <a:rPr lang="en-US"/>
              <a:t>A number. Six minutes to twenty seconds. 18 of 20. Cost per run.</a:t>
            </a:r>
            <a:br>
              <a:rPr lang="en-US"/>
            </a:br>
            <a:r>
              <a:rPr lang="en-US"/>
              <a:t>Build the failure path, then break it on purpose in the demo</a:t>
            </a:r>
            <a:br>
              <a:rPr lang="en-US"/>
            </a:br>
            <a:r>
              <a:rPr lang="en-US"/>
              <a:t>Feed it garbage, show the review queue instead of a crash</a:t>
            </a:r>
            <a:br>
              <a:rPr lang="en-US"/>
            </a:br>
            <a:r>
              <a:rPr lang="en-US"/>
              <a:t>Almost nobody will do this</a:t>
            </a:r>
            <a:br>
              <a:rPr lang="en-US"/>
            </a:br>
            <a:r>
              <a:rPr lang="en-US"/>
              <a:t>Trigger isn't a human</a:t>
            </a:r>
            <a:br>
              <a:rPr lang="en-US"/>
            </a:br>
            <a:r>
              <a:rPr lang="en-US"/>
              <a:t>[cut if behind] three minute demo: 60s problem, 60s live run, 30s numbers, 30s break it</a:t>
            </a:r>
            <a:br>
              <a:rPr lang="en-US"/>
            </a:br>
            <a:r>
              <a:rPr lang="en-US"/>
              <a:t>Don't build a demo of automation. Automate something.</a:t>
            </a:r>
            <a:endParaRPr/>
          </a:p>
        </p:txBody>
      </p:sp>
      <p:sp>
        <p:nvSpPr>
          <p:cNvPr id="595" name="Google Shape;59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8" name="Google Shape;63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Automation vs agentic · 35s</a:t>
            </a:r>
            <a:br>
              <a:rPr lang="en-US"/>
            </a:br>
            <a:r>
              <a:rPr lang="en-US"/>
              <a:t>You drew the path. AI filled in one box.</a:t>
            </a:r>
            <a:br>
              <a:rPr lang="en-US"/>
            </a:br>
            <a:r>
              <a:rPr lang="en-US"/>
              <a:t>Probabilistic, but only inside the box you gave it</a:t>
            </a:r>
            <a:br>
              <a:rPr lang="en-US"/>
            </a:br>
            <a:r>
              <a:rPr lang="en-US"/>
              <a:t>Hand it the pen: picks its own tools, calls them, reads the result, decides again</a:t>
            </a:r>
            <a:br>
              <a:rPr lang="en-US"/>
            </a:br>
            <a:r>
              <a:rPr lang="en-US"/>
              <a:t>That's an agent. That's Track 04, right after this.</a:t>
            </a:r>
            <a:br>
              <a:rPr lang="en-US"/>
            </a:br>
            <a:r>
              <a:rPr lang="en-US"/>
              <a:t>Today the AI answered a question inside your workflow. Next track, it decides what the workflow is.</a:t>
            </a:r>
            <a:endParaRPr/>
          </a:p>
        </p:txBody>
      </p:sp>
      <p:sp>
        <p:nvSpPr>
          <p:cNvPr id="639" name="Google Shape;63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8287860" cy="10286859"/>
          </a:xfrm>
          <a:prstGeom prst="rect">
            <a:avLst/>
          </a:prstGeom>
          <a:gradFill>
            <a:gsLst>
              <a:gs pos="0">
                <a:srgbClr val="FFFFFF"/>
              </a:gs>
              <a:gs pos="50000">
                <a:srgbClr val="FFFFFF"/>
              </a:gs>
              <a:gs pos="100000">
                <a:srgbClr val="F6F1FF"/>
              </a:gs>
            </a:gsLst>
            <a:lin ang="27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85657" y="1046702"/>
            <a:ext cx="169165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685657" y="532924"/>
            <a:ext cx="209455" cy="209455"/>
          </a:xfrm>
          <a:prstGeom prst="roundRect">
            <a:avLst>
              <a:gd fmla="val 31833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1028414" y="505063"/>
            <a:ext cx="5664295" cy="3032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50"/>
              <a:buFont typeface="Plus Jakarta Sans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AWS STUDENT BUILDER GROUPS · VIT CHENNAI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4304362" y="419052"/>
            <a:ext cx="3297841" cy="437198"/>
          </a:xfrm>
          <a:prstGeom prst="roundRect">
            <a:avLst>
              <a:gd fmla="val 50000" name="adj"/>
            </a:avLst>
          </a:prstGeom>
          <a:solidFill>
            <a:srgbClr val="F3E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14513912" y="514302"/>
            <a:ext cx="2977676" cy="2847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500"/>
              <a:buFont typeface="Plus Jakarta Sans"/>
              <a:buNone/>
            </a:pPr>
            <a:r>
              <a:rPr b="1" i="0" lang="en-US" sz="1500" u="none" cap="none" strike="noStrike">
                <a:solidFill>
                  <a:srgbClr val="6D28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FRONTIER 2026 · TRACK 03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85657" y="3436144"/>
            <a:ext cx="2950084" cy="475202"/>
          </a:xfrm>
          <a:prstGeom prst="roundRect">
            <a:avLst>
              <a:gd fmla="val 5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914257" y="3550444"/>
            <a:ext cx="2581386" cy="2847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lus Jakarta San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TRACK INTRODUCTION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685657" y="4196954"/>
            <a:ext cx="18608200" cy="102865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9657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800"/>
              <a:buFont typeface="Plus Jakarta Sans"/>
              <a:buNone/>
            </a:pPr>
            <a:r>
              <a:rPr b="1" i="0" lang="en-US" sz="7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Automation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85657" y="5473114"/>
            <a:ext cx="18608200" cy="5084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917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2850"/>
              <a:buFont typeface="Plus Jakarta Sans"/>
              <a:buNone/>
            </a:pPr>
            <a:r>
              <a:rPr b="0" i="0" lang="en-US" sz="28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Building workflows that run without you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685657" y="6324220"/>
            <a:ext cx="169165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685657" y="6618971"/>
            <a:ext cx="18608200" cy="284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Plus Jakarta Sans"/>
              <a:buNone/>
            </a:pPr>
            <a:r>
              <a:rPr b="1" i="0" lang="en-US" sz="15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AWS ECOSYSTEM STACK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685657" y="6961014"/>
            <a:ext cx="18608200" cy="4495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2550"/>
              <a:buFont typeface="Plus Jakarta Sans"/>
              <a:buNone/>
            </a:pPr>
            <a:r>
              <a:rPr b="1" i="0" lang="en-US" sz="2550" u="none" cap="none" strike="noStrike">
                <a:solidFill>
                  <a:srgbClr val="6D28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EC2, Lambda, Bedrock, Step Functions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685657" y="9410035"/>
            <a:ext cx="169165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685657" y="9609631"/>
            <a:ext cx="1252300" cy="353473"/>
          </a:xfrm>
          <a:prstGeom prst="roundRect">
            <a:avLst>
              <a:gd fmla="val 18863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819007" y="9685831"/>
            <a:ext cx="1061800" cy="2391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Plus Jakarta Sans"/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FRONTIER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2090262" y="9658352"/>
            <a:ext cx="3894959" cy="2941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75"/>
              <a:buFont typeface="Plus Jakarta Sans"/>
              <a:buNone/>
            </a:pPr>
            <a:r>
              <a:rPr b="1" i="0" lang="en-US" sz="15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Netaji Auditorium · AB-1 · VIT Chennai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16996127" y="9658352"/>
            <a:ext cx="682276" cy="2941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575"/>
              <a:buFont typeface="Plus Jakarta Sans"/>
              <a:buNone/>
            </a:pPr>
            <a:r>
              <a:rPr b="1" i="0" lang="en-US" sz="1575" u="none" cap="none" strike="noStrik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 / 14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/>
          <p:nvPr/>
        </p:nvSpPr>
        <p:spPr>
          <a:xfrm>
            <a:off x="0" y="0"/>
            <a:ext cx="18287860" cy="10286859"/>
          </a:xfrm>
          <a:prstGeom prst="rect">
            <a:avLst/>
          </a:prstGeom>
          <a:gradFill>
            <a:gsLst>
              <a:gs pos="0">
                <a:srgbClr val="FFFFFF"/>
              </a:gs>
              <a:gs pos="50000">
                <a:srgbClr val="FFFFFF"/>
              </a:gs>
              <a:gs pos="100000">
                <a:srgbClr val="F6F1FF"/>
              </a:gs>
            </a:gsLst>
            <a:lin ang="27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685657" y="1046702"/>
            <a:ext cx="169165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685657" y="532924"/>
            <a:ext cx="209455" cy="209455"/>
          </a:xfrm>
          <a:prstGeom prst="roundRect">
            <a:avLst>
              <a:gd fmla="val 31833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1028414" y="505063"/>
            <a:ext cx="5664295" cy="3032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50"/>
              <a:buFont typeface="Plus Jakarta Sans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AWS STUDENT BUILDER GROUPS · VIT CHENNAI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5468222" y="419052"/>
            <a:ext cx="2133981" cy="437198"/>
          </a:xfrm>
          <a:prstGeom prst="roundRect">
            <a:avLst>
              <a:gd fmla="val 50000" name="adj"/>
            </a:avLst>
          </a:prstGeom>
          <a:solidFill>
            <a:srgbClr val="F3E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15677772" y="514302"/>
            <a:ext cx="1791081" cy="2847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500"/>
              <a:buFont typeface="Plus Jakarta Sans"/>
              <a:buNone/>
            </a:pPr>
            <a:r>
              <a:rPr b="1" i="0" lang="en-US" sz="1500" u="none" cap="none" strike="noStrike">
                <a:solidFill>
                  <a:srgbClr val="6D28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AUTOMATION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685657" y="1379601"/>
            <a:ext cx="18608200" cy="655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5443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500"/>
              <a:buFont typeface="Plus Jakarta Sans"/>
              <a:buNone/>
            </a:pPr>
            <a:r>
              <a:rPr b="1" i="0" lang="en-US" sz="4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Every automation is the same four steps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85657" y="2263426"/>
            <a:ext cx="16916545" cy="5213224"/>
          </a:xfrm>
          <a:prstGeom prst="roundRect">
            <a:avLst>
              <a:gd fmla="val 328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942404" y="2558177"/>
            <a:ext cx="3646456" cy="4623722"/>
          </a:xfrm>
          <a:prstGeom prst="roundRect">
            <a:avLst>
              <a:gd fmla="val 3135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1180005" y="2795778"/>
            <a:ext cx="3488380" cy="3672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100"/>
              <a:buFont typeface="Plus Jakarta Sans"/>
              <a:buNone/>
            </a:pPr>
            <a:r>
              <a:rPr b="1" i="0" lang="en-US" sz="2100" u="none" cap="none" strike="noStrik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trigger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180005" y="3220117"/>
            <a:ext cx="3266392" cy="17980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632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50"/>
              <a:buFont typeface="Plus Jakarta Sans"/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form gets submitted, a file shows up in a folder, someone sends a message, or the clock just hits 9am. Something changed, and it left a timestamp behind.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4760167" y="4668870"/>
            <a:ext cx="339233" cy="440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400"/>
              <a:buFont typeface="Plus Jakarta Sans"/>
              <a:buNone/>
            </a:pPr>
            <a:r>
              <a:rPr b="1" i="0" lang="en-US" sz="2400" u="none" cap="none" strike="noStrik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5194507" y="2558177"/>
            <a:ext cx="3646599" cy="4623722"/>
          </a:xfrm>
          <a:prstGeom prst="roundRect">
            <a:avLst>
              <a:gd fmla="val 3134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5432109" y="2795778"/>
            <a:ext cx="3488537" cy="3672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100"/>
              <a:buFont typeface="Plus Jakarta Sans"/>
              <a:buNone/>
            </a:pPr>
            <a:r>
              <a:rPr b="1" i="0" lang="en-US" sz="2100" u="none" cap="none" strike="noStrik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raw material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5432109" y="3220117"/>
            <a:ext cx="3266539" cy="209135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632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50"/>
              <a:buFont typeface="Plus Jakarta Sans"/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Before anyone can decide anything, they have to pull the facts together, and those facts are almost never in one place. Usually it is a sheet, an inbox, and some dashboard nobody logs into.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9012414" y="4668870"/>
            <a:ext cx="339233" cy="440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400"/>
              <a:buFont typeface="Plus Jakarta Sans"/>
              <a:buNone/>
            </a:pPr>
            <a:r>
              <a:rPr b="1" i="0" lang="en-US" sz="2400" u="none" cap="none" strike="noStrik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9446754" y="2558177"/>
            <a:ext cx="3646456" cy="4623722"/>
          </a:xfrm>
          <a:prstGeom prst="roundRect">
            <a:avLst>
              <a:gd fmla="val 3135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9684355" y="2795778"/>
            <a:ext cx="3488380" cy="3672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100"/>
              <a:buFont typeface="Plus Jakarta Sans"/>
              <a:buNone/>
            </a:pPr>
            <a:r>
              <a:rPr b="1" i="0" lang="en-US" sz="2100" u="none" cap="none" strike="noStrik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rule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9684355" y="3220117"/>
            <a:ext cx="3266392" cy="209135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632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50"/>
              <a:buFont typeface="Plus Jakarta Sans"/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They check it against a number, see whether it matches something on a list, and then pick one of two paths. Someone worked this rule out years ago and everyone has followed it since.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13264517" y="4668870"/>
            <a:ext cx="339233" cy="4404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400"/>
              <a:buFont typeface="Plus Jakarta Sans"/>
              <a:buNone/>
            </a:pPr>
            <a:r>
              <a:rPr b="1" i="0" lang="en-US" sz="2400" u="none" cap="none" strike="noStrik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13698857" y="2558177"/>
            <a:ext cx="3646599" cy="4623722"/>
          </a:xfrm>
          <a:prstGeom prst="roundRect">
            <a:avLst>
              <a:gd fmla="val 3134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13936459" y="2795778"/>
            <a:ext cx="3488537" cy="3672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100"/>
              <a:buFont typeface="Plus Jakarta Sans"/>
              <a:buNone/>
            </a:pPr>
            <a:r>
              <a:rPr b="1" i="0" lang="en-US" sz="2100" u="none" cap="none" strike="noStrik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result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13936459" y="3220117"/>
            <a:ext cx="3266539" cy="15047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632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50"/>
              <a:buFont typeface="Plus Jakarta Sans"/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row gets written, a message goes out, a status flips from pending to approved. If nothing at the end actually changed, then nothing really happened.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685657" y="7889416"/>
            <a:ext cx="3326188" cy="284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Plus Jakarta Sans"/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YOU TRUST THESE ALREADY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3880771" y="7743255"/>
            <a:ext cx="2740057" cy="53921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4118515" y="7866699"/>
            <a:ext cx="2346771" cy="3304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Attendance systems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6792136" y="7743255"/>
            <a:ext cx="1780508" cy="53921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7029880" y="7866699"/>
            <a:ext cx="1381220" cy="3304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Gmail filters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8743951" y="7743255"/>
            <a:ext cx="1808369" cy="53921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8981695" y="7866699"/>
            <a:ext cx="1409081" cy="3304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UPI autopay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0723628" y="7743255"/>
            <a:ext cx="1760220" cy="53921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10961372" y="7866699"/>
            <a:ext cx="1360932" cy="3304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CI pipelines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685657" y="8549070"/>
            <a:ext cx="16916545" cy="860965"/>
          </a:xfrm>
          <a:prstGeom prst="roundRect">
            <a:avLst>
              <a:gd fmla="val 17701" name="adj"/>
            </a:avLst>
          </a:prstGeom>
          <a:solidFill>
            <a:srgbClr val="FAF5FF"/>
          </a:solidFill>
          <a:ln cap="flat" cmpd="sng" w="9525">
            <a:solidFill>
              <a:srgbClr val="E9D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999554" y="8786671"/>
            <a:ext cx="1618946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173"/>
              </a:lnSpc>
              <a:spcBef>
                <a:spcPts val="0"/>
              </a:spcBef>
              <a:spcAft>
                <a:spcPts val="0"/>
              </a:spcAft>
              <a:buClr>
                <a:srgbClr val="4C1D95"/>
              </a:buClr>
              <a:buSzPts val="2250"/>
              <a:buFont typeface="Plus Jakarta Sans"/>
              <a:buNone/>
            </a:pPr>
            <a:r>
              <a:rPr b="1" i="0" lang="en-US" sz="2250" u="none" cap="none" strike="noStrike">
                <a:solidFill>
                  <a:srgbClr val="4C1D9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Automating this just means nobody has to sit inside that loop anymore. It does not mean nobody is needed.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685657" y="9410035"/>
            <a:ext cx="169165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685657" y="9609631"/>
            <a:ext cx="1252300" cy="353473"/>
          </a:xfrm>
          <a:prstGeom prst="roundRect">
            <a:avLst>
              <a:gd fmla="val 18863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819007" y="9685831"/>
            <a:ext cx="1061800" cy="2391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Plus Jakarta Sans"/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FRONTIER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2090262" y="9658352"/>
            <a:ext cx="1081897" cy="2941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75"/>
              <a:buFont typeface="Plus Jakarta Sans"/>
              <a:buNone/>
            </a:pPr>
            <a:r>
              <a:rPr b="1" i="0" lang="en-US" sz="15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basics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16957408" y="9658352"/>
            <a:ext cx="720995" cy="2941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575"/>
              <a:buFont typeface="Plus Jakarta Sans"/>
              <a:buNone/>
            </a:pPr>
            <a:r>
              <a:rPr b="1" i="0" lang="en-US" sz="1575" u="none" cap="none" strike="noStrik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 / 14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"/>
          <p:cNvSpPr/>
          <p:nvPr/>
        </p:nvSpPr>
        <p:spPr>
          <a:xfrm>
            <a:off x="0" y="0"/>
            <a:ext cx="18287860" cy="10286859"/>
          </a:xfrm>
          <a:prstGeom prst="rect">
            <a:avLst/>
          </a:prstGeom>
          <a:gradFill>
            <a:gsLst>
              <a:gs pos="0">
                <a:srgbClr val="FFFFFF"/>
              </a:gs>
              <a:gs pos="50000">
                <a:srgbClr val="FFFFFF"/>
              </a:gs>
              <a:gs pos="100000">
                <a:srgbClr val="F6F1FF"/>
              </a:gs>
            </a:gsLst>
            <a:lin ang="27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685657" y="1046702"/>
            <a:ext cx="169165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685657" y="532924"/>
            <a:ext cx="209455" cy="209455"/>
          </a:xfrm>
          <a:prstGeom prst="roundRect">
            <a:avLst>
              <a:gd fmla="val 31833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1028414" y="505063"/>
            <a:ext cx="5664295" cy="3032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50"/>
              <a:buFont typeface="Plus Jakarta Sans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AWS STUDENT BUILDER GROUPS · VIT CHENNAI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15468222" y="419052"/>
            <a:ext cx="2133981" cy="437198"/>
          </a:xfrm>
          <a:prstGeom prst="roundRect">
            <a:avLst>
              <a:gd fmla="val 50000" name="adj"/>
            </a:avLst>
          </a:prstGeom>
          <a:solidFill>
            <a:srgbClr val="F3E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15677772" y="514302"/>
            <a:ext cx="1791081" cy="2847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500"/>
              <a:buFont typeface="Plus Jakarta Sans"/>
              <a:buNone/>
            </a:pPr>
            <a:r>
              <a:rPr b="1" i="0" lang="en-US" sz="1500" u="none" cap="none" strike="noStrike">
                <a:solidFill>
                  <a:srgbClr val="6D28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AUTOMATION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685657" y="1341454"/>
            <a:ext cx="18608200" cy="655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5443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500"/>
              <a:buFont typeface="Plus Jakarta Sans"/>
              <a:buNone/>
            </a:pPr>
            <a:r>
              <a:rPr b="1" i="0" lang="en-US" sz="4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Deterministic vs Probabilistic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685657" y="2168128"/>
            <a:ext cx="8344044" cy="3348276"/>
          </a:xfrm>
          <a:prstGeom prst="roundRect">
            <a:avLst>
              <a:gd fmla="val 455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980408" y="2443877"/>
            <a:ext cx="8529996" cy="2941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575"/>
              <a:buFont typeface="Plus Jakarta Sans"/>
              <a:buNone/>
            </a:pPr>
            <a:r>
              <a:rPr b="1" i="0" lang="en-US" sz="1575" u="none" cap="none" strike="noStrike">
                <a:solidFill>
                  <a:srgbClr val="6D28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DETERMINISTIC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980408" y="2833212"/>
            <a:ext cx="7987178" cy="6950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927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25"/>
              <a:buFont typeface="JetBrains Mono"/>
              <a:buNone/>
            </a:pPr>
            <a:r>
              <a:rPr b="0" i="0" lang="en-US" sz="1725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SELECT AVG(cgpa) FROM marks WHERE dept = 'CSE' AND sem = 5;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980408" y="3623454"/>
            <a:ext cx="8529996" cy="3665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927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25"/>
              <a:buFont typeface="JetBrains Mono"/>
              <a:buNone/>
            </a:pPr>
            <a:r>
              <a:rPr b="0" i="0" lang="en-US" sz="1725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sha256(file) → 9f2c1a...e7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980408" y="4085226"/>
            <a:ext cx="8529996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Plus Jakarta Sans"/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Same input, same output, on every machine and every retry.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980408" y="4538568"/>
            <a:ext cx="8529996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One test pins the behaviour forever. A retry is always safe.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9258159" y="2168128"/>
            <a:ext cx="8344044" cy="3348276"/>
          </a:xfrm>
          <a:prstGeom prst="roundRect">
            <a:avLst>
              <a:gd fmla="val 455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9552910" y="2443877"/>
            <a:ext cx="8529996" cy="2941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575"/>
              <a:buFont typeface="Plus Jakarta Sans"/>
              <a:buNone/>
            </a:pPr>
            <a:r>
              <a:rPr b="1" i="0" lang="en-US" sz="1575" u="none" cap="none" strike="noStrike">
                <a:solidFill>
                  <a:srgbClr val="B4530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PROBABILISTIC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9552910" y="2833212"/>
            <a:ext cx="7987178" cy="651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806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725"/>
              <a:buFont typeface="Plus Jakarta Sans"/>
              <a:buNone/>
            </a:pPr>
            <a:r>
              <a:rPr b="0" i="0" lang="en-US" sz="17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One prompt: "Extract urgency and category from this ticket." Same ticket, two runs.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9552910" y="3579734"/>
            <a:ext cx="852999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JetBrains Mono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run 1 → {"urgency":"high","category":"billing"}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9552910" y="4027361"/>
            <a:ext cx="852999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650"/>
              <a:buFont typeface="JetBrains Mono"/>
              <a:buNone/>
            </a:pPr>
            <a:r>
              <a:rPr b="0" i="0" lang="en-US" sz="1650" u="none" cap="none" strike="noStrike">
                <a:solidFill>
                  <a:srgbClr val="991B1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run 2 → {"urgency":"High","cat":"payments","note":"..."}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9552910" y="4474988"/>
            <a:ext cx="7987178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Plus Jakarta Sans"/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Casing drifts, keys rename, extra fields appear. Even at temperature 0 a model version or region change can move the answer.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685657" y="5725859"/>
            <a:ext cx="6648260" cy="2835784"/>
          </a:xfrm>
          <a:prstGeom prst="roundRect">
            <a:avLst>
              <a:gd fmla="val 537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942404" y="5963460"/>
            <a:ext cx="6748245" cy="3307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WHY IT DRIFTS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942404" y="6370226"/>
            <a:ext cx="6318811" cy="9579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806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725"/>
              <a:buFont typeface="Plus Jakarta Sans"/>
              <a:buNone/>
            </a:pPr>
            <a:r>
              <a:rPr b="0" i="0" lang="en-US" sz="17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model is picking the next token from a probability distribution, so two runs can take slightly different paths through the same sentence.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942404" y="7404213"/>
            <a:ext cx="6318811" cy="9579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806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725"/>
              <a:buFont typeface="Plus Jakarta Sans"/>
              <a:buNone/>
            </a:pPr>
            <a:r>
              <a:rPr b="0" i="0" lang="en-US" sz="17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And even if you pin that down, the provider can update the model under you, route you to another region, or hand you a longer context than last time.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7543373" y="5725859"/>
            <a:ext cx="4924616" cy="2835784"/>
          </a:xfrm>
          <a:prstGeom prst="roundRect">
            <a:avLst>
              <a:gd fmla="val 5374" name="adj"/>
            </a:avLst>
          </a:prstGeom>
          <a:solidFill>
            <a:srgbClr val="FEF2F2"/>
          </a:solidFill>
          <a:ln cap="flat" cmpd="sng" w="9525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7800119" y="5963460"/>
            <a:ext cx="4852236" cy="3307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THIS BREAKS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7800119" y="6370226"/>
            <a:ext cx="4543457" cy="9579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806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725"/>
              <a:buFont typeface="Plus Jakarta Sans"/>
              <a:buNone/>
            </a:pPr>
            <a:r>
              <a:rPr b="0" i="0" lang="en-US" sz="17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Exact-match assertions, string comparisons downstream, and any code that assumes a field exists.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12677444" y="5725859"/>
            <a:ext cx="4924759" cy="2835784"/>
          </a:xfrm>
          <a:prstGeom prst="roundRect">
            <a:avLst>
              <a:gd fmla="val 5374" name="adj"/>
            </a:avLst>
          </a:prstGeom>
          <a:solidFill>
            <a:srgbClr val="F5F0FF"/>
          </a:solidFill>
          <a:ln cap="flat" cmpd="sng" w="9525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12934190" y="5963460"/>
            <a:ext cx="4852393" cy="3307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5B21B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YOU DO INSTEAD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12934190" y="6370226"/>
            <a:ext cx="4543604" cy="9579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806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725"/>
              <a:buFont typeface="Plus Jakarta Sans"/>
              <a:buNone/>
            </a:pPr>
            <a:r>
              <a:rPr b="0" i="0" lang="en-US" sz="17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Force a schema with fixed enums, validate the response, retry once, then fall back to a human.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685657" y="8613935"/>
            <a:ext cx="16916545" cy="796100"/>
          </a:xfrm>
          <a:prstGeom prst="roundRect">
            <a:avLst>
              <a:gd fmla="val 19143" name="adj"/>
            </a:avLst>
          </a:prstGeom>
          <a:solidFill>
            <a:srgbClr val="FAF5FF"/>
          </a:solidFill>
          <a:ln cap="flat" cmpd="sng" w="9525">
            <a:solidFill>
              <a:srgbClr val="E9D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999554" y="8832534"/>
            <a:ext cx="12167052" cy="3970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3344"/>
              </a:lnSpc>
              <a:spcBef>
                <a:spcPts val="0"/>
              </a:spcBef>
              <a:spcAft>
                <a:spcPts val="0"/>
              </a:spcAft>
              <a:buClr>
                <a:srgbClr val="4C1D95"/>
              </a:buClr>
              <a:buSzPts val="2175"/>
              <a:buFont typeface="Plus Jakarta Sans"/>
              <a:buNone/>
            </a:pPr>
            <a:r>
              <a:rPr b="1" i="0" lang="en-US" sz="2175" u="none" cap="none" strike="noStrike">
                <a:solidFill>
                  <a:srgbClr val="4C1D9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You give up certainty to gain the ability to handle mess. That trade is the entire field.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685657" y="9410035"/>
            <a:ext cx="169165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685657" y="9609631"/>
            <a:ext cx="1252300" cy="353473"/>
          </a:xfrm>
          <a:prstGeom prst="roundRect">
            <a:avLst>
              <a:gd fmla="val 18863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819007" y="9685831"/>
            <a:ext cx="1061800" cy="2391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Plus Jakarta Sans"/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FRONTIER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2090262" y="9658352"/>
            <a:ext cx="1473713" cy="2941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75"/>
              <a:buFont typeface="Plus Jakarta Sans"/>
              <a:buNone/>
            </a:pPr>
            <a:r>
              <a:rPr b="1" i="0" lang="en-US" sz="15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concept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16954550" y="9658352"/>
            <a:ext cx="723852" cy="2941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575"/>
              <a:buFont typeface="Plus Jakarta Sans"/>
              <a:buNone/>
            </a:pPr>
            <a:r>
              <a:rPr b="1" i="0" lang="en-US" sz="1575" u="none" cap="none" strike="noStrik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 / 14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/>
          <p:nvPr/>
        </p:nvSpPr>
        <p:spPr>
          <a:xfrm>
            <a:off x="0" y="0"/>
            <a:ext cx="18287860" cy="10286859"/>
          </a:xfrm>
          <a:prstGeom prst="rect">
            <a:avLst/>
          </a:prstGeom>
          <a:gradFill>
            <a:gsLst>
              <a:gs pos="0">
                <a:srgbClr val="FFFFFF"/>
              </a:gs>
              <a:gs pos="50000">
                <a:srgbClr val="FFFFFF"/>
              </a:gs>
              <a:gs pos="100000">
                <a:srgbClr val="F6F1FF"/>
              </a:gs>
            </a:gsLst>
            <a:lin ang="27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685657" y="1046702"/>
            <a:ext cx="169165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685657" y="532924"/>
            <a:ext cx="209455" cy="209455"/>
          </a:xfrm>
          <a:prstGeom prst="roundRect">
            <a:avLst>
              <a:gd fmla="val 31833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1028414" y="505063"/>
            <a:ext cx="5664295" cy="3032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50"/>
              <a:buFont typeface="Plus Jakarta Sans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AWS STUDENT BUILDER GROUPS · VIT CHENNAI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15468222" y="419052"/>
            <a:ext cx="2133981" cy="437198"/>
          </a:xfrm>
          <a:prstGeom prst="roundRect">
            <a:avLst>
              <a:gd fmla="val 50000" name="adj"/>
            </a:avLst>
          </a:prstGeom>
          <a:solidFill>
            <a:srgbClr val="F3E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15677772" y="514302"/>
            <a:ext cx="1791081" cy="2847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500"/>
              <a:buFont typeface="Plus Jakarta Sans"/>
              <a:buNone/>
            </a:pPr>
            <a:r>
              <a:rPr b="1" i="0" lang="en-US" sz="1500" u="none" cap="none" strike="noStrike">
                <a:solidFill>
                  <a:srgbClr val="6D28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AUTOMATION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685657" y="1341454"/>
            <a:ext cx="3902031" cy="655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5443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500"/>
              <a:buFont typeface="Plus Jakarta Sans"/>
              <a:buNone/>
            </a:pPr>
            <a:r>
              <a:rPr b="1" i="0" lang="en-US" sz="4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AI adds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12330972" y="1529049"/>
            <a:ext cx="5271231" cy="520922"/>
          </a:xfrm>
          <a:prstGeom prst="roundRect">
            <a:avLst>
              <a:gd fmla="val 50000" name="adj"/>
            </a:avLst>
          </a:prstGeom>
          <a:solidFill>
            <a:srgbClr val="FFFBEB"/>
          </a:solidFill>
          <a:ln cap="flat" cmpd="sng" w="9525">
            <a:solidFill>
              <a:srgbClr val="FCD3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12549666" y="1652493"/>
            <a:ext cx="4991980" cy="312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725"/>
              <a:buFont typeface="Plus Jakarta Sans"/>
              <a:buNone/>
            </a:pPr>
            <a:r>
              <a:rPr b="1" i="0" lang="en-US" sz="1725" u="none" cap="none" strike="noStrike">
                <a:solidFill>
                  <a:srgbClr val="B4530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Roughly 80% of business data is unstructured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685657" y="2259426"/>
            <a:ext cx="18608200" cy="3489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Accounts payable: 40 vendors, 40 invoice layouts, one shared mailbox, a three-way match against the purchase order.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685657" y="2779777"/>
            <a:ext cx="16916545" cy="2428018"/>
          </a:xfrm>
          <a:prstGeom prst="roundRect">
            <a:avLst>
              <a:gd fmla="val 706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942404" y="3861197"/>
            <a:ext cx="1123903" cy="3032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50"/>
              <a:buFont typeface="Plus Jakarta Sans"/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BEFORE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2142411" y="2998375"/>
            <a:ext cx="3158252" cy="1990821"/>
          </a:xfrm>
          <a:prstGeom prst="roundRect">
            <a:avLst>
              <a:gd fmla="val 5741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2342007" y="3690890"/>
            <a:ext cx="3034965" cy="3398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75"/>
              <a:buFont typeface="Plus Jakarta Sans"/>
              <a:buNone/>
            </a:pPr>
            <a:r>
              <a:rPr b="1" i="0" lang="en-US" sz="18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Scanned invoice PDF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2342007" y="4049650"/>
            <a:ext cx="3034965" cy="284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Plus Jakarta Sans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40 layouts, some photos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5452968" y="3820049"/>
            <a:ext cx="306372" cy="385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Plus Jakarta Sans"/>
              <a:buNone/>
            </a:pPr>
            <a:r>
              <a:rPr b="1" i="0" lang="en-US" sz="21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5835444" y="2998375"/>
            <a:ext cx="3848053" cy="1990821"/>
          </a:xfrm>
          <a:prstGeom prst="roundRect">
            <a:avLst>
              <a:gd fmla="val 5741" name="adj"/>
            </a:avLst>
          </a:prstGeom>
          <a:solidFill>
            <a:srgbClr val="FEF2F2"/>
          </a:solidFill>
          <a:ln cap="flat" cmpd="sng" w="9525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6035041" y="3540014"/>
            <a:ext cx="3552326" cy="6416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875"/>
              <a:buFont typeface="Plus Jakarta Sans"/>
              <a:buNone/>
            </a:pPr>
            <a:r>
              <a:rPr b="1" i="0" lang="en-US" sz="1875" u="none" cap="none" strike="noStrik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Clerk reads and types into the ERP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6035041" y="4200526"/>
            <a:ext cx="3793746" cy="284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500"/>
              <a:buFont typeface="Plus Jakarta Sans"/>
              <a:buNone/>
            </a:pPr>
            <a:r>
              <a:rPr b="0" i="0" lang="en-US" sz="1500" u="none" cap="none" strike="noStrike">
                <a:solidFill>
                  <a:srgbClr val="B91C1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 to 6 minutes each, typo risk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9835802" y="3820049"/>
            <a:ext cx="306372" cy="385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Plus Jakarta Sans"/>
              <a:buNone/>
            </a:pPr>
            <a:r>
              <a:rPr b="1" i="0" lang="en-US" sz="21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10218279" y="2998375"/>
            <a:ext cx="3434144" cy="1990821"/>
          </a:xfrm>
          <a:prstGeom prst="roundRect">
            <a:avLst>
              <a:gd fmla="val 5741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10417876" y="3576590"/>
            <a:ext cx="3126000" cy="5684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75"/>
              <a:buFont typeface="JetBrains Mono"/>
              <a:buNone/>
            </a:pPr>
            <a:r>
              <a:rPr b="0" i="0" lang="en-US" sz="1575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{po, total, tax, due_date}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10417876" y="4163950"/>
            <a:ext cx="3338447" cy="284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Plus Jakarta Sans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Structured fields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13804727" y="3820049"/>
            <a:ext cx="306372" cy="385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Plus Jakarta Sans"/>
              <a:buNone/>
            </a:pPr>
            <a:r>
              <a:rPr b="1" i="0" lang="en-US" sz="21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14187204" y="2998375"/>
            <a:ext cx="3158252" cy="1990821"/>
          </a:xfrm>
          <a:prstGeom prst="roundRect">
            <a:avLst>
              <a:gd fmla="val 5741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14386801" y="3690890"/>
            <a:ext cx="3034965" cy="3398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75"/>
              <a:buFont typeface="Plus Jakarta Sans"/>
              <a:buNone/>
            </a:pPr>
            <a:r>
              <a:rPr b="1" i="0" lang="en-US" sz="18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Three-way match rule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14386801" y="4049650"/>
            <a:ext cx="3034965" cy="284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Plus Jakarta Sans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Flags mismatches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685657" y="5417250"/>
            <a:ext cx="16916545" cy="2428018"/>
          </a:xfrm>
          <a:prstGeom prst="roundRect">
            <a:avLst>
              <a:gd fmla="val 706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942404" y="6498670"/>
            <a:ext cx="1123903" cy="3032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650"/>
              <a:buFont typeface="Plus Jakarta Sans"/>
              <a:buNone/>
            </a:pPr>
            <a:r>
              <a:rPr b="1" i="0" lang="en-US" sz="1650" u="none" cap="none" strike="noStrike">
                <a:solidFill>
                  <a:srgbClr val="6D28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AFTER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2142411" y="5635848"/>
            <a:ext cx="3153966" cy="1990821"/>
          </a:xfrm>
          <a:prstGeom prst="roundRect">
            <a:avLst>
              <a:gd fmla="val 5741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2342007" y="6328363"/>
            <a:ext cx="3030251" cy="3398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75"/>
              <a:buFont typeface="Plus Jakarta Sans"/>
              <a:buNone/>
            </a:pPr>
            <a:r>
              <a:rPr b="1" i="0" lang="en-US" sz="18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Scanned invoice PDF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2342007" y="6687123"/>
            <a:ext cx="3030251" cy="284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Plus Jakarta Sans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Unchanged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5448682" y="6457523"/>
            <a:ext cx="306372" cy="385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100"/>
              <a:buFont typeface="Plus Jakarta Sans"/>
              <a:buNone/>
            </a:pPr>
            <a:r>
              <a:rPr b="1" i="0" lang="en-US" sz="2100" u="none" cap="none" strike="noStrik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5831159" y="5635848"/>
            <a:ext cx="3861055" cy="1990821"/>
          </a:xfrm>
          <a:prstGeom prst="roundRect">
            <a:avLst>
              <a:gd fmla="val 5741" name="adj"/>
            </a:avLst>
          </a:prstGeom>
          <a:solidFill>
            <a:srgbClr val="F5F0FF"/>
          </a:solidFill>
          <a:ln cap="flat" cmpd="sng" w="1827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6039899" y="6177487"/>
            <a:ext cx="3546881" cy="6416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875"/>
              <a:buFont typeface="Plus Jakarta Sans"/>
              <a:buNone/>
            </a:pPr>
            <a:r>
              <a:rPr b="1" i="0" lang="en-US" sz="1875" u="none" cap="none" strike="noStrike">
                <a:solidFill>
                  <a:srgbClr val="5B21B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OCR, then a model reads it to a schema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6039899" y="6837999"/>
            <a:ext cx="3787931" cy="284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500"/>
              <a:buFont typeface="Plus Jakarta Sans"/>
              <a:buNone/>
            </a:pPr>
            <a:r>
              <a:rPr b="1" i="0" lang="en-US" sz="1500" u="none" cap="none" strike="noStrik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ONLY THIS BOX CHANGED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9844518" y="6457523"/>
            <a:ext cx="306372" cy="385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100"/>
              <a:buFont typeface="Plus Jakarta Sans"/>
              <a:buNone/>
            </a:pPr>
            <a:r>
              <a:rPr b="1" i="0" lang="en-US" sz="2100" u="none" cap="none" strike="noStrik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10226994" y="5635848"/>
            <a:ext cx="3429572" cy="1990821"/>
          </a:xfrm>
          <a:prstGeom prst="roundRect">
            <a:avLst>
              <a:gd fmla="val 5741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10426590" y="6214063"/>
            <a:ext cx="3121291" cy="5684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75"/>
              <a:buFont typeface="JetBrains Mono"/>
              <a:buNone/>
            </a:pPr>
            <a:r>
              <a:rPr b="0" i="0" lang="en-US" sz="1575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{po, total, tax, due_date}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10426590" y="6801423"/>
            <a:ext cx="3333417" cy="284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Plus Jakarta Sans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Same shape, plus confidence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13808871" y="6457523"/>
            <a:ext cx="306372" cy="385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100"/>
              <a:buFont typeface="Plus Jakarta Sans"/>
              <a:buNone/>
            </a:pPr>
            <a:r>
              <a:rPr b="1" i="0" lang="en-US" sz="2100" u="none" cap="none" strike="noStrik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14191348" y="5635848"/>
            <a:ext cx="3154109" cy="1990821"/>
          </a:xfrm>
          <a:prstGeom prst="roundRect">
            <a:avLst>
              <a:gd fmla="val 5741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14390944" y="6328363"/>
            <a:ext cx="3030408" cy="3398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75"/>
              <a:buFont typeface="Plus Jakarta Sans"/>
              <a:buNone/>
            </a:pPr>
            <a:r>
              <a:rPr b="1" i="0" lang="en-US" sz="18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Three-way match rule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14390944" y="6687123"/>
            <a:ext cx="3030408" cy="284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Plus Jakarta Sans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Unchanged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685657" y="8054722"/>
            <a:ext cx="5511833" cy="1355312"/>
          </a:xfrm>
          <a:prstGeom prst="roundRect">
            <a:avLst>
              <a:gd fmla="val 983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923258" y="8254319"/>
            <a:ext cx="5540293" cy="31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25"/>
              <a:buFont typeface="Plus Jakarta Sans"/>
              <a:buNone/>
            </a:pPr>
            <a:r>
              <a:rPr b="1" i="0" lang="en-US" sz="17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SCHEMA, NOT PROSE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923258" y="8623793"/>
            <a:ext cx="5187729" cy="6247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632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50"/>
              <a:buFont typeface="Plus Jakarta Sans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Ask for fixed keys and enums, reject anything that fails validation.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387942" y="8054722"/>
            <a:ext cx="5511833" cy="1355312"/>
          </a:xfrm>
          <a:prstGeom prst="roundRect">
            <a:avLst>
              <a:gd fmla="val 983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6625543" y="8254319"/>
            <a:ext cx="5540293" cy="31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25"/>
              <a:buFont typeface="Plus Jakarta Sans"/>
              <a:buNone/>
            </a:pPr>
            <a:r>
              <a:rPr b="1" i="0" lang="en-US" sz="17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CONFIDENCE ROUTES WORK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6625543" y="8623793"/>
            <a:ext cx="5187729" cy="6247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632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50"/>
              <a:buFont typeface="Plus Jakarta Sans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Below your threshold, the invoice goes to a review queue, not to the ledger.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12090227" y="8054722"/>
            <a:ext cx="5511833" cy="1355312"/>
          </a:xfrm>
          <a:prstGeom prst="roundRect">
            <a:avLst>
              <a:gd fmla="val 9839" name="adj"/>
            </a:avLst>
          </a:prstGeom>
          <a:solidFill>
            <a:srgbClr val="F5F0FF"/>
          </a:solidFill>
          <a:ln cap="flat" cmpd="sng" w="9525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12327829" y="8254319"/>
            <a:ext cx="5540293" cy="31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725"/>
              <a:buFont typeface="Plus Jakarta Sans"/>
              <a:buNone/>
            </a:pPr>
            <a:r>
              <a:rPr b="1" i="0" lang="en-US" sz="1725" u="none" cap="none" strike="noStrike">
                <a:solidFill>
                  <a:srgbClr val="5B21B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POINT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12327829" y="8623793"/>
            <a:ext cx="5187729" cy="6247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632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50"/>
              <a:buFont typeface="Plus Jakarta Sans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does not replace the workflow. It replaces the data entry inside it.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685657" y="9410035"/>
            <a:ext cx="169165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685657" y="9609631"/>
            <a:ext cx="1252300" cy="353473"/>
          </a:xfrm>
          <a:prstGeom prst="roundRect">
            <a:avLst>
              <a:gd fmla="val 18863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819007" y="9685831"/>
            <a:ext cx="1061800" cy="2391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Plus Jakarta Sans"/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FRONTIER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2090262" y="9658352"/>
            <a:ext cx="891445" cy="2941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75"/>
              <a:buFont typeface="Plus Jakarta Sans"/>
              <a:buNone/>
            </a:pPr>
            <a:r>
              <a:rPr b="1" i="0" lang="en-US" sz="15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shift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16945978" y="9658352"/>
            <a:ext cx="732425" cy="2941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575"/>
              <a:buFont typeface="Plus Jakarta Sans"/>
              <a:buNone/>
            </a:pPr>
            <a:r>
              <a:rPr b="1" i="0" lang="en-US" sz="1575" u="none" cap="none" strike="noStrik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04 / 14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"/>
          <p:cNvSpPr/>
          <p:nvPr/>
        </p:nvSpPr>
        <p:spPr>
          <a:xfrm>
            <a:off x="0" y="0"/>
            <a:ext cx="18287860" cy="10286859"/>
          </a:xfrm>
          <a:prstGeom prst="rect">
            <a:avLst/>
          </a:prstGeom>
          <a:gradFill>
            <a:gsLst>
              <a:gs pos="0">
                <a:srgbClr val="FFFFFF"/>
              </a:gs>
              <a:gs pos="50000">
                <a:srgbClr val="FFFFFF"/>
              </a:gs>
              <a:gs pos="100000">
                <a:srgbClr val="F6F1FF"/>
              </a:gs>
            </a:gsLst>
            <a:lin ang="27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685657" y="1046702"/>
            <a:ext cx="169165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685657" y="532924"/>
            <a:ext cx="209455" cy="209455"/>
          </a:xfrm>
          <a:prstGeom prst="roundRect">
            <a:avLst>
              <a:gd fmla="val 31833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1028414" y="505063"/>
            <a:ext cx="5664295" cy="3032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50"/>
              <a:buFont typeface="Plus Jakarta Sans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AWS STUDENT BUILDER GROUPS · VIT CHENNAI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15468222" y="419052"/>
            <a:ext cx="2133981" cy="437198"/>
          </a:xfrm>
          <a:prstGeom prst="roundRect">
            <a:avLst>
              <a:gd fmla="val 50000" name="adj"/>
            </a:avLst>
          </a:prstGeom>
          <a:solidFill>
            <a:srgbClr val="F3E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15677772" y="514302"/>
            <a:ext cx="1791081" cy="2847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500"/>
              <a:buFont typeface="Plus Jakarta Sans"/>
              <a:buNone/>
            </a:pPr>
            <a:r>
              <a:rPr b="1" i="0" lang="en-US" sz="1500" u="none" cap="none" strike="noStrike">
                <a:solidFill>
                  <a:srgbClr val="6D28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AUTOMATION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685657" y="1360599"/>
            <a:ext cx="18608200" cy="655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5443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500"/>
              <a:buFont typeface="Plus Jakarta Sans"/>
              <a:buNone/>
            </a:pPr>
            <a:r>
              <a:rPr b="1" i="0" lang="en-US" sz="4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five parts of every AI workflow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685657" y="2244424"/>
            <a:ext cx="3230833" cy="6051043"/>
          </a:xfrm>
          <a:prstGeom prst="roundRect">
            <a:avLst>
              <a:gd fmla="val 471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904256" y="2501170"/>
            <a:ext cx="438055" cy="438055"/>
          </a:xfrm>
          <a:prstGeom prst="roundRect">
            <a:avLst>
              <a:gd fmla="val 26093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866156" y="2501170"/>
            <a:ext cx="514255" cy="47615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904256" y="3072527"/>
            <a:ext cx="3072999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TRIGGER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904256" y="3525870"/>
            <a:ext cx="2877444" cy="9579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806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725"/>
              <a:buFont typeface="Plus Jakarta Sans"/>
              <a:buNone/>
            </a:pPr>
            <a:r>
              <a:rPr b="0" i="0" lang="en-US" sz="17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form submitted, an email arriving, 9am every day, a file uploaded.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904256" y="4579002"/>
            <a:ext cx="2877444" cy="651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806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725"/>
              <a:buFont typeface="Plus Jakarta Sans"/>
              <a:buNone/>
            </a:pPr>
            <a:r>
              <a:rPr b="1" i="0" lang="en-US" sz="1725" u="none" cap="none" strike="noStrike">
                <a:solidFill>
                  <a:srgbClr val="B4530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Never a human typing a prompt.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4106943" y="2244424"/>
            <a:ext cx="3230976" cy="6051043"/>
          </a:xfrm>
          <a:prstGeom prst="roundRect">
            <a:avLst>
              <a:gd fmla="val 471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4325541" y="2501170"/>
            <a:ext cx="438055" cy="438055"/>
          </a:xfrm>
          <a:prstGeom prst="roundRect">
            <a:avLst>
              <a:gd fmla="val 26093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4287441" y="2501170"/>
            <a:ext cx="514255" cy="47615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4325541" y="3072527"/>
            <a:ext cx="3073156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COLLECT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4325541" y="3525870"/>
            <a:ext cx="2877592" cy="9579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806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725"/>
              <a:buFont typeface="Plus Jakarta Sans"/>
              <a:buNone/>
            </a:pPr>
            <a:r>
              <a:rPr b="0" i="0" lang="en-US" sz="17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Gather the raw material the decision needs and normalise it.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7528371" y="2244424"/>
            <a:ext cx="3230976" cy="6051043"/>
          </a:xfrm>
          <a:prstGeom prst="roundRect">
            <a:avLst>
              <a:gd fmla="val 4717" name="adj"/>
            </a:avLst>
          </a:prstGeom>
          <a:solidFill>
            <a:srgbClr val="F5F0FF"/>
          </a:solidFill>
          <a:ln cap="flat" cmpd="sng" w="9525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7746970" y="2501170"/>
            <a:ext cx="438055" cy="438055"/>
          </a:xfrm>
          <a:prstGeom prst="roundRect">
            <a:avLst>
              <a:gd fmla="val 26093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7708870" y="2501170"/>
            <a:ext cx="514255" cy="47615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7746970" y="3072527"/>
            <a:ext cx="3073156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STEP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7746970" y="3525870"/>
            <a:ext cx="2877592" cy="9579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806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725"/>
              <a:buFont typeface="Plus Jakarta Sans"/>
              <a:buNone/>
            </a:pPr>
            <a:r>
              <a:rPr b="0" i="0" lang="en-US" sz="17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Understand it, return structured fields against a fixed schema.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10949799" y="2244424"/>
            <a:ext cx="3230976" cy="6051043"/>
          </a:xfrm>
          <a:prstGeom prst="roundRect">
            <a:avLst>
              <a:gd fmla="val 471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11168397" y="2501170"/>
            <a:ext cx="438055" cy="438055"/>
          </a:xfrm>
          <a:prstGeom prst="roundRect">
            <a:avLst>
              <a:gd fmla="val 26093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"/>
          <p:cNvSpPr/>
          <p:nvPr/>
        </p:nvSpPr>
        <p:spPr>
          <a:xfrm>
            <a:off x="11130297" y="2501170"/>
            <a:ext cx="514255" cy="47615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11168397" y="3072527"/>
            <a:ext cx="3073156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ACTION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11168397" y="3525870"/>
            <a:ext cx="2877592" cy="9579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806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725"/>
              <a:buFont typeface="Plus Jakarta Sans"/>
              <a:buNone/>
            </a:pPr>
            <a:r>
              <a:rPr b="0" i="0" lang="en-US" sz="17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Write to a sheet, send a mail, create a ticket, update a record.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14371227" y="2244424"/>
            <a:ext cx="3230976" cy="6051043"/>
          </a:xfrm>
          <a:prstGeom prst="roundRect">
            <a:avLst>
              <a:gd fmla="val 471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14589826" y="2501170"/>
            <a:ext cx="438055" cy="438055"/>
          </a:xfrm>
          <a:prstGeom prst="roundRect">
            <a:avLst>
              <a:gd fmla="val 26093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14551726" y="2501170"/>
            <a:ext cx="514255" cy="47615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14589826" y="3072527"/>
            <a:ext cx="3073156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CHECK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14589826" y="3525870"/>
            <a:ext cx="2877592" cy="9579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806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725"/>
              <a:buFont typeface="Plus Jakarta Sans"/>
              <a:buNone/>
            </a:pPr>
            <a:r>
              <a:rPr b="0" i="0" lang="en-US" sz="17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happens when the AI is wrong. Retry, review queue, alert.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685657" y="8562072"/>
            <a:ext cx="16916545" cy="847963"/>
          </a:xfrm>
          <a:prstGeom prst="roundRect">
            <a:avLst>
              <a:gd fmla="val 17972" name="adj"/>
            </a:avLst>
          </a:prstGeom>
          <a:solidFill>
            <a:srgbClr val="FAF5FF"/>
          </a:solidFill>
          <a:ln cap="flat" cmpd="sng" w="9525">
            <a:solidFill>
              <a:srgbClr val="E9D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999554" y="8799673"/>
            <a:ext cx="8645982" cy="4108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319"/>
              </a:lnSpc>
              <a:spcBef>
                <a:spcPts val="0"/>
              </a:spcBef>
              <a:spcAft>
                <a:spcPts val="0"/>
              </a:spcAft>
              <a:buClr>
                <a:srgbClr val="4C1D95"/>
              </a:buClr>
              <a:buSzPts val="2175"/>
              <a:buFont typeface="Plus Jakarta Sans"/>
              <a:buNone/>
            </a:pPr>
            <a:r>
              <a:rPr b="1" i="0" lang="en-US" sz="2175" u="none" cap="none" strike="noStrike">
                <a:solidFill>
                  <a:srgbClr val="4C1D9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Everyone builds the first four. The fifth is what makes it real.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685657" y="9410035"/>
            <a:ext cx="169165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685657" y="9609631"/>
            <a:ext cx="1252300" cy="353473"/>
          </a:xfrm>
          <a:prstGeom prst="roundRect">
            <a:avLst>
              <a:gd fmla="val 18863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819007" y="9685831"/>
            <a:ext cx="1061800" cy="2391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Plus Jakarta Sans"/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FRONTIER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2090262" y="9658352"/>
            <a:ext cx="950595" cy="2941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75"/>
              <a:buFont typeface="Plus Jakarta Sans"/>
              <a:buNone/>
            </a:pPr>
            <a:r>
              <a:rPr b="1" i="0" lang="en-US" sz="15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Anatomy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16953836" y="9658352"/>
            <a:ext cx="724567" cy="2941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575"/>
              <a:buFont typeface="Plus Jakarta Sans"/>
              <a:buNone/>
            </a:pPr>
            <a:r>
              <a:rPr b="1" i="0" lang="en-US" sz="1575" u="none" cap="none" strike="noStrik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05 / 14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"/>
          <p:cNvSpPr/>
          <p:nvPr/>
        </p:nvSpPr>
        <p:spPr>
          <a:xfrm>
            <a:off x="0" y="0"/>
            <a:ext cx="18287860" cy="10286859"/>
          </a:xfrm>
          <a:prstGeom prst="rect">
            <a:avLst/>
          </a:prstGeom>
          <a:gradFill>
            <a:gsLst>
              <a:gs pos="0">
                <a:srgbClr val="FFFFFF"/>
              </a:gs>
              <a:gs pos="50000">
                <a:srgbClr val="FFFFFF"/>
              </a:gs>
              <a:gs pos="100000">
                <a:srgbClr val="F6F1FF"/>
              </a:gs>
            </a:gsLst>
            <a:lin ang="27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685657" y="1046702"/>
            <a:ext cx="169165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685657" y="532924"/>
            <a:ext cx="209455" cy="209455"/>
          </a:xfrm>
          <a:prstGeom prst="roundRect">
            <a:avLst>
              <a:gd fmla="val 31833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1028414" y="505063"/>
            <a:ext cx="5664295" cy="3032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50"/>
              <a:buFont typeface="Plus Jakarta Sans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AWS STUDENT BUILDER GROUPS · VIT CHENNAI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15468222" y="419052"/>
            <a:ext cx="2133981" cy="437198"/>
          </a:xfrm>
          <a:prstGeom prst="roundRect">
            <a:avLst>
              <a:gd fmla="val 50000" name="adj"/>
            </a:avLst>
          </a:prstGeom>
          <a:solidFill>
            <a:srgbClr val="F3E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"/>
          <p:cNvSpPr/>
          <p:nvPr/>
        </p:nvSpPr>
        <p:spPr>
          <a:xfrm>
            <a:off x="15677772" y="514302"/>
            <a:ext cx="1791081" cy="2847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500"/>
              <a:buFont typeface="Plus Jakarta Sans"/>
              <a:buNone/>
            </a:pPr>
            <a:r>
              <a:rPr b="1" i="0" lang="en-US" sz="1500" u="none" cap="none" strike="noStrike">
                <a:solidFill>
                  <a:srgbClr val="6D28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AUTOMATION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685657" y="1341454"/>
            <a:ext cx="18608200" cy="655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5443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500"/>
              <a:buFont typeface="Plus Jakarta Sans"/>
              <a:buNone/>
            </a:pPr>
            <a:r>
              <a:rPr b="1" i="0" lang="en-US" sz="4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This is already running in production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685657" y="2168128"/>
            <a:ext cx="8344044" cy="3013377"/>
          </a:xfrm>
          <a:prstGeom prst="roundRect">
            <a:avLst>
              <a:gd fmla="val 5690" name="adj"/>
            </a:avLst>
          </a:prstGeom>
          <a:solidFill>
            <a:srgbClr val="F5F0FF"/>
          </a:solidFill>
          <a:ln cap="flat" cmpd="sng" w="9525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999554" y="3322416"/>
            <a:ext cx="2206562" cy="7429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9467"/>
              </a:lnSpc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5550"/>
              <a:buFont typeface="Plus Jakarta Sans"/>
              <a:buNone/>
            </a:pPr>
            <a:r>
              <a:rPr b="1" i="0" lang="en-US" sz="5550" u="none" cap="none" strike="noStrike">
                <a:solidFill>
                  <a:srgbClr val="5B21B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95%+</a:t>
            </a:r>
            <a:endParaRPr b="0" i="0" sz="5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3272124" y="3178969"/>
            <a:ext cx="5606992" cy="7067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464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NVIDIA supply chain agents cut daily planning time by over 95 percent.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3272124" y="3923777"/>
            <a:ext cx="5988049" cy="284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Plus Jakarta Sans"/>
              <a:buNone/>
            </a:pPr>
            <a:r>
              <a:rPr b="1" i="0" lang="en-US" sz="15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NVIDIA customer story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9258159" y="2168128"/>
            <a:ext cx="8344044" cy="3013377"/>
          </a:xfrm>
          <a:prstGeom prst="roundRect">
            <a:avLst>
              <a:gd fmla="val 5690" name="adj"/>
            </a:avLst>
          </a:prstGeom>
          <a:solidFill>
            <a:srgbClr val="F5F0FF"/>
          </a:solidFill>
          <a:ln cap="flat" cmpd="sng" w="9525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9572055" y="3322416"/>
            <a:ext cx="910733" cy="7429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9467"/>
              </a:lnSpc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5550"/>
              <a:buFont typeface="Plus Jakarta Sans"/>
              <a:buNone/>
            </a:pPr>
            <a:r>
              <a:rPr b="1" i="0" lang="en-US" sz="5550" u="none" cap="none" strike="noStrike">
                <a:solidFill>
                  <a:srgbClr val="5B21B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4x</a:t>
            </a:r>
            <a:endParaRPr b="0" i="0" sz="5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10673193" y="2844642"/>
            <a:ext cx="6813567" cy="13754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464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CyberArk cut support case resolution time by up to 95 percent and lifted engineer productivity 4x, parsing hundreds of vendor log formats with Amazon Bedrock.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10673193" y="4258104"/>
            <a:ext cx="7276625" cy="284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Plus Jakarta Sans"/>
              <a:buNone/>
            </a:pPr>
            <a:r>
              <a:rPr b="1" i="0" lang="en-US" sz="15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AWS data customer stories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685657" y="5390960"/>
            <a:ext cx="4086226" cy="3013520"/>
          </a:xfrm>
          <a:prstGeom prst="roundRect">
            <a:avLst>
              <a:gd fmla="val 505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8"/>
          <p:cNvSpPr/>
          <p:nvPr/>
        </p:nvSpPr>
        <p:spPr>
          <a:xfrm>
            <a:off x="942404" y="5628562"/>
            <a:ext cx="3930006" cy="3398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75"/>
              <a:buFont typeface="Plus Jakarta Sans"/>
              <a:buNone/>
            </a:pPr>
            <a:r>
              <a:rPr b="1" i="0" lang="en-US" sz="18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SUPPORT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942404" y="6044471"/>
            <a:ext cx="3679915" cy="12645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806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725"/>
              <a:buFont typeface="Plus Jakarta Sans"/>
              <a:buNone/>
            </a:pPr>
            <a:r>
              <a:rPr b="0" i="0" lang="en-US" sz="17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Tickets classified, routed, replies drafted. ASAPP reports call escalations down by up to 40 percent using Claude in Bedrock.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4962335" y="5390960"/>
            <a:ext cx="4086369" cy="3013520"/>
          </a:xfrm>
          <a:prstGeom prst="roundRect">
            <a:avLst>
              <a:gd fmla="val 505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5219082" y="5628562"/>
            <a:ext cx="3930163" cy="3398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75"/>
              <a:buFont typeface="Plus Jakarta Sans"/>
              <a:buNone/>
            </a:pPr>
            <a:r>
              <a:rPr b="1" i="0" lang="en-US" sz="18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FINANCE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5219082" y="6044471"/>
            <a:ext cx="3680062" cy="12645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806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725"/>
              <a:buFont typeface="Plus Jakarta Sans"/>
              <a:buNone/>
            </a:pPr>
            <a:r>
              <a:rPr b="0" i="0" lang="en-US" sz="17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Invoices extracted and matched to purchase orders. Only mismatches reach a human reviewer.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9239156" y="5390960"/>
            <a:ext cx="4086226" cy="3013520"/>
          </a:xfrm>
          <a:prstGeom prst="roundRect">
            <a:avLst>
              <a:gd fmla="val 505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9495903" y="5628562"/>
            <a:ext cx="3930006" cy="3398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75"/>
              <a:buFont typeface="Plus Jakarta Sans"/>
              <a:buNone/>
            </a:pPr>
            <a:r>
              <a:rPr b="1" i="0" lang="en-US" sz="18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HEALTHCARE ADMIN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9495903" y="6044471"/>
            <a:ext cx="3679915" cy="12645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806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725"/>
              <a:buFont typeface="Plus Jakarta Sans"/>
              <a:buNone/>
            </a:pPr>
            <a:r>
              <a:rPr b="0" i="0" lang="en-US" sz="17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One Medical reports administrative work down about 40 percent, giving clinicians more time per patient.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13515834" y="5390960"/>
            <a:ext cx="4086369" cy="3013520"/>
          </a:xfrm>
          <a:prstGeom prst="roundRect">
            <a:avLst>
              <a:gd fmla="val 505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13772580" y="5628562"/>
            <a:ext cx="3930163" cy="3398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75"/>
              <a:buFont typeface="Plus Jakarta Sans"/>
              <a:buNone/>
            </a:pPr>
            <a:r>
              <a:rPr b="1" i="0" lang="en-US" sz="18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RECRUITING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13772580" y="6044471"/>
            <a:ext cx="3680062" cy="9579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806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725"/>
              <a:buFont typeface="Plus Jakarta Sans"/>
              <a:buNone/>
            </a:pPr>
            <a:r>
              <a:rPr b="0" i="0" lang="en-US" sz="17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2000 CVs parsed into one screenable table with the same fields for every candidate.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685657" y="8613935"/>
            <a:ext cx="16916545" cy="796100"/>
          </a:xfrm>
          <a:prstGeom prst="roundRect">
            <a:avLst>
              <a:gd fmla="val 19143" name="adj"/>
            </a:avLst>
          </a:prstGeom>
          <a:solidFill>
            <a:srgbClr val="FAF5FF"/>
          </a:solidFill>
          <a:ln cap="flat" cmpd="sng" w="9525">
            <a:solidFill>
              <a:srgbClr val="E9D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999554" y="8832534"/>
            <a:ext cx="7482822" cy="3970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3344"/>
              </a:lnSpc>
              <a:spcBef>
                <a:spcPts val="0"/>
              </a:spcBef>
              <a:spcAft>
                <a:spcPts val="0"/>
              </a:spcAft>
              <a:buClr>
                <a:srgbClr val="4C1D95"/>
              </a:buClr>
              <a:buSzPts val="2175"/>
              <a:buFont typeface="Plus Jakarta Sans"/>
              <a:buNone/>
            </a:pPr>
            <a:r>
              <a:rPr b="1" i="0" lang="en-US" sz="2175" u="none" cap="none" strike="noStrike">
                <a:solidFill>
                  <a:srgbClr val="4C1D9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It does not remove the team. It removes the queue.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685657" y="9410035"/>
            <a:ext cx="169165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8"/>
          <p:cNvSpPr/>
          <p:nvPr/>
        </p:nvSpPr>
        <p:spPr>
          <a:xfrm>
            <a:off x="685657" y="9609631"/>
            <a:ext cx="1252300" cy="353473"/>
          </a:xfrm>
          <a:prstGeom prst="roundRect">
            <a:avLst>
              <a:gd fmla="val 18863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"/>
          <p:cNvSpPr/>
          <p:nvPr/>
        </p:nvSpPr>
        <p:spPr>
          <a:xfrm>
            <a:off x="819007" y="9685831"/>
            <a:ext cx="1061800" cy="2391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Plus Jakarta Sans"/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FRONTIER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2090262" y="9658352"/>
            <a:ext cx="1361342" cy="2941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75"/>
              <a:buFont typeface="Plus Jakarta Sans"/>
              <a:buNone/>
            </a:pPr>
            <a:r>
              <a:rPr b="1" i="0" lang="en-US" sz="15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Case studies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16956408" y="9658352"/>
            <a:ext cx="721995" cy="2941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575"/>
              <a:buFont typeface="Plus Jakarta Sans"/>
              <a:buNone/>
            </a:pPr>
            <a:r>
              <a:rPr b="1" i="0" lang="en-US" sz="1575" u="none" cap="none" strike="noStrik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06 / 14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"/>
          <p:cNvSpPr/>
          <p:nvPr/>
        </p:nvSpPr>
        <p:spPr>
          <a:xfrm>
            <a:off x="0" y="0"/>
            <a:ext cx="18287860" cy="10286859"/>
          </a:xfrm>
          <a:prstGeom prst="rect">
            <a:avLst/>
          </a:prstGeom>
          <a:gradFill>
            <a:gsLst>
              <a:gs pos="0">
                <a:srgbClr val="FFFFFF"/>
              </a:gs>
              <a:gs pos="50000">
                <a:srgbClr val="FFFFFF"/>
              </a:gs>
              <a:gs pos="100000">
                <a:srgbClr val="F6F1FF"/>
              </a:gs>
            </a:gsLst>
            <a:lin ang="27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"/>
          <p:cNvSpPr/>
          <p:nvPr/>
        </p:nvSpPr>
        <p:spPr>
          <a:xfrm>
            <a:off x="685657" y="1046702"/>
            <a:ext cx="169165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9"/>
          <p:cNvSpPr/>
          <p:nvPr/>
        </p:nvSpPr>
        <p:spPr>
          <a:xfrm>
            <a:off x="685657" y="532924"/>
            <a:ext cx="209455" cy="209455"/>
          </a:xfrm>
          <a:prstGeom prst="roundRect">
            <a:avLst>
              <a:gd fmla="val 31833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9"/>
          <p:cNvSpPr/>
          <p:nvPr/>
        </p:nvSpPr>
        <p:spPr>
          <a:xfrm>
            <a:off x="1028414" y="505063"/>
            <a:ext cx="5664295" cy="3032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50"/>
              <a:buFont typeface="Plus Jakarta Sans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AWS STUDENT BUILDER GROUPS · VIT CHENNAI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15468222" y="419052"/>
            <a:ext cx="2133981" cy="437198"/>
          </a:xfrm>
          <a:prstGeom prst="roundRect">
            <a:avLst>
              <a:gd fmla="val 50000" name="adj"/>
            </a:avLst>
          </a:prstGeom>
          <a:solidFill>
            <a:srgbClr val="F3E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9"/>
          <p:cNvSpPr/>
          <p:nvPr/>
        </p:nvSpPr>
        <p:spPr>
          <a:xfrm>
            <a:off x="15677772" y="514302"/>
            <a:ext cx="1791081" cy="2847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500"/>
              <a:buFont typeface="Plus Jakarta Sans"/>
              <a:buNone/>
            </a:pPr>
            <a:r>
              <a:rPr b="1" i="0" lang="en-US" sz="1500" u="none" cap="none" strike="noStrike">
                <a:solidFill>
                  <a:srgbClr val="6D28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AUTOMATION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685657" y="1341454"/>
            <a:ext cx="11320260" cy="655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5443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500"/>
              <a:buFont typeface="Plus Jakarta Sans"/>
              <a:buNone/>
            </a:pPr>
            <a:r>
              <a:rPr b="1" i="0" lang="en-US" sz="4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a production workflow looks like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13248373" y="1538192"/>
            <a:ext cx="4353830" cy="502634"/>
          </a:xfrm>
          <a:prstGeom prst="roundRect">
            <a:avLst>
              <a:gd fmla="val 50000" name="adj"/>
            </a:avLst>
          </a:prstGeom>
          <a:solidFill>
            <a:srgbClr val="F3E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9"/>
          <p:cNvSpPr/>
          <p:nvPr/>
        </p:nvSpPr>
        <p:spPr>
          <a:xfrm>
            <a:off x="13457923" y="1652492"/>
            <a:ext cx="4065345" cy="3121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725"/>
              <a:buFont typeface="Plus Jakarta Sans"/>
              <a:buNone/>
            </a:pPr>
            <a:r>
              <a:rPr b="1" i="0" lang="en-US" sz="1725" u="none" cap="none" strike="noStrike">
                <a:solidFill>
                  <a:srgbClr val="5B21B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Inbound support mail to on-call page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685657" y="2250282"/>
            <a:ext cx="16916545" cy="5538693"/>
          </a:xfrm>
          <a:prstGeom prst="roundRect">
            <a:avLst>
              <a:gd fmla="val 309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9"/>
          <p:cNvSpPr/>
          <p:nvPr/>
        </p:nvSpPr>
        <p:spPr>
          <a:xfrm>
            <a:off x="942404" y="2487883"/>
            <a:ext cx="3641599" cy="2465023"/>
          </a:xfrm>
          <a:prstGeom prst="roundRect">
            <a:avLst>
              <a:gd fmla="val 463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9"/>
          <p:cNvSpPr/>
          <p:nvPr/>
        </p:nvSpPr>
        <p:spPr>
          <a:xfrm>
            <a:off x="1122855" y="3422143"/>
            <a:ext cx="3608766" cy="3307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Mail lands in support@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1122855" y="3771758"/>
            <a:ext cx="3608766" cy="284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Plus Jakarta Sans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SES or IMAP trigger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4698159" y="3555731"/>
            <a:ext cx="289941" cy="3672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5026058" y="2487883"/>
            <a:ext cx="3641599" cy="2465023"/>
          </a:xfrm>
          <a:prstGeom prst="roundRect">
            <a:avLst>
              <a:gd fmla="val 463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9"/>
          <p:cNvSpPr/>
          <p:nvPr/>
        </p:nvSpPr>
        <p:spPr>
          <a:xfrm>
            <a:off x="5206509" y="3422143"/>
            <a:ext cx="3608766" cy="3307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Normalise and dedupe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5206509" y="3771758"/>
            <a:ext cx="3608766" cy="284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Plus Jakarta Sans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Thread id, strip signature, files to S3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8781813" y="3555731"/>
            <a:ext cx="289941" cy="3672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9109711" y="2487883"/>
            <a:ext cx="4152091" cy="2465023"/>
          </a:xfrm>
          <a:prstGeom prst="roundRect">
            <a:avLst>
              <a:gd fmla="val 4637" name="adj"/>
            </a:avLst>
          </a:prstGeom>
          <a:solidFill>
            <a:srgbClr val="F5F0FF"/>
          </a:solidFill>
          <a:ln cap="flat" cmpd="sng" w="1827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9"/>
          <p:cNvSpPr/>
          <p:nvPr/>
        </p:nvSpPr>
        <p:spPr>
          <a:xfrm>
            <a:off x="9299307" y="3307843"/>
            <a:ext cx="4150191" cy="3307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5B21B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step: classify to schema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9299307" y="3657458"/>
            <a:ext cx="3886088" cy="5135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25"/>
              <a:buFont typeface="JetBrains Mono"/>
              <a:buNone/>
            </a:pPr>
            <a:r>
              <a:rPr b="0" i="0" lang="en-US" sz="1425" u="none" cap="none" strike="noStrike">
                <a:solidFill>
                  <a:srgbClr val="7C3AE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{category, urgency, sentiment, confidence}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13375959" y="3555731"/>
            <a:ext cx="289941" cy="3672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13703858" y="2487883"/>
            <a:ext cx="3641599" cy="2465023"/>
          </a:xfrm>
          <a:prstGeom prst="roundRect">
            <a:avLst>
              <a:gd fmla="val 463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9"/>
          <p:cNvSpPr/>
          <p:nvPr/>
        </p:nvSpPr>
        <p:spPr>
          <a:xfrm>
            <a:off x="13884309" y="3298699"/>
            <a:ext cx="3608766" cy="3307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Validate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13884309" y="3648314"/>
            <a:ext cx="3379117" cy="5318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Plus Jakarta Sans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Enum check, confidence 0.8 or review queue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942404" y="5086208"/>
            <a:ext cx="3641599" cy="2465166"/>
          </a:xfrm>
          <a:prstGeom prst="roundRect">
            <a:avLst>
              <a:gd fmla="val 463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9"/>
          <p:cNvSpPr/>
          <p:nvPr/>
        </p:nvSpPr>
        <p:spPr>
          <a:xfrm>
            <a:off x="1122855" y="6020468"/>
            <a:ext cx="3608766" cy="3307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Create or update ticket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1122855" y="6370083"/>
            <a:ext cx="3608766" cy="284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Plus Jakarta Sans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Idempotency key = thread id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4698159" y="6154199"/>
            <a:ext cx="289941" cy="3672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5026058" y="5086208"/>
            <a:ext cx="3659886" cy="2465166"/>
          </a:xfrm>
          <a:prstGeom prst="roundRect">
            <a:avLst>
              <a:gd fmla="val 4637" name="adj"/>
            </a:avLst>
          </a:prstGeom>
          <a:solidFill>
            <a:srgbClr val="FFFFFF"/>
          </a:solidFill>
          <a:ln cap="flat" cmpd="sng" w="1827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9"/>
          <p:cNvSpPr/>
          <p:nvPr/>
        </p:nvSpPr>
        <p:spPr>
          <a:xfrm>
            <a:off x="5215653" y="6029612"/>
            <a:ext cx="3608766" cy="31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JetBrains Mono"/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urgency = P1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5215653" y="6360939"/>
            <a:ext cx="3608766" cy="284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Plus Jakarta Sans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Plain logic, not the model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8800101" y="6154199"/>
            <a:ext cx="289941" cy="3672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9127999" y="5086208"/>
            <a:ext cx="4133803" cy="2465166"/>
          </a:xfrm>
          <a:prstGeom prst="roundRect">
            <a:avLst>
              <a:gd fmla="val 4637" name="adj"/>
            </a:avLst>
          </a:prstGeom>
          <a:solidFill>
            <a:srgbClr val="ECFDF5"/>
          </a:solidFill>
          <a:ln cap="flat" cmpd="sng" w="9525">
            <a:solidFill>
              <a:srgbClr val="6EE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9"/>
          <p:cNvSpPr/>
          <p:nvPr/>
        </p:nvSpPr>
        <p:spPr>
          <a:xfrm>
            <a:off x="9308450" y="6020468"/>
            <a:ext cx="4150191" cy="3307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065F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Page on-call, else normal queue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9308450" y="6370083"/>
            <a:ext cx="4150191" cy="284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1500"/>
              <a:buFont typeface="Plus Jakarta Sans"/>
              <a:buNone/>
            </a:pPr>
            <a:r>
              <a:rPr b="0" i="0" lang="en-US" sz="1500" u="none" cap="none" strike="noStrike">
                <a:solidFill>
                  <a:srgbClr val="04785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SNS and Slack, SLA timer starts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13375959" y="6154199"/>
            <a:ext cx="289941" cy="3672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13703858" y="5086208"/>
            <a:ext cx="3641599" cy="2465166"/>
          </a:xfrm>
          <a:prstGeom prst="roundRect">
            <a:avLst>
              <a:gd fmla="val 463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9"/>
          <p:cNvSpPr/>
          <p:nvPr/>
        </p:nvSpPr>
        <p:spPr>
          <a:xfrm>
            <a:off x="13884309" y="6020468"/>
            <a:ext cx="3608766" cy="3307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Log the run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13884309" y="6370083"/>
            <a:ext cx="3608766" cy="284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Plus Jakarta Sans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Run id, tokens, latency, cost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685657" y="7998430"/>
            <a:ext cx="5511833" cy="1411605"/>
          </a:xfrm>
          <a:prstGeom prst="roundRect">
            <a:avLst>
              <a:gd fmla="val 944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9"/>
          <p:cNvSpPr/>
          <p:nvPr/>
        </p:nvSpPr>
        <p:spPr>
          <a:xfrm>
            <a:off x="942404" y="8217028"/>
            <a:ext cx="5498174" cy="3307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THE AI OWNS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942404" y="8604791"/>
            <a:ext cx="5148290" cy="6247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632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50"/>
              <a:buFont typeface="Plus Jakarta Sans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Four fields and a confidence score. It never sends the mail or picks the branch.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6387942" y="7998430"/>
            <a:ext cx="5511833" cy="1411605"/>
          </a:xfrm>
          <a:prstGeom prst="roundRect">
            <a:avLst>
              <a:gd fmla="val 944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9"/>
          <p:cNvSpPr/>
          <p:nvPr/>
        </p:nvSpPr>
        <p:spPr>
          <a:xfrm>
            <a:off x="6644689" y="8217028"/>
            <a:ext cx="5498174" cy="3307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MAKES IT PRODUCTION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6644689" y="8604791"/>
            <a:ext cx="5148290" cy="6247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632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50"/>
              <a:buFont typeface="Plus Jakarta Sans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Idempotency key, one retry with backoff, dead letter queue for the rest.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12090227" y="7998430"/>
            <a:ext cx="5511833" cy="1411605"/>
          </a:xfrm>
          <a:prstGeom prst="roundRect">
            <a:avLst>
              <a:gd fmla="val 9447" name="adj"/>
            </a:avLst>
          </a:prstGeom>
          <a:solidFill>
            <a:srgbClr val="F5F0FF"/>
          </a:solidFill>
          <a:ln cap="flat" cmpd="sng" w="9525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9"/>
          <p:cNvSpPr/>
          <p:nvPr/>
        </p:nvSpPr>
        <p:spPr>
          <a:xfrm>
            <a:off x="12346974" y="8217028"/>
            <a:ext cx="5498174" cy="3307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5B21B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WHO DECIDES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12346974" y="8604791"/>
            <a:ext cx="5148290" cy="6247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632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50"/>
              <a:buFont typeface="Plus Jakarta Sans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IF decides. The AI only produced the fields the IF needed.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685657" y="9410035"/>
            <a:ext cx="169165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9"/>
          <p:cNvSpPr/>
          <p:nvPr/>
        </p:nvSpPr>
        <p:spPr>
          <a:xfrm>
            <a:off x="685657" y="9609631"/>
            <a:ext cx="1252300" cy="353473"/>
          </a:xfrm>
          <a:prstGeom prst="roundRect">
            <a:avLst>
              <a:gd fmla="val 18863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9"/>
          <p:cNvSpPr/>
          <p:nvPr/>
        </p:nvSpPr>
        <p:spPr>
          <a:xfrm>
            <a:off x="819007" y="9685831"/>
            <a:ext cx="1061800" cy="2391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Plus Jakarta Sans"/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FRONTIER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2090262" y="9658352"/>
            <a:ext cx="1049179" cy="2941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75"/>
              <a:buFont typeface="Plus Jakarta Sans"/>
              <a:buNone/>
            </a:pPr>
            <a:r>
              <a:rPr b="1" i="0" lang="en-US" sz="15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shape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16964981" y="9658352"/>
            <a:ext cx="713423" cy="2941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575"/>
              <a:buFont typeface="Plus Jakarta Sans"/>
              <a:buNone/>
            </a:pPr>
            <a:r>
              <a:rPr b="1" i="0" lang="en-US" sz="1575" u="none" cap="none" strike="noStrik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07 / 14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0"/>
          <p:cNvSpPr/>
          <p:nvPr/>
        </p:nvSpPr>
        <p:spPr>
          <a:xfrm>
            <a:off x="0" y="0"/>
            <a:ext cx="18287860" cy="10286859"/>
          </a:xfrm>
          <a:prstGeom prst="rect">
            <a:avLst/>
          </a:prstGeom>
          <a:gradFill>
            <a:gsLst>
              <a:gs pos="0">
                <a:srgbClr val="FFFFFF"/>
              </a:gs>
              <a:gs pos="50000">
                <a:srgbClr val="FFFFFF"/>
              </a:gs>
              <a:gs pos="100000">
                <a:srgbClr val="F6F1FF"/>
              </a:gs>
            </a:gsLst>
            <a:lin ang="27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0"/>
          <p:cNvSpPr/>
          <p:nvPr/>
        </p:nvSpPr>
        <p:spPr>
          <a:xfrm>
            <a:off x="685657" y="1046702"/>
            <a:ext cx="169165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0"/>
          <p:cNvSpPr/>
          <p:nvPr/>
        </p:nvSpPr>
        <p:spPr>
          <a:xfrm>
            <a:off x="685657" y="532924"/>
            <a:ext cx="209455" cy="209455"/>
          </a:xfrm>
          <a:prstGeom prst="roundRect">
            <a:avLst>
              <a:gd fmla="val 31833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0"/>
          <p:cNvSpPr/>
          <p:nvPr/>
        </p:nvSpPr>
        <p:spPr>
          <a:xfrm>
            <a:off x="1028414" y="505063"/>
            <a:ext cx="5664295" cy="3032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50"/>
              <a:buFont typeface="Plus Jakarta Sans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AWS STUDENT BUILDER GROUPS · VIT CHENNAI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15468222" y="419052"/>
            <a:ext cx="2133981" cy="437198"/>
          </a:xfrm>
          <a:prstGeom prst="roundRect">
            <a:avLst>
              <a:gd fmla="val 50000" name="adj"/>
            </a:avLst>
          </a:prstGeom>
          <a:solidFill>
            <a:srgbClr val="F3E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0"/>
          <p:cNvSpPr/>
          <p:nvPr/>
        </p:nvSpPr>
        <p:spPr>
          <a:xfrm>
            <a:off x="15677772" y="514302"/>
            <a:ext cx="1791081" cy="2847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500"/>
              <a:buFont typeface="Plus Jakarta Sans"/>
              <a:buNone/>
            </a:pPr>
            <a:r>
              <a:rPr b="1" i="0" lang="en-US" sz="1500" u="none" cap="none" strike="noStrike">
                <a:solidFill>
                  <a:srgbClr val="6D28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AUTOMATION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685657" y="1341454"/>
            <a:ext cx="18608200" cy="655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5443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500"/>
              <a:buFont typeface="Plus Jakarta Sans"/>
              <a:buNone/>
            </a:pPr>
            <a:r>
              <a:rPr b="1" i="0" lang="en-US" sz="4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n8n canvas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685657" y="2168128"/>
            <a:ext cx="10001251" cy="5195793"/>
          </a:xfrm>
          <a:prstGeom prst="rect">
            <a:avLst/>
          </a:prstGeom>
          <a:solidFill>
            <a:srgbClr val="7F7F7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8" name="Google Shape;338;p10" title="n8n-workflow-daily-github-trending.png"/>
          <p:cNvPicPr preferRelativeResize="0"/>
          <p:nvPr/>
        </p:nvPicPr>
        <p:blipFill rotWithShape="1">
          <a:blip r:embed="rId3">
            <a:alphaModFix/>
          </a:blip>
          <a:srcRect b="9445" l="0" r="0" t="0"/>
          <a:stretch/>
        </p:blipFill>
        <p:spPr>
          <a:xfrm>
            <a:off x="685657" y="2168128"/>
            <a:ext cx="10001253" cy="5195794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0"/>
          <p:cNvSpPr/>
          <p:nvPr/>
        </p:nvSpPr>
        <p:spPr>
          <a:xfrm>
            <a:off x="685657" y="7478079"/>
            <a:ext cx="11001376" cy="3489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SCREENSHOT: n8n canvas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10934512" y="2168128"/>
            <a:ext cx="6667549" cy="1305163"/>
          </a:xfrm>
          <a:prstGeom prst="roundRect">
            <a:avLst>
              <a:gd fmla="val 1021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0"/>
          <p:cNvSpPr/>
          <p:nvPr/>
        </p:nvSpPr>
        <p:spPr>
          <a:xfrm>
            <a:off x="11172112" y="2517886"/>
            <a:ext cx="6811581" cy="3307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Trigger node, always first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11172112" y="2867502"/>
            <a:ext cx="6811581" cy="2941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75"/>
              <a:buFont typeface="Plus Jakarta Sans"/>
              <a:buNone/>
            </a:pPr>
            <a:r>
              <a:rPr b="0" i="0" lang="en-US" sz="15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Webhook, schedule, mailbox, or app event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0"/>
          <p:cNvSpPr/>
          <p:nvPr/>
        </p:nvSpPr>
        <p:spPr>
          <a:xfrm>
            <a:off x="10934512" y="3606594"/>
            <a:ext cx="6667549" cy="1305306"/>
          </a:xfrm>
          <a:prstGeom prst="roundRect">
            <a:avLst>
              <a:gd fmla="val 1021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0"/>
          <p:cNvSpPr/>
          <p:nvPr/>
        </p:nvSpPr>
        <p:spPr>
          <a:xfrm>
            <a:off x="11172112" y="3956352"/>
            <a:ext cx="6811581" cy="3307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Wires carry JSON, left to right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11172112" y="4305967"/>
            <a:ext cx="6811581" cy="2941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75"/>
              <a:buFont typeface="Plus Jakarta Sans"/>
              <a:buNone/>
            </a:pPr>
            <a:r>
              <a:rPr b="0" i="0" lang="en-US" sz="15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Each node receives an array of items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10934512" y="5045203"/>
            <a:ext cx="6667549" cy="1305163"/>
          </a:xfrm>
          <a:prstGeom prst="roundRect">
            <a:avLst>
              <a:gd fmla="val 10217" name="adj"/>
            </a:avLst>
          </a:prstGeom>
          <a:solidFill>
            <a:srgbClr val="F5F0FF"/>
          </a:solidFill>
          <a:ln cap="flat" cmpd="sng" w="9525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0"/>
          <p:cNvSpPr/>
          <p:nvPr/>
        </p:nvSpPr>
        <p:spPr>
          <a:xfrm>
            <a:off x="11172112" y="5394961"/>
            <a:ext cx="6811581" cy="3307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5B21B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node with structured output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11172112" y="5744576"/>
            <a:ext cx="6811581" cy="2941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575"/>
              <a:buFont typeface="Plus Jakarta Sans"/>
              <a:buNone/>
            </a:pPr>
            <a:r>
              <a:rPr b="0" i="0" lang="en-US" sz="1575" u="none" cap="none" strike="noStrik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Attach a model, pin an output schema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10934512" y="6483669"/>
            <a:ext cx="6667549" cy="1305306"/>
          </a:xfrm>
          <a:prstGeom prst="roundRect">
            <a:avLst>
              <a:gd fmla="val 1021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0"/>
          <p:cNvSpPr/>
          <p:nvPr/>
        </p:nvSpPr>
        <p:spPr>
          <a:xfrm>
            <a:off x="11172112" y="6833426"/>
            <a:ext cx="6811581" cy="3307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Executions tab, where you debug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11172112" y="7183042"/>
            <a:ext cx="6811581" cy="2941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75"/>
              <a:buFont typeface="Plus Jakarta Sans"/>
              <a:buNone/>
            </a:pPr>
            <a:r>
              <a:rPr b="0" i="0" lang="en-US" sz="15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Replay any run with its input and output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685657" y="7998430"/>
            <a:ext cx="5511833" cy="1411605"/>
          </a:xfrm>
          <a:prstGeom prst="roundRect">
            <a:avLst>
              <a:gd fmla="val 944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0"/>
          <p:cNvSpPr/>
          <p:nvPr/>
        </p:nvSpPr>
        <p:spPr>
          <a:xfrm>
            <a:off x="942404" y="8217028"/>
            <a:ext cx="5498174" cy="3307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WORKFLOWS ARE JSON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942404" y="8604791"/>
            <a:ext cx="5148290" cy="6247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632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50"/>
              <a:buFont typeface="Plus Jakarta Sans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Export, paste into a repo, import on another instance. Versioning is yours.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6387942" y="7998430"/>
            <a:ext cx="5511833" cy="1411605"/>
          </a:xfrm>
          <a:prstGeom prst="roundRect">
            <a:avLst>
              <a:gd fmla="val 944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0"/>
          <p:cNvSpPr/>
          <p:nvPr/>
        </p:nvSpPr>
        <p:spPr>
          <a:xfrm>
            <a:off x="6644689" y="8217028"/>
            <a:ext cx="5498174" cy="3307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FAILURE PATH IS A NODE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6644689" y="8604791"/>
            <a:ext cx="5148290" cy="6247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632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50"/>
              <a:buFont typeface="Plus Jakarta Sans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Error Trigger plus per-node retries gives you part five without extra code.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12090227" y="7998430"/>
            <a:ext cx="5511833" cy="1411605"/>
          </a:xfrm>
          <a:prstGeom prst="roundRect">
            <a:avLst>
              <a:gd fmla="val 944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0"/>
          <p:cNvSpPr/>
          <p:nvPr/>
        </p:nvSpPr>
        <p:spPr>
          <a:xfrm>
            <a:off x="12346974" y="8217028"/>
            <a:ext cx="5498174" cy="3307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MAPPING IS THE SKILL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12346974" y="8604791"/>
            <a:ext cx="5148290" cy="6247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632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50"/>
              <a:buFont typeface="Plus Jakarta Sans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Drag the field from the previous node's output. That is where most people stall.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685657" y="9410035"/>
            <a:ext cx="169165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0"/>
          <p:cNvSpPr/>
          <p:nvPr/>
        </p:nvSpPr>
        <p:spPr>
          <a:xfrm>
            <a:off x="685657" y="9609631"/>
            <a:ext cx="1252300" cy="353473"/>
          </a:xfrm>
          <a:prstGeom prst="roundRect">
            <a:avLst>
              <a:gd fmla="val 18863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0"/>
          <p:cNvSpPr/>
          <p:nvPr/>
        </p:nvSpPr>
        <p:spPr>
          <a:xfrm>
            <a:off x="819007" y="9685831"/>
            <a:ext cx="1061800" cy="2391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Plus Jakarta Sans"/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FRONTIER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2090262" y="9658352"/>
            <a:ext cx="846582" cy="2941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75"/>
              <a:buFont typeface="Plus Jakarta Sans"/>
              <a:buNone/>
            </a:pPr>
            <a:r>
              <a:rPr b="1" i="0" lang="en-US" sz="15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tool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16950407" y="9658352"/>
            <a:ext cx="727996" cy="2941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575"/>
              <a:buFont typeface="Plus Jakarta Sans"/>
              <a:buNone/>
            </a:pPr>
            <a:r>
              <a:rPr b="1" i="0" lang="en-US" sz="1575" u="none" cap="none" strike="noStrik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08 / 14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1"/>
          <p:cNvSpPr/>
          <p:nvPr/>
        </p:nvSpPr>
        <p:spPr>
          <a:xfrm>
            <a:off x="0" y="0"/>
            <a:ext cx="18287860" cy="10286859"/>
          </a:xfrm>
          <a:prstGeom prst="rect">
            <a:avLst/>
          </a:prstGeom>
          <a:gradFill>
            <a:gsLst>
              <a:gs pos="0">
                <a:srgbClr val="FFFFFF"/>
              </a:gs>
              <a:gs pos="50000">
                <a:srgbClr val="FFFFFF"/>
              </a:gs>
              <a:gs pos="100000">
                <a:srgbClr val="F6F1FF"/>
              </a:gs>
            </a:gsLst>
            <a:lin ang="27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1"/>
          <p:cNvSpPr/>
          <p:nvPr/>
        </p:nvSpPr>
        <p:spPr>
          <a:xfrm>
            <a:off x="685657" y="1046702"/>
            <a:ext cx="169165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1"/>
          <p:cNvSpPr/>
          <p:nvPr/>
        </p:nvSpPr>
        <p:spPr>
          <a:xfrm>
            <a:off x="685657" y="532924"/>
            <a:ext cx="209455" cy="209455"/>
          </a:xfrm>
          <a:prstGeom prst="roundRect">
            <a:avLst>
              <a:gd fmla="val 31833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1"/>
          <p:cNvSpPr/>
          <p:nvPr/>
        </p:nvSpPr>
        <p:spPr>
          <a:xfrm>
            <a:off x="1028414" y="505063"/>
            <a:ext cx="5664295" cy="3032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50"/>
              <a:buFont typeface="Plus Jakarta Sans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AWS STUDENT BUILDER GROUPS · VIT CHENNAI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1"/>
          <p:cNvSpPr/>
          <p:nvPr/>
        </p:nvSpPr>
        <p:spPr>
          <a:xfrm>
            <a:off x="15468222" y="419052"/>
            <a:ext cx="2133981" cy="437198"/>
          </a:xfrm>
          <a:prstGeom prst="roundRect">
            <a:avLst>
              <a:gd fmla="val 50000" name="adj"/>
            </a:avLst>
          </a:prstGeom>
          <a:solidFill>
            <a:srgbClr val="F3E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1"/>
          <p:cNvSpPr/>
          <p:nvPr/>
        </p:nvSpPr>
        <p:spPr>
          <a:xfrm>
            <a:off x="15677772" y="514302"/>
            <a:ext cx="1791081" cy="2847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500"/>
              <a:buFont typeface="Plus Jakarta Sans"/>
              <a:buNone/>
            </a:pPr>
            <a:r>
              <a:rPr b="1" i="0" lang="en-US" sz="1500" u="none" cap="none" strike="noStrike">
                <a:solidFill>
                  <a:srgbClr val="6D28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AUTOMATION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/>
          <p:nvPr/>
        </p:nvSpPr>
        <p:spPr>
          <a:xfrm>
            <a:off x="685657" y="1322451"/>
            <a:ext cx="18608200" cy="6140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5135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200"/>
              <a:buFont typeface="Plus Jakarta Sans"/>
              <a:buNone/>
            </a:pPr>
            <a:r>
              <a:rPr b="1" i="0" lang="en-US" sz="4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tools you will actually hear about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1"/>
          <p:cNvSpPr/>
          <p:nvPr/>
        </p:nvSpPr>
        <p:spPr>
          <a:xfrm>
            <a:off x="685657" y="2088833"/>
            <a:ext cx="18608200" cy="359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534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75"/>
              <a:buFont typeface="Plus Jakarta Sans"/>
              <a:buNone/>
            </a:pPr>
            <a:r>
              <a:rPr b="1" i="0" lang="en-US" sz="18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All of these build the same four-step loop. What changes is how much you draw versus how much you write.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1"/>
          <p:cNvSpPr/>
          <p:nvPr/>
        </p:nvSpPr>
        <p:spPr>
          <a:xfrm>
            <a:off x="685657" y="2600754"/>
            <a:ext cx="16916545" cy="5897881"/>
          </a:xfrm>
          <a:prstGeom prst="roundRect">
            <a:avLst>
              <a:gd fmla="val 290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1"/>
          <p:cNvSpPr/>
          <p:nvPr/>
        </p:nvSpPr>
        <p:spPr>
          <a:xfrm>
            <a:off x="923258" y="2838355"/>
            <a:ext cx="5353384" cy="5422679"/>
          </a:xfrm>
          <a:prstGeom prst="roundRect">
            <a:avLst>
              <a:gd fmla="val 284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1"/>
          <p:cNvSpPr/>
          <p:nvPr/>
        </p:nvSpPr>
        <p:spPr>
          <a:xfrm>
            <a:off x="1180005" y="3095102"/>
            <a:ext cx="1296019" cy="399764"/>
          </a:xfrm>
          <a:prstGeom prst="roundRect">
            <a:avLst>
              <a:gd fmla="val 19061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1"/>
          <p:cNvSpPr/>
          <p:nvPr/>
        </p:nvSpPr>
        <p:spPr>
          <a:xfrm>
            <a:off x="1332405" y="3180827"/>
            <a:ext cx="1067419" cy="2664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425"/>
              <a:buFont typeface="Plus Jakarta Sans"/>
              <a:buNone/>
            </a:pPr>
            <a:r>
              <a:rPr b="1" i="0" lang="en-US" sz="1425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 CODE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1"/>
          <p:cNvSpPr/>
          <p:nvPr/>
        </p:nvSpPr>
        <p:spPr>
          <a:xfrm>
            <a:off x="1180005" y="3647171"/>
            <a:ext cx="5323881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429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You describe it, the tool wires it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1"/>
          <p:cNvSpPr/>
          <p:nvPr/>
        </p:nvSpPr>
        <p:spPr>
          <a:xfrm>
            <a:off x="1180005" y="4108086"/>
            <a:ext cx="5323881" cy="31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25"/>
              <a:buFont typeface="Plus Jakarta Sans"/>
              <a:buNone/>
            </a:pPr>
            <a:r>
              <a:rPr b="1" i="0" lang="en-US" sz="17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Zapier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1"/>
          <p:cNvSpPr/>
          <p:nvPr/>
        </p:nvSpPr>
        <p:spPr>
          <a:xfrm>
            <a:off x="1180005" y="4401408"/>
            <a:ext cx="4985088" cy="5267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25"/>
              <a:buFont typeface="Plus Jakarta Sans"/>
              <a:buNone/>
            </a:pPr>
            <a:r>
              <a:rPr b="0" i="0" lang="en-US" sz="14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trigger, a few actions, thousands of apps already connected.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1"/>
          <p:cNvSpPr/>
          <p:nvPr/>
        </p:nvSpPr>
        <p:spPr>
          <a:xfrm>
            <a:off x="1180005" y="5013770"/>
            <a:ext cx="5323881" cy="31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25"/>
              <a:buFont typeface="Plus Jakarta Sans"/>
              <a:buNone/>
            </a:pPr>
            <a:r>
              <a:rPr b="1" i="0" lang="en-US" sz="17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Manus and Lindy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1"/>
          <p:cNvSpPr/>
          <p:nvPr/>
        </p:nvSpPr>
        <p:spPr>
          <a:xfrm>
            <a:off x="1180005" y="5307093"/>
            <a:ext cx="4985088" cy="5267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25"/>
              <a:buFont typeface="Plus Jakarta Sans"/>
              <a:buNone/>
            </a:pPr>
            <a:r>
              <a:rPr b="0" i="0" lang="en-US" sz="14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You explain the job in English, an agent figures out the steps.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1"/>
          <p:cNvSpPr/>
          <p:nvPr/>
        </p:nvSpPr>
        <p:spPr>
          <a:xfrm>
            <a:off x="1180005" y="5919455"/>
            <a:ext cx="5323881" cy="31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25"/>
              <a:buFont typeface="Plus Jakarta Sans"/>
              <a:buNone/>
            </a:pPr>
            <a:r>
              <a:rPr b="1" i="0" lang="en-US" sz="17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Google Apps Script templates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1"/>
          <p:cNvSpPr/>
          <p:nvPr/>
        </p:nvSpPr>
        <p:spPr>
          <a:xfrm>
            <a:off x="1180005" y="6212778"/>
            <a:ext cx="5323881" cy="2824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25"/>
              <a:buFont typeface="Plus Jakarta Sans"/>
              <a:buNone/>
            </a:pPr>
            <a:r>
              <a:rPr b="0" i="0" lang="en-US" sz="14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Free, already inside Sheets and Gmail.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1"/>
          <p:cNvSpPr/>
          <p:nvPr/>
        </p:nvSpPr>
        <p:spPr>
          <a:xfrm>
            <a:off x="1180005" y="7186471"/>
            <a:ext cx="4839891" cy="836962"/>
          </a:xfrm>
          <a:prstGeom prst="roundRect">
            <a:avLst>
              <a:gd fmla="val 13657" name="adj"/>
            </a:avLst>
          </a:prstGeom>
          <a:solidFill>
            <a:srgbClr val="F0FDF4"/>
          </a:solidFill>
          <a:ln cap="flat" cmpd="sng" w="9525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1"/>
          <p:cNvSpPr/>
          <p:nvPr/>
        </p:nvSpPr>
        <p:spPr>
          <a:xfrm>
            <a:off x="1360456" y="7347920"/>
            <a:ext cx="4613359" cy="5521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167"/>
              </a:lnSpc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500"/>
              <a:buFont typeface="Plus Jakarta Sans"/>
              <a:buNone/>
            </a:pPr>
            <a:r>
              <a:rPr b="1" i="0" lang="en-US" sz="1500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wall: reshaping data, or any step that needs to loop.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1"/>
          <p:cNvSpPr/>
          <p:nvPr/>
        </p:nvSpPr>
        <p:spPr>
          <a:xfrm>
            <a:off x="6467095" y="2838355"/>
            <a:ext cx="5353527" cy="5422679"/>
          </a:xfrm>
          <a:prstGeom prst="roundRect">
            <a:avLst>
              <a:gd fmla="val 284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1"/>
          <p:cNvSpPr/>
          <p:nvPr/>
        </p:nvSpPr>
        <p:spPr>
          <a:xfrm>
            <a:off x="6723841" y="3095102"/>
            <a:ext cx="1458325" cy="399764"/>
          </a:xfrm>
          <a:prstGeom prst="roundRect">
            <a:avLst>
              <a:gd fmla="val 19061" name="adj"/>
            </a:avLst>
          </a:prstGeom>
          <a:solidFill>
            <a:srgbClr val="F3E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1"/>
          <p:cNvSpPr/>
          <p:nvPr/>
        </p:nvSpPr>
        <p:spPr>
          <a:xfrm>
            <a:off x="6876241" y="3180827"/>
            <a:ext cx="1229725" cy="2664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425"/>
              <a:buFont typeface="Plus Jakarta Sans"/>
              <a:buNone/>
            </a:pPr>
            <a:r>
              <a:rPr b="1" i="0" lang="en-US" sz="1425" u="none" cap="none" strike="noStrike">
                <a:solidFill>
                  <a:srgbClr val="6D28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LOW CODE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1"/>
          <p:cNvSpPr/>
          <p:nvPr/>
        </p:nvSpPr>
        <p:spPr>
          <a:xfrm>
            <a:off x="6723841" y="3647171"/>
            <a:ext cx="4985235" cy="655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429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You draw the flow and write the tricky bit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1"/>
          <p:cNvSpPr/>
          <p:nvPr/>
        </p:nvSpPr>
        <p:spPr>
          <a:xfrm>
            <a:off x="6723841" y="4416696"/>
            <a:ext cx="5324038" cy="31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25"/>
              <a:buFont typeface="Plus Jakarta Sans"/>
              <a:buNone/>
            </a:pPr>
            <a:r>
              <a:rPr b="1" i="0" lang="en-US" sz="17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n8n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1"/>
          <p:cNvSpPr/>
          <p:nvPr/>
        </p:nvSpPr>
        <p:spPr>
          <a:xfrm>
            <a:off x="6723841" y="4710018"/>
            <a:ext cx="4985235" cy="5267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25"/>
              <a:buFont typeface="Plus Jakarta Sans"/>
              <a:buNone/>
            </a:pPr>
            <a:r>
              <a:rPr b="0" i="0" lang="en-US" sz="14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Nodes and wires, deep AI support, and a JavaScript node when you need it.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1"/>
          <p:cNvSpPr/>
          <p:nvPr/>
        </p:nvSpPr>
        <p:spPr>
          <a:xfrm>
            <a:off x="6723841" y="5322380"/>
            <a:ext cx="5324038" cy="31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25"/>
              <a:buFont typeface="Plus Jakarta Sans"/>
              <a:buNone/>
            </a:pPr>
            <a:r>
              <a:rPr b="1" i="0" lang="en-US" sz="17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Make.com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1"/>
          <p:cNvSpPr/>
          <p:nvPr/>
        </p:nvSpPr>
        <p:spPr>
          <a:xfrm>
            <a:off x="6723841" y="5615703"/>
            <a:ext cx="4985235" cy="5267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25"/>
              <a:buFont typeface="Plus Jakarta Sans"/>
              <a:buNone/>
            </a:pPr>
            <a:r>
              <a:rPr b="0" i="0" lang="en-US" sz="14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Friendlier bubbles and animated runs. Cloud only, paid per operation.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1"/>
          <p:cNvSpPr/>
          <p:nvPr/>
        </p:nvSpPr>
        <p:spPr>
          <a:xfrm>
            <a:off x="6723841" y="6228065"/>
            <a:ext cx="5324038" cy="31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25"/>
              <a:buFont typeface="Plus Jakarta Sans"/>
              <a:buNone/>
            </a:pPr>
            <a:r>
              <a:rPr b="1" i="0" lang="en-US" sz="17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Dify and Flowise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1"/>
          <p:cNvSpPr/>
          <p:nvPr/>
        </p:nvSpPr>
        <p:spPr>
          <a:xfrm>
            <a:off x="6723841" y="6521387"/>
            <a:ext cx="4985235" cy="5267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25"/>
              <a:buFont typeface="Plus Jakarta Sans"/>
              <a:buNone/>
            </a:pPr>
            <a:r>
              <a:rPr b="0" i="0" lang="en-US" sz="14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Built for LLM apps: prompts, retrieval, and agents on a canvas.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1"/>
          <p:cNvSpPr/>
          <p:nvPr/>
        </p:nvSpPr>
        <p:spPr>
          <a:xfrm>
            <a:off x="6723841" y="7186471"/>
            <a:ext cx="4840034" cy="836962"/>
          </a:xfrm>
          <a:prstGeom prst="roundRect">
            <a:avLst>
              <a:gd fmla="val 13657" name="adj"/>
            </a:avLst>
          </a:prstGeom>
          <a:solidFill>
            <a:srgbClr val="FAF5FF"/>
          </a:solidFill>
          <a:ln cap="flat" cmpd="sng" w="9525">
            <a:solidFill>
              <a:srgbClr val="E9D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1"/>
          <p:cNvSpPr/>
          <p:nvPr/>
        </p:nvSpPr>
        <p:spPr>
          <a:xfrm>
            <a:off x="6904293" y="7347920"/>
            <a:ext cx="4613506" cy="5521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167"/>
              </a:lnSpc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500"/>
              <a:buFont typeface="Plus Jakarta Sans"/>
              <a:buNone/>
            </a:pPr>
            <a:r>
              <a:rPr b="1" i="0" lang="en-US" sz="1500" u="none" cap="none" strike="noStrike">
                <a:solidFill>
                  <a:srgbClr val="5B21B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wall: logic so branchy the canvas is harder to read than code.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1"/>
          <p:cNvSpPr/>
          <p:nvPr/>
        </p:nvSpPr>
        <p:spPr>
          <a:xfrm>
            <a:off x="12011075" y="2838355"/>
            <a:ext cx="5353527" cy="5422679"/>
          </a:xfrm>
          <a:prstGeom prst="roundRect">
            <a:avLst>
              <a:gd fmla="val 284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1"/>
          <p:cNvSpPr/>
          <p:nvPr/>
        </p:nvSpPr>
        <p:spPr>
          <a:xfrm>
            <a:off x="12267821" y="3095102"/>
            <a:ext cx="915972" cy="399764"/>
          </a:xfrm>
          <a:prstGeom prst="roundRect">
            <a:avLst>
              <a:gd fmla="val 19061" name="adj"/>
            </a:avLst>
          </a:prstGeom>
          <a:solidFill>
            <a:srgbClr val="E0E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1"/>
          <p:cNvSpPr/>
          <p:nvPr/>
        </p:nvSpPr>
        <p:spPr>
          <a:xfrm>
            <a:off x="12420221" y="3180827"/>
            <a:ext cx="687372" cy="2664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30A3"/>
              </a:buClr>
              <a:buSzPts val="1425"/>
              <a:buFont typeface="Plus Jakarta Sans"/>
              <a:buNone/>
            </a:pPr>
            <a:r>
              <a:rPr b="1" i="0" lang="en-US" sz="1425" u="none" cap="none" strike="noStrike">
                <a:solidFill>
                  <a:srgbClr val="3730A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CODE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1"/>
          <p:cNvSpPr/>
          <p:nvPr/>
        </p:nvSpPr>
        <p:spPr>
          <a:xfrm>
            <a:off x="12267821" y="3647171"/>
            <a:ext cx="5324038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429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25"/>
              <a:buFont typeface="Plus Jakarta Sans"/>
              <a:buNone/>
            </a:pPr>
            <a:r>
              <a:rPr b="1" i="0" lang="en-US" sz="20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You own every line and every failure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1"/>
          <p:cNvSpPr/>
          <p:nvPr/>
        </p:nvSpPr>
        <p:spPr>
          <a:xfrm>
            <a:off x="12267821" y="4108086"/>
            <a:ext cx="5324038" cy="31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25"/>
              <a:buFont typeface="Plus Jakarta Sans"/>
              <a:buNone/>
            </a:pPr>
            <a:r>
              <a:rPr b="1" i="0" lang="en-US" sz="17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Python with LangGraph or CrewAI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1"/>
          <p:cNvSpPr/>
          <p:nvPr/>
        </p:nvSpPr>
        <p:spPr>
          <a:xfrm>
            <a:off x="12267821" y="4401408"/>
            <a:ext cx="5324038" cy="2824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25"/>
              <a:buFont typeface="Plus Jakarta Sans"/>
              <a:buNone/>
            </a:pPr>
            <a:r>
              <a:rPr b="0" i="0" lang="en-US" sz="14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Multi-step agents with real state and tool calling.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1"/>
          <p:cNvSpPr/>
          <p:nvPr/>
        </p:nvSpPr>
        <p:spPr>
          <a:xfrm>
            <a:off x="12267821" y="4769454"/>
            <a:ext cx="5324038" cy="31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25"/>
              <a:buFont typeface="Plus Jakarta Sans"/>
              <a:buNone/>
            </a:pPr>
            <a:r>
              <a:rPr b="1" i="0" lang="en-US" sz="17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AWS Lambda and Step Functions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1"/>
          <p:cNvSpPr/>
          <p:nvPr/>
        </p:nvSpPr>
        <p:spPr>
          <a:xfrm>
            <a:off x="12267821" y="5062776"/>
            <a:ext cx="5324038" cy="2824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25"/>
              <a:buFont typeface="Plus Jakarta Sans"/>
              <a:buNone/>
            </a:pPr>
            <a:r>
              <a:rPr b="0" i="0" lang="en-US" sz="14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Functions for the work, a state machine for retries.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1"/>
          <p:cNvSpPr/>
          <p:nvPr/>
        </p:nvSpPr>
        <p:spPr>
          <a:xfrm>
            <a:off x="12267821" y="5430823"/>
            <a:ext cx="5324038" cy="31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25"/>
              <a:buFont typeface="Plus Jakarta Sans"/>
              <a:buNone/>
            </a:pPr>
            <a:r>
              <a:rPr b="1" i="0" lang="en-US" sz="17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Bedrock Agents and AgentCore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1"/>
          <p:cNvSpPr/>
          <p:nvPr/>
        </p:nvSpPr>
        <p:spPr>
          <a:xfrm>
            <a:off x="12267821" y="5724145"/>
            <a:ext cx="5324038" cy="2824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25"/>
              <a:buFont typeface="Plus Jakarta Sans"/>
              <a:buNone/>
            </a:pPr>
            <a:r>
              <a:rPr b="0" i="0" lang="en-US" sz="14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Managed agents with IAM and logging already attached.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1"/>
          <p:cNvSpPr/>
          <p:nvPr/>
        </p:nvSpPr>
        <p:spPr>
          <a:xfrm>
            <a:off x="12267821" y="7186471"/>
            <a:ext cx="4840034" cy="836962"/>
          </a:xfrm>
          <a:prstGeom prst="roundRect">
            <a:avLst>
              <a:gd fmla="val 13657" name="adj"/>
            </a:avLst>
          </a:prstGeom>
          <a:solidFill>
            <a:srgbClr val="EEF2FF"/>
          </a:solidFill>
          <a:ln cap="flat" cmpd="sng" w="9525">
            <a:solidFill>
              <a:srgbClr val="C7D2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1"/>
          <p:cNvSpPr/>
          <p:nvPr/>
        </p:nvSpPr>
        <p:spPr>
          <a:xfrm>
            <a:off x="12448273" y="7347920"/>
            <a:ext cx="4613506" cy="5521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167"/>
              </a:lnSpc>
              <a:spcBef>
                <a:spcPts val="0"/>
              </a:spcBef>
              <a:spcAft>
                <a:spcPts val="0"/>
              </a:spcAft>
              <a:buClr>
                <a:srgbClr val="3730A3"/>
              </a:buClr>
              <a:buSzPts val="1500"/>
              <a:buFont typeface="Plus Jakarta Sans"/>
              <a:buNone/>
            </a:pPr>
            <a:r>
              <a:rPr b="1" i="0" lang="en-US" sz="1500" u="none" cap="none" strike="noStrike">
                <a:solidFill>
                  <a:srgbClr val="3730A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wall: time, not capability. A bad place to start on a Friday.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1"/>
          <p:cNvSpPr/>
          <p:nvPr/>
        </p:nvSpPr>
        <p:spPr>
          <a:xfrm>
            <a:off x="685657" y="8689088"/>
            <a:ext cx="16916545" cy="720947"/>
          </a:xfrm>
          <a:prstGeom prst="roundRect">
            <a:avLst>
              <a:gd fmla="val 21139" name="adj"/>
            </a:avLst>
          </a:prstGeom>
          <a:solidFill>
            <a:srgbClr val="FAF5FF"/>
          </a:solidFill>
          <a:ln cap="flat" cmpd="sng" w="9525">
            <a:solidFill>
              <a:srgbClr val="E9D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1"/>
          <p:cNvSpPr/>
          <p:nvPr/>
        </p:nvSpPr>
        <p:spPr>
          <a:xfrm>
            <a:off x="980408" y="8888684"/>
            <a:ext cx="17081838" cy="3598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3554"/>
              </a:lnSpc>
              <a:spcBef>
                <a:spcPts val="0"/>
              </a:spcBef>
              <a:spcAft>
                <a:spcPts val="0"/>
              </a:spcAft>
              <a:buClr>
                <a:srgbClr val="4C1D95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4C1D9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Start in the middle column, drop into code only for the step the canvas cannot do, and do not spend Saturday self-hosting Docker.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1"/>
          <p:cNvSpPr/>
          <p:nvPr/>
        </p:nvSpPr>
        <p:spPr>
          <a:xfrm>
            <a:off x="685657" y="9410035"/>
            <a:ext cx="169165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1"/>
          <p:cNvSpPr/>
          <p:nvPr/>
        </p:nvSpPr>
        <p:spPr>
          <a:xfrm>
            <a:off x="685657" y="9609631"/>
            <a:ext cx="1252300" cy="353473"/>
          </a:xfrm>
          <a:prstGeom prst="roundRect">
            <a:avLst>
              <a:gd fmla="val 18863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1"/>
          <p:cNvSpPr/>
          <p:nvPr/>
        </p:nvSpPr>
        <p:spPr>
          <a:xfrm>
            <a:off x="819007" y="9685831"/>
            <a:ext cx="1061800" cy="2391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Plus Jakarta Sans"/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FRONTIER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1"/>
          <p:cNvSpPr/>
          <p:nvPr/>
        </p:nvSpPr>
        <p:spPr>
          <a:xfrm>
            <a:off x="2090262" y="9658352"/>
            <a:ext cx="1009603" cy="2941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75"/>
              <a:buFont typeface="Plus Jakarta Sans"/>
              <a:buNone/>
            </a:pPr>
            <a:r>
              <a:rPr b="1" i="0" lang="en-US" sz="15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Choosing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1"/>
          <p:cNvSpPr/>
          <p:nvPr/>
        </p:nvSpPr>
        <p:spPr>
          <a:xfrm>
            <a:off x="16956408" y="9658352"/>
            <a:ext cx="721995" cy="2941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575"/>
              <a:buFont typeface="Plus Jakarta Sans"/>
              <a:buNone/>
            </a:pPr>
            <a:r>
              <a:rPr b="1" i="0" lang="en-US" sz="1575" u="none" cap="none" strike="noStrik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09 / 14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2"/>
          <p:cNvSpPr/>
          <p:nvPr/>
        </p:nvSpPr>
        <p:spPr>
          <a:xfrm>
            <a:off x="0" y="0"/>
            <a:ext cx="18287860" cy="10286859"/>
          </a:xfrm>
          <a:prstGeom prst="rect">
            <a:avLst/>
          </a:prstGeom>
          <a:gradFill>
            <a:gsLst>
              <a:gs pos="0">
                <a:srgbClr val="FFFFFF"/>
              </a:gs>
              <a:gs pos="50000">
                <a:srgbClr val="FFFFFF"/>
              </a:gs>
              <a:gs pos="100000">
                <a:srgbClr val="F6F1FF"/>
              </a:gs>
            </a:gsLst>
            <a:lin ang="27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2"/>
          <p:cNvSpPr/>
          <p:nvPr/>
        </p:nvSpPr>
        <p:spPr>
          <a:xfrm>
            <a:off x="685657" y="1046702"/>
            <a:ext cx="169165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2"/>
          <p:cNvSpPr/>
          <p:nvPr/>
        </p:nvSpPr>
        <p:spPr>
          <a:xfrm>
            <a:off x="685657" y="532924"/>
            <a:ext cx="209455" cy="209455"/>
          </a:xfrm>
          <a:prstGeom prst="roundRect">
            <a:avLst>
              <a:gd fmla="val 31833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2"/>
          <p:cNvSpPr/>
          <p:nvPr/>
        </p:nvSpPr>
        <p:spPr>
          <a:xfrm>
            <a:off x="1028414" y="505063"/>
            <a:ext cx="5664295" cy="3032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50"/>
              <a:buFont typeface="Plus Jakarta Sans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AWS STUDENT BUILDER GROUPS · VIT CHENNAI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2"/>
          <p:cNvSpPr/>
          <p:nvPr/>
        </p:nvSpPr>
        <p:spPr>
          <a:xfrm>
            <a:off x="15468222" y="419052"/>
            <a:ext cx="2133981" cy="437198"/>
          </a:xfrm>
          <a:prstGeom prst="roundRect">
            <a:avLst>
              <a:gd fmla="val 50000" name="adj"/>
            </a:avLst>
          </a:prstGeom>
          <a:solidFill>
            <a:srgbClr val="F3E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2"/>
          <p:cNvSpPr/>
          <p:nvPr/>
        </p:nvSpPr>
        <p:spPr>
          <a:xfrm>
            <a:off x="15677772" y="514302"/>
            <a:ext cx="1791081" cy="2847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500"/>
              <a:buFont typeface="Plus Jakarta Sans"/>
              <a:buNone/>
            </a:pPr>
            <a:r>
              <a:rPr b="1" i="0" lang="en-US" sz="1500" u="none" cap="none" strike="noStrike">
                <a:solidFill>
                  <a:srgbClr val="6D28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AUTOMATION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2"/>
          <p:cNvSpPr/>
          <p:nvPr/>
        </p:nvSpPr>
        <p:spPr>
          <a:xfrm>
            <a:off x="685657" y="1341454"/>
            <a:ext cx="18608200" cy="655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5443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500"/>
              <a:buFont typeface="Plus Jakarta Sans"/>
              <a:buNone/>
            </a:pPr>
            <a:r>
              <a:rPr b="1" i="0" lang="en-US" sz="4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Your laptop is not a server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2"/>
          <p:cNvSpPr/>
          <p:nvPr/>
        </p:nvSpPr>
        <p:spPr>
          <a:xfrm>
            <a:off x="685657" y="2168128"/>
            <a:ext cx="5499117" cy="5448539"/>
          </a:xfrm>
          <a:prstGeom prst="roundRect">
            <a:avLst>
              <a:gd fmla="val 279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2"/>
          <p:cNvSpPr/>
          <p:nvPr/>
        </p:nvSpPr>
        <p:spPr>
          <a:xfrm>
            <a:off x="961406" y="2443877"/>
            <a:ext cx="5442381" cy="3489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CLOSE THE LID, IT DIES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2"/>
          <p:cNvSpPr/>
          <p:nvPr/>
        </p:nvSpPr>
        <p:spPr>
          <a:xfrm>
            <a:off x="961406" y="2888076"/>
            <a:ext cx="5096048" cy="10325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281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Plus Jakarta Sans"/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It only runs while your machine is awake. Sleep, flat battery, hostel wifi dropping out at midnight — same thing, all downtime.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2"/>
          <p:cNvSpPr/>
          <p:nvPr/>
        </p:nvSpPr>
        <p:spPr>
          <a:xfrm>
            <a:off x="961406" y="4015788"/>
            <a:ext cx="5096048" cy="651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806"/>
              </a:lnSpc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725"/>
              <a:buFont typeface="Plus Jakarta Sans"/>
              <a:buNone/>
            </a:pPr>
            <a:r>
              <a:rPr b="1" i="0" lang="en-US" sz="1725" u="none" cap="none" strike="noStrik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 that 2am run? Never happened. Nobody noticed until Monday.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2"/>
          <p:cNvSpPr/>
          <p:nvPr/>
        </p:nvSpPr>
        <p:spPr>
          <a:xfrm>
            <a:off x="6394229" y="2168128"/>
            <a:ext cx="5499260" cy="5448539"/>
          </a:xfrm>
          <a:prstGeom prst="roundRect">
            <a:avLst>
              <a:gd fmla="val 279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2"/>
          <p:cNvSpPr/>
          <p:nvPr/>
        </p:nvSpPr>
        <p:spPr>
          <a:xfrm>
            <a:off x="6669978" y="2443877"/>
            <a:ext cx="5442538" cy="3489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NOBODY ELSE CAN REACH IT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2"/>
          <p:cNvSpPr/>
          <p:nvPr/>
        </p:nvSpPr>
        <p:spPr>
          <a:xfrm>
            <a:off x="6669978" y="2888076"/>
            <a:ext cx="5096195" cy="10325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281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Plus Jakarta Sans"/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Webhooks need somewhere public to knock. localhost means nothing to the internet, and your ngrok tunnel dies with the terminal.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2"/>
          <p:cNvSpPr/>
          <p:nvPr/>
        </p:nvSpPr>
        <p:spPr>
          <a:xfrm>
            <a:off x="6669978" y="4015788"/>
            <a:ext cx="5096195" cy="651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806"/>
              </a:lnSpc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725"/>
              <a:buFont typeface="Plus Jakarta Sans"/>
              <a:buNone/>
            </a:pPr>
            <a:r>
              <a:rPr b="1" i="0" lang="en-US" sz="1725" u="none" cap="none" strike="noStrik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New tunnel, new URL, and every integration breaks all over again.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2"/>
          <p:cNvSpPr/>
          <p:nvPr/>
        </p:nvSpPr>
        <p:spPr>
          <a:xfrm>
            <a:off x="12102944" y="2168128"/>
            <a:ext cx="5499260" cy="5448539"/>
          </a:xfrm>
          <a:prstGeom prst="roundRect">
            <a:avLst>
              <a:gd fmla="val 279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2"/>
          <p:cNvSpPr/>
          <p:nvPr/>
        </p:nvSpPr>
        <p:spPr>
          <a:xfrm>
            <a:off x="12378692" y="2443877"/>
            <a:ext cx="5442538" cy="3489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YOUR KEYS ARE JUST SITTING THERE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2"/>
          <p:cNvSpPr/>
          <p:nvPr/>
        </p:nvSpPr>
        <p:spPr>
          <a:xfrm>
            <a:off x="12378692" y="2888076"/>
            <a:ext cx="5096195" cy="1363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281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Plus Jakarta Sans"/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.env on your desktop. Nothing rotating them, nothing scoping them, nobody watching. Share the laptop or push the file once and they are out.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2"/>
          <p:cNvSpPr/>
          <p:nvPr/>
        </p:nvSpPr>
        <p:spPr>
          <a:xfrm>
            <a:off x="12378692" y="4347258"/>
            <a:ext cx="5096195" cy="651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806"/>
              </a:lnSpc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725"/>
              <a:buFont typeface="Plus Jakarta Sans"/>
              <a:buNone/>
            </a:pPr>
            <a:r>
              <a:rPr b="1" i="0" lang="en-US" sz="1725" u="none" cap="none" strike="noStrik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And no log, so nobody can say which run touched which record.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2"/>
          <p:cNvSpPr/>
          <p:nvPr/>
        </p:nvSpPr>
        <p:spPr>
          <a:xfrm>
            <a:off x="685657" y="7826122"/>
            <a:ext cx="16916545" cy="1583912"/>
          </a:xfrm>
          <a:prstGeom prst="roundRect">
            <a:avLst>
              <a:gd fmla="val 9622" name="adj"/>
            </a:avLst>
          </a:prstGeom>
          <a:solidFill>
            <a:srgbClr val="FAF5FF"/>
          </a:solidFill>
          <a:ln cap="flat" cmpd="sng" w="9525">
            <a:solidFill>
              <a:srgbClr val="E9D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2"/>
          <p:cNvSpPr/>
          <p:nvPr/>
        </p:nvSpPr>
        <p:spPr>
          <a:xfrm>
            <a:off x="999554" y="8063723"/>
            <a:ext cx="16777415" cy="7064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537"/>
              </a:lnSpc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5B21B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Running it on your laptop is completely fine while you are the only one using it. The second somebody else depends on it, it has to stay up, live at a real URL, and not care that you went home.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2"/>
          <p:cNvSpPr/>
          <p:nvPr/>
        </p:nvSpPr>
        <p:spPr>
          <a:xfrm>
            <a:off x="999554" y="8827248"/>
            <a:ext cx="17917627" cy="3832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9369"/>
              </a:lnSpc>
              <a:spcBef>
                <a:spcPts val="0"/>
              </a:spcBef>
              <a:spcAft>
                <a:spcPts val="0"/>
              </a:spcAft>
              <a:buClr>
                <a:srgbClr val="4C1D95"/>
              </a:buClr>
              <a:buSzPts val="2175"/>
              <a:buFont typeface="Plus Jakarta Sans"/>
              <a:buNone/>
            </a:pPr>
            <a:r>
              <a:rPr b="1" i="0" lang="en-US" sz="2175" u="none" cap="none" strike="noStrike">
                <a:solidFill>
                  <a:srgbClr val="4C1D9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That is not an AI problem. It is a hosting problem.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2"/>
          <p:cNvSpPr/>
          <p:nvPr/>
        </p:nvSpPr>
        <p:spPr>
          <a:xfrm>
            <a:off x="685657" y="9410035"/>
            <a:ext cx="169165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2"/>
          <p:cNvSpPr/>
          <p:nvPr/>
        </p:nvSpPr>
        <p:spPr>
          <a:xfrm>
            <a:off x="685657" y="9609631"/>
            <a:ext cx="1252300" cy="353473"/>
          </a:xfrm>
          <a:prstGeom prst="roundRect">
            <a:avLst>
              <a:gd fmla="val 18863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2"/>
          <p:cNvSpPr/>
          <p:nvPr/>
        </p:nvSpPr>
        <p:spPr>
          <a:xfrm>
            <a:off x="819007" y="9685831"/>
            <a:ext cx="1061800" cy="2391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Plus Jakarta Sans"/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FRONTIER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2"/>
          <p:cNvSpPr/>
          <p:nvPr/>
        </p:nvSpPr>
        <p:spPr>
          <a:xfrm>
            <a:off x="2090262" y="9658352"/>
            <a:ext cx="1030177" cy="2941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75"/>
              <a:buFont typeface="Plus Jakarta Sans"/>
              <a:buNone/>
            </a:pPr>
            <a:r>
              <a:rPr b="1" i="0" lang="en-US" sz="15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Going live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2"/>
          <p:cNvSpPr/>
          <p:nvPr/>
        </p:nvSpPr>
        <p:spPr>
          <a:xfrm>
            <a:off x="16996127" y="9658352"/>
            <a:ext cx="682276" cy="2941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575"/>
              <a:buFont typeface="Plus Jakarta Sans"/>
              <a:buNone/>
            </a:pPr>
            <a:r>
              <a:rPr b="1" i="0" lang="en-US" sz="1575" u="none" cap="none" strike="noStrik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 / 14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3"/>
          <p:cNvSpPr/>
          <p:nvPr/>
        </p:nvSpPr>
        <p:spPr>
          <a:xfrm>
            <a:off x="0" y="0"/>
            <a:ext cx="18287860" cy="10286859"/>
          </a:xfrm>
          <a:prstGeom prst="rect">
            <a:avLst/>
          </a:prstGeom>
          <a:gradFill>
            <a:gsLst>
              <a:gs pos="0">
                <a:srgbClr val="FFFFFF"/>
              </a:gs>
              <a:gs pos="50000">
                <a:srgbClr val="FFFFFF"/>
              </a:gs>
              <a:gs pos="100000">
                <a:srgbClr val="F6F1FF"/>
              </a:gs>
            </a:gsLst>
            <a:lin ang="27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3"/>
          <p:cNvSpPr/>
          <p:nvPr/>
        </p:nvSpPr>
        <p:spPr>
          <a:xfrm>
            <a:off x="685657" y="1046702"/>
            <a:ext cx="169165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3"/>
          <p:cNvSpPr/>
          <p:nvPr/>
        </p:nvSpPr>
        <p:spPr>
          <a:xfrm>
            <a:off x="685657" y="532924"/>
            <a:ext cx="209455" cy="209455"/>
          </a:xfrm>
          <a:prstGeom prst="roundRect">
            <a:avLst>
              <a:gd fmla="val 31833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3"/>
          <p:cNvSpPr/>
          <p:nvPr/>
        </p:nvSpPr>
        <p:spPr>
          <a:xfrm>
            <a:off x="1028414" y="505063"/>
            <a:ext cx="5664295" cy="3032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50"/>
              <a:buFont typeface="Plus Jakarta Sans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AWS STUDENT BUILDER GROUPS · VIT CHENNAI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3"/>
          <p:cNvSpPr/>
          <p:nvPr/>
        </p:nvSpPr>
        <p:spPr>
          <a:xfrm>
            <a:off x="15468222" y="419052"/>
            <a:ext cx="2133981" cy="437198"/>
          </a:xfrm>
          <a:prstGeom prst="roundRect">
            <a:avLst>
              <a:gd fmla="val 50000" name="adj"/>
            </a:avLst>
          </a:prstGeom>
          <a:solidFill>
            <a:srgbClr val="F3E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3"/>
          <p:cNvSpPr/>
          <p:nvPr/>
        </p:nvSpPr>
        <p:spPr>
          <a:xfrm>
            <a:off x="15677772" y="514302"/>
            <a:ext cx="1791081" cy="2847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500"/>
              <a:buFont typeface="Plus Jakarta Sans"/>
              <a:buNone/>
            </a:pPr>
            <a:r>
              <a:rPr b="1" i="0" lang="en-US" sz="1500" u="none" cap="none" strike="noStrike">
                <a:solidFill>
                  <a:srgbClr val="6D28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AUTOMATION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3"/>
          <p:cNvSpPr/>
          <p:nvPr/>
        </p:nvSpPr>
        <p:spPr>
          <a:xfrm>
            <a:off x="685657" y="1322451"/>
            <a:ext cx="9678383" cy="6140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5135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200"/>
              <a:buFont typeface="Plus Jakarta Sans"/>
              <a:buNone/>
            </a:pPr>
            <a:r>
              <a:rPr b="1" i="0" lang="en-US" sz="4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same workflow, purely on AWS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3"/>
          <p:cNvSpPr/>
          <p:nvPr/>
        </p:nvSpPr>
        <p:spPr>
          <a:xfrm>
            <a:off x="13683283" y="1491758"/>
            <a:ext cx="3918919" cy="493490"/>
          </a:xfrm>
          <a:prstGeom prst="roundRect">
            <a:avLst>
              <a:gd fmla="val 50000" name="adj"/>
            </a:avLst>
          </a:prstGeom>
          <a:solidFill>
            <a:srgbClr val="F3E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3"/>
          <p:cNvSpPr/>
          <p:nvPr/>
        </p:nvSpPr>
        <p:spPr>
          <a:xfrm>
            <a:off x="13892833" y="1606058"/>
            <a:ext cx="3617387" cy="3029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650"/>
              <a:buFont typeface="Plus Jakarta Sans"/>
              <a:buNone/>
            </a:pPr>
            <a:r>
              <a:rPr b="1" i="0" lang="en-US" sz="1650" u="none" cap="none" strike="noStrike">
                <a:solidFill>
                  <a:srgbClr val="5B21B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 canvas, no container to babysit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3"/>
          <p:cNvSpPr/>
          <p:nvPr/>
        </p:nvSpPr>
        <p:spPr>
          <a:xfrm>
            <a:off x="685657" y="2175701"/>
            <a:ext cx="16916545" cy="4121373"/>
          </a:xfrm>
          <a:prstGeom prst="roundRect">
            <a:avLst>
              <a:gd fmla="val 416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3"/>
          <p:cNvSpPr/>
          <p:nvPr/>
        </p:nvSpPr>
        <p:spPr>
          <a:xfrm>
            <a:off x="923258" y="2394300"/>
            <a:ext cx="2363296" cy="3010805"/>
          </a:xfrm>
          <a:prstGeom prst="roundRect">
            <a:avLst>
              <a:gd fmla="val 4836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3"/>
          <p:cNvSpPr/>
          <p:nvPr/>
        </p:nvSpPr>
        <p:spPr>
          <a:xfrm>
            <a:off x="1084707" y="3478007"/>
            <a:ext cx="2244438" cy="3307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API Gateway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3"/>
          <p:cNvSpPr/>
          <p:nvPr/>
        </p:nvSpPr>
        <p:spPr>
          <a:xfrm>
            <a:off x="1084707" y="3827622"/>
            <a:ext cx="2116598" cy="5318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Plus Jakarta Sans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Receives the POST, throttles abuse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3"/>
          <p:cNvSpPr/>
          <p:nvPr/>
        </p:nvSpPr>
        <p:spPr>
          <a:xfrm>
            <a:off x="3381709" y="3735039"/>
            <a:ext cx="289941" cy="3672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3"/>
          <p:cNvSpPr/>
          <p:nvPr/>
        </p:nvSpPr>
        <p:spPr>
          <a:xfrm>
            <a:off x="3690605" y="2394300"/>
            <a:ext cx="2363439" cy="3010805"/>
          </a:xfrm>
          <a:prstGeom prst="roundRect">
            <a:avLst>
              <a:gd fmla="val 4836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3"/>
          <p:cNvSpPr/>
          <p:nvPr/>
        </p:nvSpPr>
        <p:spPr>
          <a:xfrm>
            <a:off x="3852054" y="3478007"/>
            <a:ext cx="2244595" cy="3307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Lambda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3"/>
          <p:cNvSpPr/>
          <p:nvPr/>
        </p:nvSpPr>
        <p:spPr>
          <a:xfrm>
            <a:off x="3852054" y="3827622"/>
            <a:ext cx="2116741" cy="5318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Plus Jakarta Sans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Your logic, validation, retries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3"/>
          <p:cNvSpPr/>
          <p:nvPr/>
        </p:nvSpPr>
        <p:spPr>
          <a:xfrm>
            <a:off x="6149198" y="3735039"/>
            <a:ext cx="289941" cy="3672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3"/>
          <p:cNvSpPr/>
          <p:nvPr/>
        </p:nvSpPr>
        <p:spPr>
          <a:xfrm>
            <a:off x="6458094" y="2394300"/>
            <a:ext cx="2585752" cy="3010805"/>
          </a:xfrm>
          <a:prstGeom prst="roundRect">
            <a:avLst>
              <a:gd fmla="val 4420" name="adj"/>
            </a:avLst>
          </a:prstGeom>
          <a:solidFill>
            <a:srgbClr val="F5F0FF"/>
          </a:solidFill>
          <a:ln cap="flat" cmpd="sng" w="1827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3"/>
          <p:cNvSpPr/>
          <p:nvPr/>
        </p:nvSpPr>
        <p:spPr>
          <a:xfrm>
            <a:off x="6628687" y="3478007"/>
            <a:ext cx="2469023" cy="3307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5B21B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Bedrock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3"/>
          <p:cNvSpPr/>
          <p:nvPr/>
        </p:nvSpPr>
        <p:spPr>
          <a:xfrm>
            <a:off x="6628687" y="3827622"/>
            <a:ext cx="2320767" cy="5318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500"/>
              <a:buFont typeface="Plus Jakarta Sans"/>
              <a:buNone/>
            </a:pPr>
            <a:r>
              <a:rPr b="0" i="0" lang="en-US" sz="1500" u="none" cap="none" strike="noStrik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Classify, structured output, one model call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3"/>
          <p:cNvSpPr/>
          <p:nvPr/>
        </p:nvSpPr>
        <p:spPr>
          <a:xfrm>
            <a:off x="9139001" y="3735039"/>
            <a:ext cx="289941" cy="3672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3"/>
          <p:cNvSpPr/>
          <p:nvPr/>
        </p:nvSpPr>
        <p:spPr>
          <a:xfrm>
            <a:off x="9447897" y="2394300"/>
            <a:ext cx="2363439" cy="3010805"/>
          </a:xfrm>
          <a:prstGeom prst="roundRect">
            <a:avLst>
              <a:gd fmla="val 4836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3"/>
          <p:cNvSpPr/>
          <p:nvPr/>
        </p:nvSpPr>
        <p:spPr>
          <a:xfrm>
            <a:off x="9609345" y="3478007"/>
            <a:ext cx="2244595" cy="3307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DynamoDB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3"/>
          <p:cNvSpPr/>
          <p:nvPr/>
        </p:nvSpPr>
        <p:spPr>
          <a:xfrm>
            <a:off x="9609345" y="3827622"/>
            <a:ext cx="2116741" cy="5318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Plus Jakarta Sans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Store the row, keyed by thread id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3"/>
          <p:cNvSpPr/>
          <p:nvPr/>
        </p:nvSpPr>
        <p:spPr>
          <a:xfrm>
            <a:off x="11906490" y="3735039"/>
            <a:ext cx="289941" cy="3672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3"/>
          <p:cNvSpPr/>
          <p:nvPr/>
        </p:nvSpPr>
        <p:spPr>
          <a:xfrm>
            <a:off x="12215386" y="2394300"/>
            <a:ext cx="2381727" cy="3010805"/>
          </a:xfrm>
          <a:prstGeom prst="roundRect">
            <a:avLst>
              <a:gd fmla="val 4799" name="adj"/>
            </a:avLst>
          </a:prstGeom>
          <a:solidFill>
            <a:srgbClr val="FFFFFF"/>
          </a:solidFill>
          <a:ln cap="flat" cmpd="sng" w="1827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3"/>
          <p:cNvSpPr/>
          <p:nvPr/>
        </p:nvSpPr>
        <p:spPr>
          <a:xfrm>
            <a:off x="12385979" y="3491723"/>
            <a:ext cx="2244595" cy="3032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75"/>
              <a:buFont typeface="JetBrains Mono"/>
              <a:buNone/>
            </a:pPr>
            <a:r>
              <a:rPr b="1" i="0" lang="en-US" sz="1575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urgency high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3"/>
          <p:cNvSpPr/>
          <p:nvPr/>
        </p:nvSpPr>
        <p:spPr>
          <a:xfrm>
            <a:off x="12385979" y="3813906"/>
            <a:ext cx="2116741" cy="5318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Plus Jakarta Sans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Plain logic in your code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3"/>
          <p:cNvSpPr/>
          <p:nvPr/>
        </p:nvSpPr>
        <p:spPr>
          <a:xfrm>
            <a:off x="14692267" y="3735039"/>
            <a:ext cx="289941" cy="3672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950"/>
              <a:buFont typeface="Plus Jakarta Sans"/>
              <a:buNone/>
            </a:pPr>
            <a:r>
              <a:rPr b="1" i="0" lang="en-US" sz="1950" u="none" cap="none" strike="noStrik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3"/>
          <p:cNvSpPr/>
          <p:nvPr/>
        </p:nvSpPr>
        <p:spPr>
          <a:xfrm>
            <a:off x="15001163" y="2394300"/>
            <a:ext cx="2363439" cy="3010805"/>
          </a:xfrm>
          <a:prstGeom prst="roundRect">
            <a:avLst>
              <a:gd fmla="val 4836" name="adj"/>
            </a:avLst>
          </a:prstGeom>
          <a:solidFill>
            <a:srgbClr val="ECFDF5"/>
          </a:solidFill>
          <a:ln cap="flat" cmpd="sng" w="9525">
            <a:solidFill>
              <a:srgbClr val="6EE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3"/>
          <p:cNvSpPr/>
          <p:nvPr/>
        </p:nvSpPr>
        <p:spPr>
          <a:xfrm>
            <a:off x="15162612" y="3478007"/>
            <a:ext cx="2244595" cy="3307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065F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3"/>
          <p:cNvSpPr/>
          <p:nvPr/>
        </p:nvSpPr>
        <p:spPr>
          <a:xfrm>
            <a:off x="15162612" y="3827622"/>
            <a:ext cx="2116741" cy="5318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1500"/>
              <a:buFont typeface="Plus Jakarta Sans"/>
              <a:buNone/>
            </a:pPr>
            <a:r>
              <a:rPr b="0" i="0" lang="en-US" sz="1500" u="none" cap="none" strike="noStrike">
                <a:solidFill>
                  <a:srgbClr val="04785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Send the alert, fan out to Slack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3"/>
          <p:cNvSpPr/>
          <p:nvPr/>
        </p:nvSpPr>
        <p:spPr>
          <a:xfrm>
            <a:off x="923258" y="5519262"/>
            <a:ext cx="16441343" cy="559213"/>
          </a:xfrm>
          <a:prstGeom prst="roundRect">
            <a:avLst>
              <a:gd fmla="val 20439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3"/>
          <p:cNvSpPr/>
          <p:nvPr/>
        </p:nvSpPr>
        <p:spPr>
          <a:xfrm>
            <a:off x="4686015" y="5661708"/>
            <a:ext cx="1470098" cy="31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25"/>
              <a:buFont typeface="Plus Jakarta Sans"/>
              <a:buNone/>
            </a:pPr>
            <a:r>
              <a:rPr b="1" i="0" lang="en-US" sz="17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CloudWatch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3"/>
          <p:cNvSpPr/>
          <p:nvPr/>
        </p:nvSpPr>
        <p:spPr>
          <a:xfrm>
            <a:off x="6155770" y="5670853"/>
            <a:ext cx="8190525" cy="2941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75"/>
              <a:buFont typeface="Plus Jakarta Sans"/>
              <a:buNone/>
            </a:pPr>
            <a:r>
              <a:rPr b="0" i="0" lang="en-US" sz="15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logs, metrics and traces underneath all of it: run id, latency, tokens, cost per run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3"/>
          <p:cNvSpPr/>
          <p:nvPr/>
        </p:nvSpPr>
        <p:spPr>
          <a:xfrm>
            <a:off x="685657" y="6487526"/>
            <a:ext cx="6435805" cy="1953673"/>
          </a:xfrm>
          <a:prstGeom prst="roundRect">
            <a:avLst>
              <a:gd fmla="val 7801" name="adj"/>
            </a:avLst>
          </a:prstGeom>
          <a:solidFill>
            <a:srgbClr val="FAF5FF"/>
          </a:solidFill>
          <a:ln cap="flat" cmpd="sng" w="9525">
            <a:solidFill>
              <a:srgbClr val="E9D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3"/>
          <p:cNvSpPr/>
          <p:nvPr/>
        </p:nvSpPr>
        <p:spPr>
          <a:xfrm>
            <a:off x="942404" y="6687123"/>
            <a:ext cx="6514544" cy="284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500"/>
              <a:buFont typeface="Plus Jakarta Sans"/>
              <a:buNone/>
            </a:pPr>
            <a:r>
              <a:rPr b="1" i="0" lang="en-US" sz="1500" u="none" cap="none" strike="noStrik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READ IT AS A MAPPING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3"/>
          <p:cNvSpPr/>
          <p:nvPr/>
        </p:nvSpPr>
        <p:spPr>
          <a:xfrm>
            <a:off x="942404" y="7029165"/>
            <a:ext cx="6099982" cy="9579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806"/>
              </a:lnSpc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725"/>
              <a:buFont typeface="Plus Jakarta Sans"/>
              <a:buNone/>
            </a:pPr>
            <a:r>
              <a:rPr b="1" i="0" lang="en-US" sz="1725" u="none" cap="none" strike="noStrike">
                <a:solidFill>
                  <a:srgbClr val="5B21B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API Gateway is the trigger. Lambda is the glue. Bedrock is the AI node. DynamoDB is the sheet. SNS is the Slack message. CloudWatch is the executions tab.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3"/>
          <p:cNvSpPr/>
          <p:nvPr/>
        </p:nvSpPr>
        <p:spPr>
          <a:xfrm>
            <a:off x="7292770" y="6487526"/>
            <a:ext cx="5069063" cy="1953673"/>
          </a:xfrm>
          <a:prstGeom prst="roundRect">
            <a:avLst>
              <a:gd fmla="val 7801" name="adj"/>
            </a:avLst>
          </a:prstGeom>
          <a:solidFill>
            <a:srgbClr val="FEF2F2"/>
          </a:solidFill>
          <a:ln cap="flat" cmpd="sng" w="9525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3"/>
          <p:cNvSpPr/>
          <p:nvPr/>
        </p:nvSpPr>
        <p:spPr>
          <a:xfrm>
            <a:off x="7549517" y="6687123"/>
            <a:ext cx="5011127" cy="3032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650"/>
              <a:buFont typeface="Plus Jakarta Sans"/>
              <a:buNone/>
            </a:pPr>
            <a:r>
              <a:rPr b="1" i="0" lang="en-US" sz="1650" u="none" cap="none" strike="noStrik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IAM, OR NOTHING WORKS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3"/>
          <p:cNvSpPr/>
          <p:nvPr/>
        </p:nvSpPr>
        <p:spPr>
          <a:xfrm>
            <a:off x="7549517" y="7047454"/>
            <a:ext cx="4692237" cy="5713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25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bedrock:InvokeModel · dynamodb:PutItem · sns:Publish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3"/>
          <p:cNvSpPr/>
          <p:nvPr/>
        </p:nvSpPr>
        <p:spPr>
          <a:xfrm>
            <a:off x="7549517" y="7675818"/>
            <a:ext cx="4692237" cy="6038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681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50"/>
              <a:buFont typeface="Plus Jakarta Sans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Miss one and you get AccessDenied with no useful message.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3"/>
          <p:cNvSpPr/>
          <p:nvPr/>
        </p:nvSpPr>
        <p:spPr>
          <a:xfrm>
            <a:off x="12533140" y="6487526"/>
            <a:ext cx="5069063" cy="1953673"/>
          </a:xfrm>
          <a:prstGeom prst="roundRect">
            <a:avLst>
              <a:gd fmla="val 7801" name="adj"/>
            </a:avLst>
          </a:prstGeom>
          <a:solidFill>
            <a:srgbClr val="FEF2F2"/>
          </a:solidFill>
          <a:ln cap="flat" cmpd="sng" w="9525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3"/>
          <p:cNvSpPr/>
          <p:nvPr/>
        </p:nvSpPr>
        <p:spPr>
          <a:xfrm>
            <a:off x="12789887" y="6687123"/>
            <a:ext cx="5011127" cy="3032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650"/>
              <a:buFont typeface="Plus Jakarta Sans"/>
              <a:buNone/>
            </a:pPr>
            <a:r>
              <a:rPr b="1" i="0" lang="en-US" sz="1650" u="none" cap="none" strike="noStrik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 ACCESS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3"/>
          <p:cNvSpPr/>
          <p:nvPr/>
        </p:nvSpPr>
        <p:spPr>
          <a:xfrm>
            <a:off x="12789887" y="7047454"/>
            <a:ext cx="4692237" cy="8867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681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50"/>
              <a:buFont typeface="Plus Jakarta Sans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Bedrock access is granted per model, per region, in the console. Fresh accounts have nothing enabled.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3"/>
          <p:cNvSpPr/>
          <p:nvPr/>
        </p:nvSpPr>
        <p:spPr>
          <a:xfrm>
            <a:off x="685657" y="8631652"/>
            <a:ext cx="16916545" cy="778383"/>
          </a:xfrm>
          <a:prstGeom prst="roundRect">
            <a:avLst>
              <a:gd fmla="val 19579" name="adj"/>
            </a:avLst>
          </a:prstGeom>
          <a:solidFill>
            <a:srgbClr val="FFF7ED"/>
          </a:solidFill>
          <a:ln cap="flat" cmpd="sng" w="1827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3"/>
          <p:cNvSpPr/>
          <p:nvPr/>
        </p:nvSpPr>
        <p:spPr>
          <a:xfrm>
            <a:off x="970550" y="8821247"/>
            <a:ext cx="1340882" cy="399193"/>
          </a:xfrm>
          <a:prstGeom prst="roundRect">
            <a:avLst>
              <a:gd fmla="val 19089" name="adj"/>
            </a:avLst>
          </a:prstGeom>
          <a:solidFill>
            <a:srgbClr val="B45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3"/>
          <p:cNvSpPr/>
          <p:nvPr/>
        </p:nvSpPr>
        <p:spPr>
          <a:xfrm>
            <a:off x="1103900" y="8897447"/>
            <a:ext cx="1150382" cy="2848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lus Jakarta San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SCALE UP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3"/>
          <p:cNvSpPr/>
          <p:nvPr/>
        </p:nvSpPr>
        <p:spPr>
          <a:xfrm>
            <a:off x="2501884" y="8872253"/>
            <a:ext cx="14770763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1562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9240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Past three or four steps, put Step Functions in the middle. You get retries, branching, and a visual of exactly where it failed.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3"/>
          <p:cNvSpPr/>
          <p:nvPr/>
        </p:nvSpPr>
        <p:spPr>
          <a:xfrm>
            <a:off x="685657" y="9410035"/>
            <a:ext cx="169165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3"/>
          <p:cNvSpPr/>
          <p:nvPr/>
        </p:nvSpPr>
        <p:spPr>
          <a:xfrm>
            <a:off x="685657" y="9609631"/>
            <a:ext cx="1252300" cy="353473"/>
          </a:xfrm>
          <a:prstGeom prst="roundRect">
            <a:avLst>
              <a:gd fmla="val 18863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3"/>
          <p:cNvSpPr/>
          <p:nvPr/>
        </p:nvSpPr>
        <p:spPr>
          <a:xfrm>
            <a:off x="819007" y="9685831"/>
            <a:ext cx="1061800" cy="2391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Plus Jakarta Sans"/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FRONTIER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3"/>
          <p:cNvSpPr/>
          <p:nvPr/>
        </p:nvSpPr>
        <p:spPr>
          <a:xfrm>
            <a:off x="2090262" y="9658352"/>
            <a:ext cx="1192625" cy="2941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75"/>
              <a:buFont typeface="Plus Jakarta Sans"/>
              <a:buNone/>
            </a:pPr>
            <a:r>
              <a:rPr b="1" i="0" lang="en-US" sz="15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Native AWS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3"/>
          <p:cNvSpPr/>
          <p:nvPr/>
        </p:nvSpPr>
        <p:spPr>
          <a:xfrm>
            <a:off x="17057134" y="9658352"/>
            <a:ext cx="621268" cy="2941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575"/>
              <a:buFont typeface="Plus Jakarta Sans"/>
              <a:buNone/>
            </a:pPr>
            <a:r>
              <a:rPr b="1" i="0" lang="en-US" sz="1575" u="none" cap="none" strike="noStrik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11 / 14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4"/>
          <p:cNvSpPr/>
          <p:nvPr/>
        </p:nvSpPr>
        <p:spPr>
          <a:xfrm>
            <a:off x="0" y="0"/>
            <a:ext cx="18287860" cy="10286859"/>
          </a:xfrm>
          <a:prstGeom prst="rect">
            <a:avLst/>
          </a:prstGeom>
          <a:gradFill>
            <a:gsLst>
              <a:gs pos="0">
                <a:srgbClr val="FFFFFF"/>
              </a:gs>
              <a:gs pos="50000">
                <a:srgbClr val="FFFFFF"/>
              </a:gs>
              <a:gs pos="100000">
                <a:srgbClr val="F6F1FF"/>
              </a:gs>
            </a:gsLst>
            <a:lin ang="27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4"/>
          <p:cNvSpPr/>
          <p:nvPr/>
        </p:nvSpPr>
        <p:spPr>
          <a:xfrm>
            <a:off x="685657" y="1046702"/>
            <a:ext cx="169165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4"/>
          <p:cNvSpPr/>
          <p:nvPr/>
        </p:nvSpPr>
        <p:spPr>
          <a:xfrm>
            <a:off x="685657" y="532924"/>
            <a:ext cx="209455" cy="209455"/>
          </a:xfrm>
          <a:prstGeom prst="roundRect">
            <a:avLst>
              <a:gd fmla="val 31833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4"/>
          <p:cNvSpPr/>
          <p:nvPr/>
        </p:nvSpPr>
        <p:spPr>
          <a:xfrm>
            <a:off x="1028414" y="505063"/>
            <a:ext cx="5664295" cy="3032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50"/>
              <a:buFont typeface="Plus Jakarta Sans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AWS STUDENT BUILDER GROUPS · VIT CHENNAI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4"/>
          <p:cNvSpPr/>
          <p:nvPr/>
        </p:nvSpPr>
        <p:spPr>
          <a:xfrm>
            <a:off x="15468222" y="419052"/>
            <a:ext cx="2133981" cy="437198"/>
          </a:xfrm>
          <a:prstGeom prst="roundRect">
            <a:avLst>
              <a:gd fmla="val 50000" name="adj"/>
            </a:avLst>
          </a:prstGeom>
          <a:solidFill>
            <a:srgbClr val="F3E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4"/>
          <p:cNvSpPr/>
          <p:nvPr/>
        </p:nvSpPr>
        <p:spPr>
          <a:xfrm>
            <a:off x="15677772" y="514302"/>
            <a:ext cx="1791081" cy="2847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500"/>
              <a:buFont typeface="Plus Jakarta Sans"/>
              <a:buNone/>
            </a:pPr>
            <a:r>
              <a:rPr b="1" i="0" lang="en-US" sz="1500" u="none" cap="none" strike="noStrike">
                <a:solidFill>
                  <a:srgbClr val="6D28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AUTOMATION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4"/>
          <p:cNvSpPr/>
          <p:nvPr/>
        </p:nvSpPr>
        <p:spPr>
          <a:xfrm>
            <a:off x="685657" y="1303449"/>
            <a:ext cx="9012013" cy="5935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786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050"/>
              <a:buFont typeface="Plus Jakarta Sans"/>
              <a:buNone/>
            </a:pPr>
            <a:r>
              <a:rPr b="1" i="0" lang="en-US" sz="4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Everything AWS hands you for this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4"/>
          <p:cNvSpPr/>
          <p:nvPr/>
        </p:nvSpPr>
        <p:spPr>
          <a:xfrm>
            <a:off x="13779867" y="1473041"/>
            <a:ext cx="3822336" cy="465487"/>
          </a:xfrm>
          <a:prstGeom prst="roundRect">
            <a:avLst>
              <a:gd fmla="val 50000" name="adj"/>
            </a:avLst>
          </a:prstGeom>
          <a:solidFill>
            <a:srgbClr val="F3E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4"/>
          <p:cNvSpPr/>
          <p:nvPr/>
        </p:nvSpPr>
        <p:spPr>
          <a:xfrm>
            <a:off x="13970367" y="1577816"/>
            <a:ext cx="3556006" cy="29403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575"/>
              <a:buFont typeface="Plus Jakarta Sans"/>
              <a:buNone/>
            </a:pPr>
            <a:r>
              <a:rPr b="1" i="0" lang="en-US" sz="1575" u="none" cap="none" strike="noStrike">
                <a:solidFill>
                  <a:srgbClr val="5B21B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Same four steps, one bill, no canvas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4"/>
          <p:cNvSpPr/>
          <p:nvPr/>
        </p:nvSpPr>
        <p:spPr>
          <a:xfrm>
            <a:off x="685657" y="2109835"/>
            <a:ext cx="5537264" cy="2998232"/>
          </a:xfrm>
          <a:prstGeom prst="roundRect">
            <a:avLst>
              <a:gd fmla="val 5083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4"/>
          <p:cNvSpPr/>
          <p:nvPr/>
        </p:nvSpPr>
        <p:spPr>
          <a:xfrm>
            <a:off x="904256" y="2309432"/>
            <a:ext cx="1196007" cy="343472"/>
          </a:xfrm>
          <a:prstGeom prst="roundRect">
            <a:avLst>
              <a:gd fmla="val 19412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4"/>
          <p:cNvSpPr/>
          <p:nvPr/>
        </p:nvSpPr>
        <p:spPr>
          <a:xfrm>
            <a:off x="1018556" y="2376107"/>
            <a:ext cx="1043607" cy="2482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350"/>
              <a:buFont typeface="Plus Jakarta Sans"/>
              <a:buNone/>
            </a:pPr>
            <a:r>
              <a:rPr b="1" i="0" lang="en-US" sz="1350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STARTS IT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4"/>
          <p:cNvSpPr/>
          <p:nvPr/>
        </p:nvSpPr>
        <p:spPr>
          <a:xfrm>
            <a:off x="904256" y="2767060"/>
            <a:ext cx="5610073" cy="3032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Plus Jakarta Sans"/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EventBridge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4"/>
          <p:cNvSpPr/>
          <p:nvPr/>
        </p:nvSpPr>
        <p:spPr>
          <a:xfrm>
            <a:off x="904256" y="3041666"/>
            <a:ext cx="5253069" cy="4838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978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Plus Jakarta Sans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Cron schedules, plus events other AWS services fire on their own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4"/>
          <p:cNvSpPr/>
          <p:nvPr/>
        </p:nvSpPr>
        <p:spPr>
          <a:xfrm>
            <a:off x="904256" y="3601594"/>
            <a:ext cx="5610073" cy="3032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Plus Jakarta Sans"/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API Gateway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4"/>
          <p:cNvSpPr/>
          <p:nvPr/>
        </p:nvSpPr>
        <p:spPr>
          <a:xfrm>
            <a:off x="904256" y="3876199"/>
            <a:ext cx="5610073" cy="2609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978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Plus Jakarta Sans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public HTTPS URL for webhooks, with throttling and auth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4"/>
          <p:cNvSpPr/>
          <p:nvPr/>
        </p:nvSpPr>
        <p:spPr>
          <a:xfrm>
            <a:off x="904256" y="4213242"/>
            <a:ext cx="5610073" cy="3032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Plus Jakarta Sans"/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S3 events and SES inbound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4"/>
          <p:cNvSpPr/>
          <p:nvPr/>
        </p:nvSpPr>
        <p:spPr>
          <a:xfrm>
            <a:off x="904256" y="4487847"/>
            <a:ext cx="5610073" cy="2609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978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Plus Jakarta Sans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file lands or an email arrives, the run begins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4"/>
          <p:cNvSpPr/>
          <p:nvPr/>
        </p:nvSpPr>
        <p:spPr>
          <a:xfrm>
            <a:off x="6375227" y="2109835"/>
            <a:ext cx="5537264" cy="2998232"/>
          </a:xfrm>
          <a:prstGeom prst="roundRect">
            <a:avLst>
              <a:gd fmla="val 5083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14"/>
          <p:cNvSpPr/>
          <p:nvPr/>
        </p:nvSpPr>
        <p:spPr>
          <a:xfrm>
            <a:off x="6593825" y="2309432"/>
            <a:ext cx="1866234" cy="343472"/>
          </a:xfrm>
          <a:prstGeom prst="roundRect">
            <a:avLst>
              <a:gd fmla="val 19412" name="adj"/>
            </a:avLst>
          </a:prstGeom>
          <a:solidFill>
            <a:srgbClr val="E0E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4"/>
          <p:cNvSpPr/>
          <p:nvPr/>
        </p:nvSpPr>
        <p:spPr>
          <a:xfrm>
            <a:off x="6708125" y="2376107"/>
            <a:ext cx="1713834" cy="2482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30A3"/>
              </a:buClr>
              <a:buSzPts val="1350"/>
              <a:buFont typeface="Plus Jakarta Sans"/>
              <a:buNone/>
            </a:pPr>
            <a:r>
              <a:rPr b="1" i="0" lang="en-US" sz="1350" u="none" cap="none" strike="noStrike">
                <a:solidFill>
                  <a:srgbClr val="3730A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RUNS THE WORK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4"/>
          <p:cNvSpPr/>
          <p:nvPr/>
        </p:nvSpPr>
        <p:spPr>
          <a:xfrm>
            <a:off x="6593825" y="2767060"/>
            <a:ext cx="5610073" cy="3032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Plus Jakarta Sans"/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Lambda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4"/>
          <p:cNvSpPr/>
          <p:nvPr/>
        </p:nvSpPr>
        <p:spPr>
          <a:xfrm>
            <a:off x="6593825" y="3041666"/>
            <a:ext cx="5253069" cy="4838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978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Plus Jakarta Sans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Your code in short bursts, billed per millisecond, nothing to keep running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4"/>
          <p:cNvSpPr/>
          <p:nvPr/>
        </p:nvSpPr>
        <p:spPr>
          <a:xfrm>
            <a:off x="6593825" y="3601594"/>
            <a:ext cx="5610073" cy="3032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Plus Jakarta Sans"/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Functions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4"/>
          <p:cNvSpPr/>
          <p:nvPr/>
        </p:nvSpPr>
        <p:spPr>
          <a:xfrm>
            <a:off x="6593825" y="3876199"/>
            <a:ext cx="5253069" cy="4838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978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Plus Jakarta Sans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orchestrator: retries, branches, waits, and a visual of where it died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4"/>
          <p:cNvSpPr/>
          <p:nvPr/>
        </p:nvSpPr>
        <p:spPr>
          <a:xfrm>
            <a:off x="6593825" y="4436127"/>
            <a:ext cx="5610073" cy="3032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Plus Jakarta Sans"/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ECS Fargate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4"/>
          <p:cNvSpPr/>
          <p:nvPr/>
        </p:nvSpPr>
        <p:spPr>
          <a:xfrm>
            <a:off x="6593825" y="4710733"/>
            <a:ext cx="5610073" cy="2609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978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Plus Jakarta Sans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For the long job that outgrows Lambda’s fifteen minutes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4"/>
          <p:cNvSpPr/>
          <p:nvPr/>
        </p:nvSpPr>
        <p:spPr>
          <a:xfrm>
            <a:off x="12064796" y="2109835"/>
            <a:ext cx="5537264" cy="2998232"/>
          </a:xfrm>
          <a:prstGeom prst="roundRect">
            <a:avLst>
              <a:gd fmla="val 5083" name="adj"/>
            </a:avLst>
          </a:prstGeom>
          <a:solidFill>
            <a:srgbClr val="F5F0FF"/>
          </a:solidFill>
          <a:ln cap="flat" cmpd="sng" w="9525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4"/>
          <p:cNvSpPr/>
          <p:nvPr/>
        </p:nvSpPr>
        <p:spPr>
          <a:xfrm>
            <a:off x="12283394" y="2309432"/>
            <a:ext cx="2219564" cy="343472"/>
          </a:xfrm>
          <a:prstGeom prst="roundRect">
            <a:avLst>
              <a:gd fmla="val 19412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4"/>
          <p:cNvSpPr/>
          <p:nvPr/>
        </p:nvSpPr>
        <p:spPr>
          <a:xfrm>
            <a:off x="12397694" y="2376107"/>
            <a:ext cx="2067164" cy="2482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350"/>
              <a:buFont typeface="Plus Jakarta Sans"/>
              <a:buNone/>
            </a:pPr>
            <a:r>
              <a:rPr b="1" i="0" lang="en-US" sz="1350" u="none" cap="none" strike="noStrike">
                <a:solidFill>
                  <a:srgbClr val="5B21B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DOES THE THINKING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4"/>
          <p:cNvSpPr/>
          <p:nvPr/>
        </p:nvSpPr>
        <p:spPr>
          <a:xfrm>
            <a:off x="12283394" y="2767060"/>
            <a:ext cx="5610073" cy="3032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Plus Jakarta Sans"/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Bedrock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4"/>
          <p:cNvSpPr/>
          <p:nvPr/>
        </p:nvSpPr>
        <p:spPr>
          <a:xfrm>
            <a:off x="12283394" y="3041666"/>
            <a:ext cx="5610073" cy="2609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978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Plus Jakarta Sans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Claude, Llama, Nova and more behind one API, no GPU to rent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4"/>
          <p:cNvSpPr/>
          <p:nvPr/>
        </p:nvSpPr>
        <p:spPr>
          <a:xfrm>
            <a:off x="12283394" y="3378709"/>
            <a:ext cx="5610073" cy="3032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Plus Jakarta Sans"/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Bedrock Knowledge Bases and Agents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4"/>
          <p:cNvSpPr/>
          <p:nvPr/>
        </p:nvSpPr>
        <p:spPr>
          <a:xfrm>
            <a:off x="12283394" y="3653314"/>
            <a:ext cx="5610073" cy="2609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978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Plus Jakarta Sans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RAG over your own docs, and agents that call your tools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4"/>
          <p:cNvSpPr/>
          <p:nvPr/>
        </p:nvSpPr>
        <p:spPr>
          <a:xfrm>
            <a:off x="12283394" y="3990356"/>
            <a:ext cx="5610073" cy="3032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Plus Jakarta Sans"/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Textract, Comprehend, Transcribe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4"/>
          <p:cNvSpPr/>
          <p:nvPr/>
        </p:nvSpPr>
        <p:spPr>
          <a:xfrm>
            <a:off x="12283394" y="4264962"/>
            <a:ext cx="5610073" cy="2609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978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Plus Jakarta Sans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OCR on scans, entity extraction, audio into text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4"/>
          <p:cNvSpPr/>
          <p:nvPr/>
        </p:nvSpPr>
        <p:spPr>
          <a:xfrm>
            <a:off x="685657" y="5260373"/>
            <a:ext cx="5537264" cy="2998232"/>
          </a:xfrm>
          <a:prstGeom prst="roundRect">
            <a:avLst>
              <a:gd fmla="val 5083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4"/>
          <p:cNvSpPr/>
          <p:nvPr/>
        </p:nvSpPr>
        <p:spPr>
          <a:xfrm>
            <a:off x="904256" y="5459969"/>
            <a:ext cx="2251568" cy="343472"/>
          </a:xfrm>
          <a:prstGeom prst="roundRect">
            <a:avLst>
              <a:gd fmla="val 19412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4"/>
          <p:cNvSpPr/>
          <p:nvPr/>
        </p:nvSpPr>
        <p:spPr>
          <a:xfrm>
            <a:off x="1018556" y="5526644"/>
            <a:ext cx="2099168" cy="2482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Plus Jakarta Sans"/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REMEMBERS THINGS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4"/>
          <p:cNvSpPr/>
          <p:nvPr/>
        </p:nvSpPr>
        <p:spPr>
          <a:xfrm>
            <a:off x="904256" y="5917598"/>
            <a:ext cx="5610073" cy="3032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Plus Jakarta Sans"/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S3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4"/>
          <p:cNvSpPr/>
          <p:nvPr/>
        </p:nvSpPr>
        <p:spPr>
          <a:xfrm>
            <a:off x="904256" y="6192203"/>
            <a:ext cx="5610073" cy="2609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978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Plus Jakarta Sans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raw files: invoices, screenshots, exports, anything bulky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4"/>
          <p:cNvSpPr/>
          <p:nvPr/>
        </p:nvSpPr>
        <p:spPr>
          <a:xfrm>
            <a:off x="904256" y="6529246"/>
            <a:ext cx="5610073" cy="3032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Plus Jakarta Sans"/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DynamoDB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4"/>
          <p:cNvSpPr/>
          <p:nvPr/>
        </p:nvSpPr>
        <p:spPr>
          <a:xfrm>
            <a:off x="904256" y="6803852"/>
            <a:ext cx="5610073" cy="2609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978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Plus Jakarta Sans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rows. Keyed lookups, fast, and free at hackathon volume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4"/>
          <p:cNvSpPr/>
          <p:nvPr/>
        </p:nvSpPr>
        <p:spPr>
          <a:xfrm>
            <a:off x="904256" y="7140894"/>
            <a:ext cx="5610073" cy="3032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Plus Jakarta Sans"/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Secrets Manager and Parameter Store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4"/>
          <p:cNvSpPr/>
          <p:nvPr/>
        </p:nvSpPr>
        <p:spPr>
          <a:xfrm>
            <a:off x="904256" y="7415500"/>
            <a:ext cx="5610073" cy="2609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978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Plus Jakarta Sans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Keys and tokens, rotated, never in a .env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4"/>
          <p:cNvSpPr/>
          <p:nvPr/>
        </p:nvSpPr>
        <p:spPr>
          <a:xfrm>
            <a:off x="6375227" y="5260373"/>
            <a:ext cx="5537264" cy="2998232"/>
          </a:xfrm>
          <a:prstGeom prst="roundRect">
            <a:avLst>
              <a:gd fmla="val 5083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4"/>
          <p:cNvSpPr/>
          <p:nvPr/>
        </p:nvSpPr>
        <p:spPr>
          <a:xfrm>
            <a:off x="6593825" y="5459969"/>
            <a:ext cx="1873092" cy="343472"/>
          </a:xfrm>
          <a:prstGeom prst="roundRect">
            <a:avLst>
              <a:gd fmla="val 19412" name="adj"/>
            </a:avLst>
          </a:prstGeom>
          <a:solidFill>
            <a:srgbClr val="D1FA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4"/>
          <p:cNvSpPr/>
          <p:nvPr/>
        </p:nvSpPr>
        <p:spPr>
          <a:xfrm>
            <a:off x="6708125" y="5526644"/>
            <a:ext cx="1720692" cy="2482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350"/>
              <a:buFont typeface="Plus Jakarta Sans"/>
              <a:buNone/>
            </a:pPr>
            <a:r>
              <a:rPr b="1" i="0" lang="en-US" sz="1350" u="none" cap="none" strike="noStrike">
                <a:solidFill>
                  <a:srgbClr val="065F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TELLS SOMEONE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4"/>
          <p:cNvSpPr/>
          <p:nvPr/>
        </p:nvSpPr>
        <p:spPr>
          <a:xfrm>
            <a:off x="6593825" y="5917598"/>
            <a:ext cx="5610073" cy="3032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Plus Jakarta Sans"/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SNS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4"/>
          <p:cNvSpPr/>
          <p:nvPr/>
        </p:nvSpPr>
        <p:spPr>
          <a:xfrm>
            <a:off x="6593825" y="6192203"/>
            <a:ext cx="5610073" cy="2609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978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Plus Jakarta Sans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One publish fans out to email, SMS, Slack or another Lambda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4"/>
          <p:cNvSpPr/>
          <p:nvPr/>
        </p:nvSpPr>
        <p:spPr>
          <a:xfrm>
            <a:off x="6593825" y="6529246"/>
            <a:ext cx="5610073" cy="3032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Plus Jakarta Sans"/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SQS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4"/>
          <p:cNvSpPr/>
          <p:nvPr/>
        </p:nvSpPr>
        <p:spPr>
          <a:xfrm>
            <a:off x="6593825" y="6803852"/>
            <a:ext cx="5610073" cy="2609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978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Plus Jakarta Sans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queue in front of the slow step so a spike never drops work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4"/>
          <p:cNvSpPr/>
          <p:nvPr/>
        </p:nvSpPr>
        <p:spPr>
          <a:xfrm>
            <a:off x="6593825" y="7140894"/>
            <a:ext cx="5610073" cy="3032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Plus Jakarta Sans"/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4"/>
          <p:cNvSpPr/>
          <p:nvPr/>
        </p:nvSpPr>
        <p:spPr>
          <a:xfrm>
            <a:off x="6593825" y="7415500"/>
            <a:ext cx="5610073" cy="2609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978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Plus Jakarta Sans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Sends the actual email, with bounces and complaints tracked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4"/>
          <p:cNvSpPr/>
          <p:nvPr/>
        </p:nvSpPr>
        <p:spPr>
          <a:xfrm>
            <a:off x="12064796" y="5260373"/>
            <a:ext cx="5537264" cy="2998232"/>
          </a:xfrm>
          <a:prstGeom prst="roundRect">
            <a:avLst>
              <a:gd fmla="val 5083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4"/>
          <p:cNvSpPr/>
          <p:nvPr/>
        </p:nvSpPr>
        <p:spPr>
          <a:xfrm>
            <a:off x="12283394" y="5459969"/>
            <a:ext cx="2197989" cy="343472"/>
          </a:xfrm>
          <a:prstGeom prst="roundRect">
            <a:avLst>
              <a:gd fmla="val 19412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4"/>
          <p:cNvSpPr/>
          <p:nvPr/>
        </p:nvSpPr>
        <p:spPr>
          <a:xfrm>
            <a:off x="12397694" y="5526644"/>
            <a:ext cx="2045589" cy="2482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350"/>
              <a:buFont typeface="Plus Jakarta Sans"/>
              <a:buNone/>
            </a:pPr>
            <a:r>
              <a:rPr b="1" i="0" lang="en-US" sz="1350" u="none" cap="none" strike="noStrike">
                <a:solidFill>
                  <a:srgbClr val="B4530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PROVES IT WORKED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4"/>
          <p:cNvSpPr/>
          <p:nvPr/>
        </p:nvSpPr>
        <p:spPr>
          <a:xfrm>
            <a:off x="12283394" y="5917598"/>
            <a:ext cx="5610073" cy="3032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Plus Jakarta Sans"/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CloudWatch Logs and Metrics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4"/>
          <p:cNvSpPr/>
          <p:nvPr/>
        </p:nvSpPr>
        <p:spPr>
          <a:xfrm>
            <a:off x="12283394" y="6192203"/>
            <a:ext cx="5610073" cy="2609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978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Plus Jakarta Sans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Every run, its latency, its tokens, its errors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4"/>
          <p:cNvSpPr/>
          <p:nvPr/>
        </p:nvSpPr>
        <p:spPr>
          <a:xfrm>
            <a:off x="12283394" y="6529246"/>
            <a:ext cx="5610073" cy="3032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Plus Jakarta Sans"/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X-Ray and Alarms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4"/>
          <p:cNvSpPr/>
          <p:nvPr/>
        </p:nvSpPr>
        <p:spPr>
          <a:xfrm>
            <a:off x="12283394" y="6803852"/>
            <a:ext cx="5253069" cy="4838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978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Plus Jakarta Sans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Trace one request across services, page yourself when it breaks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4"/>
          <p:cNvSpPr/>
          <p:nvPr/>
        </p:nvSpPr>
        <p:spPr>
          <a:xfrm>
            <a:off x="12283394" y="7363778"/>
            <a:ext cx="5610073" cy="3032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Plus Jakarta Sans"/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IAM roles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4"/>
          <p:cNvSpPr/>
          <p:nvPr/>
        </p:nvSpPr>
        <p:spPr>
          <a:xfrm>
            <a:off x="12283394" y="7638384"/>
            <a:ext cx="5610073" cy="2609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978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Plus Jakarta Sans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Scoped, temporary permissions instead of keys sitting in a file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4"/>
          <p:cNvSpPr/>
          <p:nvPr/>
        </p:nvSpPr>
        <p:spPr>
          <a:xfrm>
            <a:off x="685657" y="8429912"/>
            <a:ext cx="16916545" cy="980123"/>
          </a:xfrm>
          <a:prstGeom prst="roundRect">
            <a:avLst>
              <a:gd fmla="val 15549" name="adj"/>
            </a:avLst>
          </a:prstGeom>
          <a:solidFill>
            <a:srgbClr val="FAF5FF"/>
          </a:solidFill>
          <a:ln cap="flat" cmpd="sng" w="9525">
            <a:solidFill>
              <a:srgbClr val="E9D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4"/>
          <p:cNvSpPr/>
          <p:nvPr/>
        </p:nvSpPr>
        <p:spPr>
          <a:xfrm>
            <a:off x="961406" y="8720092"/>
            <a:ext cx="1479899" cy="399764"/>
          </a:xfrm>
          <a:prstGeom prst="roundRect">
            <a:avLst>
              <a:gd fmla="val 19061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4"/>
          <p:cNvSpPr/>
          <p:nvPr/>
        </p:nvSpPr>
        <p:spPr>
          <a:xfrm>
            <a:off x="1094756" y="8805817"/>
            <a:ext cx="1289399" cy="2664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5"/>
              <a:buFont typeface="Plus Jakarta Sans"/>
              <a:buNone/>
            </a:pPr>
            <a:r>
              <a:rPr b="1" i="0" lang="en-US" sz="142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PICK THREE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4"/>
          <p:cNvSpPr/>
          <p:nvPr/>
        </p:nvSpPr>
        <p:spPr>
          <a:xfrm>
            <a:off x="2631758" y="8610363"/>
            <a:ext cx="15135537" cy="657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588"/>
              </a:lnSpc>
              <a:spcBef>
                <a:spcPts val="0"/>
              </a:spcBef>
              <a:spcAft>
                <a:spcPts val="0"/>
              </a:spcAft>
              <a:buClr>
                <a:srgbClr val="4C1D95"/>
              </a:buClr>
              <a:buSzPts val="1875"/>
              <a:buFont typeface="Plus Jakarta Sans"/>
              <a:buNone/>
            </a:pPr>
            <a:r>
              <a:rPr b="1" i="0" lang="en-US" sz="1875" u="none" cap="none" strike="noStrike">
                <a:solidFill>
                  <a:srgbClr val="4C1D9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API Gateway or EventBridge to start it, Lambda to run it, Bedrock for the one AI step. That is a real automation, and the rest of this board is what you reach for when it grows.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4"/>
          <p:cNvSpPr/>
          <p:nvPr/>
        </p:nvSpPr>
        <p:spPr>
          <a:xfrm>
            <a:off x="685657" y="9410035"/>
            <a:ext cx="169165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4"/>
          <p:cNvSpPr/>
          <p:nvPr/>
        </p:nvSpPr>
        <p:spPr>
          <a:xfrm>
            <a:off x="685657" y="9609631"/>
            <a:ext cx="1252300" cy="353473"/>
          </a:xfrm>
          <a:prstGeom prst="roundRect">
            <a:avLst>
              <a:gd fmla="val 18863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4"/>
          <p:cNvSpPr/>
          <p:nvPr/>
        </p:nvSpPr>
        <p:spPr>
          <a:xfrm>
            <a:off x="819007" y="9685831"/>
            <a:ext cx="1061800" cy="2391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Plus Jakarta Sans"/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FRONTIER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4"/>
          <p:cNvSpPr/>
          <p:nvPr/>
        </p:nvSpPr>
        <p:spPr>
          <a:xfrm>
            <a:off x="2090262" y="9658352"/>
            <a:ext cx="1795582" cy="2941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75"/>
              <a:buFont typeface="Plus Jakarta Sans"/>
              <a:buNone/>
            </a:pPr>
            <a:r>
              <a:rPr b="1" i="0" lang="en-US" sz="15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AWS toolbox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4"/>
          <p:cNvSpPr/>
          <p:nvPr/>
        </p:nvSpPr>
        <p:spPr>
          <a:xfrm>
            <a:off x="17018416" y="9658352"/>
            <a:ext cx="659987" cy="2941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575"/>
              <a:buFont typeface="Plus Jakarta Sans"/>
              <a:buNone/>
            </a:pPr>
            <a:r>
              <a:rPr b="1" i="0" lang="en-US" sz="1575" u="none" cap="none" strike="noStrik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12 / 14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5"/>
          <p:cNvSpPr/>
          <p:nvPr/>
        </p:nvSpPr>
        <p:spPr>
          <a:xfrm>
            <a:off x="0" y="0"/>
            <a:ext cx="18287860" cy="10286859"/>
          </a:xfrm>
          <a:prstGeom prst="rect">
            <a:avLst/>
          </a:prstGeom>
          <a:gradFill>
            <a:gsLst>
              <a:gs pos="0">
                <a:srgbClr val="FFFFFF"/>
              </a:gs>
              <a:gs pos="50000">
                <a:srgbClr val="FFFFFF"/>
              </a:gs>
              <a:gs pos="100000">
                <a:srgbClr val="F6F1FF"/>
              </a:gs>
            </a:gsLst>
            <a:lin ang="27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15"/>
          <p:cNvSpPr/>
          <p:nvPr/>
        </p:nvSpPr>
        <p:spPr>
          <a:xfrm>
            <a:off x="685657" y="1046702"/>
            <a:ext cx="169165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5"/>
          <p:cNvSpPr/>
          <p:nvPr/>
        </p:nvSpPr>
        <p:spPr>
          <a:xfrm>
            <a:off x="685657" y="532924"/>
            <a:ext cx="209455" cy="209455"/>
          </a:xfrm>
          <a:prstGeom prst="roundRect">
            <a:avLst>
              <a:gd fmla="val 31833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5"/>
          <p:cNvSpPr/>
          <p:nvPr/>
        </p:nvSpPr>
        <p:spPr>
          <a:xfrm>
            <a:off x="1028414" y="505063"/>
            <a:ext cx="5664295" cy="3032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50"/>
              <a:buFont typeface="Plus Jakarta Sans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AWS STUDENT BUILDER GROUPS · VIT CHENNAI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5"/>
          <p:cNvSpPr/>
          <p:nvPr/>
        </p:nvSpPr>
        <p:spPr>
          <a:xfrm>
            <a:off x="15468222" y="419052"/>
            <a:ext cx="2133981" cy="437198"/>
          </a:xfrm>
          <a:prstGeom prst="roundRect">
            <a:avLst>
              <a:gd fmla="val 50000" name="adj"/>
            </a:avLst>
          </a:prstGeom>
          <a:solidFill>
            <a:srgbClr val="F3E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15"/>
          <p:cNvSpPr/>
          <p:nvPr/>
        </p:nvSpPr>
        <p:spPr>
          <a:xfrm>
            <a:off x="15677772" y="514302"/>
            <a:ext cx="1791081" cy="2847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500"/>
              <a:buFont typeface="Plus Jakarta Sans"/>
              <a:buNone/>
            </a:pPr>
            <a:r>
              <a:rPr b="1" i="0" lang="en-US" sz="1500" u="none" cap="none" strike="noStrike">
                <a:solidFill>
                  <a:srgbClr val="6D28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AUTOMATION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5"/>
          <p:cNvSpPr/>
          <p:nvPr/>
        </p:nvSpPr>
        <p:spPr>
          <a:xfrm>
            <a:off x="685657" y="1341454"/>
            <a:ext cx="18608200" cy="655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5443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500"/>
              <a:buFont typeface="Plus Jakarta Sans"/>
              <a:buNone/>
            </a:pPr>
            <a:r>
              <a:rPr b="1" i="0" lang="en-US" sz="4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really stands out to judges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5"/>
          <p:cNvSpPr/>
          <p:nvPr/>
        </p:nvSpPr>
        <p:spPr>
          <a:xfrm>
            <a:off x="685657" y="2168128"/>
            <a:ext cx="4086226" cy="4980766"/>
          </a:xfrm>
          <a:prstGeom prst="roundRect">
            <a:avLst>
              <a:gd fmla="val 373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5"/>
          <p:cNvSpPr/>
          <p:nvPr/>
        </p:nvSpPr>
        <p:spPr>
          <a:xfrm>
            <a:off x="923258" y="2424875"/>
            <a:ext cx="3972126" cy="3398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75"/>
              <a:buFont typeface="Plus Jakarta Sans"/>
              <a:buNone/>
            </a:pPr>
            <a:r>
              <a:rPr b="1" i="0" lang="en-US" sz="18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PICK A REAL PROBLEM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5"/>
          <p:cNvSpPr/>
          <p:nvPr/>
        </p:nvSpPr>
        <p:spPr>
          <a:xfrm>
            <a:off x="923258" y="2840784"/>
            <a:ext cx="3719354" cy="9579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806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725"/>
              <a:buFont typeface="Plus Jakarta Sans"/>
              <a:buNone/>
            </a:pPr>
            <a:r>
              <a:rPr b="0" i="0" lang="en-US" sz="17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Something a real person does repeatedly and hates. Name the person and how often they do it.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5"/>
          <p:cNvSpPr/>
          <p:nvPr/>
        </p:nvSpPr>
        <p:spPr>
          <a:xfrm>
            <a:off x="923258" y="3874771"/>
            <a:ext cx="3719354" cy="6247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632"/>
              </a:lnSpc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650"/>
              <a:buFont typeface="Plus Jakarta Sans"/>
              <a:buNone/>
            </a:pPr>
            <a:r>
              <a:rPr b="1" i="0" lang="en-US" sz="1650" u="none" cap="none" strike="noStrike">
                <a:solidFill>
                  <a:srgbClr val="5B21B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Show this: the mailbox, sheet or WhatsApp group it lives in today.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5"/>
          <p:cNvSpPr/>
          <p:nvPr/>
        </p:nvSpPr>
        <p:spPr>
          <a:xfrm>
            <a:off x="4962335" y="2168128"/>
            <a:ext cx="4086369" cy="4980766"/>
          </a:xfrm>
          <a:prstGeom prst="roundRect">
            <a:avLst>
              <a:gd fmla="val 372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15"/>
          <p:cNvSpPr/>
          <p:nvPr/>
        </p:nvSpPr>
        <p:spPr>
          <a:xfrm>
            <a:off x="5199937" y="2424875"/>
            <a:ext cx="3972283" cy="3398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75"/>
              <a:buFont typeface="Plus Jakarta Sans"/>
              <a:buNone/>
            </a:pPr>
            <a:r>
              <a:rPr b="1" i="0" lang="en-US" sz="18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SHOW A NUMBER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5"/>
          <p:cNvSpPr/>
          <p:nvPr/>
        </p:nvSpPr>
        <p:spPr>
          <a:xfrm>
            <a:off x="5199937" y="2840784"/>
            <a:ext cx="3719501" cy="9579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806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725"/>
              <a:buFont typeface="Plus Jakarta Sans"/>
              <a:buNone/>
            </a:pPr>
            <a:r>
              <a:rPr b="0" i="0" lang="en-US" sz="17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Before and after: minutes per task, accuracy on 20 samples, cost per run.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5"/>
          <p:cNvSpPr/>
          <p:nvPr/>
        </p:nvSpPr>
        <p:spPr>
          <a:xfrm>
            <a:off x="5199937" y="3874771"/>
            <a:ext cx="3719501" cy="9180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632"/>
              </a:lnSpc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650"/>
              <a:buFont typeface="Plus Jakarta Sans"/>
              <a:buNone/>
            </a:pPr>
            <a:r>
              <a:rPr b="1" i="0" lang="en-US" sz="1650" u="none" cap="none" strike="noStrike">
                <a:solidFill>
                  <a:srgbClr val="5B21B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Show this: 6 minutes to 20 seconds, 18 of 20 correct, 0.004 dollars a run.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5"/>
          <p:cNvSpPr/>
          <p:nvPr/>
        </p:nvSpPr>
        <p:spPr>
          <a:xfrm>
            <a:off x="9239156" y="2168128"/>
            <a:ext cx="4086226" cy="4980766"/>
          </a:xfrm>
          <a:prstGeom prst="roundRect">
            <a:avLst>
              <a:gd fmla="val 373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5"/>
          <p:cNvSpPr/>
          <p:nvPr/>
        </p:nvSpPr>
        <p:spPr>
          <a:xfrm>
            <a:off x="9476758" y="2424875"/>
            <a:ext cx="3972126" cy="3398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75"/>
              <a:buFont typeface="Plus Jakarta Sans"/>
              <a:buNone/>
            </a:pPr>
            <a:r>
              <a:rPr b="1" i="0" lang="en-US" sz="18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BUILD THE FAILURE PATH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5"/>
          <p:cNvSpPr/>
          <p:nvPr/>
        </p:nvSpPr>
        <p:spPr>
          <a:xfrm>
            <a:off x="9476758" y="2840784"/>
            <a:ext cx="3719354" cy="9579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806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725"/>
              <a:buFont typeface="Plus Jakarta Sans"/>
              <a:buNone/>
            </a:pPr>
            <a:r>
              <a:rPr b="0" i="0" lang="en-US" sz="17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Break it on purpose in the demo. Low confidence, bad JSON, API down.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5"/>
          <p:cNvSpPr/>
          <p:nvPr/>
        </p:nvSpPr>
        <p:spPr>
          <a:xfrm>
            <a:off x="9476758" y="3874771"/>
            <a:ext cx="3719354" cy="6247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632"/>
              </a:lnSpc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650"/>
              <a:buFont typeface="Plus Jakarta Sans"/>
              <a:buNone/>
            </a:pPr>
            <a:r>
              <a:rPr b="1" i="0" lang="en-US" sz="1650" u="none" cap="none" strike="noStrike">
                <a:solidFill>
                  <a:srgbClr val="5B21B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Show this: the review queue filling up instead of a crash.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5"/>
          <p:cNvSpPr/>
          <p:nvPr/>
        </p:nvSpPr>
        <p:spPr>
          <a:xfrm>
            <a:off x="13515834" y="2168128"/>
            <a:ext cx="4086369" cy="4980766"/>
          </a:xfrm>
          <a:prstGeom prst="roundRect">
            <a:avLst>
              <a:gd fmla="val 372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15"/>
          <p:cNvSpPr/>
          <p:nvPr/>
        </p:nvSpPr>
        <p:spPr>
          <a:xfrm>
            <a:off x="13753435" y="2424875"/>
            <a:ext cx="3972283" cy="3398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75"/>
              <a:buFont typeface="Plus Jakarta Sans"/>
              <a:buNone/>
            </a:pPr>
            <a:r>
              <a:rPr b="1" i="0" lang="en-US" sz="18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TRIGGER IS NOT A HUMAN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5"/>
          <p:cNvSpPr/>
          <p:nvPr/>
        </p:nvSpPr>
        <p:spPr>
          <a:xfrm>
            <a:off x="13753435" y="2840784"/>
            <a:ext cx="3719501" cy="9579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806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725"/>
              <a:buFont typeface="Plus Jakarta Sans"/>
              <a:buNone/>
            </a:pPr>
            <a:r>
              <a:rPr b="0" i="0" lang="en-US" sz="17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If someone has to sit there and prompt it, it is a chat app, not automation.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5"/>
          <p:cNvSpPr/>
          <p:nvPr/>
        </p:nvSpPr>
        <p:spPr>
          <a:xfrm>
            <a:off x="13753435" y="3874771"/>
            <a:ext cx="3719501" cy="6247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632"/>
              </a:lnSpc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650"/>
              <a:buFont typeface="Plus Jakarta Sans"/>
              <a:buNone/>
            </a:pPr>
            <a:r>
              <a:rPr b="1" i="0" lang="en-US" sz="1650" u="none" cap="none" strike="noStrike">
                <a:solidFill>
                  <a:srgbClr val="5B21B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Show this: the run that fired while nobody was watching.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5"/>
          <p:cNvSpPr/>
          <p:nvPr/>
        </p:nvSpPr>
        <p:spPr>
          <a:xfrm>
            <a:off x="685657" y="7547230"/>
            <a:ext cx="1695403" cy="5318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Plus Jakarta Sans"/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THREE MINUTE DEMO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5"/>
          <p:cNvSpPr/>
          <p:nvPr/>
        </p:nvSpPr>
        <p:spPr>
          <a:xfrm>
            <a:off x="2457165" y="7358350"/>
            <a:ext cx="3672031" cy="871538"/>
          </a:xfrm>
          <a:prstGeom prst="roundRect">
            <a:avLst>
              <a:gd fmla="val 1530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5"/>
          <p:cNvSpPr/>
          <p:nvPr/>
        </p:nvSpPr>
        <p:spPr>
          <a:xfrm>
            <a:off x="2656809" y="7519894"/>
            <a:ext cx="3382904" cy="586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25"/>
              <a:buFont typeface="Plus Jakarta Sans"/>
              <a:buNone/>
            </a:pPr>
            <a:r>
              <a:rPr b="1" i="0" lang="en-US" sz="17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60s: the problem, in their words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5"/>
          <p:cNvSpPr/>
          <p:nvPr/>
        </p:nvSpPr>
        <p:spPr>
          <a:xfrm>
            <a:off x="6281500" y="7495509"/>
            <a:ext cx="3672031" cy="597218"/>
          </a:xfrm>
          <a:prstGeom prst="roundRect">
            <a:avLst>
              <a:gd fmla="val 2232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15"/>
          <p:cNvSpPr/>
          <p:nvPr/>
        </p:nvSpPr>
        <p:spPr>
          <a:xfrm>
            <a:off x="6481144" y="7657053"/>
            <a:ext cx="3382904" cy="31223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25"/>
              <a:buFont typeface="Plus Jakarta Sans"/>
              <a:buNone/>
            </a:pPr>
            <a:r>
              <a:rPr b="1" i="0" lang="en-US" sz="17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60s: one live run, end to end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5"/>
          <p:cNvSpPr/>
          <p:nvPr/>
        </p:nvSpPr>
        <p:spPr>
          <a:xfrm>
            <a:off x="10105837" y="7358350"/>
            <a:ext cx="3672031" cy="871538"/>
          </a:xfrm>
          <a:prstGeom prst="roundRect">
            <a:avLst>
              <a:gd fmla="val 1530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15"/>
          <p:cNvSpPr/>
          <p:nvPr/>
        </p:nvSpPr>
        <p:spPr>
          <a:xfrm>
            <a:off x="10305481" y="7519894"/>
            <a:ext cx="3382904" cy="586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25"/>
              <a:buFont typeface="Plus Jakarta Sans"/>
              <a:buNone/>
            </a:pPr>
            <a:r>
              <a:rPr b="1" i="0" lang="en-US" sz="17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30s: break it, show the fallback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5"/>
          <p:cNvSpPr/>
          <p:nvPr/>
        </p:nvSpPr>
        <p:spPr>
          <a:xfrm>
            <a:off x="13930172" y="7495509"/>
            <a:ext cx="3672031" cy="597218"/>
          </a:xfrm>
          <a:prstGeom prst="roundRect">
            <a:avLst>
              <a:gd fmla="val 2232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15"/>
          <p:cNvSpPr/>
          <p:nvPr/>
        </p:nvSpPr>
        <p:spPr>
          <a:xfrm>
            <a:off x="14129816" y="7657053"/>
            <a:ext cx="3382904" cy="31223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25"/>
              <a:buFont typeface="Plus Jakarta Sans"/>
              <a:buNone/>
            </a:pPr>
            <a:r>
              <a:rPr b="1" i="0" lang="en-US" sz="17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30s: the numbers and the cost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5"/>
          <p:cNvSpPr/>
          <p:nvPr/>
        </p:nvSpPr>
        <p:spPr>
          <a:xfrm>
            <a:off x="685657" y="8439342"/>
            <a:ext cx="16916545" cy="970693"/>
          </a:xfrm>
          <a:prstGeom prst="roundRect">
            <a:avLst>
              <a:gd fmla="val 15700" name="adj"/>
            </a:avLst>
          </a:prstGeom>
          <a:solidFill>
            <a:srgbClr val="F5F0FF"/>
          </a:solidFill>
          <a:ln cap="flat" cmpd="sng" w="9525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5"/>
          <p:cNvSpPr/>
          <p:nvPr/>
        </p:nvSpPr>
        <p:spPr>
          <a:xfrm>
            <a:off x="999554" y="8696088"/>
            <a:ext cx="11555689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154"/>
              </a:lnSpc>
              <a:spcBef>
                <a:spcPts val="0"/>
              </a:spcBef>
              <a:spcAft>
                <a:spcPts val="0"/>
              </a:spcAft>
              <a:buClr>
                <a:srgbClr val="4C1D95"/>
              </a:buClr>
              <a:buSzPts val="3000"/>
              <a:buFont typeface="Plus Jakarta Sans"/>
              <a:buNone/>
            </a:pPr>
            <a:r>
              <a:rPr b="1" i="0" lang="en-US" sz="3000" u="none" cap="none" strike="noStrike">
                <a:solidFill>
                  <a:srgbClr val="4C1D9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 not build a demo of automation. Automate something.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5"/>
          <p:cNvSpPr/>
          <p:nvPr/>
        </p:nvSpPr>
        <p:spPr>
          <a:xfrm>
            <a:off x="685657" y="9410035"/>
            <a:ext cx="169165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15"/>
          <p:cNvSpPr/>
          <p:nvPr/>
        </p:nvSpPr>
        <p:spPr>
          <a:xfrm>
            <a:off x="685657" y="9609631"/>
            <a:ext cx="1252300" cy="353473"/>
          </a:xfrm>
          <a:prstGeom prst="roundRect">
            <a:avLst>
              <a:gd fmla="val 18863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15"/>
          <p:cNvSpPr/>
          <p:nvPr/>
        </p:nvSpPr>
        <p:spPr>
          <a:xfrm>
            <a:off x="819007" y="9685831"/>
            <a:ext cx="1061800" cy="2391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Plus Jakarta Sans"/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FRONTIER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5"/>
          <p:cNvSpPr/>
          <p:nvPr/>
        </p:nvSpPr>
        <p:spPr>
          <a:xfrm>
            <a:off x="2090262" y="9658352"/>
            <a:ext cx="833581" cy="2941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75"/>
              <a:buFont typeface="Plus Jakarta Sans"/>
              <a:buNone/>
            </a:pPr>
            <a:r>
              <a:rPr b="1" i="0" lang="en-US" sz="15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Judging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5"/>
          <p:cNvSpPr/>
          <p:nvPr/>
        </p:nvSpPr>
        <p:spPr>
          <a:xfrm>
            <a:off x="17015558" y="9658352"/>
            <a:ext cx="662845" cy="2941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575"/>
              <a:buFont typeface="Plus Jakarta Sans"/>
              <a:buNone/>
            </a:pPr>
            <a:r>
              <a:rPr b="1" i="0" lang="en-US" sz="1575" u="none" cap="none" strike="noStrik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13 / 14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16"/>
          <p:cNvSpPr/>
          <p:nvPr/>
        </p:nvSpPr>
        <p:spPr>
          <a:xfrm>
            <a:off x="0" y="0"/>
            <a:ext cx="18287860" cy="10286859"/>
          </a:xfrm>
          <a:prstGeom prst="rect">
            <a:avLst/>
          </a:prstGeom>
          <a:gradFill>
            <a:gsLst>
              <a:gs pos="0">
                <a:srgbClr val="FFFFFF"/>
              </a:gs>
              <a:gs pos="50000">
                <a:srgbClr val="FFFFFF"/>
              </a:gs>
              <a:gs pos="100000">
                <a:srgbClr val="F6F1FF"/>
              </a:gs>
            </a:gsLst>
            <a:lin ang="27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6"/>
          <p:cNvSpPr/>
          <p:nvPr/>
        </p:nvSpPr>
        <p:spPr>
          <a:xfrm>
            <a:off x="685657" y="1046702"/>
            <a:ext cx="169165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16"/>
          <p:cNvSpPr/>
          <p:nvPr/>
        </p:nvSpPr>
        <p:spPr>
          <a:xfrm>
            <a:off x="685657" y="532924"/>
            <a:ext cx="209455" cy="209455"/>
          </a:xfrm>
          <a:prstGeom prst="roundRect">
            <a:avLst>
              <a:gd fmla="val 31833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16"/>
          <p:cNvSpPr/>
          <p:nvPr/>
        </p:nvSpPr>
        <p:spPr>
          <a:xfrm>
            <a:off x="1028414" y="505063"/>
            <a:ext cx="5664295" cy="3032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50"/>
              <a:buFont typeface="Plus Jakarta Sans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AWS STUDENT BUILDER GROUPS · VIT CHENNAI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6"/>
          <p:cNvSpPr/>
          <p:nvPr/>
        </p:nvSpPr>
        <p:spPr>
          <a:xfrm>
            <a:off x="15468222" y="419052"/>
            <a:ext cx="2133981" cy="437198"/>
          </a:xfrm>
          <a:prstGeom prst="roundRect">
            <a:avLst>
              <a:gd fmla="val 50000" name="adj"/>
            </a:avLst>
          </a:prstGeom>
          <a:solidFill>
            <a:srgbClr val="F3E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16"/>
          <p:cNvSpPr/>
          <p:nvPr/>
        </p:nvSpPr>
        <p:spPr>
          <a:xfrm>
            <a:off x="15677772" y="514302"/>
            <a:ext cx="1791081" cy="2847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500"/>
              <a:buFont typeface="Plus Jakarta Sans"/>
              <a:buNone/>
            </a:pPr>
            <a:r>
              <a:rPr b="1" i="0" lang="en-US" sz="1500" u="none" cap="none" strike="noStrike">
                <a:solidFill>
                  <a:srgbClr val="6D28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AUTOMATION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6"/>
          <p:cNvSpPr/>
          <p:nvPr/>
        </p:nvSpPr>
        <p:spPr>
          <a:xfrm>
            <a:off x="685657" y="1341454"/>
            <a:ext cx="18608200" cy="655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5443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500"/>
              <a:buFont typeface="Plus Jakarta Sans"/>
              <a:buNone/>
            </a:pPr>
            <a:r>
              <a:rPr b="1" i="0" lang="en-US" sz="4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Automation vs agentic systems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6"/>
          <p:cNvSpPr/>
          <p:nvPr/>
        </p:nvSpPr>
        <p:spPr>
          <a:xfrm>
            <a:off x="685657" y="2187131"/>
            <a:ext cx="8334472" cy="5574555"/>
          </a:xfrm>
          <a:prstGeom prst="roundRect">
            <a:avLst>
              <a:gd fmla="val 307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16"/>
          <p:cNvSpPr/>
          <p:nvPr/>
        </p:nvSpPr>
        <p:spPr>
          <a:xfrm>
            <a:off x="999554" y="2481882"/>
            <a:ext cx="8477347" cy="3307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6D28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6"/>
          <p:cNvSpPr/>
          <p:nvPr/>
        </p:nvSpPr>
        <p:spPr>
          <a:xfrm>
            <a:off x="999554" y="2907793"/>
            <a:ext cx="8477347" cy="384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324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Plus Jakarta Sans"/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You draw the path. The AI fills in one box.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6"/>
          <p:cNvSpPr/>
          <p:nvPr/>
        </p:nvSpPr>
        <p:spPr>
          <a:xfrm>
            <a:off x="999554" y="3387853"/>
            <a:ext cx="8477347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Plus Jakarta Sans"/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Steps are fixed at design time. You can point at the node that ran.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6"/>
          <p:cNvSpPr/>
          <p:nvPr/>
        </p:nvSpPr>
        <p:spPr>
          <a:xfrm>
            <a:off x="999554" y="3841195"/>
            <a:ext cx="8477347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Plus Jakarta Sans"/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model returns fields. Your code makes every decision.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6"/>
          <p:cNvSpPr/>
          <p:nvPr/>
        </p:nvSpPr>
        <p:spPr>
          <a:xfrm>
            <a:off x="999554" y="4294538"/>
            <a:ext cx="8477347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Plus Jakarta Sans"/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One model call per run, so cost and latency are predictable.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6"/>
          <p:cNvSpPr/>
          <p:nvPr/>
        </p:nvSpPr>
        <p:spPr>
          <a:xfrm>
            <a:off x="999554" y="4747880"/>
            <a:ext cx="8477347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Plus Jakarta Sans"/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Failures land on a known step and can be replayed.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6"/>
          <p:cNvSpPr/>
          <p:nvPr/>
        </p:nvSpPr>
        <p:spPr>
          <a:xfrm>
            <a:off x="999554" y="5201223"/>
            <a:ext cx="8477347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5B21B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Probabilistic, but only inside the box you gave it.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16"/>
          <p:cNvSpPr/>
          <p:nvPr/>
        </p:nvSpPr>
        <p:spPr>
          <a:xfrm>
            <a:off x="9267731" y="2187131"/>
            <a:ext cx="8334472" cy="5574555"/>
          </a:xfrm>
          <a:prstGeom prst="roundRect">
            <a:avLst>
              <a:gd fmla="val 3076" name="adj"/>
            </a:avLst>
          </a:prstGeom>
          <a:solidFill>
            <a:srgbClr val="F5F0FF"/>
          </a:solidFill>
          <a:ln cap="flat" cmpd="sng" w="9525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16"/>
          <p:cNvSpPr/>
          <p:nvPr/>
        </p:nvSpPr>
        <p:spPr>
          <a:xfrm>
            <a:off x="9581628" y="2481882"/>
            <a:ext cx="8477347" cy="3307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5B21B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AGENTIC SYSTEMS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6"/>
          <p:cNvSpPr/>
          <p:nvPr/>
        </p:nvSpPr>
        <p:spPr>
          <a:xfrm>
            <a:off x="9581628" y="2907793"/>
            <a:ext cx="8477347" cy="384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324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Plus Jakarta Sans"/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You hand over the goal. It chooses the path.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6"/>
          <p:cNvSpPr/>
          <p:nvPr/>
        </p:nvSpPr>
        <p:spPr>
          <a:xfrm>
            <a:off x="9581628" y="3387853"/>
            <a:ext cx="7937879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Plus Jakarta Sans"/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Steps are chosen at runtime. The path differs between two identical runs.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6"/>
          <p:cNvSpPr/>
          <p:nvPr/>
        </p:nvSpPr>
        <p:spPr>
          <a:xfrm>
            <a:off x="9581628" y="4161235"/>
            <a:ext cx="8477347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Plus Jakarta Sans"/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model picks tools, calls them, reads the result and decides again.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16"/>
          <p:cNvSpPr/>
          <p:nvPr/>
        </p:nvSpPr>
        <p:spPr>
          <a:xfrm>
            <a:off x="9581628" y="4614578"/>
            <a:ext cx="8477347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Plus Jakarta Sans"/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It loops until the goal is met, or until a budget stops it.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6"/>
          <p:cNvSpPr/>
          <p:nvPr/>
        </p:nvSpPr>
        <p:spPr>
          <a:xfrm>
            <a:off x="9581628" y="5067920"/>
            <a:ext cx="8477347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Plus Jakarta Sans"/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Debugging means reading a trace, not opening a node.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6"/>
          <p:cNvSpPr/>
          <p:nvPr/>
        </p:nvSpPr>
        <p:spPr>
          <a:xfrm>
            <a:off x="9581628" y="5521262"/>
            <a:ext cx="8477347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800"/>
              <a:buFont typeface="Plus Jakarta Sans"/>
              <a:buNone/>
            </a:pPr>
            <a:r>
              <a:rPr b="1" i="0" lang="en-US" sz="1800" u="none" cap="none" strike="noStrike">
                <a:solidFill>
                  <a:srgbClr val="5B21B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Needs guardrails, step limits, spend caps and full traces.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6"/>
          <p:cNvSpPr/>
          <p:nvPr/>
        </p:nvSpPr>
        <p:spPr>
          <a:xfrm>
            <a:off x="685657" y="7990143"/>
            <a:ext cx="16916545" cy="1419892"/>
          </a:xfrm>
          <a:prstGeom prst="roundRect">
            <a:avLst>
              <a:gd fmla="val 10733" name="adj"/>
            </a:avLst>
          </a:prstGeom>
          <a:solidFill>
            <a:srgbClr val="FAF5FF"/>
          </a:solidFill>
          <a:ln cap="flat" cmpd="sng" w="9525">
            <a:solidFill>
              <a:srgbClr val="E9D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16"/>
          <p:cNvSpPr/>
          <p:nvPr/>
        </p:nvSpPr>
        <p:spPr>
          <a:xfrm>
            <a:off x="999554" y="8265891"/>
            <a:ext cx="16777415" cy="9064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C1D95"/>
              </a:buClr>
              <a:buSzPts val="2850"/>
              <a:buFont typeface="Plus Jakarta Sans"/>
              <a:buNone/>
            </a:pPr>
            <a:r>
              <a:rPr b="1" i="0" lang="en-US" sz="2850" u="none" cap="none" strike="noStrike">
                <a:solidFill>
                  <a:srgbClr val="4C1D9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Today the AI answered a question inside your workflow. Next track, it decides what the workflow is.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6"/>
          <p:cNvSpPr/>
          <p:nvPr/>
        </p:nvSpPr>
        <p:spPr>
          <a:xfrm>
            <a:off x="685657" y="9410035"/>
            <a:ext cx="169165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16"/>
          <p:cNvSpPr/>
          <p:nvPr/>
        </p:nvSpPr>
        <p:spPr>
          <a:xfrm>
            <a:off x="685657" y="9609631"/>
            <a:ext cx="1252300" cy="353473"/>
          </a:xfrm>
          <a:prstGeom prst="roundRect">
            <a:avLst>
              <a:gd fmla="val 18863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16"/>
          <p:cNvSpPr/>
          <p:nvPr/>
        </p:nvSpPr>
        <p:spPr>
          <a:xfrm>
            <a:off x="819007" y="9685831"/>
            <a:ext cx="1061800" cy="2391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Plus Jakarta Sans"/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FRONTIER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6"/>
          <p:cNvSpPr/>
          <p:nvPr/>
        </p:nvSpPr>
        <p:spPr>
          <a:xfrm>
            <a:off x="2090262" y="9658352"/>
            <a:ext cx="1236774" cy="2941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75"/>
              <a:buFont typeface="Plus Jakarta Sans"/>
              <a:buNone/>
            </a:pPr>
            <a:r>
              <a:rPr b="1" i="0" lang="en-US" sz="15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is next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6"/>
          <p:cNvSpPr/>
          <p:nvPr/>
        </p:nvSpPr>
        <p:spPr>
          <a:xfrm>
            <a:off x="3403140" y="9658352"/>
            <a:ext cx="3755241" cy="2941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575"/>
              <a:buFont typeface="Plus Jakarta Sans"/>
              <a:buNone/>
            </a:pPr>
            <a:r>
              <a:rPr b="1" i="0" lang="en-US" sz="1575" u="none" cap="none" strike="noStrike">
                <a:solidFill>
                  <a:srgbClr val="6D28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Next up, Track 04: Agentic systems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16"/>
          <p:cNvSpPr/>
          <p:nvPr/>
        </p:nvSpPr>
        <p:spPr>
          <a:xfrm>
            <a:off x="17006985" y="9658352"/>
            <a:ext cx="671417" cy="2941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575"/>
              <a:buFont typeface="Plus Jakarta Sans"/>
              <a:buNone/>
            </a:pPr>
            <a:r>
              <a:rPr b="1" i="0" lang="en-US" sz="1575" u="none" cap="none" strike="noStrike">
                <a:solidFill>
                  <a:srgbClr val="7C3A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14 / 14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