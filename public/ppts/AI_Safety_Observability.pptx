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image" Target="../media/image25.png"/><Relationship Id="rId15" Type="http://schemas.openxmlformats.org/officeDocument/2006/relationships/image" Target="../media/image26.png"/><Relationship Id="rId16" Type="http://schemas.openxmlformats.org/officeDocument/2006/relationships/image" Target="../media/image27.png"/><Relationship Id="rId17" Type="http://schemas.openxmlformats.org/officeDocument/2006/relationships/image" Target="../media/image28.png"/><Relationship Id="rId18" Type="http://schemas.openxmlformats.org/officeDocument/2006/relationships/image" Target="../media/image29.png"/><Relationship Id="rId19" Type="http://schemas.openxmlformats.org/officeDocument/2006/relationships/image" Target="../media/image12.png"/><Relationship Id="rId20" Type="http://schemas.openxmlformats.org/officeDocument/2006/relationships/image" Target="../media/image13.png"/><Relationship Id="rId21" Type="http://schemas.openxmlformats.org/officeDocument/2006/relationships/image" Target="../media/image30.png"/><Relationship Id="rId22" Type="http://schemas.openxmlformats.org/officeDocument/2006/relationships/image" Target="../media/image31.png"/><Relationship Id="rId23" Type="http://schemas.openxmlformats.org/officeDocument/2006/relationships/image" Target="../media/image32.png"/><Relationship Id="rId24" Type="http://schemas.openxmlformats.org/officeDocument/2006/relationships/image" Target="../media/image33.png"/><Relationship Id="rId25" Type="http://schemas.openxmlformats.org/officeDocument/2006/relationships/image" Target="../media/image34.png"/><Relationship Id="rId26" Type="http://schemas.openxmlformats.org/officeDocument/2006/relationships/image" Target="../media/image35.png"/><Relationship Id="rId27" Type="http://schemas.openxmlformats.org/officeDocument/2006/relationships/image" Target="../media/image36.png"/><Relationship Id="rId28" Type="http://schemas.openxmlformats.org/officeDocument/2006/relationships/image" Target="../media/image37.png"/><Relationship Id="rId29" Type="http://schemas.openxmlformats.org/officeDocument/2006/relationships/image" Target="../media/image38.png"/><Relationship Id="rId30" Type="http://schemas.openxmlformats.org/officeDocument/2006/relationships/image" Target="../media/image3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Relationship Id="rId11" Type="http://schemas.openxmlformats.org/officeDocument/2006/relationships/image" Target="../media/image47.png"/><Relationship Id="rId12" Type="http://schemas.openxmlformats.org/officeDocument/2006/relationships/image" Target="../media/image48.png"/><Relationship Id="rId13" Type="http://schemas.openxmlformats.org/officeDocument/2006/relationships/image" Target="../media/image11.png"/><Relationship Id="rId14" Type="http://schemas.openxmlformats.org/officeDocument/2006/relationships/image" Target="../media/image49.png"/><Relationship Id="rId15" Type="http://schemas.openxmlformats.org/officeDocument/2006/relationships/image" Target="../media/image12.png"/><Relationship Id="rId16" Type="http://schemas.openxmlformats.org/officeDocument/2006/relationships/image" Target="../media/image13.png"/><Relationship Id="rId17" Type="http://schemas.openxmlformats.org/officeDocument/2006/relationships/image" Target="../media/image50.png"/><Relationship Id="rId18" Type="http://schemas.openxmlformats.org/officeDocument/2006/relationships/image" Target="../media/image51.png"/><Relationship Id="rId19" Type="http://schemas.openxmlformats.org/officeDocument/2006/relationships/image" Target="../media/image5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Relationship Id="rId12" Type="http://schemas.openxmlformats.org/officeDocument/2006/relationships/image" Target="../media/image61.png"/><Relationship Id="rId13" Type="http://schemas.openxmlformats.org/officeDocument/2006/relationships/image" Target="../media/image62.png"/><Relationship Id="rId14" Type="http://schemas.openxmlformats.org/officeDocument/2006/relationships/image" Target="../media/image63.png"/><Relationship Id="rId15" Type="http://schemas.openxmlformats.org/officeDocument/2006/relationships/image" Target="../media/image64.png"/><Relationship Id="rId16" Type="http://schemas.openxmlformats.org/officeDocument/2006/relationships/image" Target="../media/image12.png"/><Relationship Id="rId17" Type="http://schemas.openxmlformats.org/officeDocument/2006/relationships/image" Target="../media/image13.png"/><Relationship Id="rId18" Type="http://schemas.openxmlformats.org/officeDocument/2006/relationships/image" Target="../media/image65.png"/><Relationship Id="rId19" Type="http://schemas.openxmlformats.org/officeDocument/2006/relationships/image" Target="../media/image66.png"/><Relationship Id="rId20" Type="http://schemas.openxmlformats.org/officeDocument/2006/relationships/image" Target="../media/image67.png"/><Relationship Id="rId21" Type="http://schemas.openxmlformats.org/officeDocument/2006/relationships/image" Target="../media/image6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Relationship Id="rId9" Type="http://schemas.openxmlformats.org/officeDocument/2006/relationships/image" Target="../media/image74.png"/><Relationship Id="rId10" Type="http://schemas.openxmlformats.org/officeDocument/2006/relationships/image" Target="../media/image75.png"/><Relationship Id="rId11" Type="http://schemas.openxmlformats.org/officeDocument/2006/relationships/image" Target="../media/image76.png"/><Relationship Id="rId12" Type="http://schemas.openxmlformats.org/officeDocument/2006/relationships/image" Target="../media/image77.png"/><Relationship Id="rId13" Type="http://schemas.openxmlformats.org/officeDocument/2006/relationships/image" Target="../media/image78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79.png"/><Relationship Id="rId17" Type="http://schemas.openxmlformats.org/officeDocument/2006/relationships/image" Target="../media/image31.png"/><Relationship Id="rId18" Type="http://schemas.openxmlformats.org/officeDocument/2006/relationships/image" Target="../media/image80.png"/><Relationship Id="rId19" Type="http://schemas.openxmlformats.org/officeDocument/2006/relationships/image" Target="../media/image81.png"/><Relationship Id="rId20" Type="http://schemas.openxmlformats.org/officeDocument/2006/relationships/image" Target="../media/image34.png"/><Relationship Id="rId21" Type="http://schemas.openxmlformats.org/officeDocument/2006/relationships/image" Target="../media/image8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9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85.png"/><Relationship Id="rId8" Type="http://schemas.openxmlformats.org/officeDocument/2006/relationships/image" Target="../media/image86.png"/><Relationship Id="rId9" Type="http://schemas.openxmlformats.org/officeDocument/2006/relationships/image" Target="../media/image87.png"/><Relationship Id="rId10" Type="http://schemas.openxmlformats.org/officeDocument/2006/relationships/image" Target="../media/image88.png"/><Relationship Id="rId11" Type="http://schemas.openxmlformats.org/officeDocument/2006/relationships/image" Target="../media/image89.png"/><Relationship Id="rId12" Type="http://schemas.openxmlformats.org/officeDocument/2006/relationships/image" Target="../media/image90.png"/><Relationship Id="rId13" Type="http://schemas.openxmlformats.org/officeDocument/2006/relationships/image" Target="../media/image91.png"/><Relationship Id="rId14" Type="http://schemas.openxmlformats.org/officeDocument/2006/relationships/image" Target="../media/image92.png"/><Relationship Id="rId15" Type="http://schemas.openxmlformats.org/officeDocument/2006/relationships/image" Target="../media/image93.png"/><Relationship Id="rId16" Type="http://schemas.openxmlformats.org/officeDocument/2006/relationships/image" Target="../media/image12.png"/><Relationship Id="rId17" Type="http://schemas.openxmlformats.org/officeDocument/2006/relationships/image" Target="../media/image13.png"/><Relationship Id="rId18" Type="http://schemas.openxmlformats.org/officeDocument/2006/relationships/image" Target="../media/image94.png"/><Relationship Id="rId19" Type="http://schemas.openxmlformats.org/officeDocument/2006/relationships/image" Target="../media/image95.png"/><Relationship Id="rId20" Type="http://schemas.openxmlformats.org/officeDocument/2006/relationships/image" Target="../media/image9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image" Target="../media/image99.png"/><Relationship Id="rId7" Type="http://schemas.openxmlformats.org/officeDocument/2006/relationships/image" Target="../media/image100.png"/><Relationship Id="rId8" Type="http://schemas.openxmlformats.org/officeDocument/2006/relationships/image" Target="../media/image101.png"/><Relationship Id="rId9" Type="http://schemas.openxmlformats.org/officeDocument/2006/relationships/image" Target="../media/image102.png"/><Relationship Id="rId10" Type="http://schemas.openxmlformats.org/officeDocument/2006/relationships/image" Target="../media/image103.png"/><Relationship Id="rId11" Type="http://schemas.openxmlformats.org/officeDocument/2006/relationships/image" Target="../media/image104.png"/><Relationship Id="rId12" Type="http://schemas.openxmlformats.org/officeDocument/2006/relationships/image" Target="../media/image105.png"/><Relationship Id="rId13" Type="http://schemas.openxmlformats.org/officeDocument/2006/relationships/image" Target="../media/image106.png"/><Relationship Id="rId14" Type="http://schemas.openxmlformats.org/officeDocument/2006/relationships/image" Target="../media/image107.png"/><Relationship Id="rId15" Type="http://schemas.openxmlformats.org/officeDocument/2006/relationships/image" Target="../media/image108.png"/><Relationship Id="rId16" Type="http://schemas.openxmlformats.org/officeDocument/2006/relationships/image" Target="../media/image109.png"/><Relationship Id="rId17" Type="http://schemas.openxmlformats.org/officeDocument/2006/relationships/image" Target="../media/image29.png"/><Relationship Id="rId18" Type="http://schemas.openxmlformats.org/officeDocument/2006/relationships/image" Target="../media/image12.png"/><Relationship Id="rId19" Type="http://schemas.openxmlformats.org/officeDocument/2006/relationships/image" Target="../media/image13.png"/><Relationship Id="rId20" Type="http://schemas.openxmlformats.org/officeDocument/2006/relationships/image" Target="../media/image110.png"/><Relationship Id="rId21" Type="http://schemas.openxmlformats.org/officeDocument/2006/relationships/image" Target="../media/image111.png"/><Relationship Id="rId22" Type="http://schemas.openxmlformats.org/officeDocument/2006/relationships/image" Target="../media/image112.png"/><Relationship Id="rId23" Type="http://schemas.openxmlformats.org/officeDocument/2006/relationships/image" Target="../media/image113.png"/><Relationship Id="rId24" Type="http://schemas.openxmlformats.org/officeDocument/2006/relationships/image" Target="../media/image114.png"/><Relationship Id="rId25" Type="http://schemas.openxmlformats.org/officeDocument/2006/relationships/image" Target="../media/image115.png"/><Relationship Id="rId26" Type="http://schemas.openxmlformats.org/officeDocument/2006/relationships/image" Target="../media/image1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17.png"/><Relationship Id="rId5" Type="http://schemas.openxmlformats.org/officeDocument/2006/relationships/image" Target="../media/image118.png"/><Relationship Id="rId6" Type="http://schemas.openxmlformats.org/officeDocument/2006/relationships/image" Target="../media/image119.png"/><Relationship Id="rId7" Type="http://schemas.openxmlformats.org/officeDocument/2006/relationships/image" Target="../media/image120.png"/><Relationship Id="rId8" Type="http://schemas.openxmlformats.org/officeDocument/2006/relationships/image" Target="../media/image121.png"/><Relationship Id="rId9" Type="http://schemas.openxmlformats.org/officeDocument/2006/relationships/image" Target="../media/image122.png"/><Relationship Id="rId10" Type="http://schemas.openxmlformats.org/officeDocument/2006/relationships/image" Target="../media/image123.png"/><Relationship Id="rId11" Type="http://schemas.openxmlformats.org/officeDocument/2006/relationships/image" Target="../media/image124.png"/><Relationship Id="rId12" Type="http://schemas.openxmlformats.org/officeDocument/2006/relationships/image" Target="../media/image125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26.png"/><Relationship Id="rId16" Type="http://schemas.openxmlformats.org/officeDocument/2006/relationships/image" Target="../media/image127.png"/><Relationship Id="rId17" Type="http://schemas.openxmlformats.org/officeDocument/2006/relationships/image" Target="../media/image1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29.png"/><Relationship Id="rId5" Type="http://schemas.openxmlformats.org/officeDocument/2006/relationships/image" Target="../media/image130.png"/><Relationship Id="rId6" Type="http://schemas.openxmlformats.org/officeDocument/2006/relationships/image" Target="../media/image131.png"/><Relationship Id="rId7" Type="http://schemas.openxmlformats.org/officeDocument/2006/relationships/image" Target="../media/image132.png"/><Relationship Id="rId8" Type="http://schemas.openxmlformats.org/officeDocument/2006/relationships/image" Target="../media/image101.png"/><Relationship Id="rId9" Type="http://schemas.openxmlformats.org/officeDocument/2006/relationships/image" Target="../media/image133.png"/><Relationship Id="rId10" Type="http://schemas.openxmlformats.org/officeDocument/2006/relationships/image" Target="../media/image134.png"/><Relationship Id="rId11" Type="http://schemas.openxmlformats.org/officeDocument/2006/relationships/image" Target="../media/image135.png"/><Relationship Id="rId12" Type="http://schemas.openxmlformats.org/officeDocument/2006/relationships/image" Target="../media/image136.png"/><Relationship Id="rId13" Type="http://schemas.openxmlformats.org/officeDocument/2006/relationships/image" Target="../media/image137.png"/><Relationship Id="rId14" Type="http://schemas.openxmlformats.org/officeDocument/2006/relationships/image" Target="../media/image138.png"/><Relationship Id="rId15" Type="http://schemas.openxmlformats.org/officeDocument/2006/relationships/image" Target="../media/image139.png"/><Relationship Id="rId16" Type="http://schemas.openxmlformats.org/officeDocument/2006/relationships/image" Target="../media/image140.png"/><Relationship Id="rId17" Type="http://schemas.openxmlformats.org/officeDocument/2006/relationships/image" Target="../media/image141.png"/><Relationship Id="rId18" Type="http://schemas.openxmlformats.org/officeDocument/2006/relationships/image" Target="../media/image12.png"/><Relationship Id="rId19" Type="http://schemas.openxmlformats.org/officeDocument/2006/relationships/image" Target="../media/image13.png"/><Relationship Id="rId20" Type="http://schemas.openxmlformats.org/officeDocument/2006/relationships/image" Target="../media/image142.png"/><Relationship Id="rId21" Type="http://schemas.openxmlformats.org/officeDocument/2006/relationships/image" Target="../media/image111.png"/><Relationship Id="rId22" Type="http://schemas.openxmlformats.org/officeDocument/2006/relationships/image" Target="../media/image143.png"/><Relationship Id="rId23" Type="http://schemas.openxmlformats.org/officeDocument/2006/relationships/image" Target="../media/image144.png"/><Relationship Id="rId24" Type="http://schemas.openxmlformats.org/officeDocument/2006/relationships/image" Target="../media/image145.png"/><Relationship Id="rId25" Type="http://schemas.openxmlformats.org/officeDocument/2006/relationships/image" Target="../media/image146.png"/><Relationship Id="rId26" Type="http://schemas.openxmlformats.org/officeDocument/2006/relationships/image" Target="../media/image14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48.png"/><Relationship Id="rId5" Type="http://schemas.openxmlformats.org/officeDocument/2006/relationships/image" Target="../media/image149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150.png"/><Relationship Id="rId10" Type="http://schemas.openxmlformats.org/officeDocument/2006/relationships/image" Target="../media/image151.png"/><Relationship Id="rId11" Type="http://schemas.openxmlformats.org/officeDocument/2006/relationships/image" Target="../media/image152.png"/><Relationship Id="rId12" Type="http://schemas.openxmlformats.org/officeDocument/2006/relationships/image" Target="../media/image153.png"/><Relationship Id="rId13" Type="http://schemas.openxmlformats.org/officeDocument/2006/relationships/image" Target="../media/image154.png"/><Relationship Id="rId14" Type="http://schemas.openxmlformats.org/officeDocument/2006/relationships/image" Target="../media/image155.png"/><Relationship Id="rId15" Type="http://schemas.openxmlformats.org/officeDocument/2006/relationships/image" Target="../media/image12.png"/><Relationship Id="rId16" Type="http://schemas.openxmlformats.org/officeDocument/2006/relationships/image" Target="../media/image13.png"/><Relationship Id="rId17" Type="http://schemas.openxmlformats.org/officeDocument/2006/relationships/image" Target="../media/image156.png"/><Relationship Id="rId18" Type="http://schemas.openxmlformats.org/officeDocument/2006/relationships/image" Target="../media/image157.png"/><Relationship Id="rId19" Type="http://schemas.openxmlformats.org/officeDocument/2006/relationships/image" Target="../media/image15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59.png"/><Relationship Id="rId5" Type="http://schemas.openxmlformats.org/officeDocument/2006/relationships/image" Target="../media/image160.png"/><Relationship Id="rId6" Type="http://schemas.openxmlformats.org/officeDocument/2006/relationships/image" Target="../media/image161.png"/><Relationship Id="rId7" Type="http://schemas.openxmlformats.org/officeDocument/2006/relationships/image" Target="../media/image162.png"/><Relationship Id="rId8" Type="http://schemas.openxmlformats.org/officeDocument/2006/relationships/image" Target="../media/image163.png"/><Relationship Id="rId9" Type="http://schemas.openxmlformats.org/officeDocument/2006/relationships/image" Target="../media/image164.png"/><Relationship Id="rId10" Type="http://schemas.openxmlformats.org/officeDocument/2006/relationships/image" Target="../media/image165.png"/><Relationship Id="rId11" Type="http://schemas.openxmlformats.org/officeDocument/2006/relationships/image" Target="../media/image166.png"/><Relationship Id="rId12" Type="http://schemas.openxmlformats.org/officeDocument/2006/relationships/image" Target="../media/image167.png"/><Relationship Id="rId13" Type="http://schemas.openxmlformats.org/officeDocument/2006/relationships/image" Target="../media/image168.png"/><Relationship Id="rId14" Type="http://schemas.openxmlformats.org/officeDocument/2006/relationships/image" Target="../media/image169.png"/><Relationship Id="rId15" Type="http://schemas.openxmlformats.org/officeDocument/2006/relationships/image" Target="../media/image170.png"/><Relationship Id="rId16" Type="http://schemas.openxmlformats.org/officeDocument/2006/relationships/image" Target="../media/image171.png"/><Relationship Id="rId17" Type="http://schemas.openxmlformats.org/officeDocument/2006/relationships/image" Target="../media/image12.png"/><Relationship Id="rId18" Type="http://schemas.openxmlformats.org/officeDocument/2006/relationships/image" Target="../media/image13.png"/><Relationship Id="rId19" Type="http://schemas.openxmlformats.org/officeDocument/2006/relationships/image" Target="../media/image172.png"/><Relationship Id="rId20" Type="http://schemas.openxmlformats.org/officeDocument/2006/relationships/image" Target="../media/image31.png"/><Relationship Id="rId21" Type="http://schemas.openxmlformats.org/officeDocument/2006/relationships/image" Target="../media/image173.png"/><Relationship Id="rId22" Type="http://schemas.openxmlformats.org/officeDocument/2006/relationships/image" Target="../media/image174.png"/><Relationship Id="rId23" Type="http://schemas.openxmlformats.org/officeDocument/2006/relationships/image" Target="../media/image34.png"/><Relationship Id="rId24" Type="http://schemas.openxmlformats.org/officeDocument/2006/relationships/image" Target="../media/image175.png"/><Relationship Id="rId25" Type="http://schemas.openxmlformats.org/officeDocument/2006/relationships/image" Target="../media/image176.png"/><Relationship Id="rId26" Type="http://schemas.openxmlformats.org/officeDocument/2006/relationships/image" Target="../media/image177.png"/><Relationship Id="rId27" Type="http://schemas.openxmlformats.org/officeDocument/2006/relationships/image" Target="../media/image17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79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180.png"/><Relationship Id="rId10" Type="http://schemas.openxmlformats.org/officeDocument/2006/relationships/image" Target="../media/image181.png"/><Relationship Id="rId11" Type="http://schemas.openxmlformats.org/officeDocument/2006/relationships/image" Target="../media/image182.png"/><Relationship Id="rId12" Type="http://schemas.openxmlformats.org/officeDocument/2006/relationships/image" Target="../media/image183.png"/><Relationship Id="rId13" Type="http://schemas.openxmlformats.org/officeDocument/2006/relationships/image" Target="../media/image184.png"/><Relationship Id="rId14" Type="http://schemas.openxmlformats.org/officeDocument/2006/relationships/image" Target="../media/image63.png"/><Relationship Id="rId15" Type="http://schemas.openxmlformats.org/officeDocument/2006/relationships/image" Target="../media/image64.png"/><Relationship Id="rId16" Type="http://schemas.openxmlformats.org/officeDocument/2006/relationships/image" Target="../media/image12.png"/><Relationship Id="rId17" Type="http://schemas.openxmlformats.org/officeDocument/2006/relationships/image" Target="../media/image13.png"/><Relationship Id="rId18" Type="http://schemas.openxmlformats.org/officeDocument/2006/relationships/image" Target="../media/image185.png"/><Relationship Id="rId19" Type="http://schemas.openxmlformats.org/officeDocument/2006/relationships/image" Target="../media/image186.png"/><Relationship Id="rId20" Type="http://schemas.openxmlformats.org/officeDocument/2006/relationships/image" Target="../media/image187.png"/><Relationship Id="rId21" Type="http://schemas.openxmlformats.org/officeDocument/2006/relationships/image" Target="../media/image18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9.png"/><Relationship Id="rId3" Type="http://schemas.openxmlformats.org/officeDocument/2006/relationships/image" Target="../media/image190.png"/><Relationship Id="rId4" Type="http://schemas.openxmlformats.org/officeDocument/2006/relationships/image" Target="../media/image191.png"/><Relationship Id="rId5" Type="http://schemas.openxmlformats.org/officeDocument/2006/relationships/image" Target="../media/image192.png"/><Relationship Id="rId6" Type="http://schemas.openxmlformats.org/officeDocument/2006/relationships/image" Target="../media/image193.png"/><Relationship Id="rId7" Type="http://schemas.openxmlformats.org/officeDocument/2006/relationships/image" Target="../media/image194.png"/><Relationship Id="rId8" Type="http://schemas.openxmlformats.org/officeDocument/2006/relationships/image" Target="../media/image19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6.png"/><Relationship Id="rId3" Type="http://schemas.openxmlformats.org/officeDocument/2006/relationships/image" Target="../media/image3.png"/><Relationship Id="rId4" Type="http://schemas.openxmlformats.org/officeDocument/2006/relationships/image" Target="../media/image197.png"/><Relationship Id="rId5" Type="http://schemas.openxmlformats.org/officeDocument/2006/relationships/image" Target="../media/image198.png"/><Relationship Id="rId6" Type="http://schemas.openxmlformats.org/officeDocument/2006/relationships/image" Target="../media/image199.png"/><Relationship Id="rId7" Type="http://schemas.openxmlformats.org/officeDocument/2006/relationships/image" Target="../media/image200.png"/><Relationship Id="rId8" Type="http://schemas.openxmlformats.org/officeDocument/2006/relationships/image" Target="../media/image201.png"/><Relationship Id="rId9" Type="http://schemas.openxmlformats.org/officeDocument/2006/relationships/image" Target="../media/image202.png"/><Relationship Id="rId10" Type="http://schemas.openxmlformats.org/officeDocument/2006/relationships/image" Target="../media/image203.png"/><Relationship Id="rId11" Type="http://schemas.openxmlformats.org/officeDocument/2006/relationships/image" Target="../media/image204.png"/><Relationship Id="rId12" Type="http://schemas.openxmlformats.org/officeDocument/2006/relationships/image" Target="../media/image205.png"/><Relationship Id="rId13" Type="http://schemas.openxmlformats.org/officeDocument/2006/relationships/image" Target="../media/image206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207.png"/><Relationship Id="rId17" Type="http://schemas.openxmlformats.org/officeDocument/2006/relationships/image" Target="../media/image20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09.png"/><Relationship Id="rId5" Type="http://schemas.openxmlformats.org/officeDocument/2006/relationships/image" Target="../media/image210.png"/><Relationship Id="rId6" Type="http://schemas.openxmlformats.org/officeDocument/2006/relationships/image" Target="../media/image211.png"/><Relationship Id="rId7" Type="http://schemas.openxmlformats.org/officeDocument/2006/relationships/image" Target="../media/image212.png"/><Relationship Id="rId8" Type="http://schemas.openxmlformats.org/officeDocument/2006/relationships/image" Target="../media/image213.png"/><Relationship Id="rId9" Type="http://schemas.openxmlformats.org/officeDocument/2006/relationships/image" Target="../media/image214.png"/><Relationship Id="rId10" Type="http://schemas.openxmlformats.org/officeDocument/2006/relationships/image" Target="../media/image215.png"/><Relationship Id="rId11" Type="http://schemas.openxmlformats.org/officeDocument/2006/relationships/image" Target="../media/image216.png"/><Relationship Id="rId12" Type="http://schemas.openxmlformats.org/officeDocument/2006/relationships/image" Target="../media/image217.png"/><Relationship Id="rId13" Type="http://schemas.openxmlformats.org/officeDocument/2006/relationships/image" Target="../media/image218.png"/><Relationship Id="rId14" Type="http://schemas.openxmlformats.org/officeDocument/2006/relationships/image" Target="../media/image219.png"/><Relationship Id="rId15" Type="http://schemas.openxmlformats.org/officeDocument/2006/relationships/image" Target="../media/image220.png"/><Relationship Id="rId16" Type="http://schemas.openxmlformats.org/officeDocument/2006/relationships/image" Target="../media/image221.png"/><Relationship Id="rId17" Type="http://schemas.openxmlformats.org/officeDocument/2006/relationships/image" Target="../media/image222.png"/><Relationship Id="rId18" Type="http://schemas.openxmlformats.org/officeDocument/2006/relationships/image" Target="../media/image223.png"/><Relationship Id="rId19" Type="http://schemas.openxmlformats.org/officeDocument/2006/relationships/image" Target="../media/image12.png"/><Relationship Id="rId20" Type="http://schemas.openxmlformats.org/officeDocument/2006/relationships/image" Target="../media/image13.png"/><Relationship Id="rId21" Type="http://schemas.openxmlformats.org/officeDocument/2006/relationships/image" Target="../media/image224.png"/><Relationship Id="rId22" Type="http://schemas.openxmlformats.org/officeDocument/2006/relationships/image" Target="../media/image111.png"/><Relationship Id="rId23" Type="http://schemas.openxmlformats.org/officeDocument/2006/relationships/image" Target="../media/image225.png"/><Relationship Id="rId24" Type="http://schemas.openxmlformats.org/officeDocument/2006/relationships/image" Target="../media/image226.png"/><Relationship Id="rId25" Type="http://schemas.openxmlformats.org/officeDocument/2006/relationships/image" Target="../media/image227.png"/><Relationship Id="rId26" Type="http://schemas.openxmlformats.org/officeDocument/2006/relationships/image" Target="../media/image228.png"/><Relationship Id="rId27" Type="http://schemas.openxmlformats.org/officeDocument/2006/relationships/image" Target="../media/image229.png"/><Relationship Id="rId28" Type="http://schemas.openxmlformats.org/officeDocument/2006/relationships/image" Target="../media/image23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31.png"/><Relationship Id="rId5" Type="http://schemas.openxmlformats.org/officeDocument/2006/relationships/image" Target="../media/image232.png"/><Relationship Id="rId6" Type="http://schemas.openxmlformats.org/officeDocument/2006/relationships/image" Target="../media/image233.png"/><Relationship Id="rId7" Type="http://schemas.openxmlformats.org/officeDocument/2006/relationships/image" Target="../media/image234.png"/><Relationship Id="rId8" Type="http://schemas.openxmlformats.org/officeDocument/2006/relationships/image" Target="../media/image235.png"/><Relationship Id="rId9" Type="http://schemas.openxmlformats.org/officeDocument/2006/relationships/image" Target="../media/image236.png"/><Relationship Id="rId10" Type="http://schemas.openxmlformats.org/officeDocument/2006/relationships/image" Target="../media/image237.png"/><Relationship Id="rId11" Type="http://schemas.openxmlformats.org/officeDocument/2006/relationships/image" Target="../media/image205.png"/><Relationship Id="rId12" Type="http://schemas.openxmlformats.org/officeDocument/2006/relationships/image" Target="../media/image238.png"/><Relationship Id="rId13" Type="http://schemas.openxmlformats.org/officeDocument/2006/relationships/image" Target="../media/image64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239.png"/><Relationship Id="rId17" Type="http://schemas.openxmlformats.org/officeDocument/2006/relationships/image" Target="../media/image24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41.png"/><Relationship Id="rId5" Type="http://schemas.openxmlformats.org/officeDocument/2006/relationships/image" Target="../media/image242.png"/><Relationship Id="rId6" Type="http://schemas.openxmlformats.org/officeDocument/2006/relationships/image" Target="../media/image243.png"/><Relationship Id="rId7" Type="http://schemas.openxmlformats.org/officeDocument/2006/relationships/image" Target="../media/image244.png"/><Relationship Id="rId8" Type="http://schemas.openxmlformats.org/officeDocument/2006/relationships/image" Target="../media/image245.png"/><Relationship Id="rId9" Type="http://schemas.openxmlformats.org/officeDocument/2006/relationships/image" Target="../media/image246.png"/><Relationship Id="rId10" Type="http://schemas.openxmlformats.org/officeDocument/2006/relationships/image" Target="../media/image247.png"/><Relationship Id="rId11" Type="http://schemas.openxmlformats.org/officeDocument/2006/relationships/image" Target="../media/image248.png"/><Relationship Id="rId12" Type="http://schemas.openxmlformats.org/officeDocument/2006/relationships/image" Target="../media/image249.png"/><Relationship Id="rId13" Type="http://schemas.openxmlformats.org/officeDocument/2006/relationships/image" Target="../media/image250.png"/><Relationship Id="rId14" Type="http://schemas.openxmlformats.org/officeDocument/2006/relationships/image" Target="../media/image251.png"/><Relationship Id="rId15" Type="http://schemas.openxmlformats.org/officeDocument/2006/relationships/image" Target="../media/image252.png"/><Relationship Id="rId16" Type="http://schemas.openxmlformats.org/officeDocument/2006/relationships/image" Target="../media/image12.png"/><Relationship Id="rId17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53.png"/><Relationship Id="rId5" Type="http://schemas.openxmlformats.org/officeDocument/2006/relationships/image" Target="../media/image254.png"/><Relationship Id="rId6" Type="http://schemas.openxmlformats.org/officeDocument/2006/relationships/image" Target="../media/image255.png"/><Relationship Id="rId7" Type="http://schemas.openxmlformats.org/officeDocument/2006/relationships/image" Target="../media/image256.png"/><Relationship Id="rId8" Type="http://schemas.openxmlformats.org/officeDocument/2006/relationships/image" Target="../media/image257.png"/><Relationship Id="rId9" Type="http://schemas.openxmlformats.org/officeDocument/2006/relationships/image" Target="../media/image258.png"/><Relationship Id="rId10" Type="http://schemas.openxmlformats.org/officeDocument/2006/relationships/image" Target="../media/image259.png"/><Relationship Id="rId11" Type="http://schemas.openxmlformats.org/officeDocument/2006/relationships/image" Target="../media/image260.png"/><Relationship Id="rId12" Type="http://schemas.openxmlformats.org/officeDocument/2006/relationships/image" Target="../media/image26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262.png"/><Relationship Id="rId16" Type="http://schemas.openxmlformats.org/officeDocument/2006/relationships/image" Target="../media/image263.png"/><Relationship Id="rId17" Type="http://schemas.openxmlformats.org/officeDocument/2006/relationships/image" Target="../media/image264.png"/><Relationship Id="rId18" Type="http://schemas.openxmlformats.org/officeDocument/2006/relationships/image" Target="../media/image265.png"/><Relationship Id="rId19" Type="http://schemas.openxmlformats.org/officeDocument/2006/relationships/image" Target="../media/image266.png"/><Relationship Id="rId20" Type="http://schemas.openxmlformats.org/officeDocument/2006/relationships/image" Target="../media/image26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68.png"/><Relationship Id="rId5" Type="http://schemas.openxmlformats.org/officeDocument/2006/relationships/image" Target="../media/image269.png"/><Relationship Id="rId6" Type="http://schemas.openxmlformats.org/officeDocument/2006/relationships/image" Target="../media/image102.png"/><Relationship Id="rId7" Type="http://schemas.openxmlformats.org/officeDocument/2006/relationships/image" Target="../media/image103.png"/><Relationship Id="rId8" Type="http://schemas.openxmlformats.org/officeDocument/2006/relationships/image" Target="../media/image270.png"/><Relationship Id="rId9" Type="http://schemas.openxmlformats.org/officeDocument/2006/relationships/image" Target="../media/image271.png"/><Relationship Id="rId10" Type="http://schemas.openxmlformats.org/officeDocument/2006/relationships/image" Target="../media/image272.png"/><Relationship Id="rId11" Type="http://schemas.openxmlformats.org/officeDocument/2006/relationships/image" Target="../media/image273.png"/><Relationship Id="rId12" Type="http://schemas.openxmlformats.org/officeDocument/2006/relationships/image" Target="../media/image274.png"/><Relationship Id="rId13" Type="http://schemas.openxmlformats.org/officeDocument/2006/relationships/image" Target="../media/image275.png"/><Relationship Id="rId14" Type="http://schemas.openxmlformats.org/officeDocument/2006/relationships/image" Target="../media/image29.png"/><Relationship Id="rId15" Type="http://schemas.openxmlformats.org/officeDocument/2006/relationships/image" Target="../media/image12.png"/><Relationship Id="rId16" Type="http://schemas.openxmlformats.org/officeDocument/2006/relationships/image" Target="../media/image13.png"/><Relationship Id="rId17" Type="http://schemas.openxmlformats.org/officeDocument/2006/relationships/image" Target="../media/image276.png"/><Relationship Id="rId18" Type="http://schemas.openxmlformats.org/officeDocument/2006/relationships/image" Target="../media/image31.png"/><Relationship Id="rId19" Type="http://schemas.openxmlformats.org/officeDocument/2006/relationships/image" Target="../media/image277.png"/><Relationship Id="rId20" Type="http://schemas.openxmlformats.org/officeDocument/2006/relationships/image" Target="../media/image34.png"/><Relationship Id="rId21" Type="http://schemas.openxmlformats.org/officeDocument/2006/relationships/image" Target="../media/image278.png"/><Relationship Id="rId22" Type="http://schemas.openxmlformats.org/officeDocument/2006/relationships/image" Target="../media/image279.png"/><Relationship Id="rId23" Type="http://schemas.openxmlformats.org/officeDocument/2006/relationships/image" Target="../media/image280.png"/><Relationship Id="rId24" Type="http://schemas.openxmlformats.org/officeDocument/2006/relationships/image" Target="../media/image281.png"/><Relationship Id="rId25" Type="http://schemas.openxmlformats.org/officeDocument/2006/relationships/image" Target="../media/image282.png"/><Relationship Id="rId26" Type="http://schemas.openxmlformats.org/officeDocument/2006/relationships/image" Target="../media/image28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84.png"/><Relationship Id="rId5" Type="http://schemas.openxmlformats.org/officeDocument/2006/relationships/image" Target="../media/image285.png"/><Relationship Id="rId6" Type="http://schemas.openxmlformats.org/officeDocument/2006/relationships/image" Target="../media/image286.png"/><Relationship Id="rId7" Type="http://schemas.openxmlformats.org/officeDocument/2006/relationships/image" Target="../media/image287.png"/><Relationship Id="rId8" Type="http://schemas.openxmlformats.org/officeDocument/2006/relationships/image" Target="../media/image288.png"/><Relationship Id="rId9" Type="http://schemas.openxmlformats.org/officeDocument/2006/relationships/image" Target="../media/image289.png"/><Relationship Id="rId10" Type="http://schemas.openxmlformats.org/officeDocument/2006/relationships/image" Target="../media/image290.png"/><Relationship Id="rId11" Type="http://schemas.openxmlformats.org/officeDocument/2006/relationships/image" Target="../media/image291.png"/><Relationship Id="rId12" Type="http://schemas.openxmlformats.org/officeDocument/2006/relationships/image" Target="../media/image292.png"/><Relationship Id="rId13" Type="http://schemas.openxmlformats.org/officeDocument/2006/relationships/image" Target="../media/image293.png"/><Relationship Id="rId14" Type="http://schemas.openxmlformats.org/officeDocument/2006/relationships/image" Target="../media/image294.png"/><Relationship Id="rId15" Type="http://schemas.openxmlformats.org/officeDocument/2006/relationships/image" Target="../media/image12.png"/><Relationship Id="rId16" Type="http://schemas.openxmlformats.org/officeDocument/2006/relationships/image" Target="../media/image13.png"/><Relationship Id="rId17" Type="http://schemas.openxmlformats.org/officeDocument/2006/relationships/image" Target="../media/image295.png"/><Relationship Id="rId18" Type="http://schemas.openxmlformats.org/officeDocument/2006/relationships/image" Target="../media/image296.png"/><Relationship Id="rId19" Type="http://schemas.openxmlformats.org/officeDocument/2006/relationships/image" Target="../media/image297.png"/><Relationship Id="rId20" Type="http://schemas.openxmlformats.org/officeDocument/2006/relationships/image" Target="../media/image29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99.png"/><Relationship Id="rId5" Type="http://schemas.openxmlformats.org/officeDocument/2006/relationships/image" Target="../media/image300.png"/><Relationship Id="rId6" Type="http://schemas.openxmlformats.org/officeDocument/2006/relationships/image" Target="../media/image301.png"/><Relationship Id="rId7" Type="http://schemas.openxmlformats.org/officeDocument/2006/relationships/image" Target="../media/image162.png"/><Relationship Id="rId8" Type="http://schemas.openxmlformats.org/officeDocument/2006/relationships/image" Target="../media/image302.png"/><Relationship Id="rId9" Type="http://schemas.openxmlformats.org/officeDocument/2006/relationships/image" Target="../media/image303.png"/><Relationship Id="rId10" Type="http://schemas.openxmlformats.org/officeDocument/2006/relationships/image" Target="../media/image304.png"/><Relationship Id="rId11" Type="http://schemas.openxmlformats.org/officeDocument/2006/relationships/image" Target="../media/image84.png"/><Relationship Id="rId12" Type="http://schemas.openxmlformats.org/officeDocument/2006/relationships/image" Target="../media/image305.png"/><Relationship Id="rId13" Type="http://schemas.openxmlformats.org/officeDocument/2006/relationships/image" Target="../media/image306.png"/><Relationship Id="rId14" Type="http://schemas.openxmlformats.org/officeDocument/2006/relationships/image" Target="../media/image307.png"/><Relationship Id="rId15" Type="http://schemas.openxmlformats.org/officeDocument/2006/relationships/image" Target="../media/image308.png"/><Relationship Id="rId16" Type="http://schemas.openxmlformats.org/officeDocument/2006/relationships/image" Target="../media/image309.png"/><Relationship Id="rId17" Type="http://schemas.openxmlformats.org/officeDocument/2006/relationships/image" Target="../media/image310.png"/><Relationship Id="rId18" Type="http://schemas.openxmlformats.org/officeDocument/2006/relationships/image" Target="../media/image311.png"/><Relationship Id="rId19" Type="http://schemas.openxmlformats.org/officeDocument/2006/relationships/image" Target="../media/image12.png"/><Relationship Id="rId20" Type="http://schemas.openxmlformats.org/officeDocument/2006/relationships/image" Target="../media/image13.png"/><Relationship Id="rId21" Type="http://schemas.openxmlformats.org/officeDocument/2006/relationships/image" Target="../media/image312.png"/><Relationship Id="rId22" Type="http://schemas.openxmlformats.org/officeDocument/2006/relationships/image" Target="../media/image31.png"/><Relationship Id="rId23" Type="http://schemas.openxmlformats.org/officeDocument/2006/relationships/image" Target="../media/image313.png"/><Relationship Id="rId24" Type="http://schemas.openxmlformats.org/officeDocument/2006/relationships/image" Target="../media/image314.png"/><Relationship Id="rId25" Type="http://schemas.openxmlformats.org/officeDocument/2006/relationships/image" Target="../media/image34.png"/><Relationship Id="rId26" Type="http://schemas.openxmlformats.org/officeDocument/2006/relationships/image" Target="../media/image315.png"/><Relationship Id="rId27" Type="http://schemas.openxmlformats.org/officeDocument/2006/relationships/image" Target="../media/image3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17.png"/><Relationship Id="rId5" Type="http://schemas.openxmlformats.org/officeDocument/2006/relationships/image" Target="../media/image318.png"/><Relationship Id="rId6" Type="http://schemas.openxmlformats.org/officeDocument/2006/relationships/image" Target="../media/image319.png"/><Relationship Id="rId7" Type="http://schemas.openxmlformats.org/officeDocument/2006/relationships/image" Target="../media/image320.png"/><Relationship Id="rId8" Type="http://schemas.openxmlformats.org/officeDocument/2006/relationships/image" Target="../media/image321.png"/><Relationship Id="rId9" Type="http://schemas.openxmlformats.org/officeDocument/2006/relationships/image" Target="../media/image322.png"/><Relationship Id="rId10" Type="http://schemas.openxmlformats.org/officeDocument/2006/relationships/image" Target="../media/image323.png"/><Relationship Id="rId11" Type="http://schemas.openxmlformats.org/officeDocument/2006/relationships/image" Target="../media/image324.png"/><Relationship Id="rId12" Type="http://schemas.openxmlformats.org/officeDocument/2006/relationships/image" Target="../media/image325.png"/><Relationship Id="rId13" Type="http://schemas.openxmlformats.org/officeDocument/2006/relationships/image" Target="../media/image326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327.png"/><Relationship Id="rId17" Type="http://schemas.openxmlformats.org/officeDocument/2006/relationships/image" Target="../media/image32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199.png"/><Relationship Id="rId7" Type="http://schemas.openxmlformats.org/officeDocument/2006/relationships/image" Target="../media/image331.png"/><Relationship Id="rId8" Type="http://schemas.openxmlformats.org/officeDocument/2006/relationships/image" Target="../media/image332.png"/><Relationship Id="rId9" Type="http://schemas.openxmlformats.org/officeDocument/2006/relationships/image" Target="../media/image333.png"/><Relationship Id="rId10" Type="http://schemas.openxmlformats.org/officeDocument/2006/relationships/image" Target="../media/image334.png"/><Relationship Id="rId11" Type="http://schemas.openxmlformats.org/officeDocument/2006/relationships/image" Target="../media/image335.png"/><Relationship Id="rId12" Type="http://schemas.openxmlformats.org/officeDocument/2006/relationships/image" Target="../media/image336.png"/><Relationship Id="rId13" Type="http://schemas.openxmlformats.org/officeDocument/2006/relationships/image" Target="../media/image337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33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39.png"/><Relationship Id="rId5" Type="http://schemas.openxmlformats.org/officeDocument/2006/relationships/image" Target="../media/image340.png"/><Relationship Id="rId6" Type="http://schemas.openxmlformats.org/officeDocument/2006/relationships/image" Target="../media/image341.png"/><Relationship Id="rId7" Type="http://schemas.openxmlformats.org/officeDocument/2006/relationships/image" Target="../media/image342.png"/><Relationship Id="rId8" Type="http://schemas.openxmlformats.org/officeDocument/2006/relationships/image" Target="../media/image343.png"/><Relationship Id="rId9" Type="http://schemas.openxmlformats.org/officeDocument/2006/relationships/image" Target="../media/image344.png"/><Relationship Id="rId10" Type="http://schemas.openxmlformats.org/officeDocument/2006/relationships/image" Target="../media/image345.png"/><Relationship Id="rId11" Type="http://schemas.openxmlformats.org/officeDocument/2006/relationships/image" Target="../media/image346.png"/><Relationship Id="rId12" Type="http://schemas.openxmlformats.org/officeDocument/2006/relationships/image" Target="../media/image347.png"/><Relationship Id="rId13" Type="http://schemas.openxmlformats.org/officeDocument/2006/relationships/image" Target="../media/image348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349.png"/><Relationship Id="rId17" Type="http://schemas.openxmlformats.org/officeDocument/2006/relationships/image" Target="../media/image35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51.png"/><Relationship Id="rId6" Type="http://schemas.openxmlformats.org/officeDocument/2006/relationships/image" Target="../media/image352.png"/><Relationship Id="rId7" Type="http://schemas.openxmlformats.org/officeDocument/2006/relationships/image" Target="../media/image353.png"/><Relationship Id="rId8" Type="http://schemas.openxmlformats.org/officeDocument/2006/relationships/image" Target="../media/image354.png"/><Relationship Id="rId9" Type="http://schemas.openxmlformats.org/officeDocument/2006/relationships/image" Target="../media/image355.png"/><Relationship Id="rId10" Type="http://schemas.openxmlformats.org/officeDocument/2006/relationships/image" Target="../media/image356.png"/><Relationship Id="rId11" Type="http://schemas.openxmlformats.org/officeDocument/2006/relationships/image" Target="../media/image357.png"/><Relationship Id="rId12" Type="http://schemas.openxmlformats.org/officeDocument/2006/relationships/image" Target="../media/image358.png"/><Relationship Id="rId13" Type="http://schemas.openxmlformats.org/officeDocument/2006/relationships/image" Target="../media/image359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360.png"/><Relationship Id="rId17" Type="http://schemas.openxmlformats.org/officeDocument/2006/relationships/image" Target="../media/image361.png"/><Relationship Id="rId18" Type="http://schemas.openxmlformats.org/officeDocument/2006/relationships/image" Target="../media/image362.png"/><Relationship Id="rId19" Type="http://schemas.openxmlformats.org/officeDocument/2006/relationships/image" Target="../media/image363.png"/><Relationship Id="rId20" Type="http://schemas.openxmlformats.org/officeDocument/2006/relationships/image" Target="../media/image364.png"/><Relationship Id="rId21" Type="http://schemas.openxmlformats.org/officeDocument/2006/relationships/image" Target="../media/image365.png"/><Relationship Id="rId22" Type="http://schemas.openxmlformats.org/officeDocument/2006/relationships/image" Target="../media/image36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5317926"/>
            <a:ext cx="11353800" cy="88284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6334125"/>
            <a:ext cx="11353800" cy="257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9825" y="266700"/>
            <a:ext cx="1743075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764655"/>
            <a:ext cx="2152650" cy="2190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" y="3724721"/>
            <a:ext cx="11353800" cy="4381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560814"/>
            <a:ext cx="2700337" cy="56376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7087" y="5560814"/>
            <a:ext cx="2700337" cy="5637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2675" y="5560814"/>
            <a:ext cx="2700337" cy="56376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8262" y="5560814"/>
            <a:ext cx="2700337" cy="563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0562" y="290512"/>
            <a:ext cx="30289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AWS STUDENT BUILDER GROUPS · VIT CHENNAI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100" y="2117080"/>
            <a:ext cx="3190398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0" sz="3600" i="0" u="none">
                <a:solidFill>
                  <a:srgbClr val="1E293B"/>
                </a:solidFill>
                <a:latin typeface="Plus Jakarta Sans ExtraBold"/>
              </a:rPr>
              <a:t>AI Safety &amp; </a:t>
            </a:r>
            <a:r>
              <a:t>
</a:t>
            </a:r>
            <a:r>
              <a:rPr b="0" sz="3600" i="0" u="none">
                <a:latin typeface="Plus Jakarta Sans ExtraBold"/>
              </a:rPr>
              <a:t>Observability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100" y="3256210"/>
            <a:ext cx="5772150" cy="239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Building Reliable, Secure, and Auditable LLM Applications for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662" y="5394126"/>
            <a:ext cx="10929937" cy="128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5B21B6"/>
                </a:solidFill>
                <a:latin typeface="Plus Jakarta Sans ExtraBold"/>
              </a:rPr>
              <a:t>PRESENTER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" y="6438900"/>
            <a:ext cx="252412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Plus Jakarta Sans SemiBold"/>
              </a:rPr>
              <a:t>Netaji Auditorium · AB-1 · VIT Chennai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06175" y="6448425"/>
            <a:ext cx="466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C3AED"/>
                </a:solidFill>
                <a:latin typeface="JetBrains Mono"/>
              </a:rPr>
              <a:t>01 / 25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100" y="290512"/>
            <a:ext cx="176212" cy="1524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924175" y="3896171"/>
            <a:ext cx="9525" cy="266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5410795"/>
            <a:ext cx="100012" cy="952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9100" y="6438900"/>
            <a:ext cx="59055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19100" y="3896171"/>
            <a:ext cx="2276475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475569"/>
                </a:solidFill>
                <a:latin typeface="Plus Jakarta Sans"/>
              </a:rPr>
              <a:t>TARGET AUDIENCE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9100" y="4010471"/>
            <a:ext cx="22764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1st &amp; 2nd Year Hackathon Participants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62300" y="3896171"/>
            <a:ext cx="2085975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475569"/>
                </a:solidFill>
                <a:latin typeface="Plus Jakarta Sans"/>
              </a:rPr>
              <a:t>AWS ECOSYSTEM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62300" y="4010471"/>
            <a:ext cx="2085975" cy="152400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C3AED"/>
                </a:solidFill>
                <a:latin typeface="Plus Jakarta Sans"/>
              </a:rPr>
              <a:t> Amazon Bedrock &amp; CloudWatch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225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452812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248400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043987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62300" y="4029521"/>
            <a:ext cx="152400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5317926"/>
            <a:ext cx="11353800" cy="8828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6334125"/>
            <a:ext cx="113538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8862" y="266700"/>
            <a:ext cx="1824037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2346721"/>
            <a:ext cx="11353800" cy="942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171575"/>
            <a:ext cx="3695700" cy="106084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8150" y="1171575"/>
            <a:ext cx="3695700" cy="106084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7200" y="1171575"/>
            <a:ext cx="3695700" cy="106084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17465" y="2470546"/>
            <a:ext cx="2007840" cy="6953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92005" y="2470546"/>
            <a:ext cx="2007840" cy="6953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66545" y="2470546"/>
            <a:ext cx="2007840" cy="6953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5560814"/>
            <a:ext cx="2700337" cy="56376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67087" y="5560814"/>
            <a:ext cx="2700337" cy="56376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62675" y="5560814"/>
            <a:ext cx="2700337" cy="56376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58262" y="5560814"/>
            <a:ext cx="2700337" cy="5637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1512" y="290512"/>
            <a:ext cx="30289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AWS STUDENT BUILDER GROUPS · VIT CHENNAI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7237" y="704850"/>
            <a:ext cx="11434762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Why </a:t>
            </a:r>
            <a:r>
              <a:rPr b="0" sz="2100" i="0" u="none">
                <a:solidFill>
                  <a:srgbClr val="7C3AED"/>
                </a:solidFill>
                <a:latin typeface="Plus Jakarta Sans ExtraBold"/>
              </a:rPr>
              <a:t>AI Safety</a:t>
            </a:r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 Matters for Builders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662" y="5394126"/>
            <a:ext cx="10929937" cy="128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5B21B6"/>
                </a:solidFill>
                <a:latin typeface="Plus Jakarta Sans ExtraBold"/>
              </a:rPr>
              <a:t>PRESENTER NOTES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100" y="6438900"/>
            <a:ext cx="155257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Plus Jakarta Sans SemiBold"/>
              </a:rPr>
              <a:t>Core Foundations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06175" y="6448425"/>
            <a:ext cx="466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C3AED"/>
                </a:solidFill>
                <a:latin typeface="JetBrains Mono"/>
              </a:rPr>
              <a:t>02 / 25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9100" y="290512"/>
            <a:ext cx="157162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9100" y="757237"/>
            <a:ext cx="223837" cy="2286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3470671"/>
            <a:ext cx="114300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81050" y="3475434"/>
            <a:ext cx="71532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66534"/>
                </a:solidFill>
                <a:latin typeface="Plus Jakarta Sans SemiBold"/>
              </a:rPr>
              <a:t>FRONTIER Hackathon Tip: Add a simple input guardrail filter before sending prompts to Bedrock to score high on architecture safety!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5410795"/>
            <a:ext cx="100012" cy="952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9100" y="6438900"/>
            <a:ext cx="590550" cy="152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81050" y="1314450"/>
            <a:ext cx="31908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Non-Deterministic Behavior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1975" y="1571625"/>
            <a:ext cx="34099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Normal code (`2 + 2 = 4`) is deterministic. LLMs are probabilistic word predictors. The same prompt can produce different, unexpected outputs.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8200" y="1314450"/>
            <a:ext cx="31527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User Trust &amp; Reputation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1025" y="1571625"/>
            <a:ext cx="34099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A single offensive output, toxic response, or hallucinated financial advice can permanently destroy user confidence in your product.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7250" y="1314450"/>
            <a:ext cx="31527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Production Standards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0075" y="1571625"/>
            <a:ext cx="34099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Hackathon judges look beyond basic demos. Implementing real guardrails proves your app is ready for real-world deployment.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8650" y="2641996"/>
            <a:ext cx="1836390" cy="1714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28650" y="2851546"/>
            <a:ext cx="183639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Raw User Input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26965" y="2751534"/>
            <a:ext cx="114300" cy="1333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903190" y="2575321"/>
            <a:ext cx="1836390" cy="1714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903190" y="2784871"/>
            <a:ext cx="183639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Input Filter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03190" y="2946796"/>
            <a:ext cx="183639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475569"/>
                </a:solidFill>
                <a:latin typeface="Plus Jakarta Sans"/>
              </a:rPr>
              <a:t>Bedrock Guardrails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01505" y="2751534"/>
            <a:ext cx="114300" cy="1333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177730" y="2575321"/>
            <a:ext cx="1836390" cy="17145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177730" y="2784871"/>
            <a:ext cx="183639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LLM Execution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77730" y="2946796"/>
            <a:ext cx="183639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475569"/>
                </a:solidFill>
                <a:latin typeface="Plus Jakarta Sans"/>
              </a:rPr>
              <a:t>Claude 3 / Llama 3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176045" y="2751534"/>
            <a:ext cx="114300" cy="1333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52270" y="2575321"/>
            <a:ext cx="1836390" cy="17145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452270" y="2784871"/>
            <a:ext cx="183639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Output Moderation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2270" y="2946796"/>
            <a:ext cx="183639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475569"/>
                </a:solidFill>
                <a:latin typeface="Plus Jakarta Sans"/>
              </a:rPr>
              <a:t>PII &amp; Grounding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450585" y="2751534"/>
            <a:ext cx="114300" cy="13335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726810" y="2641996"/>
            <a:ext cx="1836390" cy="17145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726810" y="2851546"/>
            <a:ext cx="183639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Safe Response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7225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452812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248400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043987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61975" y="1333500"/>
            <a:ext cx="142875" cy="142875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391025" y="1333500"/>
            <a:ext cx="180975" cy="142875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220075" y="1333500"/>
            <a:ext cx="1809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5317926"/>
            <a:ext cx="11353800" cy="8828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6334125"/>
            <a:ext cx="113538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8937" y="266700"/>
            <a:ext cx="1223962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2720578"/>
            <a:ext cx="11353800" cy="352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171575"/>
            <a:ext cx="3695700" cy="143470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8150" y="1171575"/>
            <a:ext cx="3695700" cy="143470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7200" y="1171575"/>
            <a:ext cx="3695700" cy="143470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560814"/>
            <a:ext cx="2700337" cy="5637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67087" y="5560814"/>
            <a:ext cx="2700337" cy="56376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62675" y="5560814"/>
            <a:ext cx="2700337" cy="56376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58262" y="5560814"/>
            <a:ext cx="2700337" cy="563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0562" y="290512"/>
            <a:ext cx="30289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AWS STUDENT BUILDER GROUPS · VIT CHENNAI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237" y="704850"/>
            <a:ext cx="11434762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AI Safety vs. Security vs. Observability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662" y="5394126"/>
            <a:ext cx="10929937" cy="128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5B21B6"/>
                </a:solidFill>
                <a:latin typeface="Plus Jakarta Sans ExtraBold"/>
              </a:rPr>
              <a:t>PRESENTER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" y="6438900"/>
            <a:ext cx="124777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Plus Jakarta Sans SemiBold"/>
              </a:rPr>
              <a:t>Core Pillars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06175" y="6448425"/>
            <a:ext cx="466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C3AED"/>
                </a:solidFill>
                <a:latin typeface="JetBrains Mono"/>
              </a:rPr>
              <a:t>03 / 25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100" y="290512"/>
            <a:ext cx="176212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9100" y="757237"/>
            <a:ext cx="223837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1975" y="2825353"/>
            <a:ext cx="8286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293B"/>
                </a:solidFill>
                <a:latin typeface="Plus Jakarta Sans"/>
              </a:rPr>
              <a:t>Summary Rule: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9700" y="2825353"/>
            <a:ext cx="361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1" u="none">
                <a:solidFill>
                  <a:srgbClr val="1E293B"/>
                </a:solidFill>
                <a:latin typeface="Plus Jakarta Sans"/>
              </a:rPr>
              <a:t>Safety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86100" y="2825353"/>
            <a:ext cx="4476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1" u="none">
                <a:solidFill>
                  <a:srgbClr val="1E293B"/>
                </a:solidFill>
                <a:latin typeface="Plus Jakarta Sans"/>
              </a:rPr>
              <a:t>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1050" y="2825353"/>
            <a:ext cx="7334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1" u="none">
                <a:solidFill>
                  <a:srgbClr val="1E293B"/>
                </a:solidFill>
                <a:latin typeface="Plus Jakarta Sans"/>
              </a:rPr>
              <a:t>Observability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5410795"/>
            <a:ext cx="100012" cy="952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9100" y="6438900"/>
            <a:ext cx="590550" cy="152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81050" y="1343025"/>
            <a:ext cx="31908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1. AI Safety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1975" y="1600200"/>
            <a:ext cx="3409950" cy="8632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Focus: Harm Reduction</a:t>
            </a:r>
            <a:r>
              <a:t>
</a:t>
            </a:r>
            <a:r>
              <a:t>
</a:t>
            </a:r>
            <a:r>
              <a:rPr b="0" sz="937" i="0" u="none">
                <a:solidFill>
                  <a:srgbClr val="475569"/>
                </a:solidFill>
                <a:latin typeface="Plus Jakarta Sans"/>
              </a:rPr>
              <a:t> Ensuring LLM outputs align with human ethics. Prevents toxicity, hate speech, inappropriate advice, and demographic bias.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1050" y="1343025"/>
            <a:ext cx="320992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2. AI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1025" y="1600200"/>
            <a:ext cx="340995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Focus: Threat Defense</a:t>
            </a:r>
            <a:r>
              <a:t>
</a:t>
            </a:r>
            <a:r>
              <a:t>
</a:t>
            </a:r>
            <a:r>
              <a:rPr b="0" sz="937" i="0" u="none">
                <a:solidFill>
                  <a:srgbClr val="475569"/>
                </a:solidFill>
                <a:latin typeface="Plus Jakarta Sans"/>
              </a:rPr>
              <a:t> Defending system infrastructure against malicious attacks like prompt injections, data leaks, and model hijacking.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9150" y="1343025"/>
            <a:ext cx="31908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3. AI Observability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0075" y="1600200"/>
            <a:ext cx="3409950" cy="8632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Focus: System Telemetry</a:t>
            </a:r>
            <a:r>
              <a:t>
</a:t>
            </a:r>
            <a:r>
              <a:t>
</a:t>
            </a:r>
            <a:r>
              <a:rPr b="0" sz="937" i="0" u="none">
                <a:solidFill>
                  <a:srgbClr val="475569"/>
                </a:solidFill>
                <a:latin typeface="Plus Jakarta Sans"/>
              </a:rPr>
              <a:t> Tracking runtime performance in real time: token costs, response latency, error rates, and step-by-step execution traces.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7225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452812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248400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043987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1975" y="1362075"/>
            <a:ext cx="142875" cy="1428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91025" y="1362075"/>
            <a:ext cx="123825" cy="1428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20075" y="1362075"/>
            <a:ext cx="1428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5317926"/>
            <a:ext cx="11353800" cy="8828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6334125"/>
            <a:ext cx="113538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0825" y="266700"/>
            <a:ext cx="136207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1171575"/>
            <a:ext cx="5600700" cy="88820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171575"/>
            <a:ext cx="5600700" cy="88820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" y="2212181"/>
            <a:ext cx="5600700" cy="88820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2212181"/>
            <a:ext cx="5600700" cy="88820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560814"/>
            <a:ext cx="2700337" cy="5637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67087" y="5560814"/>
            <a:ext cx="2700337" cy="56376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62675" y="5560814"/>
            <a:ext cx="2700337" cy="56376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58262" y="5560814"/>
            <a:ext cx="2700337" cy="563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1512" y="290512"/>
            <a:ext cx="30289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AWS STUDENT BUILDER GROUPS · VIT CHENNAI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237" y="704850"/>
            <a:ext cx="11434762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OWASP Top 10 Risks for LLM Applications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662" y="5394126"/>
            <a:ext cx="10929937" cy="128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5B21B6"/>
                </a:solidFill>
                <a:latin typeface="Plus Jakarta Sans ExtraBold"/>
              </a:rPr>
              <a:t>PRESENTER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" y="6438900"/>
            <a:ext cx="15049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Plus Jakarta Sans SemiBold"/>
              </a:rPr>
              <a:t>Threat Taxonomy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06175" y="6448425"/>
            <a:ext cx="466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C3AED"/>
                </a:solidFill>
                <a:latin typeface="JetBrains Mono"/>
              </a:rPr>
              <a:t>04 / 25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100" y="290512"/>
            <a:ext cx="157162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9100" y="757237"/>
            <a:ext cx="223837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3281362"/>
            <a:ext cx="114300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81050" y="3286125"/>
            <a:ext cx="65151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66534"/>
                </a:solidFill>
                <a:latin typeface="Plus Jakarta Sans SemiBold"/>
              </a:rPr>
              <a:t>FRONTIER Hackathon Tip: Focus on preventing </a:t>
            </a:r>
            <a:r>
              <a:rPr b="0" sz="900" i="0" u="none">
                <a:solidFill>
                  <a:srgbClr val="166534"/>
                </a:solidFill>
                <a:latin typeface="Plus Jakarta Sans Black"/>
              </a:rPr>
              <a:t>LLM01 (Prompt Injection)</a:t>
            </a:r>
            <a:r>
              <a:rPr b="0" sz="900" i="0" u="none">
                <a:solidFill>
                  <a:srgbClr val="166534"/>
                </a:solidFill>
                <a:latin typeface="Plus Jakarta Sans SemiBold"/>
              </a:rPr>
              <a:t> and </a:t>
            </a:r>
            <a:r>
              <a:rPr b="0" sz="900" i="0" u="none">
                <a:solidFill>
                  <a:srgbClr val="166534"/>
                </a:solidFill>
                <a:latin typeface="Plus Jakarta Sans Black"/>
              </a:rPr>
              <a:t>LLM02 (PII Leakage)</a:t>
            </a:r>
            <a:r>
              <a:rPr b="0" sz="900" i="0" u="none">
                <a:solidFill>
                  <a:srgbClr val="166534"/>
                </a:solidFill>
                <a:latin typeface="Plus Jakarta Sans SemiBold"/>
              </a:rPr>
              <a:t> in your project demo!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5410795"/>
            <a:ext cx="100012" cy="952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9100" y="6438900"/>
            <a:ext cx="590550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1975" y="1314450"/>
            <a:ext cx="531495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Prompt Injection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1975" y="1571625"/>
            <a:ext cx="53149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Tricking an LLM into ignoring its original instructions by inserting adversarial text inside user input.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5075" y="1314450"/>
            <a:ext cx="531495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Sensitive Info Disclosure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5075" y="1571625"/>
            <a:ext cx="531495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Unintended leak of private personal data (PII), secret API keys, or hidden system prompts to users.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1975" y="2355056"/>
            <a:ext cx="531495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Excessive Agency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1975" y="2612231"/>
            <a:ext cx="531495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Giving AI agents too much power without confirmation (e.g., granting auto-delete DB rights or email sending).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5075" y="2355056"/>
            <a:ext cx="531495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Misinformation / Hallucinations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5075" y="2612231"/>
            <a:ext cx="53149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When an LLM confidently outputs completely fabricated facts presented as real truth.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7225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452812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248400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043987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1975" y="1328737"/>
            <a:ext cx="438150" cy="1524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15075" y="1328737"/>
            <a:ext cx="457200" cy="1524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1975" y="2369343"/>
            <a:ext cx="457200" cy="1524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15075" y="2369343"/>
            <a:ext cx="4572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5317926"/>
            <a:ext cx="11353800" cy="8828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6334125"/>
            <a:ext cx="113538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1775" y="266700"/>
            <a:ext cx="138112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2318146"/>
            <a:ext cx="11353800" cy="8096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560814"/>
            <a:ext cx="2700337" cy="56376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7087" y="5560814"/>
            <a:ext cx="2700337" cy="56376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2675" y="5560814"/>
            <a:ext cx="2700337" cy="56376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8262" y="5560814"/>
            <a:ext cx="2700337" cy="5637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1381125"/>
            <a:ext cx="5600700" cy="641746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2200" y="1381125"/>
            <a:ext cx="5600700" cy="64174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1512" y="290512"/>
            <a:ext cx="30289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AWS STUDENT BUILDER GROUPS · VIT CHENNAI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5812" y="704850"/>
            <a:ext cx="11406187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Direct &amp; Indirect </a:t>
            </a:r>
            <a:r>
              <a:rPr b="0" sz="2100" i="0" u="none">
                <a:solidFill>
                  <a:srgbClr val="7C3AED"/>
                </a:solidFill>
                <a:latin typeface="Plus Jakarta Sans ExtraBold"/>
              </a:rPr>
              <a:t>Prompt Injection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100" y="2118121"/>
            <a:ext cx="113538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293B"/>
                </a:solidFill>
                <a:latin typeface="Plus Jakarta Sans"/>
              </a:rPr>
              <a:t>Prompt Injection Mitigation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662" y="5394126"/>
            <a:ext cx="10929937" cy="128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5B21B6"/>
                </a:solidFill>
                <a:latin typeface="Plus Jakarta Sans ExtraBold"/>
              </a:rPr>
              <a:t>PRESENTER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" y="6438900"/>
            <a:ext cx="149542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Plus Jakarta Sans SemiBold"/>
              </a:rPr>
              <a:t>Threat Vector #1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06175" y="6448425"/>
            <a:ext cx="466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C3AED"/>
                </a:solidFill>
                <a:latin typeface="JetBrains Mono"/>
              </a:rPr>
              <a:t>05 / 25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100" y="290512"/>
            <a:ext cx="157162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100" y="757237"/>
            <a:ext cx="252412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5410795"/>
            <a:ext cx="100012" cy="952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9100" y="6438900"/>
            <a:ext cx="59055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19100" y="1171575"/>
            <a:ext cx="5600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1. Direct Prompt Injection (User Attack)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1171575"/>
            <a:ext cx="5600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2. Indirect Prompt Injection (RAG / Data Attack)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650" y="2546746"/>
            <a:ext cx="1836390" cy="1714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8650" y="2756296"/>
            <a:ext cx="183639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Adversarial Input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26965" y="2656284"/>
            <a:ext cx="114300" cy="1333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903190" y="2546746"/>
            <a:ext cx="1836390" cy="171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903190" y="2756296"/>
            <a:ext cx="183639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Input Validation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01505" y="2656284"/>
            <a:ext cx="114300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77730" y="2546746"/>
            <a:ext cx="1836390" cy="1714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177730" y="2756296"/>
            <a:ext cx="183639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Bedrock Guardrail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76045" y="2656284"/>
            <a:ext cx="114300" cy="1333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452270" y="2546746"/>
            <a:ext cx="1836390" cy="1714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452270" y="2756296"/>
            <a:ext cx="183639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Foundation Model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50585" y="2656284"/>
            <a:ext cx="114300" cy="1333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726810" y="2670571"/>
            <a:ext cx="183639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Blocked Request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7225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452812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48400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043987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5317926"/>
            <a:ext cx="11353800" cy="8828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6334125"/>
            <a:ext cx="113538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1775" y="266700"/>
            <a:ext cx="138112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1171575"/>
            <a:ext cx="3695700" cy="88820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8150" y="1171575"/>
            <a:ext cx="3695700" cy="88820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7200" y="1171575"/>
            <a:ext cx="3695700" cy="88820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560814"/>
            <a:ext cx="2700337" cy="56376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7087" y="5560814"/>
            <a:ext cx="2700337" cy="5637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2675" y="5560814"/>
            <a:ext cx="2700337" cy="56376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8262" y="5560814"/>
            <a:ext cx="2700337" cy="56376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100" y="2374106"/>
            <a:ext cx="5600700" cy="641746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2200" y="2374106"/>
            <a:ext cx="5600700" cy="64174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0562" y="290512"/>
            <a:ext cx="30289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AWS STUDENT BUILDER GROUPS · VIT CHENNAI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662" y="704850"/>
            <a:ext cx="11463337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Understanding </a:t>
            </a:r>
            <a:r>
              <a:rPr b="0" sz="2100" i="0" u="none">
                <a:solidFill>
                  <a:srgbClr val="7C3AED"/>
                </a:solidFill>
                <a:latin typeface="Plus Jakarta Sans ExtraBold"/>
              </a:rPr>
              <a:t>Jailbreak Attacks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662" y="5394126"/>
            <a:ext cx="10929937" cy="128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5B21B6"/>
                </a:solidFill>
                <a:latin typeface="Plus Jakarta Sans ExtraBold"/>
              </a:rPr>
              <a:t>PRESENTER 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100" y="6438900"/>
            <a:ext cx="16954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Plus Jakarta Sans SemiBold"/>
              </a:rPr>
              <a:t>Alignment Bypasses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06175" y="6448425"/>
            <a:ext cx="466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C3AED"/>
                </a:solidFill>
                <a:latin typeface="JetBrains Mono"/>
              </a:rPr>
              <a:t>06 / 25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9100" y="290512"/>
            <a:ext cx="176212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9100" y="757237"/>
            <a:ext cx="195262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5410795"/>
            <a:ext cx="100012" cy="952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9100" y="6438900"/>
            <a:ext cx="590550" cy="152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00100" y="1314450"/>
            <a:ext cx="317182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Persona Adoption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1975" y="1571625"/>
            <a:ext cx="340995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Forcing the LLM into a roleplay persona ("DAN - Do Anything Now") where safety rules allegedly don't apply.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8200" y="1314450"/>
            <a:ext cx="31527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Payload Encoding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91025" y="1571625"/>
            <a:ext cx="340995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Encoding malicious prompts in Base64, ROT13, or foreign languages to bypass token moderation filters.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7250" y="1314450"/>
            <a:ext cx="31527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Multi-Turn Evasion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0075" y="1571625"/>
            <a:ext cx="340995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Slowly steering conversation across multiple friendly chat turns until the model drops its guard.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9100" y="2174081"/>
            <a:ext cx="56007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293B"/>
                </a:solidFill>
                <a:latin typeface="Plus Jakarta Sans"/>
              </a:rPr>
              <a:t>❌ Unsafe Jailbreak Example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2174081"/>
            <a:ext cx="56007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293B"/>
                </a:solidFill>
                <a:latin typeface="Plus Jakarta Sans"/>
              </a:rPr>
              <a:t>✔ Safe Guardrail Defense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225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452812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48400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43987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1975" y="1333500"/>
            <a:ext cx="161925" cy="1428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91025" y="1333500"/>
            <a:ext cx="180975" cy="1428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20075" y="1333500"/>
            <a:ext cx="1809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5317926"/>
            <a:ext cx="11353800" cy="8828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6334125"/>
            <a:ext cx="113538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675" y="266700"/>
            <a:ext cx="141922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1171575"/>
            <a:ext cx="11353800" cy="942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1295400"/>
            <a:ext cx="2576512" cy="6953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6137" y="1295400"/>
            <a:ext cx="2576512" cy="6953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9350" y="1295400"/>
            <a:ext cx="2576512" cy="6953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100" y="2247900"/>
            <a:ext cx="5600700" cy="88820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2247900"/>
            <a:ext cx="5600700" cy="888206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5560814"/>
            <a:ext cx="2700337" cy="56376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7087" y="5560814"/>
            <a:ext cx="2700337" cy="56376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62675" y="5560814"/>
            <a:ext cx="2700337" cy="56376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58262" y="5560814"/>
            <a:ext cx="2700337" cy="563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1512" y="290512"/>
            <a:ext cx="30289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AWS STUDENT BUILDER GROUPS · VIT CHENNAI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387" y="704850"/>
            <a:ext cx="11377612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Sensitive Data &amp; PII Leakage 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662" y="5394126"/>
            <a:ext cx="10929937" cy="128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5B21B6"/>
                </a:solidFill>
                <a:latin typeface="Plus Jakarta Sans ExtraBold"/>
              </a:rPr>
              <a:t>PRESENTER NOTES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9100" y="6438900"/>
            <a:ext cx="14478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Plus Jakarta Sans SemiBold"/>
              </a:rPr>
              <a:t>Data Protection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06175" y="6448425"/>
            <a:ext cx="466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C3AED"/>
                </a:solidFill>
                <a:latin typeface="JetBrains Mono"/>
              </a:rPr>
              <a:t>07 / 25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9100" y="290512"/>
            <a:ext cx="157162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9100" y="757237"/>
            <a:ext cx="280987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3317081"/>
            <a:ext cx="114300" cy="152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81050" y="3321843"/>
            <a:ext cx="6038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66534"/>
                </a:solidFill>
                <a:latin typeface="Plus Jakarta Sans SemiBold"/>
              </a:rPr>
              <a:t>FRONTIER Hackathon Tip: Turn on Bedrock Guardrails' native PII anonymization with 1-click in the AWS Console!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5410795"/>
            <a:ext cx="100012" cy="952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9100" y="6438900"/>
            <a:ext cx="59055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8650" y="1400175"/>
            <a:ext cx="2405062" cy="1714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28650" y="1609725"/>
            <a:ext cx="240506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Raw Input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650" y="1771650"/>
            <a:ext cx="240506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475569"/>
                </a:solidFill>
                <a:latin typeface="Plus Jakarta Sans"/>
              </a:rPr>
              <a:t>Phone: 9876543210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95637" y="1576387"/>
            <a:ext cx="114300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71862" y="1400175"/>
            <a:ext cx="2405062" cy="1714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471862" y="1609725"/>
            <a:ext cx="240506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Bedrock Guardrail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1862" y="1771650"/>
            <a:ext cx="240506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475569"/>
                </a:solidFill>
                <a:latin typeface="Plus Jakarta Sans"/>
              </a:rPr>
              <a:t>PII Entity Detection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38850" y="1576387"/>
            <a:ext cx="114300" cy="1333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15075" y="1400175"/>
            <a:ext cx="2405062" cy="1714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315075" y="1609725"/>
            <a:ext cx="240506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Redacted Context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5075" y="1771650"/>
            <a:ext cx="240506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475569"/>
                </a:solidFill>
                <a:latin typeface="Plus Jakarta Sans"/>
              </a:rPr>
              <a:t>Phone: [REDACTED]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82062" y="1576387"/>
            <a:ext cx="114300" cy="1333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58287" y="1466850"/>
            <a:ext cx="2405062" cy="1714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158287" y="1676400"/>
            <a:ext cx="240506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Model Execution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150" y="2390775"/>
            <a:ext cx="50577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Automated PII Masking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1975" y="2647950"/>
            <a:ext cx="531495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Automatically redact Credit Cards, Emails, SSNs, phone numbers, and API tokens before submitting context to external model endpoints.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5100" y="2390775"/>
            <a:ext cx="511492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Vector DB Access Controls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5075" y="2647950"/>
            <a:ext cx="531495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Enforce granular tenant-level IAM policies in Amazon OpenSearch / Pinecone to prevent cross-user document retrieval in RAG.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7225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3452812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248400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9043987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61975" y="2409825"/>
            <a:ext cx="180975" cy="14287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15075" y="2409825"/>
            <a:ext cx="1238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5317926"/>
            <a:ext cx="11353800" cy="8828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6334125"/>
            <a:ext cx="113538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4675" y="266700"/>
            <a:ext cx="103822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2538412"/>
            <a:ext cx="11353800" cy="352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171575"/>
            <a:ext cx="3695700" cy="125253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8150" y="1171575"/>
            <a:ext cx="3695700" cy="125253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7200" y="1171575"/>
            <a:ext cx="3695700" cy="125253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560814"/>
            <a:ext cx="2700337" cy="5637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7087" y="5560814"/>
            <a:ext cx="2700337" cy="56376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2675" y="5560814"/>
            <a:ext cx="2700337" cy="56376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8262" y="5560814"/>
            <a:ext cx="2700337" cy="563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4350" y="290512"/>
            <a:ext cx="30289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AWS STUDENT BUILDER GROUPS · VIT CHENNAI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237" y="704850"/>
            <a:ext cx="11434762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Real-World AI Safety Incidents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662" y="5394126"/>
            <a:ext cx="10929937" cy="128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5B21B6"/>
                </a:solidFill>
                <a:latin typeface="Plus Jakarta Sans ExtraBold"/>
              </a:rPr>
              <a:t>PRESENTER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" y="6438900"/>
            <a:ext cx="168592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Plus Jakarta Sans SemiBold"/>
              </a:rPr>
              <a:t>Real-World Lessons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06175" y="6448425"/>
            <a:ext cx="466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C3AED"/>
                </a:solidFill>
                <a:latin typeface="JetBrains Mono"/>
              </a:rPr>
              <a:t>08 / 25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100" y="757237"/>
            <a:ext cx="223837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1975" y="2643187"/>
            <a:ext cx="13144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5B21B6"/>
                </a:solidFill>
                <a:latin typeface="Plus Jakarta Sans"/>
              </a:rPr>
              <a:t>Takeaway for Students: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5410795"/>
            <a:ext cx="100012" cy="952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9100" y="6438900"/>
            <a:ext cx="59055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2950" y="1343025"/>
            <a:ext cx="3228975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Samsung Source Code Leak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1975" y="1590675"/>
            <a:ext cx="340995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Incident:</a:t>
            </a:r>
            <a:r>
              <a:rPr b="0" sz="937" i="0" u="none">
                <a:solidFill>
                  <a:srgbClr val="475569"/>
                </a:solidFill>
                <a:latin typeface="Plus Jakarta Sans"/>
              </a:rPr>
              <a:t> Engineers pasted confidential semiconductor C++ code into ChatGPT to fix errors.</a:t>
            </a:r>
            <a:r>
              <a:t>
</a:t>
            </a:r>
            <a:r>
              <a:rPr b="1" sz="937" i="0" u="none">
                <a:solidFill>
                  <a:srgbClr val="475569"/>
                </a:solidFill>
                <a:latin typeface="Plus Jakarta Sans"/>
              </a:rPr>
              <a:t>Lesson:</a:t>
            </a:r>
            <a:r>
              <a:rPr b="0" sz="937" i="0" u="none">
                <a:solidFill>
                  <a:srgbClr val="475569"/>
                </a:solidFill>
                <a:latin typeface="Plus Jakarta Sans"/>
              </a:rPr>
              <a:t> Corporate secrets can end up in model context. Always sanitize inputs &amp; use private enterprise LLMs.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9625" y="1343025"/>
            <a:ext cx="318135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Air Canada Chatbot Ruling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1025" y="1590675"/>
            <a:ext cx="340995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Incident:</a:t>
            </a:r>
            <a:r>
              <a:rPr b="0" sz="937" i="0" u="none">
                <a:solidFill>
                  <a:srgbClr val="475569"/>
                </a:solidFill>
                <a:latin typeface="Plus Jakarta Sans"/>
              </a:rPr>
              <a:t> Customer chatbot hallucinated a false bereavement discount policy. Court held airline legally liable.</a:t>
            </a:r>
            <a:r>
              <a:t>
</a:t>
            </a:r>
            <a:r>
              <a:rPr b="1" sz="937" i="0" u="none">
                <a:solidFill>
                  <a:srgbClr val="475569"/>
                </a:solidFill>
                <a:latin typeface="Plus Jakarta Sans"/>
              </a:rPr>
              <a:t>Lesson:</a:t>
            </a:r>
            <a:r>
              <a:rPr b="0" sz="937" i="0" u="none">
                <a:solidFill>
                  <a:srgbClr val="475569"/>
                </a:solidFill>
                <a:latin typeface="Plus Jakarta Sans"/>
              </a:rPr>
              <a:t> Businesses are legally accountable for hallucinated promises made by AI.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9625" y="1343025"/>
            <a:ext cx="320040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Chevrolet $1 Car Injection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0075" y="1590675"/>
            <a:ext cx="3409950" cy="69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Incident:</a:t>
            </a:r>
            <a:r>
              <a:rPr b="0" sz="937" i="0" u="none">
                <a:solidFill>
                  <a:srgbClr val="475569"/>
                </a:solidFill>
                <a:latin typeface="Plus Jakarta Sans"/>
              </a:rPr>
              <a:t> A user injected a prompt forcing the dealership chatbot to legally agree to sell a Chevy Tahoe for $1.</a:t>
            </a:r>
            <a:r>
              <a:t>
</a:t>
            </a:r>
            <a:r>
              <a:rPr b="1" sz="937" i="0" u="none">
                <a:solidFill>
                  <a:srgbClr val="475569"/>
                </a:solidFill>
                <a:latin typeface="Plus Jakarta Sans"/>
              </a:rPr>
              <a:t>Lesson:</a:t>
            </a:r>
            <a:r>
              <a:rPr b="0" sz="937" i="0" u="none">
                <a:solidFill>
                  <a:srgbClr val="475569"/>
                </a:solidFill>
                <a:latin typeface="Plus Jakarta Sans"/>
              </a:rPr>
              <a:t> Always place rigid guardrails on agentic function-calling capabilities.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452812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48400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043987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1975" y="1362075"/>
            <a:ext cx="104775" cy="1333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91025" y="1362075"/>
            <a:ext cx="152400" cy="1333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20075" y="1362075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5317926"/>
            <a:ext cx="11353800" cy="8828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6334125"/>
            <a:ext cx="113538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4162" y="266700"/>
            <a:ext cx="1328737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1171575"/>
            <a:ext cx="11353800" cy="942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1295400"/>
            <a:ext cx="2576512" cy="6953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6137" y="1295400"/>
            <a:ext cx="2576512" cy="6953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9350" y="1295400"/>
            <a:ext cx="2576512" cy="6953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2562" y="1295400"/>
            <a:ext cx="2576512" cy="6953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2228850"/>
            <a:ext cx="5600700" cy="1175146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2200" y="2228850"/>
            <a:ext cx="5600700" cy="1175146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5560814"/>
            <a:ext cx="2700337" cy="56376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67087" y="5560814"/>
            <a:ext cx="2700337" cy="56376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62675" y="5560814"/>
            <a:ext cx="2700337" cy="56376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58262" y="5560814"/>
            <a:ext cx="2700337" cy="5637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3412" y="290512"/>
            <a:ext cx="30289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AWS STUDENT BUILDER GROUPS · VIT CHENNAI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5812" y="704850"/>
            <a:ext cx="11406187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Demystifying </a:t>
            </a:r>
            <a:r>
              <a:rPr b="0" sz="2100" i="0" u="none">
                <a:solidFill>
                  <a:srgbClr val="7C3AED"/>
                </a:solidFill>
                <a:latin typeface="Plus Jakarta Sans ExtraBold"/>
              </a:rPr>
              <a:t>AI Hallucinations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662" y="5394126"/>
            <a:ext cx="10929937" cy="128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5B21B6"/>
                </a:solidFill>
                <a:latin typeface="Plus Jakarta Sans ExtraBold"/>
              </a:rPr>
              <a:t>PRESENTER NOTES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100" y="6438900"/>
            <a:ext cx="191452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Plus Jakarta Sans SemiBold"/>
              </a:rPr>
              <a:t>Faithfulness &amp; Grounding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06175" y="6448425"/>
            <a:ext cx="466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C3AED"/>
                </a:solidFill>
                <a:latin typeface="JetBrains Mono"/>
              </a:rPr>
              <a:t>09 / 25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9100" y="290512"/>
            <a:ext cx="119062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9100" y="757237"/>
            <a:ext cx="252412" cy="2286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5410795"/>
            <a:ext cx="100012" cy="952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9100" y="6438900"/>
            <a:ext cx="59055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8650" y="1400175"/>
            <a:ext cx="2405062" cy="171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28650" y="1609725"/>
            <a:ext cx="240506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Question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650" y="1771650"/>
            <a:ext cx="240506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475569"/>
                </a:solidFill>
                <a:latin typeface="Plus Jakarta Sans"/>
              </a:rPr>
              <a:t>Who won the 2025 event?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95637" y="1576387"/>
            <a:ext cx="114300" cy="1333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71862" y="1400175"/>
            <a:ext cx="2405062" cy="1714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471862" y="1609725"/>
            <a:ext cx="240506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LLM Hallucination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1862" y="1771650"/>
            <a:ext cx="240506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475569"/>
                </a:solidFill>
                <a:latin typeface="Plus Jakarta Sans"/>
              </a:rPr>
              <a:t>Invented false winner name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38850" y="1576387"/>
            <a:ext cx="114300" cy="1333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15075" y="1400175"/>
            <a:ext cx="2405062" cy="1714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315075" y="1609725"/>
            <a:ext cx="240506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RAG Grounding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15075" y="1771650"/>
            <a:ext cx="240506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475569"/>
                </a:solidFill>
                <a:latin typeface="Plus Jakarta Sans"/>
              </a:rPr>
              <a:t>Retrieves verified doc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82062" y="1576387"/>
            <a:ext cx="114300" cy="1333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58287" y="1400175"/>
            <a:ext cx="2405062" cy="1714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158287" y="1609725"/>
            <a:ext cx="240506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Corrected 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58287" y="1771650"/>
            <a:ext cx="240506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475569"/>
                </a:solidFill>
                <a:latin typeface="Plus Jakarta Sans"/>
              </a:rPr>
              <a:t>Factually grounded answer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050" y="2371725"/>
            <a:ext cx="50958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WHY Hallucinations Happen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4150" y="2371725"/>
            <a:ext cx="50958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HOW RAG Fixes 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7225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452812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248400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043987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61975" y="2390775"/>
            <a:ext cx="142875" cy="14287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15075" y="2390775"/>
            <a:ext cx="142875" cy="14287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14375" y="2628900"/>
            <a:ext cx="516255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Autoregressive Next-Token Prediction:</a:t>
            </a:r>
            <a:r>
              <a:rPr b="0" sz="937" i="0" u="none">
                <a:solidFill>
                  <a:srgbClr val="475569"/>
                </a:solidFill>
                <a:latin typeface="Plus Jakarta Sans"/>
              </a:rPr>
              <a:t> LLMs generate text based on statistical likelihood, not fact verification.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4375" y="3031331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Out-of-Date Cutoff:</a:t>
            </a:r>
            <a:r>
              <a:rPr b="0" sz="937" i="0" u="none">
                <a:solidFill>
                  <a:srgbClr val="475569"/>
                </a:solidFill>
                <a:latin typeface="Plus Jakarta Sans"/>
              </a:rPr>
              <a:t> Knowledge gaps force models to fill in plausible blanks.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67475" y="2628900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Grounding with Vector Context:</a:t>
            </a:r>
            <a:r>
              <a:rPr b="0" sz="937" i="0" u="none">
                <a:solidFill>
                  <a:srgbClr val="475569"/>
                </a:solidFill>
                <a:latin typeface="Plus Jakarta Sans"/>
              </a:rPr>
              <a:t> Force responses strictly using fetched verified chunks.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67475" y="2858690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Bedrock Contextual Grounding:</a:t>
            </a:r>
            <a:r>
              <a:rPr b="0" sz="937" i="0" u="none">
                <a:solidFill>
                  <a:srgbClr val="475569"/>
                </a:solidFill>
                <a:latin typeface="Plus Jakarta Sans"/>
              </a:rPr>
              <a:t> Drop completions that lack explicit context references.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1975" y="2628900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1975" y="3031331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15075" y="2628900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15075" y="2858690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5317926"/>
            <a:ext cx="11353800" cy="8828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6334125"/>
            <a:ext cx="113538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5175" y="266700"/>
            <a:ext cx="84772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2174081"/>
            <a:ext cx="11353800" cy="571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171575"/>
            <a:ext cx="3695700" cy="88820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8150" y="1171575"/>
            <a:ext cx="3695700" cy="88820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7200" y="1171575"/>
            <a:ext cx="3695700" cy="88820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560814"/>
            <a:ext cx="2700337" cy="5637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67087" y="5560814"/>
            <a:ext cx="2700337" cy="56376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62675" y="5560814"/>
            <a:ext cx="2700337" cy="56376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58262" y="5560814"/>
            <a:ext cx="2700337" cy="563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9612" y="290512"/>
            <a:ext cx="30289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AWS STUDENT BUILDER GROUPS · VIT CHENNAI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387" y="704850"/>
            <a:ext cx="11377612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Bias, Toxicity &amp; Content Filtering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662" y="5394126"/>
            <a:ext cx="10929937" cy="128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5B21B6"/>
                </a:solidFill>
                <a:latin typeface="Plus Jakarta Sans ExtraBold"/>
              </a:rPr>
              <a:t>PRESENTER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" y="6438900"/>
            <a:ext cx="149542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Plus Jakarta Sans SemiBold"/>
              </a:rPr>
              <a:t>Harm Prevention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06175" y="6448425"/>
            <a:ext cx="466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C3AED"/>
                </a:solidFill>
                <a:latin typeface="JetBrains Mono"/>
              </a:rPr>
              <a:t>10 / 25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100" y="290512"/>
            <a:ext cx="195262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9100" y="757237"/>
            <a:ext cx="280987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2925" y="2297906"/>
            <a:ext cx="11106150" cy="142875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293B"/>
                </a:solidFill>
                <a:latin typeface="Plus Jakarta Sans"/>
              </a:rPr>
              <a:t>Bedrock Guardrails Content Thresholds: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4625" y="2478881"/>
            <a:ext cx="1571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NONE, LOW, MEDIUM, HIGH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5410795"/>
            <a:ext cx="100012" cy="952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9100" y="6438900"/>
            <a:ext cx="590550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19150" y="1314450"/>
            <a:ext cx="31527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Toxic Language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1975" y="1571625"/>
            <a:ext cx="340995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Profanity, abusive speech, or hate speech targeting protected demographic groups.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8200" y="1314450"/>
            <a:ext cx="31527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Demographic Bias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1025" y="1571625"/>
            <a:ext cx="340995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Skewed stereotypes in automated resume screeners, credit scoring, or medical diagnosis tools.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6275" y="1314450"/>
            <a:ext cx="333375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Dangerous Content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0075" y="1571625"/>
            <a:ext cx="340995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Harmful instructions, cyberattack script generators, or dangerous chemical recipes.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2925" y="2316956"/>
            <a:ext cx="114300" cy="1143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57225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452812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48400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43987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1975" y="1333500"/>
            <a:ext cx="180975" cy="1428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91025" y="1333500"/>
            <a:ext cx="1809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5317926"/>
            <a:ext cx="11353800" cy="8828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6334125"/>
            <a:ext cx="113538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9400" y="266700"/>
            <a:ext cx="13335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1171575"/>
            <a:ext cx="11353800" cy="942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7465" y="1295400"/>
            <a:ext cx="2007840" cy="6953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2005" y="1295400"/>
            <a:ext cx="2007840" cy="6953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6545" y="1295400"/>
            <a:ext cx="2007840" cy="6953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100" y="2247900"/>
            <a:ext cx="5600700" cy="88820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2247900"/>
            <a:ext cx="5600700" cy="888206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5560814"/>
            <a:ext cx="2700337" cy="56376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7087" y="5560814"/>
            <a:ext cx="2700337" cy="56376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62675" y="5560814"/>
            <a:ext cx="2700337" cy="56376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58262" y="5560814"/>
            <a:ext cx="2700337" cy="563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1512" y="290512"/>
            <a:ext cx="30289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AWS STUDENT BUILDER GROUPS · VIT CHENNAI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812" y="704850"/>
            <a:ext cx="11406187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The "Sandwich" Guardrail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662" y="5394126"/>
            <a:ext cx="10929937" cy="128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5B21B6"/>
                </a:solidFill>
                <a:latin typeface="Plus Jakarta Sans ExtraBold"/>
              </a:rPr>
              <a:t>PRESENTER NOTES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9100" y="6438900"/>
            <a:ext cx="174307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Plus Jakarta Sans SemiBold"/>
              </a:rPr>
              <a:t>Architecture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06175" y="6448425"/>
            <a:ext cx="466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C3AED"/>
                </a:solidFill>
                <a:latin typeface="JetBrains Mono"/>
              </a:rPr>
              <a:t>11 / 25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9100" y="290512"/>
            <a:ext cx="157162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9100" y="757237"/>
            <a:ext cx="252412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5410795"/>
            <a:ext cx="100012" cy="952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9100" y="6438900"/>
            <a:ext cx="59055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8650" y="1466850"/>
            <a:ext cx="1836390" cy="1714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8650" y="1676400"/>
            <a:ext cx="183639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User Prompt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626965" y="1576387"/>
            <a:ext cx="114300" cy="1333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903190" y="1400175"/>
            <a:ext cx="1836390" cy="171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903190" y="1609725"/>
            <a:ext cx="183639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Input Guardrail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03190" y="1771650"/>
            <a:ext cx="183639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475569"/>
                </a:solidFill>
                <a:latin typeface="Plus Jakarta Sans"/>
              </a:rPr>
              <a:t>Blocks Injections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901505" y="1576387"/>
            <a:ext cx="114300" cy="1333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177730" y="1400175"/>
            <a:ext cx="1836390" cy="171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177730" y="1609725"/>
            <a:ext cx="183639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Amazon Bedrock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77730" y="1771650"/>
            <a:ext cx="183639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475569"/>
                </a:solidFill>
                <a:latin typeface="Plus Jakarta Sans"/>
              </a:rPr>
              <a:t>Claude 3 / Llama 3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176045" y="1576387"/>
            <a:ext cx="114300" cy="1333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52270" y="1400175"/>
            <a:ext cx="1836390" cy="171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52270" y="1609725"/>
            <a:ext cx="183639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Output Guardrail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270" y="1771650"/>
            <a:ext cx="183639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475569"/>
                </a:solidFill>
                <a:latin typeface="Plus Jakarta Sans"/>
              </a:rPr>
              <a:t>PII &amp; Grounding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450585" y="1576387"/>
            <a:ext cx="114300" cy="1333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26810" y="1466850"/>
            <a:ext cx="1836390" cy="1714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726810" y="1676400"/>
            <a:ext cx="183639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Safe Response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050" y="2390775"/>
            <a:ext cx="50958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Layer 1: Input Guardrails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1975" y="2647950"/>
            <a:ext cx="531495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Evaluates prompt BEFORE sending tokens to model. Drops malformed requests, blocks prompt injection, saves API token costs.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4150" y="2390775"/>
            <a:ext cx="50958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Layer 2: Output Guardrails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15075" y="2647950"/>
            <a:ext cx="531495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Evaluates completions BEFORE rendering to user. Redacts accidental PII leaks, ensures context faithfulness, substitutes fallback responses.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7225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3452812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248400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043987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61975" y="2409825"/>
            <a:ext cx="142875" cy="14287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315075" y="2409825"/>
            <a:ext cx="1428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5317926"/>
            <a:ext cx="11353800" cy="8828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6334125"/>
            <a:ext cx="113538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7925" y="266700"/>
            <a:ext cx="170497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1171575"/>
            <a:ext cx="5600700" cy="88820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171575"/>
            <a:ext cx="5600700" cy="88820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" y="2212181"/>
            <a:ext cx="5600700" cy="88820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2212181"/>
            <a:ext cx="5600700" cy="88820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560814"/>
            <a:ext cx="2700337" cy="5637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67087" y="5560814"/>
            <a:ext cx="2700337" cy="56376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62675" y="5560814"/>
            <a:ext cx="2700337" cy="56376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58262" y="5560814"/>
            <a:ext cx="2700337" cy="563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2462" y="290512"/>
            <a:ext cx="30289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AWS STUDENT BUILDER GROUPS · VIT CHENNAI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7237" y="704850"/>
            <a:ext cx="11434762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Best Practices for Safe AI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662" y="5394126"/>
            <a:ext cx="10929937" cy="128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5B21B6"/>
                </a:solidFill>
                <a:latin typeface="Plus Jakarta Sans ExtraBold"/>
              </a:rPr>
              <a:t>PRESENTER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100" y="6438900"/>
            <a:ext cx="17716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Plus Jakarta Sans SemiBold"/>
              </a:rPr>
              <a:t>Engineering Checklist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06175" y="6448425"/>
            <a:ext cx="466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C3AED"/>
                </a:solidFill>
                <a:latin typeface="JetBrains Mono"/>
              </a:rPr>
              <a:t>12 / 25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100" y="290512"/>
            <a:ext cx="138112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9100" y="757237"/>
            <a:ext cx="223837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3281362"/>
            <a:ext cx="114300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81050" y="3286125"/>
            <a:ext cx="7134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66534"/>
                </a:solidFill>
                <a:latin typeface="Plus Jakarta Sans SemiBold"/>
              </a:rPr>
              <a:t>FRONTIER Hackathon Tip: Wrap user inputs in explicit XML delimiters inside your system prompt template to avoid prompt hijacking!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5410795"/>
            <a:ext cx="100012" cy="952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9100" y="6438900"/>
            <a:ext cx="590550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00100" y="1314450"/>
            <a:ext cx="507682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1. Defense-in-Depth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1975" y="1571625"/>
            <a:ext cx="531495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Never rely solely on system prompt instructions like "Be helpful and safe". Combine regex, guardrails, and API validation.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2250" y="1314450"/>
            <a:ext cx="50577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2. Least-Privilege Tools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5075" y="1571625"/>
            <a:ext cx="531495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Restrict AI Agent tools. Give write/delete privileges only via explicit Human-in-the-Loop (HITL) approval buttons.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050" y="2355056"/>
            <a:ext cx="50958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3. Context Delimiters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1975" y="2612231"/>
            <a:ext cx="53149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Isolate system prompts from untrusted user parameters using explicit XML tags (e.g. `{input}`).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4150" y="2355056"/>
            <a:ext cx="50958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4. Graceful Fallbacks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5075" y="2612231"/>
            <a:ext cx="531495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Design friendly, non-revealing error messages when safety triggers occur (e.g., "I cannot assist with this specific topic").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7225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452812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248400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043987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1975" y="1333500"/>
            <a:ext cx="161925" cy="1428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15075" y="1333500"/>
            <a:ext cx="180975" cy="1428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1975" y="2374106"/>
            <a:ext cx="142875" cy="1428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15075" y="2374106"/>
            <a:ext cx="1428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6334125"/>
            <a:ext cx="11353800" cy="2571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8912" y="266700"/>
            <a:ext cx="1423987" cy="2000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1512" y="290512"/>
            <a:ext cx="30289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Plus Jakarta Sans"/>
              </a:rPr>
              <a:t>AWS STUDENT BUILDER GROUPS · VIT CHENNAI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9162" y="2230784"/>
            <a:ext cx="27336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F3E8FF"/>
                </a:solidFill>
                <a:latin typeface="Plus Jakarta Sans"/>
              </a:rPr>
              <a:t>PART 02: OPERATIONAL TELEMETRY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9550" y="2516534"/>
            <a:ext cx="11772900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b="0" sz="3300" i="0" u="none">
                <a:solidFill>
                  <a:srgbClr val="FFFFFF"/>
                </a:solidFill>
                <a:latin typeface="Plus Jakarta Sans ExtraBold"/>
              </a:rPr>
              <a:t>"You cannot secure or optimize what you </a:t>
            </a:r>
            <a:r>
              <a:rPr b="0" sz="3300" i="0" u="none">
                <a:latin typeface="Plus Jakarta Sans ExtraBold"/>
              </a:rPr>
              <a:t>cannot measure</a:t>
            </a:r>
            <a:r>
              <a:rPr b="0" sz="3300" i="0" u="none">
                <a:solidFill>
                  <a:srgbClr val="FFFFFF"/>
                </a:solidFill>
                <a:latin typeface="Plus Jakarta Sans ExtraBold"/>
              </a:rPr>
              <a:t>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7000" y="3693765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Moving from static local prompt testing to real-time production telemetry, latency tracking, and token cost dashboards.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6438900"/>
            <a:ext cx="141922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94A3B8"/>
                </a:solidFill>
                <a:latin typeface="Plus Jakarta Sans SemiBold"/>
              </a:rPr>
              <a:t>Telemetry Shift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6175" y="6448425"/>
            <a:ext cx="466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3E8FF"/>
                </a:solidFill>
                <a:latin typeface="JetBrains Mono"/>
              </a:rPr>
              <a:t>13 / 25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290512"/>
            <a:ext cx="157162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6687" y="4417665"/>
            <a:ext cx="1019175" cy="2571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9212" y="4417665"/>
            <a:ext cx="1724025" cy="2571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6587" y="4417665"/>
            <a:ext cx="1228725" cy="2571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00" y="6438900"/>
            <a:ext cx="5905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5176539"/>
            <a:ext cx="11353800" cy="102423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6334125"/>
            <a:ext cx="113538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6075" y="266700"/>
            <a:ext cx="126682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2518171"/>
            <a:ext cx="11353800" cy="352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171575"/>
            <a:ext cx="5600700" cy="123229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1171575"/>
            <a:ext cx="5600700" cy="123229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419427"/>
            <a:ext cx="2700337" cy="70514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7087" y="5419427"/>
            <a:ext cx="2700337" cy="70514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2675" y="5419427"/>
            <a:ext cx="2700337" cy="705147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8262" y="5419427"/>
            <a:ext cx="2700337" cy="70514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1512" y="290512"/>
            <a:ext cx="30289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AWS STUDENT BUILDER GROUPS · VIT CHENNAI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237" y="704850"/>
            <a:ext cx="11434762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What is </a:t>
            </a:r>
            <a:r>
              <a:rPr b="0" sz="2100" i="0" u="none">
                <a:solidFill>
                  <a:srgbClr val="7C3AED"/>
                </a:solidFill>
                <a:latin typeface="Plus Jakarta Sans ExtraBold"/>
              </a:rPr>
              <a:t>AI Observability</a:t>
            </a:r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662" y="5252739"/>
            <a:ext cx="10929937" cy="128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5B21B6"/>
                </a:solidFill>
                <a:latin typeface="Plus Jakarta Sans ExtraBold"/>
              </a:rPr>
              <a:t>PRESENTER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100" y="6438900"/>
            <a:ext cx="166687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Plus Jakarta Sans SemiBold"/>
              </a:rPr>
              <a:t>Telemetry Paradigm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06175" y="6448425"/>
            <a:ext cx="466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C3AED"/>
                </a:solidFill>
                <a:latin typeface="JetBrains Mono"/>
              </a:rPr>
              <a:t>14 / 25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100" y="290512"/>
            <a:ext cx="157162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100" y="757237"/>
            <a:ext cx="223837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1975" y="2622946"/>
            <a:ext cx="6477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293B"/>
                </a:solidFill>
                <a:latin typeface="Plus Jakarta Sans"/>
              </a:rPr>
              <a:t>Key Insight: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5269408"/>
            <a:ext cx="100012" cy="952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9100" y="6438900"/>
            <a:ext cx="59055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81050" y="1314450"/>
            <a:ext cx="50958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Traditional Software Telemetry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4150" y="1314450"/>
            <a:ext cx="50958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LLM Application Telemetry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225" y="5486102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452812" y="5486102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48400" y="5486102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043987" y="5486102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1975" y="1333500"/>
            <a:ext cx="14287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15075" y="1333500"/>
            <a:ext cx="142875" cy="1428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14375" y="1571625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Monitors CPU %, RAM usage, HTTP 200/500 status codes.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4375" y="1801415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Deterministic Logic:</a:t>
            </a:r>
            <a:r>
              <a:rPr b="0" sz="937" i="0" u="none">
                <a:solidFill>
                  <a:srgbClr val="475569"/>
                </a:solidFill>
                <a:latin typeface="Plus Jakarta Sans"/>
              </a:rPr>
              <a:t> Same code + input = exact same execution path every time.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4375" y="2031206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Binary Failures:</a:t>
            </a:r>
            <a:r>
              <a:rPr b="0" sz="937" i="0" u="none">
                <a:solidFill>
                  <a:srgbClr val="475569"/>
                </a:solidFill>
                <a:latin typeface="Plus Jakarta Sans"/>
              </a:rPr>
              <a:t> Server either crashes (500) or works (200).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7475" y="1571625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Monitors token counts, cost $, TTFT latency, semantic embedding distance.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7475" y="1801415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Probabilistic Logic:</a:t>
            </a:r>
            <a:r>
              <a:rPr b="0" sz="937" i="0" u="none">
                <a:solidFill>
                  <a:srgbClr val="475569"/>
                </a:solidFill>
                <a:latin typeface="Plus Jakarta Sans"/>
              </a:rPr>
              <a:t> Outputs vary across requests.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7475" y="2031206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Silent Failures:</a:t>
            </a:r>
            <a:r>
              <a:rPr b="0" sz="937" i="0" u="none">
                <a:solidFill>
                  <a:srgbClr val="475569"/>
                </a:solidFill>
                <a:latin typeface="Plus Jakarta Sans"/>
              </a:rPr>
              <a:t> App returns HTTP 200 OK, but text is a polite hallucination!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1975" y="1571625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1975" y="1801415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1975" y="2031206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5075" y="1571625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5075" y="1801415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15075" y="2031206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5317926"/>
            <a:ext cx="11353800" cy="8828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6334125"/>
            <a:ext cx="113538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4175" y="266700"/>
            <a:ext cx="122872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2346721"/>
            <a:ext cx="11353800" cy="942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171575"/>
            <a:ext cx="3695700" cy="106084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8150" y="1171575"/>
            <a:ext cx="3695700" cy="106084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7200" y="1171575"/>
            <a:ext cx="3695700" cy="106084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925" y="2470546"/>
            <a:ext cx="2576512" cy="6953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86137" y="2470546"/>
            <a:ext cx="2576512" cy="6953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9350" y="2470546"/>
            <a:ext cx="2576512" cy="6953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72562" y="2470546"/>
            <a:ext cx="2576512" cy="6953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5560814"/>
            <a:ext cx="2700337" cy="56376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67087" y="5560814"/>
            <a:ext cx="2700337" cy="56376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62675" y="5560814"/>
            <a:ext cx="2700337" cy="56376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58262" y="5560814"/>
            <a:ext cx="2700337" cy="563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0562" y="290512"/>
            <a:ext cx="30289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AWS STUDENT BUILDER GROUPS · VIT CHENNAI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662" y="704850"/>
            <a:ext cx="11463337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The Three Pillars of LLM Telemetry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662" y="5394126"/>
            <a:ext cx="10929937" cy="128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5B21B6"/>
                </a:solidFill>
                <a:latin typeface="Plus Jakarta Sans ExtraBold"/>
              </a:rPr>
              <a:t>PRESENTER NOTES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100" y="6438900"/>
            <a:ext cx="149542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Plus Jakarta Sans SemiBold"/>
              </a:rPr>
              <a:t>Telemetry Pillars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06175" y="6448425"/>
            <a:ext cx="466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C3AED"/>
                </a:solidFill>
                <a:latin typeface="JetBrains Mono"/>
              </a:rPr>
              <a:t>15 / 25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9100" y="290512"/>
            <a:ext cx="176212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9100" y="757237"/>
            <a:ext cx="195262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5410795"/>
            <a:ext cx="100012" cy="952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9100" y="6438900"/>
            <a:ext cx="590550" cy="152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42950" y="1314450"/>
            <a:ext cx="32289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1. LLM Logs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1975" y="1571625"/>
            <a:ext cx="34099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Capture raw inputs, system prompt versions, complete completions, hyperparameters (temp, top_p), and safety override flags.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1050" y="1314450"/>
            <a:ext cx="320992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2. LLM 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1025" y="1571625"/>
            <a:ext cx="34099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Aggregated numerical numbers: Total input/output tokens, live cost ($), Time-To-First-Token (TTFT), and queries per second (QPS).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1314450"/>
            <a:ext cx="317182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3. Distributed Traces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0075" y="1571625"/>
            <a:ext cx="34099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Visual execution timelines showing step-by-step latency breakdown across Vector DB retrieval, agent loops, and model calls.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8650" y="2575321"/>
            <a:ext cx="2405062" cy="1714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28650" y="2784871"/>
            <a:ext cx="240506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Vector Search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650" y="2946796"/>
            <a:ext cx="240506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475569"/>
                </a:solidFill>
                <a:latin typeface="Plus Jakarta Sans"/>
              </a:rPr>
              <a:t>Span: 120ms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95637" y="2751534"/>
            <a:ext cx="114300" cy="1333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471862" y="2575321"/>
            <a:ext cx="2405062" cy="1714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471862" y="2784871"/>
            <a:ext cx="240506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Guardrail Check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1862" y="2946796"/>
            <a:ext cx="240506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475569"/>
                </a:solidFill>
                <a:latin typeface="Plus Jakarta Sans"/>
              </a:rPr>
              <a:t>Span: 45ms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38850" y="2751534"/>
            <a:ext cx="114300" cy="1333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15075" y="2575321"/>
            <a:ext cx="2405062" cy="17145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315075" y="2784871"/>
            <a:ext cx="240506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Bedrock Call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5075" y="2946796"/>
            <a:ext cx="240506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475569"/>
                </a:solidFill>
                <a:latin typeface="Plus Jakarta Sans"/>
              </a:rPr>
              <a:t>Span: 650ms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82062" y="2751534"/>
            <a:ext cx="114300" cy="1333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158287" y="2575321"/>
            <a:ext cx="2405062" cy="17145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158287" y="2784871"/>
            <a:ext cx="240506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CloudWatch Trace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58287" y="2946796"/>
            <a:ext cx="240506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475569"/>
                </a:solidFill>
                <a:latin typeface="Plus Jakarta Sans"/>
              </a:rPr>
              <a:t>Total: 815ms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7225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3452812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248400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043987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61975" y="1333500"/>
            <a:ext cx="104775" cy="14287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391025" y="1333500"/>
            <a:ext cx="123825" cy="142875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20075" y="1333500"/>
            <a:ext cx="1619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5317926"/>
            <a:ext cx="11353800" cy="8828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6334125"/>
            <a:ext cx="113538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1825" y="266700"/>
            <a:ext cx="98107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1171575"/>
            <a:ext cx="5600700" cy="14049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171575"/>
            <a:ext cx="5600700" cy="140493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560814"/>
            <a:ext cx="2700337" cy="56376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7087" y="5560814"/>
            <a:ext cx="2700337" cy="56376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2675" y="5560814"/>
            <a:ext cx="2700337" cy="5637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58262" y="5560814"/>
            <a:ext cx="2700337" cy="563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1512" y="290512"/>
            <a:ext cx="30289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AWS STUDENT BUILDER GROUPS · VIT CHENNAI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237" y="704850"/>
            <a:ext cx="11434762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Real-Time AI Signals &amp; User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8662" y="5394126"/>
            <a:ext cx="10929937" cy="128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5B21B6"/>
                </a:solidFill>
                <a:latin typeface="Plus Jakarta Sans ExtraBold"/>
              </a:rPr>
              <a:t>PRESENTER 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100" y="6438900"/>
            <a:ext cx="157162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Plus Jakarta Sans SemiBold"/>
              </a:rPr>
              <a:t>System 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06175" y="6448425"/>
            <a:ext cx="466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C3AED"/>
                </a:solidFill>
                <a:latin typeface="JetBrains Mono"/>
              </a:rPr>
              <a:t>16 / 25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100" y="290512"/>
            <a:ext cx="157162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100" y="757237"/>
            <a:ext cx="223837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2757487"/>
            <a:ext cx="114300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81050" y="2762250"/>
            <a:ext cx="67056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66534"/>
                </a:solidFill>
                <a:latin typeface="Plus Jakarta Sans SemiBold"/>
              </a:rPr>
              <a:t>FRONTIER Hackathon Tip: Put a 👍 / 👎 button on your UI and log the user feedback directly into DynamoDB or CloudWatch!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5410795"/>
            <a:ext cx="100012" cy="952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9100" y="6438900"/>
            <a:ext cx="59055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81050" y="1314450"/>
            <a:ext cx="50958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Key System Metrics (KPIs)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4150" y="1314450"/>
            <a:ext cx="50958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Real User Feedback Signals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225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452812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48400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043987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1975" y="1333500"/>
            <a:ext cx="14287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15075" y="1333500"/>
            <a:ext cx="142875" cy="1428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14375" y="1571625"/>
            <a:ext cx="516255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TTFT (Time To First Token):</a:t>
            </a:r>
            <a:r>
              <a:rPr b="0" sz="937" i="0" u="none">
                <a:solidFill>
                  <a:srgbClr val="475569"/>
                </a:solidFill>
                <a:latin typeface="Plus Jakarta Sans"/>
              </a:rPr>
              <a:t> Delay before the user sees the first streaming character. (Target: &lt; 800ms)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4375" y="1974056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Token Throughput:</a:t>
            </a:r>
            <a:r>
              <a:rPr b="0" sz="937" i="0" u="none">
                <a:solidFill>
                  <a:srgbClr val="475569"/>
                </a:solidFill>
                <a:latin typeface="Plus Jakarta Sans"/>
              </a:rPr>
              <a:t> Words generated per second.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4375" y="2203846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Fallback Rate:</a:t>
            </a:r>
            <a:r>
              <a:rPr b="0" sz="937" i="0" u="none">
                <a:solidFill>
                  <a:srgbClr val="475569"/>
                </a:solidFill>
                <a:latin typeface="Plus Jakarta Sans"/>
              </a:rPr>
              <a:t> % of requests tripping guardrails or hitting API rate limits.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7475" y="1571625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Explicit Feedback:</a:t>
            </a:r>
            <a:r>
              <a:rPr b="0" sz="937" i="0" u="none">
                <a:solidFill>
                  <a:srgbClr val="475569"/>
                </a:solidFill>
                <a:latin typeface="Plus Jakarta Sans"/>
              </a:rPr>
              <a:t> Thumbs up / down clicks, star ratings, or "Retry Response" button clicks.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7475" y="1801415"/>
            <a:ext cx="516255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Implicit Feedback:</a:t>
            </a:r>
            <a:r>
              <a:rPr b="0" sz="937" i="0" u="none">
                <a:solidFill>
                  <a:srgbClr val="475569"/>
                </a:solidFill>
                <a:latin typeface="Plus Jakarta Sans"/>
              </a:rPr>
              <a:t> User copying text to clipboard, quick session abandonment, or manual edit overrides.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1975" y="1571625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1975" y="1974056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1975" y="2203846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5075" y="1571625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5075" y="1801415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5317926"/>
            <a:ext cx="11353800" cy="8828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6334125"/>
            <a:ext cx="113538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2712" y="266700"/>
            <a:ext cx="1500187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2324100"/>
            <a:ext cx="11353800" cy="49515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2914501"/>
            <a:ext cx="11353800" cy="295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" y="1171575"/>
            <a:ext cx="3695700" cy="981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8150" y="1171575"/>
            <a:ext cx="3695700" cy="981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77200" y="1171575"/>
            <a:ext cx="3695700" cy="981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5560814"/>
            <a:ext cx="2700337" cy="56376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67087" y="5560814"/>
            <a:ext cx="2700337" cy="56376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62675" y="5560814"/>
            <a:ext cx="2700337" cy="56376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58262" y="5560814"/>
            <a:ext cx="2700337" cy="563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3412" y="290512"/>
            <a:ext cx="30289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AWS STUDENT BUILDER GROUPS · VIT CHENNAI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237" y="704850"/>
            <a:ext cx="11434762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Measuring Latency, Token Usage &amp;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662" y="5394126"/>
            <a:ext cx="10929937" cy="128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5B21B6"/>
                </a:solidFill>
                <a:latin typeface="Plus Jakarta Sans ExtraBold"/>
              </a:rPr>
              <a:t>PRESENTER 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100" y="6438900"/>
            <a:ext cx="164782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Plus Jakarta Sans SemiBold"/>
              </a:rPr>
              <a:t>Economics of LLMs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06175" y="6448425"/>
            <a:ext cx="466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C3AED"/>
                </a:solidFill>
                <a:latin typeface="JetBrains Mono"/>
              </a:rPr>
              <a:t>17 / 25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9100" y="290512"/>
            <a:ext cx="119062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9100" y="757237"/>
            <a:ext cx="223837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2925" y="3000226"/>
            <a:ext cx="8858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E293B"/>
                </a:solidFill>
                <a:latin typeface="Plus Jakarta Sans"/>
              </a:rPr>
              <a:t>Optimization Tip: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5410795"/>
            <a:ext cx="100012" cy="952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9100" y="6438900"/>
            <a:ext cx="590550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1975" y="1314450"/>
            <a:ext cx="34099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7C3AED"/>
                </a:solidFill>
                <a:latin typeface="Plus Jakarta Sans ExtraBold"/>
              </a:rPr>
              <a:t>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1975" y="1714500"/>
            <a:ext cx="3409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E293B"/>
                </a:solidFill>
                <a:latin typeface="Plus Jakarta Sans"/>
              </a:rPr>
              <a:t>Input Token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1975" y="1885950"/>
            <a:ext cx="34099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475569"/>
                </a:solidFill>
                <a:latin typeface="Plus Jakarta Sans"/>
              </a:rPr>
              <a:t>Cheaper ($/1M tokens)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1025" y="1314450"/>
            <a:ext cx="34099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FF9900"/>
                </a:solidFill>
                <a:latin typeface="Plus Jakarta Sans ExtraBold"/>
              </a:rPr>
              <a:t>Completion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91025" y="1714500"/>
            <a:ext cx="3409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E293B"/>
                </a:solidFill>
                <a:latin typeface="Plus Jakarta Sans"/>
              </a:rPr>
              <a:t>Output Token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1025" y="1885950"/>
            <a:ext cx="34099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475569"/>
                </a:solidFill>
                <a:latin typeface="Plus Jakarta Sans"/>
              </a:rPr>
              <a:t>3x to 5x More Expensive!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0075" y="1314450"/>
            <a:ext cx="34099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059669"/>
                </a:solidFill>
                <a:latin typeface="Plus Jakarta Sans ExtraBold"/>
              </a:rPr>
              <a:t>TTFT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0075" y="1714500"/>
            <a:ext cx="34099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E293B"/>
                </a:solidFill>
                <a:latin typeface="Plus Jakarta Sans"/>
              </a:rPr>
              <a:t>Time-To-First-Token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0075" y="1885950"/>
            <a:ext cx="34099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475569"/>
                </a:solidFill>
                <a:latin typeface="Plus Jakarta Sans"/>
              </a:rPr>
              <a:t>Target &lt; 800 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7225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452812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48400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043987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5317926"/>
            <a:ext cx="11353800" cy="8828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6334125"/>
            <a:ext cx="113538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5537" y="266700"/>
            <a:ext cx="1757362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2838450"/>
            <a:ext cx="5600700" cy="89773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838450"/>
            <a:ext cx="5600700" cy="89773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560814"/>
            <a:ext cx="2700337" cy="56376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7087" y="5560814"/>
            <a:ext cx="2700337" cy="56376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2675" y="5560814"/>
            <a:ext cx="2700337" cy="5637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58262" y="5560814"/>
            <a:ext cx="2700337" cy="563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2462" y="290512"/>
            <a:ext cx="30289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AWS STUDENT BUILDER GROUPS · VIT CHENNAI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237" y="704850"/>
            <a:ext cx="11434762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Automated Evaluation &amp; Ragas Metrics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9100" y="1171575"/>
          <a:ext cx="11353799" cy="1552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093565"/>
                <a:gridCol w="7714059"/>
                <a:gridCol w="1546175"/>
              </a:tblGrid>
              <a:tr h="310515"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Evaluation Metric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What it Measures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Target Score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algn="l"/>
                      <a:r>
                        <a:rPr b="1" sz="9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Faithfulness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Is the generated output strictly grounded in the retrieved RAG context chunks?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&gt; 0.90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algn="l"/>
                      <a:r>
                        <a:rPr b="1" sz="9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Answer Relevance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Does the LLM response directly address the user's specific query without fluff?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&gt; 0.85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algn="l"/>
                      <a:r>
                        <a:rPr b="1" sz="9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Context Recall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Did the vector search retrieve all required factual documents from the database?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&gt; 0.80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10515">
                <a:tc>
                  <a:txBody>
                    <a:bodyPr/>
                    <a:lstStyle/>
                    <a:p>
                      <a:pPr algn="l"/>
                      <a:r>
                        <a:rPr b="1" sz="9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Toxicity Score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Detection of profanity, hate speech, or unsafe content in completion.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0.00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28662" y="5394126"/>
            <a:ext cx="10929937" cy="128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5B21B6"/>
                </a:solidFill>
                <a:latin typeface="Plus Jakarta Sans ExtraBold"/>
              </a:rPr>
              <a:t>PRESENTER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100" y="6438900"/>
            <a:ext cx="181927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Plus Jakarta Sans SemiBold"/>
              </a:rPr>
              <a:t>Evaluation Frameworks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06175" y="6448425"/>
            <a:ext cx="466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C3AED"/>
                </a:solidFill>
                <a:latin typeface="JetBrains Mono"/>
              </a:rPr>
              <a:t>18 / 25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100" y="290512"/>
            <a:ext cx="138112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100" y="757237"/>
            <a:ext cx="223837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5410795"/>
            <a:ext cx="100012" cy="952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9100" y="6438900"/>
            <a:ext cx="590550" cy="1524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19100" y="1766887"/>
            <a:ext cx="20935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12665" y="1766887"/>
            <a:ext cx="77140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26724" y="1766887"/>
            <a:ext cx="15461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9100" y="2081212"/>
            <a:ext cx="20935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12665" y="2081212"/>
            <a:ext cx="77140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226724" y="2081212"/>
            <a:ext cx="15461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9100" y="2395537"/>
            <a:ext cx="20935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12665" y="2395537"/>
            <a:ext cx="77140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226724" y="2395537"/>
            <a:ext cx="15461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9100" y="2709862"/>
            <a:ext cx="20935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12665" y="2709862"/>
            <a:ext cx="77140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226724" y="2709862"/>
            <a:ext cx="15461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050" y="2981325"/>
            <a:ext cx="50958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Offline Evals (Pre-Deployment)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1975" y="3238500"/>
            <a:ext cx="5314950" cy="3548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Run automated test benchmarks against a dataset of golden question-answer pairs using </a:t>
            </a:r>
            <a:r>
              <a:rPr b="0" sz="937" i="0" u="none">
                <a:solidFill>
                  <a:srgbClr val="475569"/>
                </a:solidFill>
                <a:latin typeface="Plus Jakarta Sans"/>
              </a:rPr>
              <a:t>Promptfoo</a:t>
            </a:r>
            <a:r>
              <a:rPr b="0" sz="937" i="0" u="none">
                <a:solidFill>
                  <a:srgbClr val="475569"/>
                </a:solidFill>
                <a:latin typeface="Plus Jakarta Sans"/>
              </a:rPr>
              <a:t> before pushing updates.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53200" y="2981325"/>
            <a:ext cx="507682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Online Evals (Production)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5075" y="3238500"/>
            <a:ext cx="53149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Sample live user traffic asynchronously using LLM-as-a-Judge to monitor score drift over time.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7225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452812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48400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043987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1975" y="3000375"/>
            <a:ext cx="142875" cy="1428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15075" y="3000375"/>
            <a:ext cx="161925" cy="14287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41024" y="1543050"/>
            <a:ext cx="466725" cy="1524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41024" y="1857375"/>
            <a:ext cx="457200" cy="1524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41024" y="2171700"/>
            <a:ext cx="466725" cy="1524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341024" y="2486025"/>
            <a:ext cx="39052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5317926"/>
            <a:ext cx="11353800" cy="8828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6334125"/>
            <a:ext cx="113538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7475" y="266700"/>
            <a:ext cx="149542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1266825"/>
            <a:ext cx="11353800" cy="8096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2190750"/>
            <a:ext cx="5600700" cy="88820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2190750"/>
            <a:ext cx="5600700" cy="88820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560814"/>
            <a:ext cx="2700337" cy="56376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7087" y="5560814"/>
            <a:ext cx="2700337" cy="5637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2675" y="5560814"/>
            <a:ext cx="2700337" cy="56376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8262" y="5560814"/>
            <a:ext cx="2700337" cy="563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1512" y="290512"/>
            <a:ext cx="30289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AWS STUDENT BUILDER GROUPS · VIT CHENNAI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237" y="704850"/>
            <a:ext cx="11434762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Complete End-to-End Safe AI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662" y="5394126"/>
            <a:ext cx="10929937" cy="128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5B21B6"/>
                </a:solidFill>
                <a:latin typeface="Plus Jakarta Sans ExtraBold"/>
              </a:rPr>
              <a:t>PRESENTER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100" y="6438900"/>
            <a:ext cx="168592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Plus Jakarta Sans SemiBold"/>
              </a:rPr>
              <a:t>Complete Data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06175" y="6448425"/>
            <a:ext cx="466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C3AED"/>
                </a:solidFill>
                <a:latin typeface="JetBrains Mono"/>
              </a:rPr>
              <a:t>19 / 25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100" y="290512"/>
            <a:ext cx="157162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100" y="757237"/>
            <a:ext cx="223837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3259931"/>
            <a:ext cx="114300" cy="152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81050" y="3264693"/>
            <a:ext cx="61055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66534"/>
                </a:solidFill>
                <a:latin typeface="Plus Jakarta Sans SemiBold"/>
              </a:rPr>
              <a:t>FRONTIER Hackathon Tip: Include this complete pipeline diagram in your submission slides to impress the judges!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5410795"/>
            <a:ext cx="100012" cy="952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9100" y="6438900"/>
            <a:ext cx="59055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650" y="1495425"/>
            <a:ext cx="1457325" cy="1714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8650" y="1704975"/>
            <a:ext cx="14573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1. User Prompt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47900" y="1604962"/>
            <a:ext cx="114300" cy="133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24125" y="1495425"/>
            <a:ext cx="1457325" cy="1714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524125" y="1704975"/>
            <a:ext cx="14573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2. Input Validation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43375" y="1604962"/>
            <a:ext cx="114300" cy="1333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19600" y="1495425"/>
            <a:ext cx="1457325" cy="1714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419600" y="1704975"/>
            <a:ext cx="14573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3. PII &amp; Guardrails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38850" y="1604962"/>
            <a:ext cx="114300" cy="1333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15075" y="1495425"/>
            <a:ext cx="1457325" cy="1714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315075" y="1704975"/>
            <a:ext cx="14573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4. Bedrock LLM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34325" y="1604962"/>
            <a:ext cx="114300" cy="1333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10550" y="1495425"/>
            <a:ext cx="1457325" cy="171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210550" y="1704975"/>
            <a:ext cx="14573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5. Grounding Eval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29800" y="1604962"/>
            <a:ext cx="114300" cy="1333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106025" y="1495425"/>
            <a:ext cx="1457325" cy="1714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106025" y="1704975"/>
            <a:ext cx="14573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6. CloudWatch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000" y="2333625"/>
            <a:ext cx="511492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Synchronous Path (User Execution)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1975" y="2590800"/>
            <a:ext cx="531495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Low-latency response cycle. User prompt is sanitized, checked by Bedrock Guardrails, and streamed back immediately while context traces are created.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4150" y="2333625"/>
            <a:ext cx="50958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Asynchronous Path (Background Telemetry)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5075" y="2590800"/>
            <a:ext cx="531495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Background worker logs token counts, calculates hallucination scores with Ragas, updates CloudWatch dashboards, and fires alarms on threshold breach.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7225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3452812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248400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9043987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61975" y="2352675"/>
            <a:ext cx="123825" cy="14287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15075" y="2352675"/>
            <a:ext cx="1428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5317926"/>
            <a:ext cx="11353800" cy="8828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6334125"/>
            <a:ext cx="113538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8937" y="266700"/>
            <a:ext cx="1223962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2346721"/>
            <a:ext cx="11353800" cy="352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171575"/>
            <a:ext cx="2752725" cy="106084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6125" y="1171575"/>
            <a:ext cx="2752725" cy="106084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150" y="1171575"/>
            <a:ext cx="2752725" cy="106084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175" y="1171575"/>
            <a:ext cx="2752725" cy="106084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560814"/>
            <a:ext cx="2700337" cy="56376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67087" y="5560814"/>
            <a:ext cx="2700337" cy="56376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62675" y="5560814"/>
            <a:ext cx="2700337" cy="56376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58262" y="5560814"/>
            <a:ext cx="2700337" cy="563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9612" y="290512"/>
            <a:ext cx="30289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 AWS STUDENT BUILDER GROUPS · VIT CHENNAI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387" y="704850"/>
            <a:ext cx="11377612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 Native AWS Stack for Track 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662" y="5394126"/>
            <a:ext cx="10929937" cy="128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5B21B6"/>
                </a:solidFill>
                <a:latin typeface="Plus Jakarta Sans ExtraBold"/>
              </a:rPr>
              <a:t>PRESENTER 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100" y="6438900"/>
            <a:ext cx="147637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Plus Jakarta Sans SemiBold"/>
              </a:rPr>
              <a:t>AWS Tech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06175" y="6448425"/>
            <a:ext cx="466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C3AED"/>
                </a:solidFill>
                <a:latin typeface="JetBrains Mono"/>
              </a:rPr>
              <a:t>20 / 25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100" y="290512"/>
            <a:ext cx="195262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9100" y="757237"/>
            <a:ext cx="280987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61975" y="2451496"/>
            <a:ext cx="9906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5B21B6"/>
                </a:solidFill>
                <a:latin typeface="Plus Jakarta Sans"/>
              </a:rPr>
              <a:t>Why Native AWS?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5410795"/>
            <a:ext cx="100012" cy="952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9100" y="6438900"/>
            <a:ext cx="590550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81050" y="1314450"/>
            <a:ext cx="224790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Bedrock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1975" y="1571625"/>
            <a:ext cx="24669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Unified API for foundation models with native Guardrail enforcement &amp; invocation logging.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48075" y="1314450"/>
            <a:ext cx="224790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CloudWatch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1571625"/>
            <a:ext cx="24669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Centralized log group management, custom metric dashboards, and real-time operational alarms.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3200" y="1314450"/>
            <a:ext cx="220980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AWS X-Ray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6025" y="1571625"/>
            <a:ext cx="24669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Distributed tracing across API Gateway, Lambda functions, and Bedrock model invocations.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82125" y="1314450"/>
            <a:ext cx="224790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AWS IAM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3050" y="1571625"/>
            <a:ext cx="2466975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Granular role-based access control policies restricting model invoke permissions and vector store access.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7225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452812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248400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043987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1975" y="1333500"/>
            <a:ext cx="142875" cy="1428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29000" y="1333500"/>
            <a:ext cx="142875" cy="1428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96025" y="1333500"/>
            <a:ext cx="180975" cy="1428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63050" y="1333500"/>
            <a:ext cx="1428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5317926"/>
            <a:ext cx="11353800" cy="8828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6334125"/>
            <a:ext cx="113538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1725" y="266700"/>
            <a:ext cx="178117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1171575"/>
            <a:ext cx="11353800" cy="942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7465" y="1295400"/>
            <a:ext cx="2007840" cy="6953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2005" y="1295400"/>
            <a:ext cx="2007840" cy="6953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6545" y="1295400"/>
            <a:ext cx="2007840" cy="6953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41085" y="1295400"/>
            <a:ext cx="2007840" cy="6953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2228850"/>
            <a:ext cx="3695700" cy="888206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48150" y="2228850"/>
            <a:ext cx="3695700" cy="888206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77200" y="2228850"/>
            <a:ext cx="3695700" cy="888206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5560814"/>
            <a:ext cx="2700337" cy="56376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67087" y="5560814"/>
            <a:ext cx="2700337" cy="56376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62675" y="5560814"/>
            <a:ext cx="2700337" cy="56376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58262" y="5560814"/>
            <a:ext cx="2700337" cy="563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0562" y="290512"/>
            <a:ext cx="30289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AWS STUDENT BUILDER GROUPS · VIT CHENNAI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237" y="704850"/>
            <a:ext cx="11434762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Production Serverless Reference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662" y="5394126"/>
            <a:ext cx="10929937" cy="128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5B21B6"/>
                </a:solidFill>
                <a:latin typeface="Plus Jakarta Sans ExtraBold"/>
              </a:rPr>
              <a:t>PRESENTER NOTES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100" y="6438900"/>
            <a:ext cx="185737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Plus Jakarta Sans SemiBold"/>
              </a:rPr>
              <a:t>Reference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06175" y="6448425"/>
            <a:ext cx="466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C3AED"/>
                </a:solidFill>
                <a:latin typeface="JetBrains Mono"/>
              </a:rPr>
              <a:t>21 / 25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9100" y="290512"/>
            <a:ext cx="176212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9100" y="757237"/>
            <a:ext cx="223837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5410795"/>
            <a:ext cx="100012" cy="952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9100" y="6438900"/>
            <a:ext cx="59055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8650" y="1466850"/>
            <a:ext cx="1836390" cy="1714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28650" y="1676400"/>
            <a:ext cx="183639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Web Client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26965" y="1576387"/>
            <a:ext cx="114300" cy="1333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903190" y="1400175"/>
            <a:ext cx="1836390" cy="1714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903190" y="1609725"/>
            <a:ext cx="183639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API Gateway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03190" y="1771650"/>
            <a:ext cx="183639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475569"/>
                </a:solidFill>
                <a:latin typeface="Plus Jakarta Sans"/>
              </a:rPr>
              <a:t>Rate Limiting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01505" y="1576387"/>
            <a:ext cx="114300" cy="1333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177730" y="1400175"/>
            <a:ext cx="1836390" cy="1714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177730" y="1609725"/>
            <a:ext cx="183639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AWS Lambda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77730" y="1771650"/>
            <a:ext cx="183639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475569"/>
                </a:solidFill>
                <a:latin typeface="Plus Jakarta Sans"/>
              </a:rPr>
              <a:t>Orchestration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176045" y="1576387"/>
            <a:ext cx="114300" cy="1333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52270" y="1400175"/>
            <a:ext cx="1836390" cy="1714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52270" y="1609725"/>
            <a:ext cx="183639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Bedrock + Guardrails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270" y="1771650"/>
            <a:ext cx="183639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475569"/>
                </a:solidFill>
                <a:latin typeface="Plus Jakarta Sans"/>
              </a:rPr>
              <a:t>LLM &amp; Safety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450585" y="1576387"/>
            <a:ext cx="114300" cy="1333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726810" y="1400175"/>
            <a:ext cx="1836390" cy="17145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726810" y="1609725"/>
            <a:ext cx="183639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CloudWatch / X-Ray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26810" y="1771650"/>
            <a:ext cx="183639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475569"/>
                </a:solidFill>
                <a:latin typeface="Plus Jakarta Sans"/>
              </a:rPr>
              <a:t>Logs &amp; Traces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1975" y="2371725"/>
            <a:ext cx="340995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1. Ingestion Layer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1975" y="2628900"/>
            <a:ext cx="340995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API Gateway authenticates client tokens and enforces IP rate limiting to prevent DoS token draining attacks.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91025" y="2371725"/>
            <a:ext cx="340995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2. Processing Layer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91025" y="2628900"/>
            <a:ext cx="340995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AWS Lambda retrieves vector embeddings and invokes Bedrock model with attached Guardrails policies.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0075" y="2371725"/>
            <a:ext cx="340995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3. Telemetry Layer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0075" y="2628900"/>
            <a:ext cx="3409950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X-Ray trace segments log exact timing per LLM step and stream token metrics straight to CloudWatch.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7225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452812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248400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043987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5317926"/>
            <a:ext cx="11353800" cy="8828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6334125"/>
            <a:ext cx="113538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0837" y="266700"/>
            <a:ext cx="1262062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1171575"/>
            <a:ext cx="5600700" cy="14620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171575"/>
            <a:ext cx="5600700" cy="146208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560814"/>
            <a:ext cx="2700337" cy="56376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7087" y="5560814"/>
            <a:ext cx="2700337" cy="56376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2675" y="5560814"/>
            <a:ext cx="2700337" cy="5637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58262" y="5560814"/>
            <a:ext cx="2700337" cy="563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0562" y="290512"/>
            <a:ext cx="30289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AWS STUDENT BUILDER GROUPS · VIT CHENNAI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237" y="704850"/>
            <a:ext cx="11434762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FRONTIER Project Readiness Checklist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8662" y="5394126"/>
            <a:ext cx="10929937" cy="128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5B21B6"/>
                </a:solidFill>
                <a:latin typeface="Plus Jakarta Sans ExtraBold"/>
              </a:rPr>
              <a:t>PRESENTER 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100" y="6438900"/>
            <a:ext cx="170497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Plus Jakarta Sans SemiBold"/>
              </a:rPr>
              <a:t>Hackathon Checklist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06175" y="6448425"/>
            <a:ext cx="466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C3AED"/>
                </a:solidFill>
                <a:latin typeface="JetBrains Mono"/>
              </a:rPr>
              <a:t>22 / 25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100" y="290512"/>
            <a:ext cx="176212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100" y="757237"/>
            <a:ext cx="223837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2814637"/>
            <a:ext cx="171450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8200" y="2819400"/>
            <a:ext cx="66294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66534"/>
                </a:solidFill>
                <a:latin typeface="Plus Jakarta Sans SemiBold"/>
              </a:rPr>
              <a:t>Judges' Secret: Showing a live CloudWatch Dashboard during your 3-minute demo guarantees maximum technical points!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5410795"/>
            <a:ext cx="100012" cy="952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9100" y="6438900"/>
            <a:ext cx="59055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62000" y="1314450"/>
            <a:ext cx="511492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Safety Submission Criteria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5100" y="1314450"/>
            <a:ext cx="511492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Observability Submission Criteria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225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452812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48400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043987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1975" y="1333500"/>
            <a:ext cx="12382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15075" y="1333500"/>
            <a:ext cx="123825" cy="1428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14375" y="1571625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Active Guardrail attached to Bedrock model endpoint.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4375" y="1801415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System prompts isolated with explicit XML delimiters.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4375" y="2031206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Tested defense against direct prompt injection payloads.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4375" y="2260996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PII redaction enabled for user inputs.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7475" y="1571625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CloudWatch dashboard showing live token counts &amp; latency.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7475" y="1801415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Real-time cost estimation per request cycle.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7475" y="2031206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Distributed tracing enabled across Lambda &amp; Bedrock.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7475" y="2260996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User feedback collection UI component (👍 / 👎).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1975" y="1571625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1975" y="1801415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1975" y="2031206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1975" y="2260996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5075" y="1571625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5075" y="1801415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15075" y="2031206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15075" y="2260996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4375" y="1607343"/>
            <a:ext cx="104775" cy="12382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4375" y="1837134"/>
            <a:ext cx="104775" cy="12382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4375" y="2066925"/>
            <a:ext cx="104775" cy="12382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4375" y="2296715"/>
            <a:ext cx="104775" cy="12382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67475" y="1607343"/>
            <a:ext cx="104775" cy="123825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67475" y="1837134"/>
            <a:ext cx="104775" cy="12382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67475" y="2066925"/>
            <a:ext cx="104775" cy="123825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67475" y="2296715"/>
            <a:ext cx="104775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5317926"/>
            <a:ext cx="11353800" cy="8828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6334125"/>
            <a:ext cx="113538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9400" y="266700"/>
            <a:ext cx="13335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2499121"/>
            <a:ext cx="11353800" cy="2952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171575"/>
            <a:ext cx="5600700" cy="123229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1171575"/>
            <a:ext cx="5600700" cy="123229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560814"/>
            <a:ext cx="2700337" cy="56376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7087" y="5560814"/>
            <a:ext cx="2700337" cy="5637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2675" y="5560814"/>
            <a:ext cx="2700337" cy="56376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8262" y="5560814"/>
            <a:ext cx="2700337" cy="563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1512" y="290512"/>
            <a:ext cx="30289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AWS STUDENT BUILDER GROUPS · VIT CHENNAI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237" y="704850"/>
            <a:ext cx="11434762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Industry Standard Ecosystem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662" y="5394126"/>
            <a:ext cx="10929937" cy="128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5B21B6"/>
                </a:solidFill>
                <a:latin typeface="Plus Jakarta Sans ExtraBold"/>
              </a:rPr>
              <a:t>PRESENTER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100" y="6438900"/>
            <a:ext cx="16192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Plus Jakarta Sans SemiBold"/>
              </a:rPr>
              <a:t>Tooling Ecosystem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06175" y="6448425"/>
            <a:ext cx="466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C3AED"/>
                </a:solidFill>
                <a:latin typeface="JetBrains Mono"/>
              </a:rPr>
              <a:t>23 / 25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100" y="290512"/>
            <a:ext cx="157162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100" y="757237"/>
            <a:ext cx="223837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2925" y="2584846"/>
            <a:ext cx="10953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E293B"/>
                </a:solidFill>
                <a:latin typeface="Plus Jakarta Sans"/>
              </a:rPr>
              <a:t>Open Standard Note: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5410795"/>
            <a:ext cx="100012" cy="952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9100" y="6438900"/>
            <a:ext cx="59055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81050" y="1314450"/>
            <a:ext cx="50958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Testing &amp; Red-Teaming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275" y="1314450"/>
            <a:ext cx="5238750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Tracing &amp; Observability Suites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225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452812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48400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043987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1975" y="1333500"/>
            <a:ext cx="142875" cy="14287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14375" y="1571625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Promptfoo:</a:t>
            </a:r>
            <a:r>
              <a:rPr b="0" sz="937" i="0" u="none">
                <a:solidFill>
                  <a:srgbClr val="475569"/>
                </a:solidFill>
                <a:latin typeface="Plus Jakarta Sans"/>
              </a:rPr>
              <a:t> CLI tool for automated security red-teaming and prompt testing.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4375" y="1801415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Ragas:</a:t>
            </a:r>
            <a:r>
              <a:rPr b="0" sz="937" i="0" u="none">
                <a:solidFill>
                  <a:srgbClr val="475569"/>
                </a:solidFill>
                <a:latin typeface="Plus Jakarta Sans"/>
              </a:rPr>
              <a:t> Open-source framework for evaluating RAG pipeline faithfulness.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4375" y="2031206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Giskard:</a:t>
            </a:r>
            <a:r>
              <a:rPr b="0" sz="937" i="0" u="none">
                <a:solidFill>
                  <a:srgbClr val="475569"/>
                </a:solidFill>
                <a:latin typeface="Plus Jakarta Sans"/>
              </a:rPr>
              <a:t> Open-source AI quality &amp; security vulnerability scanner.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7475" y="1571625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OpenTelemetry:</a:t>
            </a:r>
            <a:r>
              <a:rPr b="0" sz="937" i="0" u="none">
                <a:solidFill>
                  <a:srgbClr val="475569"/>
                </a:solidFill>
                <a:latin typeface="Plus Jakarta Sans"/>
              </a:rPr>
              <a:t> Industry standard vendor-agnostic specification for trace headers.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7475" y="1801415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LangSmith / LangFuse:</a:t>
            </a:r>
            <a:r>
              <a:rPr b="0" sz="937" i="0" u="none">
                <a:solidFill>
                  <a:srgbClr val="475569"/>
                </a:solidFill>
                <a:latin typeface="Plus Jakarta Sans"/>
              </a:rPr>
              <a:t> Dedicated open observability platforms for LLM apps.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7475" y="2031206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Arize Phoenix:</a:t>
            </a:r>
            <a:r>
              <a:rPr b="0" sz="937" i="0" u="none">
                <a:solidFill>
                  <a:srgbClr val="475569"/>
                </a:solidFill>
                <a:latin typeface="Plus Jakarta Sans"/>
              </a:rPr>
              <a:t> AI observability &amp; hallucination detection platform.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1975" y="1571625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1975" y="1801415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1975" y="2031206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5075" y="1571625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5075" y="1801415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5075" y="2031206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5317926"/>
            <a:ext cx="11353800" cy="8828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6334125"/>
            <a:ext cx="1135380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0875" y="266700"/>
            <a:ext cx="96202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2728912"/>
            <a:ext cx="11353800" cy="2952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171575"/>
            <a:ext cx="5600700" cy="146208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1171575"/>
            <a:ext cx="5600700" cy="146208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560814"/>
            <a:ext cx="2700337" cy="56376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7087" y="5560814"/>
            <a:ext cx="2700337" cy="5637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2675" y="5560814"/>
            <a:ext cx="2700337" cy="56376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8262" y="5560814"/>
            <a:ext cx="2700337" cy="563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2462" y="290512"/>
            <a:ext cx="30289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AWS STUDENT BUILDER GROUPS · VIT CHENNAI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087" y="704850"/>
            <a:ext cx="11491912" cy="333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Plus Jakarta Sans ExtraBold"/>
              </a:rPr>
              <a:t>Resources &amp; Further Reading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662" y="5394126"/>
            <a:ext cx="10929937" cy="128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5B21B6"/>
                </a:solidFill>
                <a:latin typeface="Plus Jakarta Sans ExtraBold"/>
              </a:rPr>
              <a:t>PRESENTER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100" y="6438900"/>
            <a:ext cx="183832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Plus Jakarta Sans SemiBold"/>
              </a:rPr>
              <a:t>Official Documentation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06175" y="6448425"/>
            <a:ext cx="466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C3AED"/>
                </a:solidFill>
                <a:latin typeface="JetBrains Mono"/>
              </a:rPr>
              <a:t>24 / 25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100" y="290512"/>
            <a:ext cx="138112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100" y="757237"/>
            <a:ext cx="166687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2925" y="2814637"/>
            <a:ext cx="11430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5B21B6"/>
                </a:solidFill>
                <a:latin typeface="Plus Jakarta Sans"/>
              </a:rPr>
              <a:t>Post-Workshop Note: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5410795"/>
            <a:ext cx="100012" cy="952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9100" y="6438900"/>
            <a:ext cx="59055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19150" y="1314450"/>
            <a:ext cx="50577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 Official AWS Documentation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4150" y="1314450"/>
            <a:ext cx="5095875" cy="180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Security &amp; Open Standards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225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452812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48400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043987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1975" y="1333500"/>
            <a:ext cx="18097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15075" y="1333500"/>
            <a:ext cx="142875" cy="1428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14375" y="1571625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Amazon Bedrock Guardrails Developer Guide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4375" y="1801415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AWS CloudWatch User Guide for Generative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4375" y="2031206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AWS Well-Architected Framework: Machine Learning Lens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7475" y="1571625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OWASP Top 10 for LLM Applications (2025/2026)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7475" y="1801415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NIST Artificial Intelligence Risk Management Framework (AI RMF)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7475" y="2031206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Promptfoo Documentation &amp; Red-Teaming Benchmarks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7475" y="2260996"/>
            <a:ext cx="5162550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475569"/>
                </a:solidFill>
                <a:latin typeface="Plus Jakarta Sans"/>
              </a:rPr>
              <a:t>Ragas Evaluation Framework &amp; Metrics Guide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1975" y="1571625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1975" y="1801415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1975" y="2031206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5075" y="1571625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15075" y="1801415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5075" y="2031206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5075" y="2260996"/>
            <a:ext cx="123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1" sz="937" i="0" u="none">
                <a:solidFill>
                  <a:srgbClr val="7C3AED"/>
                </a:solidFill>
                <a:latin typeface="Plus Jakarta Sans"/>
              </a:rPr>
              <a:t>→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5317926"/>
            <a:ext cx="11353800" cy="88284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6334125"/>
            <a:ext cx="11353800" cy="257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762" y="266700"/>
            <a:ext cx="1100137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800" y="1607492"/>
            <a:ext cx="2438400" cy="2381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9750" y="3281808"/>
            <a:ext cx="2057400" cy="6953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1450" y="3281808"/>
            <a:ext cx="2057400" cy="6953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150" y="3281808"/>
            <a:ext cx="2057400" cy="6953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4850" y="3281808"/>
            <a:ext cx="2057400" cy="6953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560814"/>
            <a:ext cx="2700337" cy="56376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67087" y="5560814"/>
            <a:ext cx="2700337" cy="56376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62675" y="5560814"/>
            <a:ext cx="2700337" cy="56376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58262" y="5560814"/>
            <a:ext cx="2700337" cy="563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2462" y="290512"/>
            <a:ext cx="30289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AWS STUDENT BUILDER GROUPS · VIT CHENNAI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5755" y="1978967"/>
            <a:ext cx="392049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450" i="0" u="none">
                <a:solidFill>
                  <a:srgbClr val="1E293B"/>
                </a:solidFill>
                <a:latin typeface="Plus Jakarta Sans ExtraBold"/>
              </a:rPr>
              <a:t>Thank You &amp; </a:t>
            </a:r>
            <a:r>
              <a:rPr b="0" sz="3450" i="0" u="none">
                <a:latin typeface="Plus Jakarta Sans ExtraBold"/>
              </a:rPr>
              <a:t>Q&amp;A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3250" y="2626667"/>
            <a:ext cx="59055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Good luck with your builds in Track 05: AI Safety &amp; Observability at FRONTIER 2026!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662" y="5394126"/>
            <a:ext cx="10929937" cy="1285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12"/>
              </a:lnSpc>
            </a:pPr>
            <a:r>
              <a:rPr b="0" sz="750" i="0" u="none">
                <a:solidFill>
                  <a:srgbClr val="5B21B6"/>
                </a:solidFill>
                <a:latin typeface="Plus Jakarta Sans ExtraBold"/>
              </a:rPr>
              <a:t>PRESENTER NOTES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100" y="6438900"/>
            <a:ext cx="27622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Plus Jakarta Sans SemiBold"/>
              </a:rPr>
              <a:t>AWS Student Builder Groups · VIT Chennai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06175" y="6448425"/>
            <a:ext cx="4667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C3AED"/>
                </a:solidFill>
                <a:latin typeface="JetBrains Mono"/>
              </a:rPr>
              <a:t>25 / 25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100" y="290512"/>
            <a:ext cx="138112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262437" y="4167633"/>
            <a:ext cx="1533525" cy="15240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E293B"/>
                </a:solidFill>
                <a:latin typeface="Plus Jakarta Sans"/>
              </a:rPr>
              <a:t>Netaji Auditorium · AB-1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4562" y="4167633"/>
            <a:ext cx="790575" cy="152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E293B"/>
                </a:solidFill>
                <a:latin typeface="Plus Jakarta Sans"/>
              </a:rPr>
              <a:t>July 30 &amp; 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3737" y="4167633"/>
            <a:ext cx="885825" cy="152400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1E293B"/>
                </a:solidFill>
                <a:latin typeface="Plus Jakarta Sans"/>
              </a:rPr>
              <a:t> VIT Chennai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5410795"/>
            <a:ext cx="100012" cy="952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9100" y="6438900"/>
            <a:ext cx="590550" cy="1524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14525" y="3386583"/>
            <a:ext cx="1847850" cy="1905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914525" y="3615183"/>
            <a:ext cx="1847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1. Guardrails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14525" y="3758058"/>
            <a:ext cx="1847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475569"/>
                </a:solidFill>
                <a:latin typeface="Plus Jakarta Sans"/>
              </a:rPr>
              <a:t>Filter every call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86225" y="3386583"/>
            <a:ext cx="1847850" cy="190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086225" y="3615183"/>
            <a:ext cx="1847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2. Telemetry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86225" y="3758058"/>
            <a:ext cx="1847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475569"/>
                </a:solidFill>
                <a:latin typeface="Plus Jakarta Sans"/>
              </a:rPr>
              <a:t>Track latency &amp; cost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57925" y="3386583"/>
            <a:ext cx="1847850" cy="1905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257925" y="3615183"/>
            <a:ext cx="1847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3. Evals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57925" y="3758058"/>
            <a:ext cx="1847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475569"/>
                </a:solidFill>
                <a:latin typeface="Plus Jakarta Sans"/>
              </a:rPr>
              <a:t>Measure grounding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29625" y="3386583"/>
            <a:ext cx="1847850" cy="1905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429625" y="3615183"/>
            <a:ext cx="1847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E293B"/>
                </a:solidFill>
                <a:latin typeface="Plus Jakarta Sans"/>
              </a:rPr>
              <a:t>4. Native AWS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9625" y="3758058"/>
            <a:ext cx="184785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475569"/>
                </a:solidFill>
                <a:latin typeface="Plus Jakarta Sans"/>
              </a:rPr>
              <a:t>Bedrock + CloudWatch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262437" y="4186683"/>
            <a:ext cx="95250" cy="12382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24562" y="4186683"/>
            <a:ext cx="104775" cy="12382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43737" y="4186683"/>
            <a:ext cx="152400" cy="12382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57225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452812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248400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043987" y="5627489"/>
            <a:ext cx="2528887" cy="128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